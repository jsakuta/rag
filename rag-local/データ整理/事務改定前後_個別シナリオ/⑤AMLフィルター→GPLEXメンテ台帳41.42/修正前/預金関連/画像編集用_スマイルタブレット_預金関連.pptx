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65" r:id="rId5"/>
    <p:sldId id="258" r:id="rId6"/>
    <p:sldId id="259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00984D7-D3BB-470D-97A0-ED014629E141}">
          <p14:sldIdLst>
            <p14:sldId id="256"/>
            <p14:sldId id="261"/>
            <p14:sldId id="257"/>
            <p14:sldId id="265"/>
            <p14:sldId id="258"/>
            <p14:sldId id="259"/>
          </p14:sldIdLst>
        </p14:section>
        <p14:section name="法人新規" id="{FD7AA8A2-73EB-4123-AA74-8958DB0E9031}">
          <p14:sldIdLst>
            <p14:sldId id="264"/>
            <p14:sldId id="263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増田　勇" initials="増田　勇" lastIdx="1" clrIdx="0">
    <p:extLst>
      <p:ext uri="{19B8F6BF-5375-455C-9EA6-DF929625EA0E}">
        <p15:presenceInfo xmlns:p15="http://schemas.microsoft.com/office/powerpoint/2012/main" userId="S-1-5-21-1957994488-527237240-1606980848-3535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9"/>
    <a:srgbClr val="0000FF"/>
    <a:srgbClr val="FFD9D9"/>
    <a:srgbClr val="FFFFFF"/>
    <a:srgbClr val="FFA7A7"/>
    <a:srgbClr val="FF858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642" autoAdjust="0"/>
  </p:normalViewPr>
  <p:slideViewPr>
    <p:cSldViewPr>
      <p:cViewPr varScale="1">
        <p:scale>
          <a:sx n="83" d="100"/>
          <a:sy n="83" d="100"/>
        </p:scale>
        <p:origin x="56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48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62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45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9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10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52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9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68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0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59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800" b="1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口座名義に屋号を付ける場合の入力方法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BB4C76-2FBE-40E1-9EFD-C9766304D652}"/>
              </a:ext>
            </a:extLst>
          </p:cNvPr>
          <p:cNvGrpSpPr/>
          <p:nvPr/>
        </p:nvGrpSpPr>
        <p:grpSpPr>
          <a:xfrm>
            <a:off x="359451" y="849880"/>
            <a:ext cx="11473099" cy="5747472"/>
            <a:chOff x="218117" y="731351"/>
            <a:chExt cx="11473099" cy="574747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6797820-BFF5-4597-8F0B-CE4FE01F52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37878" b="16958"/>
            <a:stretch/>
          </p:blipFill>
          <p:spPr bwMode="auto">
            <a:xfrm>
              <a:off x="5801424" y="1205482"/>
              <a:ext cx="5889792" cy="525289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E1964540-1A6C-42B4-A40D-CE80E985FD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32"/>
            <a:stretch/>
          </p:blipFill>
          <p:spPr bwMode="auto">
            <a:xfrm>
              <a:off x="262863" y="1205482"/>
              <a:ext cx="5318255" cy="333646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FBC5DA2F-5F1E-4B28-803B-7A285816CC72}"/>
                </a:ext>
              </a:extLst>
            </p:cNvPr>
            <p:cNvSpPr/>
            <p:nvPr/>
          </p:nvSpPr>
          <p:spPr>
            <a:xfrm>
              <a:off x="7972148" y="2935537"/>
              <a:ext cx="1313895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F5E9FAF7-FE04-4399-93C1-81D097D4A9BC}"/>
                </a:ext>
              </a:extLst>
            </p:cNvPr>
            <p:cNvSpPr/>
            <p:nvPr/>
          </p:nvSpPr>
          <p:spPr>
            <a:xfrm>
              <a:off x="7972148" y="3158671"/>
              <a:ext cx="138032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FB4308D-AEB9-49BA-A5A2-769457120E2E}"/>
                </a:ext>
              </a:extLst>
            </p:cNvPr>
            <p:cNvSpPr txBox="1"/>
            <p:nvPr/>
          </p:nvSpPr>
          <p:spPr>
            <a:xfrm>
              <a:off x="7875476" y="3109683"/>
              <a:ext cx="830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千葉商店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660D6B7-8EF3-406F-8306-C20FCDE9B52F}"/>
                </a:ext>
              </a:extLst>
            </p:cNvPr>
            <p:cNvSpPr txBox="1"/>
            <p:nvPr/>
          </p:nvSpPr>
          <p:spPr>
            <a:xfrm>
              <a:off x="7890272" y="2848599"/>
              <a:ext cx="14621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チバショウテン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12A7293-BBFA-4A47-B0A2-9A0197D367A8}"/>
                </a:ext>
              </a:extLst>
            </p:cNvPr>
            <p:cNvSpPr txBox="1"/>
            <p:nvPr/>
          </p:nvSpPr>
          <p:spPr>
            <a:xfrm>
              <a:off x="7893231" y="5548320"/>
              <a:ext cx="8302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千葉 太郎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D350837-C2E0-42F1-BDE5-5BF18E869637}"/>
                </a:ext>
              </a:extLst>
            </p:cNvPr>
            <p:cNvSpPr txBox="1"/>
            <p:nvPr/>
          </p:nvSpPr>
          <p:spPr>
            <a:xfrm>
              <a:off x="7893231" y="5281989"/>
              <a:ext cx="12152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チバ タロウ</a:t>
              </a:r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7A6CBC8F-ADB0-4A94-B8BC-A07CC352417B}"/>
                </a:ext>
              </a:extLst>
            </p:cNvPr>
            <p:cNvSpPr/>
            <p:nvPr/>
          </p:nvSpPr>
          <p:spPr>
            <a:xfrm>
              <a:off x="218117" y="737330"/>
              <a:ext cx="5400000" cy="665480"/>
            </a:xfrm>
            <a:prstGeom prst="roundRect">
              <a:avLst>
                <a:gd name="adj" fmla="val 5128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1800" b="1" spc="-100" dirty="0">
                  <a:solidFill>
                    <a:srgbClr val="203864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お申込みされる口座の選択</a:t>
              </a:r>
              <a:endPara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7514B3A9-2162-4091-8268-F1F5933B3560}"/>
                </a:ext>
              </a:extLst>
            </p:cNvPr>
            <p:cNvSpPr/>
            <p:nvPr/>
          </p:nvSpPr>
          <p:spPr>
            <a:xfrm>
              <a:off x="5798292" y="731351"/>
              <a:ext cx="5400000" cy="665480"/>
            </a:xfrm>
            <a:prstGeom prst="roundRect">
              <a:avLst>
                <a:gd name="adj" fmla="val 5128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1800" b="1" spc="-100" dirty="0">
                  <a:solidFill>
                    <a:srgbClr val="203864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お客さま基本情報入力</a:t>
              </a:r>
              <a:endPara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楕円 38">
              <a:extLst>
                <a:ext uri="{FF2B5EF4-FFF2-40B4-BE49-F238E27FC236}">
                  <a16:creationId xmlns:a16="http://schemas.microsoft.com/office/drawing/2014/main" id="{5474DEB1-574E-444B-B21E-0F0932E2D313}"/>
                </a:ext>
              </a:extLst>
            </p:cNvPr>
            <p:cNvSpPr/>
            <p:nvPr/>
          </p:nvSpPr>
          <p:spPr>
            <a:xfrm>
              <a:off x="2118666" y="1798768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１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EA282570-9734-49A4-9530-F71AD7B1D1B3}"/>
                </a:ext>
              </a:extLst>
            </p:cNvPr>
            <p:cNvSpPr/>
            <p:nvPr/>
          </p:nvSpPr>
          <p:spPr>
            <a:xfrm>
              <a:off x="3198510" y="2630371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２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" name="吹き出し: 折線 1">
              <a:extLst>
                <a:ext uri="{FF2B5EF4-FFF2-40B4-BE49-F238E27FC236}">
                  <a16:creationId xmlns:a16="http://schemas.microsoft.com/office/drawing/2014/main" id="{F83861A5-4CDE-4A58-96BA-82A76D6E1285}"/>
                </a:ext>
              </a:extLst>
            </p:cNvPr>
            <p:cNvSpPr/>
            <p:nvPr/>
          </p:nvSpPr>
          <p:spPr>
            <a:xfrm>
              <a:off x="505226" y="4493456"/>
              <a:ext cx="3279156" cy="888894"/>
            </a:xfrm>
            <a:prstGeom prst="borderCallout2">
              <a:avLst>
                <a:gd name="adj1" fmla="val 1085"/>
                <a:gd name="adj2" fmla="val 50254"/>
                <a:gd name="adj3" fmla="val -50868"/>
                <a:gd name="adj4" fmla="val 50651"/>
                <a:gd name="adj5" fmla="val -180522"/>
                <a:gd name="adj6" fmla="val 73324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➊個人事業主のお客さま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>
                <a:spcBef>
                  <a:spcPts val="600"/>
                </a:spcBef>
              </a:pPr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➋事業用口座のお申込み　を選択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吹き出し: 折線 29">
              <a:extLst>
                <a:ext uri="{FF2B5EF4-FFF2-40B4-BE49-F238E27FC236}">
                  <a16:creationId xmlns:a16="http://schemas.microsoft.com/office/drawing/2014/main" id="{BCBF3444-3425-4D84-ACD3-562A8F029ABA}"/>
                </a:ext>
              </a:extLst>
            </p:cNvPr>
            <p:cNvSpPr/>
            <p:nvPr/>
          </p:nvSpPr>
          <p:spPr>
            <a:xfrm>
              <a:off x="10028669" y="2058791"/>
              <a:ext cx="1634838" cy="472580"/>
            </a:xfrm>
            <a:prstGeom prst="borderCallout2">
              <a:avLst>
                <a:gd name="adj1" fmla="val 51901"/>
                <a:gd name="adj2" fmla="val -29"/>
                <a:gd name="adj3" fmla="val 52718"/>
                <a:gd name="adj4" fmla="val -18840"/>
                <a:gd name="adj5" fmla="val 181052"/>
                <a:gd name="adj6" fmla="val -50405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屋号を入力する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CA107DD7-5AE6-4414-B2F4-E685B684942F}"/>
                </a:ext>
              </a:extLst>
            </p:cNvPr>
            <p:cNvSpPr/>
            <p:nvPr/>
          </p:nvSpPr>
          <p:spPr>
            <a:xfrm>
              <a:off x="9830715" y="1860791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３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吹き出し: 折線 30">
              <a:extLst>
                <a:ext uri="{FF2B5EF4-FFF2-40B4-BE49-F238E27FC236}">
                  <a16:creationId xmlns:a16="http://schemas.microsoft.com/office/drawing/2014/main" id="{D4D5F7D1-1015-4FAA-8469-4B8730441185}"/>
                </a:ext>
              </a:extLst>
            </p:cNvPr>
            <p:cNvSpPr/>
            <p:nvPr/>
          </p:nvSpPr>
          <p:spPr>
            <a:xfrm>
              <a:off x="9584663" y="6006243"/>
              <a:ext cx="1993034" cy="472580"/>
            </a:xfrm>
            <a:prstGeom prst="borderCallout2">
              <a:avLst>
                <a:gd name="adj1" fmla="val 51901"/>
                <a:gd name="adj2" fmla="val -29"/>
                <a:gd name="adj3" fmla="val 52718"/>
                <a:gd name="adj4" fmla="val -18840"/>
                <a:gd name="adj5" fmla="val -110162"/>
                <a:gd name="adj6" fmla="val -37580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代表者名を入力する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76AC1C53-9704-495E-B30C-D6405F89EB66}"/>
                </a:ext>
              </a:extLst>
            </p:cNvPr>
            <p:cNvSpPr/>
            <p:nvPr/>
          </p:nvSpPr>
          <p:spPr>
            <a:xfrm>
              <a:off x="9391757" y="5808243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４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28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AD6C871-A965-453D-B025-3FC17333E607}"/>
              </a:ext>
            </a:extLst>
          </p:cNvPr>
          <p:cNvSpPr/>
          <p:nvPr/>
        </p:nvSpPr>
        <p:spPr>
          <a:xfrm>
            <a:off x="6138038" y="863542"/>
            <a:ext cx="5976000" cy="4752000"/>
          </a:xfrm>
          <a:prstGeom prst="roundRect">
            <a:avLst>
              <a:gd name="adj" fmla="val 5128"/>
            </a:avLst>
          </a:prstGeom>
          <a:solidFill>
            <a:srgbClr val="FFD9D9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</a:t>
            </a:r>
            <a:r>
              <a:rPr lang="ja-JP" altLang="en-US" sz="2400" b="1" spc="-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正しい入力例</a:t>
            </a:r>
            <a:endParaRPr lang="en-US" altLang="ja-JP" sz="1800" b="1" spc="-1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800" b="1" spc="-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・・・代表者名欄のみに「名前」を入力している</a:t>
            </a:r>
            <a:endParaRPr lang="en-US" altLang="ja-JP" sz="1800" b="1" spc="-1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800" b="1" spc="-1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0E4F2FCC-E2C9-403B-AE6C-10716856780A}"/>
              </a:ext>
            </a:extLst>
          </p:cNvPr>
          <p:cNvSpPr/>
          <p:nvPr/>
        </p:nvSpPr>
        <p:spPr>
          <a:xfrm>
            <a:off x="107114" y="863540"/>
            <a:ext cx="5976000" cy="4752000"/>
          </a:xfrm>
          <a:prstGeom prst="roundRect">
            <a:avLst>
              <a:gd name="adj" fmla="val 5128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　　　</a:t>
            </a:r>
            <a:r>
              <a:rPr lang="ja-JP" altLang="en-US" sz="2400" b="1" spc="-1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誤った入力例</a:t>
            </a:r>
            <a:endParaRPr lang="en-US" altLang="ja-JP" sz="1800" b="1" spc="-100" dirty="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800" b="1" spc="-1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　　　・・・氏名欄と代表者名欄の両方に「名前」を入力している</a:t>
            </a:r>
            <a:endParaRPr lang="en-US" altLang="ja-JP" sz="1800" b="1" spc="-100" dirty="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個人事業主の名前の重複登録の原因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839A5A1-7DDF-48BA-A7FB-16E6FAAEA87B}"/>
              </a:ext>
            </a:extLst>
          </p:cNvPr>
          <p:cNvGrpSpPr/>
          <p:nvPr/>
        </p:nvGrpSpPr>
        <p:grpSpPr>
          <a:xfrm>
            <a:off x="235413" y="1715231"/>
            <a:ext cx="5747125" cy="3662993"/>
            <a:chOff x="200909" y="1179723"/>
            <a:chExt cx="5747125" cy="3662993"/>
          </a:xfrm>
        </p:grpSpPr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93EC65-E14F-4AB6-B4F9-FD967D5AA6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3798" r="37878" b="26857"/>
            <a:stretch/>
          </p:blipFill>
          <p:spPr bwMode="auto">
            <a:xfrm>
              <a:off x="200909" y="1179723"/>
              <a:ext cx="5747125" cy="366299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08DE6EA-E637-4095-AEEB-A3EC2585EBEE}"/>
                </a:ext>
              </a:extLst>
            </p:cNvPr>
            <p:cNvSpPr/>
            <p:nvPr/>
          </p:nvSpPr>
          <p:spPr>
            <a:xfrm>
              <a:off x="2319052" y="2016223"/>
              <a:ext cx="1282069" cy="105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3EB3AC80-B777-41C6-9721-33B829365541}"/>
                </a:ext>
              </a:extLst>
            </p:cNvPr>
            <p:cNvSpPr/>
            <p:nvPr/>
          </p:nvSpPr>
          <p:spPr>
            <a:xfrm>
              <a:off x="2319052" y="2233952"/>
              <a:ext cx="1346885" cy="105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0026811C-67A9-4D1C-BF21-9636544DF625}"/>
                </a:ext>
              </a:extLst>
            </p:cNvPr>
            <p:cNvSpPr txBox="1"/>
            <p:nvPr/>
          </p:nvSpPr>
          <p:spPr>
            <a:xfrm>
              <a:off x="2224721" y="2186150"/>
              <a:ext cx="22092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千葉商店 千葉 太郎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BFF5683-6D06-4B9E-BAB6-742E1D27496E}"/>
                </a:ext>
              </a:extLst>
            </p:cNvPr>
            <p:cNvSpPr txBox="1"/>
            <p:nvPr/>
          </p:nvSpPr>
          <p:spPr>
            <a:xfrm>
              <a:off x="2239158" y="1931390"/>
              <a:ext cx="2400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チバショウテン チバ タロウ</a:t>
              </a: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AD0C1BF7-5772-4E29-8643-1A77EB8AA242}"/>
                </a:ext>
              </a:extLst>
            </p:cNvPr>
            <p:cNvSpPr txBox="1"/>
            <p:nvPr/>
          </p:nvSpPr>
          <p:spPr>
            <a:xfrm>
              <a:off x="2242047" y="4565717"/>
              <a:ext cx="10338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千葉 太郎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E35D3A62-D438-4561-B072-D735AD839DBD}"/>
                </a:ext>
              </a:extLst>
            </p:cNvPr>
            <p:cNvSpPr txBox="1"/>
            <p:nvPr/>
          </p:nvSpPr>
          <p:spPr>
            <a:xfrm>
              <a:off x="2242047" y="4305837"/>
              <a:ext cx="1185821" cy="270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/>
                <a:t>チバ タロウ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9D2E003-6B99-412C-926E-7BA0B9E6E2AF}"/>
              </a:ext>
            </a:extLst>
          </p:cNvPr>
          <p:cNvGrpSpPr/>
          <p:nvPr/>
        </p:nvGrpSpPr>
        <p:grpSpPr>
          <a:xfrm>
            <a:off x="6272480" y="1706601"/>
            <a:ext cx="5747125" cy="3662993"/>
            <a:chOff x="1343724" y="2024109"/>
            <a:chExt cx="5889792" cy="3753924"/>
          </a:xfrm>
        </p:grpSpPr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3FA5A283-FAF6-4C4C-9740-B477439F0F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" t="13707" r="37850" b="26948"/>
            <a:stretch/>
          </p:blipFill>
          <p:spPr bwMode="auto">
            <a:xfrm>
              <a:off x="1343724" y="2024109"/>
              <a:ext cx="5889792" cy="375392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2B3AF9D6-A4B5-43DD-80D9-96BD7FBA2936}"/>
                </a:ext>
              </a:extLst>
            </p:cNvPr>
            <p:cNvSpPr/>
            <p:nvPr/>
          </p:nvSpPr>
          <p:spPr>
            <a:xfrm>
              <a:off x="3514448" y="2881374"/>
              <a:ext cx="1313895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C435382-97B9-404A-9EBD-6F23E862882F}"/>
                </a:ext>
              </a:extLst>
            </p:cNvPr>
            <p:cNvSpPr/>
            <p:nvPr/>
          </p:nvSpPr>
          <p:spPr>
            <a:xfrm>
              <a:off x="3514448" y="3104508"/>
              <a:ext cx="138032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B32DC87-CC96-49DC-87BB-1A4CB070DFD6}"/>
              </a:ext>
            </a:extLst>
          </p:cNvPr>
          <p:cNvSpPr/>
          <p:nvPr/>
        </p:nvSpPr>
        <p:spPr>
          <a:xfrm>
            <a:off x="271999" y="915870"/>
            <a:ext cx="540000" cy="540000"/>
          </a:xfrm>
          <a:prstGeom prst="roundRect">
            <a:avLst>
              <a:gd name="adj" fmla="val 349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accent1"/>
                </a:solidFill>
              </a:rPr>
              <a:t>✖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3E7ECD7B-20B6-4E37-827A-1BDD87E0BC03}"/>
              </a:ext>
            </a:extLst>
          </p:cNvPr>
          <p:cNvSpPr/>
          <p:nvPr/>
        </p:nvSpPr>
        <p:spPr>
          <a:xfrm>
            <a:off x="6271106" y="968197"/>
            <a:ext cx="540000" cy="540000"/>
          </a:xfrm>
          <a:prstGeom prst="roundRect">
            <a:avLst>
              <a:gd name="adj" fmla="val 349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solidFill>
                  <a:srgbClr val="FF8585"/>
                </a:solidFill>
              </a:rPr>
              <a:t>〇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72A984A1-FDBE-49B7-8C12-C8E73DBB4B77}"/>
              </a:ext>
            </a:extLst>
          </p:cNvPr>
          <p:cNvSpPr/>
          <p:nvPr/>
        </p:nvSpPr>
        <p:spPr>
          <a:xfrm>
            <a:off x="260446" y="5628087"/>
            <a:ext cx="6833587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0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→口座名義は「</a:t>
            </a:r>
            <a:r>
              <a:rPr lang="ja-JP" altLang="en-US" sz="2000" b="1" spc="-1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千葉商店 千葉 太郎　千葉 太郎</a:t>
            </a:r>
            <a:r>
              <a:rPr lang="ja-JP" altLang="en-US" sz="20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lang="en-US" altLang="ja-JP" sz="2000" b="1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86750B68-44DC-46AC-91D1-3F6F6FC7FC5A}"/>
              </a:ext>
            </a:extLst>
          </p:cNvPr>
          <p:cNvSpPr/>
          <p:nvPr/>
        </p:nvSpPr>
        <p:spPr>
          <a:xfrm>
            <a:off x="6594542" y="5633287"/>
            <a:ext cx="5471534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0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→口座名義は「</a:t>
            </a:r>
            <a:r>
              <a:rPr lang="ja-JP" altLang="en-US" sz="2000" b="1" spc="-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千葉商店 千葉 太郎</a:t>
            </a:r>
            <a:r>
              <a:rPr lang="ja-JP" altLang="en-US" sz="20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lang="en-US" altLang="ja-JP" sz="2000" b="1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62BD3234-5FE5-44D2-A882-669E6E6836CE}"/>
              </a:ext>
            </a:extLst>
          </p:cNvPr>
          <p:cNvSpPr/>
          <p:nvPr/>
        </p:nvSpPr>
        <p:spPr>
          <a:xfrm>
            <a:off x="567877" y="6133421"/>
            <a:ext cx="9326832" cy="665480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800" b="1" spc="-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屋号をつけない場合は、カナ氏名・漢字氏名欄のみに入力してください。</a:t>
            </a:r>
            <a:endParaRPr lang="en-US" altLang="ja-JP" sz="1800" b="1" spc="-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1CCC9A2-3D40-47F6-B574-D920FBF120F1}"/>
              </a:ext>
            </a:extLst>
          </p:cNvPr>
          <p:cNvSpPr txBox="1"/>
          <p:nvPr/>
        </p:nvSpPr>
        <p:spPr>
          <a:xfrm>
            <a:off x="8296501" y="2710406"/>
            <a:ext cx="1203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千葉商店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708E2C9-7915-4E10-B4BF-AEA8F95218D6}"/>
              </a:ext>
            </a:extLst>
          </p:cNvPr>
          <p:cNvSpPr txBox="1"/>
          <p:nvPr/>
        </p:nvSpPr>
        <p:spPr>
          <a:xfrm>
            <a:off x="8310938" y="2455646"/>
            <a:ext cx="1426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チバショウテン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65B7106-0CE8-4A35-844B-1B86A9C02D3B}"/>
              </a:ext>
            </a:extLst>
          </p:cNvPr>
          <p:cNvSpPr/>
          <p:nvPr/>
        </p:nvSpPr>
        <p:spPr>
          <a:xfrm>
            <a:off x="1558503" y="2462454"/>
            <a:ext cx="2909979" cy="536203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0DEA654-0DA3-4E48-B68C-05DCEFEB84AC}"/>
              </a:ext>
            </a:extLst>
          </p:cNvPr>
          <p:cNvSpPr/>
          <p:nvPr/>
        </p:nvSpPr>
        <p:spPr>
          <a:xfrm>
            <a:off x="1575479" y="4810957"/>
            <a:ext cx="1751855" cy="536203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979C16C0-BEF8-4BF5-8A68-ADC5EF08A082}"/>
              </a:ext>
            </a:extLst>
          </p:cNvPr>
          <p:cNvSpPr/>
          <p:nvPr/>
        </p:nvSpPr>
        <p:spPr>
          <a:xfrm>
            <a:off x="7636560" y="2451829"/>
            <a:ext cx="2036132" cy="536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D5033E2-CDFE-4F4A-BFF2-326A6804FB80}"/>
              </a:ext>
            </a:extLst>
          </p:cNvPr>
          <p:cNvSpPr txBox="1"/>
          <p:nvPr/>
        </p:nvSpPr>
        <p:spPr>
          <a:xfrm>
            <a:off x="8296501" y="5111231"/>
            <a:ext cx="10338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千葉 太郎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4F558A9-57DD-472B-916B-A4FCCAA4EE73}"/>
              </a:ext>
            </a:extLst>
          </p:cNvPr>
          <p:cNvSpPr txBox="1"/>
          <p:nvPr/>
        </p:nvSpPr>
        <p:spPr>
          <a:xfrm>
            <a:off x="8296501" y="4851351"/>
            <a:ext cx="1185821" cy="270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チバ タロウ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EFA4B60-F7D1-43BE-AE43-4A3D56B76413}"/>
              </a:ext>
            </a:extLst>
          </p:cNvPr>
          <p:cNvSpPr/>
          <p:nvPr/>
        </p:nvSpPr>
        <p:spPr>
          <a:xfrm>
            <a:off x="7636560" y="4820556"/>
            <a:ext cx="2036132" cy="536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371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住所にローマ数字が含まれる場合の入力方法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3B3CD31-2D37-4DE0-8772-28A9E9774C57}"/>
              </a:ext>
            </a:extLst>
          </p:cNvPr>
          <p:cNvGrpSpPr/>
          <p:nvPr/>
        </p:nvGrpSpPr>
        <p:grpSpPr>
          <a:xfrm>
            <a:off x="311933" y="1323749"/>
            <a:ext cx="11568135" cy="4769547"/>
            <a:chOff x="311933" y="788533"/>
            <a:chExt cx="11568135" cy="4769547"/>
          </a:xfrm>
        </p:grpSpPr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7A6CBC8F-ADB0-4A94-B8BC-A07CC352417B}"/>
                </a:ext>
              </a:extLst>
            </p:cNvPr>
            <p:cNvSpPr/>
            <p:nvPr/>
          </p:nvSpPr>
          <p:spPr>
            <a:xfrm>
              <a:off x="311933" y="788533"/>
              <a:ext cx="2926482" cy="369332"/>
            </a:xfrm>
            <a:prstGeom prst="roundRect">
              <a:avLst>
                <a:gd name="adj" fmla="val 5128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1800" b="1" spc="-100" dirty="0">
                  <a:solidFill>
                    <a:srgbClr val="203864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お客さま基本情報入力画面</a:t>
              </a:r>
              <a:endPara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1DE12937-D95B-434F-9E20-EE539B7736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32" r="37324" b="18042"/>
            <a:stretch/>
          </p:blipFill>
          <p:spPr bwMode="auto">
            <a:xfrm>
              <a:off x="311933" y="1243568"/>
              <a:ext cx="4841468" cy="3541912"/>
            </a:xfrm>
            <a:prstGeom prst="rect">
              <a:avLst/>
            </a:prstGeom>
            <a:noFill/>
            <a:ln w="9525">
              <a:solidFill>
                <a:schemeClr val="accent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730BF196-3557-4BFB-8761-F5A281C9DF45}"/>
                </a:ext>
              </a:extLst>
            </p:cNvPr>
            <p:cNvSpPr/>
            <p:nvPr/>
          </p:nvSpPr>
          <p:spPr>
            <a:xfrm>
              <a:off x="2066503" y="2693575"/>
              <a:ext cx="1313895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669552E8-47B9-4AF8-BF2C-EB525BF430FC}"/>
                </a:ext>
              </a:extLst>
            </p:cNvPr>
            <p:cNvSpPr/>
            <p:nvPr/>
          </p:nvSpPr>
          <p:spPr>
            <a:xfrm>
              <a:off x="2066503" y="2890831"/>
              <a:ext cx="138032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F5277E58-1DFE-4BD6-B7E8-98C5C816E8AF}"/>
                </a:ext>
              </a:extLst>
            </p:cNvPr>
            <p:cNvSpPr txBox="1"/>
            <p:nvPr/>
          </p:nvSpPr>
          <p:spPr>
            <a:xfrm>
              <a:off x="1969830" y="2833217"/>
              <a:ext cx="2381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千葉港ハイツ</a:t>
              </a:r>
              <a:r>
                <a:rPr kumimoji="1" lang="en-US" altLang="ja-JP" sz="12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Ⅱ</a:t>
              </a:r>
              <a:r>
                <a:rPr kumimoji="1" lang="ja-JP" altLang="en-US" sz="1200" b="1" dirty="0" err="1">
                  <a:latin typeface="Meiryo UI" panose="020B0604030504040204" pitchFamily="50" charset="-128"/>
                  <a:ea typeface="Meiryo UI" panose="020B0604030504040204" pitchFamily="50" charset="-128"/>
                </a:rPr>
                <a:t>ー</a:t>
              </a:r>
              <a:r>
                <a:rPr kumimoji="1" lang="ja-JP" altLang="en-US" sz="12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３０５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630B93F1-9181-4661-B3C7-6366899C1541}"/>
                </a:ext>
              </a:extLst>
            </p:cNvPr>
            <p:cNvSpPr txBox="1"/>
            <p:nvPr/>
          </p:nvSpPr>
          <p:spPr>
            <a:xfrm>
              <a:off x="1984627" y="2632515"/>
              <a:ext cx="2168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チバミナトハイツ</a:t>
              </a:r>
              <a:r>
                <a:rPr kumimoji="1" lang="en-US" altLang="ja-JP" sz="12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2-305</a:t>
              </a:r>
              <a:endParaRPr kumimoji="1" lang="ja-JP" altLang="en-US" sz="12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1195DFC-D72C-4E66-BA1A-B3A9D7E2D9EE}"/>
                </a:ext>
              </a:extLst>
            </p:cNvPr>
            <p:cNvSpPr txBox="1"/>
            <p:nvPr/>
          </p:nvSpPr>
          <p:spPr>
            <a:xfrm>
              <a:off x="6797064" y="788533"/>
              <a:ext cx="29264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00206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※</a:t>
              </a:r>
              <a:r>
                <a:rPr kumimoji="1" lang="ja-JP" altLang="en-US" b="1" dirty="0">
                  <a:solidFill>
                    <a:srgbClr val="00206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ローマ数字の入力方法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680E2E11-339B-42D3-BEE0-D5A21B2EF633}"/>
                </a:ext>
              </a:extLst>
            </p:cNvPr>
            <p:cNvGrpSpPr/>
            <p:nvPr/>
          </p:nvGrpSpPr>
          <p:grpSpPr>
            <a:xfrm>
              <a:off x="6797064" y="1238512"/>
              <a:ext cx="4841468" cy="3546968"/>
              <a:chOff x="7004096" y="1238512"/>
              <a:chExt cx="4841468" cy="3546968"/>
            </a:xfrm>
          </p:grpSpPr>
          <p:pic>
            <p:nvPicPr>
              <p:cNvPr id="51" name="Picture 2">
                <a:extLst>
                  <a:ext uri="{FF2B5EF4-FFF2-40B4-BE49-F238E27FC236}">
                    <a16:creationId xmlns:a16="http://schemas.microsoft.com/office/drawing/2014/main" id="{1FF397D8-43E6-4E62-87B1-007C0F95E3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232" r="37324" b="17944"/>
              <a:stretch/>
            </p:blipFill>
            <p:spPr bwMode="auto">
              <a:xfrm>
                <a:off x="7004096" y="1238512"/>
                <a:ext cx="4841468" cy="3546968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1" name="Picture 3">
                <a:extLst>
                  <a:ext uri="{FF2B5EF4-FFF2-40B4-BE49-F238E27FC236}">
                    <a16:creationId xmlns:a16="http://schemas.microsoft.com/office/drawing/2014/main" id="{1961D4FB-CB2B-40A5-867F-8F84A62036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457"/>
              <a:stretch/>
            </p:blipFill>
            <p:spPr bwMode="auto">
              <a:xfrm>
                <a:off x="7004096" y="3347801"/>
                <a:ext cx="4841468" cy="1437679"/>
              </a:xfrm>
              <a:prstGeom prst="rect">
                <a:avLst/>
              </a:prstGeom>
              <a:noFill/>
              <a:ln w="9525">
                <a:solidFill>
                  <a:schemeClr val="accent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7" name="四角形: 角を丸くする 56">
              <a:extLst>
                <a:ext uri="{FF2B5EF4-FFF2-40B4-BE49-F238E27FC236}">
                  <a16:creationId xmlns:a16="http://schemas.microsoft.com/office/drawing/2014/main" id="{7A432658-8200-435D-B254-1845B1EE84BC}"/>
                </a:ext>
              </a:extLst>
            </p:cNvPr>
            <p:cNvSpPr/>
            <p:nvPr/>
          </p:nvSpPr>
          <p:spPr>
            <a:xfrm>
              <a:off x="9145277" y="3347801"/>
              <a:ext cx="964882" cy="132876"/>
            </a:xfrm>
            <a:prstGeom prst="roundRect">
              <a:avLst>
                <a:gd name="adj" fmla="val 3227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10800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8" name="四角形: 角を丸くする 57">
              <a:extLst>
                <a:ext uri="{FF2B5EF4-FFF2-40B4-BE49-F238E27FC236}">
                  <a16:creationId xmlns:a16="http://schemas.microsoft.com/office/drawing/2014/main" id="{266AB108-CA30-4E7D-824F-FBD0AA763006}"/>
                </a:ext>
              </a:extLst>
            </p:cNvPr>
            <p:cNvSpPr/>
            <p:nvPr/>
          </p:nvSpPr>
          <p:spPr>
            <a:xfrm>
              <a:off x="7678148" y="3484909"/>
              <a:ext cx="620464" cy="132876"/>
            </a:xfrm>
            <a:prstGeom prst="roundRect">
              <a:avLst>
                <a:gd name="adj" fmla="val 3227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10800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吹き出し: 折線 36">
              <a:extLst>
                <a:ext uri="{FF2B5EF4-FFF2-40B4-BE49-F238E27FC236}">
                  <a16:creationId xmlns:a16="http://schemas.microsoft.com/office/drawing/2014/main" id="{8EC66201-36B1-436E-826B-60C092FEA4F4}"/>
                </a:ext>
              </a:extLst>
            </p:cNvPr>
            <p:cNvSpPr/>
            <p:nvPr/>
          </p:nvSpPr>
          <p:spPr>
            <a:xfrm>
              <a:off x="5934336" y="4888401"/>
              <a:ext cx="2039677" cy="669679"/>
            </a:xfrm>
            <a:prstGeom prst="borderCallout2">
              <a:avLst>
                <a:gd name="adj1" fmla="val 1085"/>
                <a:gd name="adj2" fmla="val 50254"/>
                <a:gd name="adj3" fmla="val -50868"/>
                <a:gd name="adj4" fmla="val 50651"/>
                <a:gd name="adj5" fmla="val -101906"/>
                <a:gd name="adj6" fmla="val 64267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「外字」ボタンを押す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57B158A3-A8D2-40C3-9FE0-1EF5EF913398}"/>
                </a:ext>
              </a:extLst>
            </p:cNvPr>
            <p:cNvSpPr/>
            <p:nvPr/>
          </p:nvSpPr>
          <p:spPr>
            <a:xfrm>
              <a:off x="5754790" y="4719311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en-US" altLang="ja-JP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1</a:t>
              </a:r>
            </a:p>
          </p:txBody>
        </p:sp>
        <p:sp>
          <p:nvSpPr>
            <p:cNvPr id="39" name="吹き出し: 折線 38">
              <a:extLst>
                <a:ext uri="{FF2B5EF4-FFF2-40B4-BE49-F238E27FC236}">
                  <a16:creationId xmlns:a16="http://schemas.microsoft.com/office/drawing/2014/main" id="{A792168D-2602-4E7A-AE55-A3498721F2B8}"/>
                </a:ext>
              </a:extLst>
            </p:cNvPr>
            <p:cNvSpPr/>
            <p:nvPr/>
          </p:nvSpPr>
          <p:spPr>
            <a:xfrm>
              <a:off x="9748462" y="4315925"/>
              <a:ext cx="2131606" cy="669679"/>
            </a:xfrm>
            <a:prstGeom prst="borderCallout2">
              <a:avLst>
                <a:gd name="adj1" fmla="val 49358"/>
                <a:gd name="adj2" fmla="val 443"/>
                <a:gd name="adj3" fmla="val 49816"/>
                <a:gd name="adj4" fmla="val -12746"/>
                <a:gd name="adj5" fmla="val -114319"/>
                <a:gd name="adj6" fmla="val -20998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表示されたローマ数字を選択・挿入する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0" name="楕円 49">
              <a:extLst>
                <a:ext uri="{FF2B5EF4-FFF2-40B4-BE49-F238E27FC236}">
                  <a16:creationId xmlns:a16="http://schemas.microsoft.com/office/drawing/2014/main" id="{FC6D37D5-90C9-4E90-97B4-0411906DC6A9}"/>
                </a:ext>
              </a:extLst>
            </p:cNvPr>
            <p:cNvSpPr/>
            <p:nvPr/>
          </p:nvSpPr>
          <p:spPr>
            <a:xfrm>
              <a:off x="9550461" y="4088112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２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0" name="吹き出し: 折線 59">
              <a:extLst>
                <a:ext uri="{FF2B5EF4-FFF2-40B4-BE49-F238E27FC236}">
                  <a16:creationId xmlns:a16="http://schemas.microsoft.com/office/drawing/2014/main" id="{A6E55D33-E967-46B7-9FC5-32C4ADD03454}"/>
                </a:ext>
              </a:extLst>
            </p:cNvPr>
            <p:cNvSpPr/>
            <p:nvPr/>
          </p:nvSpPr>
          <p:spPr>
            <a:xfrm>
              <a:off x="3975191" y="3161673"/>
              <a:ext cx="2381331" cy="669679"/>
            </a:xfrm>
            <a:prstGeom prst="borderCallout2">
              <a:avLst>
                <a:gd name="adj1" fmla="val 49358"/>
                <a:gd name="adj2" fmla="val 443"/>
                <a:gd name="adj3" fmla="val 49816"/>
                <a:gd name="adj4" fmla="val -7704"/>
                <a:gd name="adj5" fmla="val -17773"/>
                <a:gd name="adj6" fmla="val -15956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漢字住所入力欄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「</a:t>
              </a:r>
              <a:r>
                <a:rPr lang="en-US" altLang="ja-JP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Ⅱ</a:t>
              </a:r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」をそのまま入力する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9" name="楕円 48">
              <a:extLst>
                <a:ext uri="{FF2B5EF4-FFF2-40B4-BE49-F238E27FC236}">
                  <a16:creationId xmlns:a16="http://schemas.microsoft.com/office/drawing/2014/main" id="{B5267856-278B-41D0-8088-70EF81E0BD87}"/>
                </a:ext>
              </a:extLst>
            </p:cNvPr>
            <p:cNvSpPr/>
            <p:nvPr/>
          </p:nvSpPr>
          <p:spPr>
            <a:xfrm>
              <a:off x="3799035" y="2945899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２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1" name="吹き出し: 折線 60">
              <a:extLst>
                <a:ext uri="{FF2B5EF4-FFF2-40B4-BE49-F238E27FC236}">
                  <a16:creationId xmlns:a16="http://schemas.microsoft.com/office/drawing/2014/main" id="{8598085A-9B78-44CF-9A72-FE6D46CDB42A}"/>
                </a:ext>
              </a:extLst>
            </p:cNvPr>
            <p:cNvSpPr/>
            <p:nvPr/>
          </p:nvSpPr>
          <p:spPr>
            <a:xfrm>
              <a:off x="4081126" y="1820675"/>
              <a:ext cx="2381331" cy="669679"/>
            </a:xfrm>
            <a:prstGeom prst="borderCallout2">
              <a:avLst>
                <a:gd name="adj1" fmla="val 49358"/>
                <a:gd name="adj2" fmla="val 443"/>
                <a:gd name="adj3" fmla="val 49816"/>
                <a:gd name="adj4" fmla="val -7704"/>
                <a:gd name="adj5" fmla="val 127045"/>
                <a:gd name="adj6" fmla="val -19835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カナ住所入力欄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算用数字「２」を入力する</a:t>
              </a:r>
              <a:endPara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DB75A20B-C8BA-44DA-9FE4-D803323F992F}"/>
                </a:ext>
              </a:extLst>
            </p:cNvPr>
            <p:cNvSpPr/>
            <p:nvPr/>
          </p:nvSpPr>
          <p:spPr>
            <a:xfrm>
              <a:off x="3883126" y="1619973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en-US" altLang="ja-JP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843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お客さまが希望する漢字を登録できない場合の入力方法</a:t>
            </a: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CA1B58FB-5DDD-4E3E-9DB3-19AB399657A8}"/>
              </a:ext>
            </a:extLst>
          </p:cNvPr>
          <p:cNvGrpSpPr/>
          <p:nvPr/>
        </p:nvGrpSpPr>
        <p:grpSpPr>
          <a:xfrm>
            <a:off x="922722" y="908720"/>
            <a:ext cx="10244900" cy="5722747"/>
            <a:chOff x="0" y="0"/>
            <a:chExt cx="4648200" cy="3091180"/>
          </a:xfrm>
        </p:grpSpPr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F5036AC3-BD89-469A-BD0B-FA380772DC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0" y="0"/>
              <a:ext cx="4648200" cy="309118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0FB20C00-7632-40BB-B2EF-8EF46F3BC21B}"/>
                </a:ext>
              </a:extLst>
            </p:cNvPr>
            <p:cNvSpPr/>
            <p:nvPr/>
          </p:nvSpPr>
          <p:spPr>
            <a:xfrm>
              <a:off x="2971800" y="99060"/>
              <a:ext cx="609600" cy="121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  <p:sp>
          <p:nvSpPr>
            <p:cNvPr id="54" name="四角形: 角を丸くする 53">
              <a:extLst>
                <a:ext uri="{FF2B5EF4-FFF2-40B4-BE49-F238E27FC236}">
                  <a16:creationId xmlns:a16="http://schemas.microsoft.com/office/drawing/2014/main" id="{23295C73-9E74-4BFD-9AB6-C7E60A1385EE}"/>
                </a:ext>
              </a:extLst>
            </p:cNvPr>
            <p:cNvSpPr/>
            <p:nvPr/>
          </p:nvSpPr>
          <p:spPr>
            <a:xfrm>
              <a:off x="2240280" y="1219200"/>
              <a:ext cx="213360" cy="16002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sp>
        <p:nvSpPr>
          <p:cNvPr id="8" name="吹き出し: 折線 7">
            <a:extLst>
              <a:ext uri="{FF2B5EF4-FFF2-40B4-BE49-F238E27FC236}">
                <a16:creationId xmlns:a16="http://schemas.microsoft.com/office/drawing/2014/main" id="{E0016B4D-021F-4FF4-96C0-45359059FBD5}"/>
              </a:ext>
            </a:extLst>
          </p:cNvPr>
          <p:cNvSpPr/>
          <p:nvPr/>
        </p:nvSpPr>
        <p:spPr>
          <a:xfrm>
            <a:off x="7034881" y="1911370"/>
            <a:ext cx="4821759" cy="837045"/>
          </a:xfrm>
          <a:prstGeom prst="borderCallout2">
            <a:avLst>
              <a:gd name="adj1" fmla="val 49358"/>
              <a:gd name="adj2" fmla="val -323"/>
              <a:gd name="adj3" fmla="val 49816"/>
              <a:gd name="adj4" fmla="val -7704"/>
              <a:gd name="adj5" fmla="val 136976"/>
              <a:gd name="adj6" fmla="val -19621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「漢字氏名」以外の項目をすべて記入し、</a:t>
            </a:r>
            <a:endParaRPr kumimoji="1"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「外字」ボタンを押下し、「次へ」ボタンを押下する</a:t>
            </a:r>
          </a:p>
        </p:txBody>
      </p:sp>
    </p:spTree>
    <p:extLst>
      <p:ext uri="{BB962C8B-B14F-4D97-AF65-F5344CB8AC3E}">
        <p14:creationId xmlns:p14="http://schemas.microsoft.com/office/powerpoint/2010/main" val="3715526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米国示唆</a:t>
            </a:r>
            <a:r>
              <a:rPr lang="ja-JP" altLang="en-US"/>
              <a:t>情報（</a:t>
            </a:r>
            <a:r>
              <a:rPr lang="en-US" altLang="ja-JP" dirty="0"/>
              <a:t>FATCA</a:t>
            </a:r>
            <a:r>
              <a:rPr lang="ja-JP" altLang="en-US" dirty="0"/>
              <a:t>）の判定方法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A6CBC8F-ADB0-4A94-B8BC-A07CC352417B}"/>
              </a:ext>
            </a:extLst>
          </p:cNvPr>
          <p:cNvSpPr/>
          <p:nvPr/>
        </p:nvSpPr>
        <p:spPr>
          <a:xfrm>
            <a:off x="311933" y="788533"/>
            <a:ext cx="2353629" cy="369332"/>
          </a:xfrm>
          <a:prstGeom prst="roundRect">
            <a:avLst>
              <a:gd name="adj" fmla="val 5128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法令に基づく確認</a:t>
            </a:r>
            <a:endParaRPr lang="en-US" altLang="ja-JP" sz="1800" b="1" spc="-100" dirty="0">
              <a:solidFill>
                <a:srgbClr val="20386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CED66152-A67F-4B78-9ED2-001FBA948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33" y="1234083"/>
            <a:ext cx="5090061" cy="3337926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BE07B227-1D69-435F-91A5-F1D4153B5C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22" b="2106"/>
          <a:stretch/>
        </p:blipFill>
        <p:spPr bwMode="auto">
          <a:xfrm>
            <a:off x="7315063" y="1582317"/>
            <a:ext cx="2621415" cy="31318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矢印: 左 6">
            <a:extLst>
              <a:ext uri="{FF2B5EF4-FFF2-40B4-BE49-F238E27FC236}">
                <a16:creationId xmlns:a16="http://schemas.microsoft.com/office/drawing/2014/main" id="{16FA9F07-DC06-4746-84DD-BC9D28D67E2F}"/>
              </a:ext>
            </a:extLst>
          </p:cNvPr>
          <p:cNvSpPr/>
          <p:nvPr/>
        </p:nvSpPr>
        <p:spPr>
          <a:xfrm flipH="1">
            <a:off x="5834103" y="2201347"/>
            <a:ext cx="1157242" cy="369332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54" name="Picture 5">
            <a:extLst>
              <a:ext uri="{FF2B5EF4-FFF2-40B4-BE49-F238E27FC236}">
                <a16:creationId xmlns:a16="http://schemas.microsoft.com/office/drawing/2014/main" id="{B7B88E0B-7AC0-47F3-A0AA-82456F1AB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3" t="39769" r="7681" b="45584"/>
          <a:stretch/>
        </p:blipFill>
        <p:spPr bwMode="auto">
          <a:xfrm>
            <a:off x="6186954" y="4975751"/>
            <a:ext cx="5230484" cy="126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3AA896-569B-494F-BD5A-179446481D32}"/>
              </a:ext>
            </a:extLst>
          </p:cNvPr>
          <p:cNvSpPr txBox="1"/>
          <p:nvPr/>
        </p:nvSpPr>
        <p:spPr>
          <a:xfrm>
            <a:off x="7092877" y="1157865"/>
            <a:ext cx="357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FATCA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プレ判定表が表示される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4556AE7-8338-4E32-A3ED-70D296A462F5}"/>
              </a:ext>
            </a:extLst>
          </p:cNvPr>
          <p:cNvSpPr/>
          <p:nvPr/>
        </p:nvSpPr>
        <p:spPr>
          <a:xfrm>
            <a:off x="7391176" y="2570679"/>
            <a:ext cx="2414380" cy="517578"/>
          </a:xfrm>
          <a:prstGeom prst="rect">
            <a:avLst/>
          </a:prstGeom>
          <a:solidFill>
            <a:srgbClr val="FFA7A7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6B65A0D-F586-45B4-BA67-1176D6FD97B7}"/>
              </a:ext>
            </a:extLst>
          </p:cNvPr>
          <p:cNvCxnSpPr>
            <a:cxnSpLocks/>
          </p:cNvCxnSpPr>
          <p:nvPr/>
        </p:nvCxnSpPr>
        <p:spPr>
          <a:xfrm flipH="1">
            <a:off x="6108196" y="3088257"/>
            <a:ext cx="1287116" cy="1854382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8739778F-5525-40B7-9CB6-03EAF7DEE64C}"/>
              </a:ext>
            </a:extLst>
          </p:cNvPr>
          <p:cNvCxnSpPr>
            <a:cxnSpLocks/>
          </p:cNvCxnSpPr>
          <p:nvPr/>
        </p:nvCxnSpPr>
        <p:spPr>
          <a:xfrm>
            <a:off x="9809690" y="3088257"/>
            <a:ext cx="1607748" cy="1887494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B9CA1B8-15C0-4007-BF8D-DC9A724C2584}"/>
              </a:ext>
            </a:extLst>
          </p:cNvPr>
          <p:cNvSpPr/>
          <p:nvPr/>
        </p:nvSpPr>
        <p:spPr>
          <a:xfrm>
            <a:off x="6097815" y="4948491"/>
            <a:ext cx="5319622" cy="12613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85F3D8-C6C8-4500-B01F-5A73BD9303BE}"/>
              </a:ext>
            </a:extLst>
          </p:cNvPr>
          <p:cNvSpPr txBox="1"/>
          <p:nvPr/>
        </p:nvSpPr>
        <p:spPr>
          <a:xfrm>
            <a:off x="5498713" y="6270163"/>
            <a:ext cx="651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判定基準を確認し、</a:t>
            </a:r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（なし）</a:t>
            </a:r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（あり）いずれかを選択する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4E6A75-5319-4500-B9E5-70F218673A92}"/>
              </a:ext>
            </a:extLst>
          </p:cNvPr>
          <p:cNvSpPr/>
          <p:nvPr/>
        </p:nvSpPr>
        <p:spPr>
          <a:xfrm>
            <a:off x="4615349" y="2461263"/>
            <a:ext cx="305065" cy="120728"/>
          </a:xfrm>
          <a:prstGeom prst="rect">
            <a:avLst/>
          </a:prstGeom>
          <a:solidFill>
            <a:srgbClr val="008C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endParaRPr kumimoji="1" lang="ja-JP" alt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吹き出し: 折線 18">
            <a:extLst>
              <a:ext uri="{FF2B5EF4-FFF2-40B4-BE49-F238E27FC236}">
                <a16:creationId xmlns:a16="http://schemas.microsoft.com/office/drawing/2014/main" id="{2C94B532-8901-4AF8-8906-72C058112975}"/>
              </a:ext>
            </a:extLst>
          </p:cNvPr>
          <p:cNvSpPr/>
          <p:nvPr/>
        </p:nvSpPr>
        <p:spPr>
          <a:xfrm flipH="1">
            <a:off x="2372694" y="1503878"/>
            <a:ext cx="2203873" cy="661186"/>
          </a:xfrm>
          <a:prstGeom prst="borderCallout2">
            <a:avLst>
              <a:gd name="adj1" fmla="val 49358"/>
              <a:gd name="adj2" fmla="val -323"/>
              <a:gd name="adj3" fmla="val 49816"/>
              <a:gd name="adj4" fmla="val -7704"/>
              <a:gd name="adj5" fmla="val 127197"/>
              <a:gd name="adj6" fmla="val -12496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</a:t>
            </a:r>
            <a:r>
              <a:rPr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PDF</a:t>
            </a:r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」ボタンを押す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11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税法上の国が日本以外にもある場合の入力方法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81A2A19-9ABB-427C-A875-4563876E5A38}"/>
              </a:ext>
            </a:extLst>
          </p:cNvPr>
          <p:cNvGrpSpPr/>
          <p:nvPr/>
        </p:nvGrpSpPr>
        <p:grpSpPr>
          <a:xfrm>
            <a:off x="419199" y="1134951"/>
            <a:ext cx="11353602" cy="5102361"/>
            <a:chOff x="235660" y="788533"/>
            <a:chExt cx="11353602" cy="5102361"/>
          </a:xfrm>
        </p:grpSpPr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7A6CBC8F-ADB0-4A94-B8BC-A07CC352417B}"/>
                </a:ext>
              </a:extLst>
            </p:cNvPr>
            <p:cNvSpPr/>
            <p:nvPr/>
          </p:nvSpPr>
          <p:spPr>
            <a:xfrm>
              <a:off x="311933" y="788533"/>
              <a:ext cx="5288767" cy="369332"/>
            </a:xfrm>
            <a:prstGeom prst="roundRect">
              <a:avLst>
                <a:gd name="adj" fmla="val 5128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1800" b="1" spc="-100" dirty="0">
                  <a:solidFill>
                    <a:srgbClr val="203864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居住国・税法上の国の確認で「いいえ」を選択した場合</a:t>
              </a:r>
              <a:endParaRPr lang="en-US" altLang="ja-JP" sz="1800" b="1" spc="-100" dirty="0">
                <a:solidFill>
                  <a:srgbClr val="203864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F55A0877-6715-40E1-B252-A895361B8A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0"/>
            <a:stretch/>
          </p:blipFill>
          <p:spPr bwMode="auto">
            <a:xfrm>
              <a:off x="355937" y="1353812"/>
              <a:ext cx="4892108" cy="327708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7959D02D-DEDA-49C6-8117-B4F568D007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39" t="25814" r="25877" b="50105"/>
            <a:stretch/>
          </p:blipFill>
          <p:spPr bwMode="auto">
            <a:xfrm>
              <a:off x="7177751" y="1721095"/>
              <a:ext cx="4411511" cy="10880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5" name="Picture 17">
              <a:extLst>
                <a:ext uri="{FF2B5EF4-FFF2-40B4-BE49-F238E27FC236}">
                  <a16:creationId xmlns:a16="http://schemas.microsoft.com/office/drawing/2014/main" id="{59726868-2308-4B43-8A7A-D0B5C1277A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63" t="26934" r="25661" b="42754"/>
            <a:stretch/>
          </p:blipFill>
          <p:spPr bwMode="auto">
            <a:xfrm>
              <a:off x="7177751" y="4573698"/>
              <a:ext cx="4406329" cy="13171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コネクタ: カギ線 30">
              <a:extLst>
                <a:ext uri="{FF2B5EF4-FFF2-40B4-BE49-F238E27FC236}">
                  <a16:creationId xmlns:a16="http://schemas.microsoft.com/office/drawing/2014/main" id="{F8B452D8-3FC7-4A27-8E4D-2BC72AD78B39}"/>
                </a:ext>
              </a:extLst>
            </p:cNvPr>
            <p:cNvCxnSpPr>
              <a:cxnSpLocks/>
              <a:stCxn id="2058" idx="3"/>
              <a:endCxn id="2064" idx="1"/>
            </p:cNvCxnSpPr>
            <p:nvPr/>
          </p:nvCxnSpPr>
          <p:spPr>
            <a:xfrm flipV="1">
              <a:off x="5248045" y="2265139"/>
              <a:ext cx="1929706" cy="727217"/>
            </a:xfrm>
            <a:prstGeom prst="bentConnector3">
              <a:avLst/>
            </a:prstGeom>
            <a:ln w="38100">
              <a:solidFill>
                <a:srgbClr val="00206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コネクタ: カギ線 47">
              <a:extLst>
                <a:ext uri="{FF2B5EF4-FFF2-40B4-BE49-F238E27FC236}">
                  <a16:creationId xmlns:a16="http://schemas.microsoft.com/office/drawing/2014/main" id="{B7BA598C-BDB4-4CE7-8ABF-FF9D97A59C3F}"/>
                </a:ext>
              </a:extLst>
            </p:cNvPr>
            <p:cNvCxnSpPr>
              <a:cxnSpLocks/>
              <a:stCxn id="2058" idx="3"/>
              <a:endCxn id="2065" idx="1"/>
            </p:cNvCxnSpPr>
            <p:nvPr/>
          </p:nvCxnSpPr>
          <p:spPr>
            <a:xfrm>
              <a:off x="5248045" y="2992356"/>
              <a:ext cx="1929706" cy="2239940"/>
            </a:xfrm>
            <a:prstGeom prst="bentConnector3">
              <a:avLst/>
            </a:prstGeom>
            <a:ln w="38100">
              <a:solidFill>
                <a:srgbClr val="00206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四角形: 角を丸くする 54">
              <a:extLst>
                <a:ext uri="{FF2B5EF4-FFF2-40B4-BE49-F238E27FC236}">
                  <a16:creationId xmlns:a16="http://schemas.microsoft.com/office/drawing/2014/main" id="{67C4EF9C-188C-4132-A992-DCDC211AD4DB}"/>
                </a:ext>
              </a:extLst>
            </p:cNvPr>
            <p:cNvSpPr/>
            <p:nvPr/>
          </p:nvSpPr>
          <p:spPr>
            <a:xfrm>
              <a:off x="6218943" y="1245396"/>
              <a:ext cx="4478540" cy="392530"/>
            </a:xfrm>
            <a:prstGeom prst="roundRect">
              <a:avLst>
                <a:gd name="adj" fmla="val 5128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1800" b="1" spc="-100" dirty="0">
                  <a:solidFill>
                    <a:srgbClr val="203864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米国を選択した場合：</a:t>
              </a:r>
              <a:r>
                <a:rPr lang="ja-JP" altLang="en-US" sz="1800" b="1" spc="-1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納税者番号を入力する</a:t>
              </a:r>
              <a:endParaRPr lang="en-US" altLang="ja-JP" sz="1800" b="1" spc="-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四角形: 角を丸くする 55">
              <a:extLst>
                <a:ext uri="{FF2B5EF4-FFF2-40B4-BE49-F238E27FC236}">
                  <a16:creationId xmlns:a16="http://schemas.microsoft.com/office/drawing/2014/main" id="{EA81B71F-4684-4D25-B344-98579620C4E5}"/>
                </a:ext>
              </a:extLst>
            </p:cNvPr>
            <p:cNvSpPr/>
            <p:nvPr/>
          </p:nvSpPr>
          <p:spPr>
            <a:xfrm>
              <a:off x="6212898" y="4081186"/>
              <a:ext cx="5319133" cy="369332"/>
            </a:xfrm>
            <a:prstGeom prst="roundRect">
              <a:avLst>
                <a:gd name="adj" fmla="val 5128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ja-JP" altLang="en-US" sz="1800" b="1" spc="-100" dirty="0">
                  <a:solidFill>
                    <a:srgbClr val="203864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米国以外を選択した場合：</a:t>
              </a:r>
              <a:r>
                <a:rPr lang="ja-JP" altLang="en-US" sz="1800" b="1" spc="-1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国名・納税者番号を入力する</a:t>
              </a:r>
              <a:endParaRPr lang="en-US" altLang="ja-JP" sz="1800" b="1" spc="-1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58AE715E-D76B-4E00-BA6C-FEAE83B0D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7131" y="1833679"/>
              <a:ext cx="616833" cy="354613"/>
            </a:xfrm>
            <a:prstGeom prst="rect">
              <a:avLst/>
            </a:prstGeom>
          </p:spPr>
        </p:pic>
        <p:pic>
          <p:nvPicPr>
            <p:cNvPr id="75" name="図 74">
              <a:extLst>
                <a:ext uri="{FF2B5EF4-FFF2-40B4-BE49-F238E27FC236}">
                  <a16:creationId xmlns:a16="http://schemas.microsoft.com/office/drawing/2014/main" id="{2C75C520-FA76-4DE9-B88A-55EED37AD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48877" y="4627782"/>
              <a:ext cx="616833" cy="354613"/>
            </a:xfrm>
            <a:prstGeom prst="rect">
              <a:avLst/>
            </a:prstGeom>
          </p:spPr>
        </p:pic>
        <p:sp>
          <p:nvSpPr>
            <p:cNvPr id="2048" name="テキスト ボックス 2047">
              <a:extLst>
                <a:ext uri="{FF2B5EF4-FFF2-40B4-BE49-F238E27FC236}">
                  <a16:creationId xmlns:a16="http://schemas.microsoft.com/office/drawing/2014/main" id="{0C7EEE81-3C15-4364-B566-D4DC1DFDD628}"/>
                </a:ext>
              </a:extLst>
            </p:cNvPr>
            <p:cNvSpPr txBox="1"/>
            <p:nvPr/>
          </p:nvSpPr>
          <p:spPr>
            <a:xfrm>
              <a:off x="235660" y="4758500"/>
              <a:ext cx="50497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※</a:t>
              </a:r>
              <a:r>
                <a:rPr kumimoji="1"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日本に納税を行っていない（日本に１年以上滞在予定</a:t>
              </a:r>
              <a:endParaRPr kumimoji="1"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en-US" altLang="ja-JP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   </a:t>
              </a:r>
              <a:r>
                <a:rPr kumimoji="1" lang="ja-JP" altLang="en-US" sz="16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ではない）場合は非居住者となるため、スマイル対象外</a:t>
              </a:r>
            </a:p>
          </p:txBody>
        </p:sp>
        <p:sp>
          <p:nvSpPr>
            <p:cNvPr id="24" name="吹き出し: 折線 23">
              <a:extLst>
                <a:ext uri="{FF2B5EF4-FFF2-40B4-BE49-F238E27FC236}">
                  <a16:creationId xmlns:a16="http://schemas.microsoft.com/office/drawing/2014/main" id="{03B3CF7F-8279-4345-ABCF-593B968C0169}"/>
                </a:ext>
              </a:extLst>
            </p:cNvPr>
            <p:cNvSpPr/>
            <p:nvPr/>
          </p:nvSpPr>
          <p:spPr>
            <a:xfrm>
              <a:off x="3117007" y="1307333"/>
              <a:ext cx="2506220" cy="661186"/>
            </a:xfrm>
            <a:prstGeom prst="borderCallout2">
              <a:avLst>
                <a:gd name="adj1" fmla="val 49358"/>
                <a:gd name="adj2" fmla="val -323"/>
                <a:gd name="adj3" fmla="val 49816"/>
                <a:gd name="adj4" fmla="val -7704"/>
                <a:gd name="adj5" fmla="val 163518"/>
                <a:gd name="adj6" fmla="val -38294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住所を英字で入力する</a:t>
              </a:r>
              <a:endParaRPr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C84F54FB-C327-48DA-A2FD-58236FBC8025}"/>
                </a:ext>
              </a:extLst>
            </p:cNvPr>
            <p:cNvSpPr/>
            <p:nvPr/>
          </p:nvSpPr>
          <p:spPr>
            <a:xfrm>
              <a:off x="2933178" y="1155812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１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吹き出し: 折線 26">
              <a:extLst>
                <a:ext uri="{FF2B5EF4-FFF2-40B4-BE49-F238E27FC236}">
                  <a16:creationId xmlns:a16="http://schemas.microsoft.com/office/drawing/2014/main" id="{6BE1D883-ECAF-428F-A154-E91E36E10D99}"/>
                </a:ext>
              </a:extLst>
            </p:cNvPr>
            <p:cNvSpPr/>
            <p:nvPr/>
          </p:nvSpPr>
          <p:spPr>
            <a:xfrm>
              <a:off x="3392232" y="3131541"/>
              <a:ext cx="2356424" cy="661186"/>
            </a:xfrm>
            <a:prstGeom prst="borderCallout2">
              <a:avLst>
                <a:gd name="adj1" fmla="val 49358"/>
                <a:gd name="adj2" fmla="val -323"/>
                <a:gd name="adj3" fmla="val 49816"/>
                <a:gd name="adj4" fmla="val -7704"/>
                <a:gd name="adj5" fmla="val 5664"/>
                <a:gd name="adj6" fmla="val -25809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r>
                <a:rPr lang="ja-JP" altLang="en-US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税法上の居住地国を選択する</a:t>
              </a:r>
              <a:r>
                <a:rPr lang="en-US" altLang="ja-JP" b="1" baseline="30000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※</a:t>
              </a:r>
            </a:p>
          </p:txBody>
        </p: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E602E8BE-DC4E-4D0F-B94E-A7CE1032C945}"/>
                </a:ext>
              </a:extLst>
            </p:cNvPr>
            <p:cNvSpPr/>
            <p:nvPr/>
          </p:nvSpPr>
          <p:spPr>
            <a:xfrm>
              <a:off x="3194232" y="2934292"/>
              <a:ext cx="396000" cy="39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kumimoji="1" lang="ja-JP" altLang="en-US" sz="1600" b="1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２</a:t>
              </a:r>
              <a:endParaRPr kumimoji="1" lang="en-US" altLang="ja-JP" sz="1600" b="1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61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BF0A48-0164-4455-8DCB-2BE5D297C4EF}"/>
              </a:ext>
            </a:extLst>
          </p:cNvPr>
          <p:cNvSpPr txBox="1"/>
          <p:nvPr/>
        </p:nvSpPr>
        <p:spPr>
          <a:xfrm>
            <a:off x="511689" y="760420"/>
            <a:ext cx="10676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ラジオボタンとは、選択肢が丸い形のフォームのことです。</a:t>
            </a:r>
            <a:endParaRPr kumimoji="1"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ラジオボタンを選択した状態でチェックシートを保存すると未選択の状態に戻すことができません。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BBECC5B-5565-4D71-B846-09B530D4ED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5" t="10399" r="74047" b="78804"/>
          <a:stretch/>
        </p:blipFill>
        <p:spPr>
          <a:xfrm>
            <a:off x="3758608" y="1554051"/>
            <a:ext cx="2903538" cy="1485899"/>
          </a:xfrm>
          <a:prstGeom prst="rect">
            <a:avLst/>
          </a:prstGeom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0E6F038-FA10-4964-BB23-6F17A820D0A0}"/>
              </a:ext>
            </a:extLst>
          </p:cNvPr>
          <p:cNvGrpSpPr/>
          <p:nvPr/>
        </p:nvGrpSpPr>
        <p:grpSpPr>
          <a:xfrm>
            <a:off x="3758608" y="3378755"/>
            <a:ext cx="2903538" cy="1485899"/>
            <a:chOff x="7778203" y="3596354"/>
            <a:chExt cx="2903538" cy="1485899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FAD8640C-C3C6-4C64-BAC2-8E5EEB8614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45" t="10399" r="74047" b="78804"/>
            <a:stretch/>
          </p:blipFill>
          <p:spPr>
            <a:xfrm>
              <a:off x="7778203" y="3596354"/>
              <a:ext cx="2903538" cy="1485899"/>
            </a:xfrm>
            <a:prstGeom prst="rect">
              <a:avLst/>
            </a:prstGeom>
          </p:spPr>
        </p:pic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8C128C93-6983-4BC3-8F8D-D16483FE28CA}"/>
                </a:ext>
              </a:extLst>
            </p:cNvPr>
            <p:cNvSpPr/>
            <p:nvPr/>
          </p:nvSpPr>
          <p:spPr>
            <a:xfrm>
              <a:off x="8842508" y="4509295"/>
              <a:ext cx="164463" cy="164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FF1AA89-16F8-48A2-AEF3-DC987AD6F8C8}"/>
              </a:ext>
            </a:extLst>
          </p:cNvPr>
          <p:cNvGrpSpPr/>
          <p:nvPr/>
        </p:nvGrpSpPr>
        <p:grpSpPr>
          <a:xfrm>
            <a:off x="3758608" y="5111453"/>
            <a:ext cx="2903538" cy="1485899"/>
            <a:chOff x="7778203" y="3596354"/>
            <a:chExt cx="2903538" cy="1485899"/>
          </a:xfrm>
        </p:grpSpPr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5C657772-54A0-4D54-8DC6-56A8D42DD3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45" t="10399" r="74047" b="78804"/>
            <a:stretch/>
          </p:blipFill>
          <p:spPr>
            <a:xfrm>
              <a:off x="7778203" y="3596354"/>
              <a:ext cx="2903538" cy="1485899"/>
            </a:xfrm>
            <a:prstGeom prst="rect">
              <a:avLst/>
            </a:prstGeom>
          </p:spPr>
        </p:pic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9475CDB2-AA09-4568-BAAF-B723B5BCA0AD}"/>
                </a:ext>
              </a:extLst>
            </p:cNvPr>
            <p:cNvSpPr/>
            <p:nvPr/>
          </p:nvSpPr>
          <p:spPr>
            <a:xfrm>
              <a:off x="8842508" y="4509295"/>
              <a:ext cx="164463" cy="164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D74F9F4-189A-43EA-B86C-E03251A13921}"/>
              </a:ext>
            </a:extLst>
          </p:cNvPr>
          <p:cNvSpPr/>
          <p:nvPr/>
        </p:nvSpPr>
        <p:spPr>
          <a:xfrm>
            <a:off x="1619490" y="1577059"/>
            <a:ext cx="2139118" cy="14398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該当あり</a:t>
            </a:r>
            <a:endParaRPr kumimoji="1"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→該当なしに変更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F041FFF-538B-4185-A3F6-919496BDA517}"/>
              </a:ext>
            </a:extLst>
          </p:cNvPr>
          <p:cNvSpPr/>
          <p:nvPr/>
        </p:nvSpPr>
        <p:spPr>
          <a:xfrm>
            <a:off x="1619490" y="3344256"/>
            <a:ext cx="2139118" cy="14398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該当なし</a:t>
            </a:r>
            <a:endParaRPr kumimoji="1"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→該当ありに変更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E2DCD1-8831-4049-B1E4-28054B4F9C2B}"/>
              </a:ext>
            </a:extLst>
          </p:cNvPr>
          <p:cNvSpPr/>
          <p:nvPr/>
        </p:nvSpPr>
        <p:spPr>
          <a:xfrm>
            <a:off x="1619490" y="5111453"/>
            <a:ext cx="2139118" cy="143988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該当なし・該当あり</a:t>
            </a:r>
            <a:endParaRPr kumimoji="1"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→未選択の状態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47B33BD-6E89-4217-94B1-F2FA738F7118}"/>
              </a:ext>
            </a:extLst>
          </p:cNvPr>
          <p:cNvSpPr/>
          <p:nvPr/>
        </p:nvSpPr>
        <p:spPr>
          <a:xfrm>
            <a:off x="4842099" y="1838342"/>
            <a:ext cx="164463" cy="1644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98563E2-5D0F-43BA-B567-D215D4CE9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5" t="10399" r="74047" b="78804"/>
          <a:stretch/>
        </p:blipFill>
        <p:spPr>
          <a:xfrm>
            <a:off x="7745637" y="1554051"/>
            <a:ext cx="2903538" cy="1485899"/>
          </a:xfrm>
          <a:prstGeom prst="rect">
            <a:avLst/>
          </a:prstGeom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288106B9-D127-4664-8723-7997909993DE}"/>
              </a:ext>
            </a:extLst>
          </p:cNvPr>
          <p:cNvSpPr/>
          <p:nvPr/>
        </p:nvSpPr>
        <p:spPr>
          <a:xfrm>
            <a:off x="8809942" y="2466992"/>
            <a:ext cx="164463" cy="1644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D1B51121-946C-4C33-A3B7-0C6502B5FA6B}"/>
              </a:ext>
            </a:extLst>
          </p:cNvPr>
          <p:cNvSpPr/>
          <p:nvPr/>
        </p:nvSpPr>
        <p:spPr>
          <a:xfrm>
            <a:off x="6896637" y="2028210"/>
            <a:ext cx="1045029" cy="43760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B9351EE-9548-4536-98E7-79F9166CD8DE}"/>
              </a:ext>
            </a:extLst>
          </p:cNvPr>
          <p:cNvGrpSpPr/>
          <p:nvPr/>
        </p:nvGrpSpPr>
        <p:grpSpPr>
          <a:xfrm>
            <a:off x="7745637" y="3378755"/>
            <a:ext cx="2903538" cy="1485899"/>
            <a:chOff x="3791174" y="3596354"/>
            <a:chExt cx="2903538" cy="1485899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DEF1C829-4D27-43EB-BD20-11CEBF6239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45" t="10399" r="74047" b="78804"/>
            <a:stretch/>
          </p:blipFill>
          <p:spPr>
            <a:xfrm>
              <a:off x="3791174" y="3596354"/>
              <a:ext cx="2903538" cy="1485899"/>
            </a:xfrm>
            <a:prstGeom prst="rect">
              <a:avLst/>
            </a:prstGeom>
          </p:spPr>
        </p:pic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AD68FDE6-F9BC-4AB1-946A-D826143D28E4}"/>
                </a:ext>
              </a:extLst>
            </p:cNvPr>
            <p:cNvSpPr/>
            <p:nvPr/>
          </p:nvSpPr>
          <p:spPr>
            <a:xfrm>
              <a:off x="4874665" y="3880645"/>
              <a:ext cx="164463" cy="164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矢印: 右 18">
            <a:extLst>
              <a:ext uri="{FF2B5EF4-FFF2-40B4-BE49-F238E27FC236}">
                <a16:creationId xmlns:a16="http://schemas.microsoft.com/office/drawing/2014/main" id="{C17B6E25-08B4-4935-B776-D887098EA228}"/>
              </a:ext>
            </a:extLst>
          </p:cNvPr>
          <p:cNvSpPr/>
          <p:nvPr/>
        </p:nvSpPr>
        <p:spPr>
          <a:xfrm>
            <a:off x="6896637" y="3852914"/>
            <a:ext cx="1045029" cy="43760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6AE9CB76-C7F6-4DF7-B34F-109BB1EE0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5" t="10399" r="74047" b="78804"/>
          <a:stretch/>
        </p:blipFill>
        <p:spPr>
          <a:xfrm>
            <a:off x="7745637" y="5111453"/>
            <a:ext cx="2903538" cy="1485899"/>
          </a:xfrm>
          <a:prstGeom prst="rect">
            <a:avLst/>
          </a:prstGeom>
        </p:spPr>
      </p:pic>
      <p:sp>
        <p:nvSpPr>
          <p:cNvPr id="30" name="矢印: 右 29">
            <a:extLst>
              <a:ext uri="{FF2B5EF4-FFF2-40B4-BE49-F238E27FC236}">
                <a16:creationId xmlns:a16="http://schemas.microsoft.com/office/drawing/2014/main" id="{DC4704E1-4E83-4B76-8419-63A1B5CCC516}"/>
              </a:ext>
            </a:extLst>
          </p:cNvPr>
          <p:cNvSpPr/>
          <p:nvPr/>
        </p:nvSpPr>
        <p:spPr>
          <a:xfrm>
            <a:off x="6896637" y="5612593"/>
            <a:ext cx="1045029" cy="43760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0B80396-7264-44F6-BBA8-29B3913D0692}"/>
              </a:ext>
            </a:extLst>
          </p:cNvPr>
          <p:cNvSpPr/>
          <p:nvPr/>
        </p:nvSpPr>
        <p:spPr>
          <a:xfrm>
            <a:off x="408214" y="1577058"/>
            <a:ext cx="976784" cy="32070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できる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153DC79-37B3-4B79-84E5-B5E37E4A706B}"/>
              </a:ext>
            </a:extLst>
          </p:cNvPr>
          <p:cNvSpPr/>
          <p:nvPr/>
        </p:nvSpPr>
        <p:spPr>
          <a:xfrm>
            <a:off x="408214" y="5111453"/>
            <a:ext cx="976784" cy="14743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できない</a:t>
            </a:r>
          </a:p>
        </p:txBody>
      </p:sp>
      <p:sp>
        <p:nvSpPr>
          <p:cNvPr id="41" name="乗算記号 40">
            <a:extLst>
              <a:ext uri="{FF2B5EF4-FFF2-40B4-BE49-F238E27FC236}">
                <a16:creationId xmlns:a16="http://schemas.microsoft.com/office/drawing/2014/main" id="{2D44AE5D-7927-4657-8141-6FFDA353B57E}"/>
              </a:ext>
            </a:extLst>
          </p:cNvPr>
          <p:cNvSpPr/>
          <p:nvPr/>
        </p:nvSpPr>
        <p:spPr>
          <a:xfrm>
            <a:off x="6896637" y="5374195"/>
            <a:ext cx="914400" cy="914400"/>
          </a:xfrm>
          <a:prstGeom prst="mathMultiply">
            <a:avLst>
              <a:gd name="adj1" fmla="val 1102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EDA06CE9-1558-4379-8E70-0AB99E1A7604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チェックシートのラジオボタンの注意点</a:t>
            </a:r>
          </a:p>
        </p:txBody>
      </p:sp>
      <p:sp>
        <p:nvSpPr>
          <p:cNvPr id="29" name="吹き出し: 折線 28">
            <a:extLst>
              <a:ext uri="{FF2B5EF4-FFF2-40B4-BE49-F238E27FC236}">
                <a16:creationId xmlns:a16="http://schemas.microsoft.com/office/drawing/2014/main" id="{91FE8D23-F97F-4631-ACC6-1F179449141A}"/>
              </a:ext>
            </a:extLst>
          </p:cNvPr>
          <p:cNvSpPr/>
          <p:nvPr/>
        </p:nvSpPr>
        <p:spPr>
          <a:xfrm>
            <a:off x="9385638" y="4464371"/>
            <a:ext cx="2527073" cy="739088"/>
          </a:xfrm>
          <a:prstGeom prst="borderCallout2">
            <a:avLst>
              <a:gd name="adj1" fmla="val 49358"/>
              <a:gd name="adj2" fmla="val -323"/>
              <a:gd name="adj3" fmla="val 49816"/>
              <a:gd name="adj4" fmla="val -7704"/>
              <a:gd name="adj5" fmla="val 117937"/>
              <a:gd name="adj6" fmla="val -13425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/>
          <a:lstStyle/>
          <a:p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一度保存すると未選択の状態に戻せません！</a:t>
            </a:r>
          </a:p>
        </p:txBody>
      </p:sp>
    </p:spTree>
    <p:extLst>
      <p:ext uri="{BB962C8B-B14F-4D97-AF65-F5344CB8AC3E}">
        <p14:creationId xmlns:p14="http://schemas.microsoft.com/office/powerpoint/2010/main" val="347751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タイトル 1">
            <a:extLst>
              <a:ext uri="{FF2B5EF4-FFF2-40B4-BE49-F238E27FC236}">
                <a16:creationId xmlns:a16="http://schemas.microsoft.com/office/drawing/2014/main" id="{2D2DE5F6-0625-4923-8918-632E9D95D44A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先日付登録の解除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4099926-B902-4592-BDD0-4540544A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62" y="2314485"/>
            <a:ext cx="3876535" cy="356930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70755DE-DC9B-4687-BD6E-7B5711AEB6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7"/>
          <a:stretch/>
        </p:blipFill>
        <p:spPr>
          <a:xfrm>
            <a:off x="5581515" y="2314485"/>
            <a:ext cx="6059101" cy="2418600"/>
          </a:xfrm>
          <a:prstGeom prst="rect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1B41E4-5956-4042-AD77-E48BB09DA569}"/>
              </a:ext>
            </a:extLst>
          </p:cNvPr>
          <p:cNvSpPr txBox="1"/>
          <p:nvPr/>
        </p:nvSpPr>
        <p:spPr>
          <a:xfrm>
            <a:off x="5581514" y="1583427"/>
            <a:ext cx="6059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1"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該当の案件を開き、銀行欄入力にして、チェックシートを</a:t>
            </a:r>
            <a:endParaRPr kumimoji="1" lang="en-US" altLang="ja-JP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　一番下までスクロールし、チェックを外して登録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D77DBF9-EBC7-44B2-875D-2EF15C4EAE69}"/>
              </a:ext>
            </a:extLst>
          </p:cNvPr>
          <p:cNvSpPr/>
          <p:nvPr/>
        </p:nvSpPr>
        <p:spPr>
          <a:xfrm>
            <a:off x="5716067" y="3817470"/>
            <a:ext cx="342900" cy="57042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4C3886-5D18-4BA7-8E5F-6BBA1A2392AC}"/>
              </a:ext>
            </a:extLst>
          </p:cNvPr>
          <p:cNvSpPr/>
          <p:nvPr/>
        </p:nvSpPr>
        <p:spPr>
          <a:xfrm>
            <a:off x="5822819" y="3907957"/>
            <a:ext cx="129396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99BB207-72D7-4BA0-9794-510800D85FFD}"/>
              </a:ext>
            </a:extLst>
          </p:cNvPr>
          <p:cNvSpPr/>
          <p:nvPr/>
        </p:nvSpPr>
        <p:spPr>
          <a:xfrm>
            <a:off x="5826414" y="4142679"/>
            <a:ext cx="125801" cy="14763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ECDB9D6-2753-4997-89B8-CC7FA54BAEE8}"/>
              </a:ext>
            </a:extLst>
          </p:cNvPr>
          <p:cNvSpPr txBox="1"/>
          <p:nvPr/>
        </p:nvSpPr>
        <p:spPr>
          <a:xfrm>
            <a:off x="551384" y="1583427"/>
            <a:ext cx="4282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</a:t>
            </a:r>
            <a:r>
              <a:rPr kumimoji="1"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スマイルワークフローのメインメニューで</a:t>
            </a:r>
            <a:endParaRPr kumimoji="1" lang="en-US" altLang="ja-JP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 「全体</a:t>
            </a:r>
            <a:r>
              <a:rPr kumimoji="1" lang="en-US" altLang="ja-JP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</a:t>
            </a:r>
            <a:r>
              <a:rPr kumimoji="1"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先日付」をクリックする</a:t>
            </a:r>
          </a:p>
          <a:p>
            <a:r>
              <a:rPr kumimoji="1"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4579B0D-E2A4-410E-8256-3CBF18BF1B96}"/>
              </a:ext>
            </a:extLst>
          </p:cNvPr>
          <p:cNvSpPr txBox="1"/>
          <p:nvPr/>
        </p:nvSpPr>
        <p:spPr>
          <a:xfrm>
            <a:off x="667286" y="1033232"/>
            <a:ext cx="986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この操作はマネージャー以上が行う必要があります。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6E219D8-8903-41ED-9D0C-4FC674A5221B}"/>
              </a:ext>
            </a:extLst>
          </p:cNvPr>
          <p:cNvSpPr/>
          <p:nvPr/>
        </p:nvSpPr>
        <p:spPr>
          <a:xfrm>
            <a:off x="4111070" y="4711661"/>
            <a:ext cx="408214" cy="248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/>
          <a:p>
            <a:pPr algn="ctr"/>
            <a:endParaRPr lang="ja-JP" altLang="en-US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A45D062-FAFE-4071-9106-76CAEB0B4860}"/>
              </a:ext>
            </a:extLst>
          </p:cNvPr>
          <p:cNvSpPr/>
          <p:nvPr/>
        </p:nvSpPr>
        <p:spPr>
          <a:xfrm>
            <a:off x="9959096" y="4433697"/>
            <a:ext cx="1057741" cy="277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08000" bIns="0" rtlCol="0" anchor="ctr"/>
          <a:lstStyle/>
          <a:p>
            <a:pPr algn="ctr"/>
            <a:endParaRPr lang="ja-JP" altLang="en-US" sz="1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吹き出し: 折線 19">
            <a:extLst>
              <a:ext uri="{FF2B5EF4-FFF2-40B4-BE49-F238E27FC236}">
                <a16:creationId xmlns:a16="http://schemas.microsoft.com/office/drawing/2014/main" id="{08E30749-EA22-4ED6-BC72-A29D8731AB90}"/>
              </a:ext>
            </a:extLst>
          </p:cNvPr>
          <p:cNvSpPr/>
          <p:nvPr/>
        </p:nvSpPr>
        <p:spPr>
          <a:xfrm>
            <a:off x="2309327" y="5727449"/>
            <a:ext cx="2955350" cy="581871"/>
          </a:xfrm>
          <a:prstGeom prst="borderCallout2">
            <a:avLst>
              <a:gd name="adj1" fmla="val -1437"/>
              <a:gd name="adj2" fmla="val 21242"/>
              <a:gd name="adj3" fmla="val -54950"/>
              <a:gd name="adj4" fmla="val 21361"/>
              <a:gd name="adj5" fmla="val -132865"/>
              <a:gd name="adj6" fmla="val 59395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全体</a:t>
            </a:r>
            <a:r>
              <a:rPr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</a:t>
            </a:r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先日付をクリックする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吹き出し: 折線 20">
            <a:extLst>
              <a:ext uri="{FF2B5EF4-FFF2-40B4-BE49-F238E27FC236}">
                <a16:creationId xmlns:a16="http://schemas.microsoft.com/office/drawing/2014/main" id="{F6F1F4D6-B95B-4BB9-8475-9BFFC2311F64}"/>
              </a:ext>
            </a:extLst>
          </p:cNvPr>
          <p:cNvSpPr/>
          <p:nvPr/>
        </p:nvSpPr>
        <p:spPr>
          <a:xfrm>
            <a:off x="6128912" y="4711661"/>
            <a:ext cx="3674582" cy="575393"/>
          </a:xfrm>
          <a:prstGeom prst="borderCallout2">
            <a:avLst>
              <a:gd name="adj1" fmla="val 49358"/>
              <a:gd name="adj2" fmla="val -323"/>
              <a:gd name="adj3" fmla="val 49816"/>
              <a:gd name="adj4" fmla="val -7704"/>
              <a:gd name="adj5" fmla="val -47164"/>
              <a:gd name="adj6" fmla="val -10364"/>
            </a:avLst>
          </a:prstGeom>
          <a:solidFill>
            <a:schemeClr val="bg1"/>
          </a:solidFill>
          <a:ln w="28575">
            <a:solidFill>
              <a:srgbClr val="FF0000"/>
            </a:solidFill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チェックをはずして、登録ボタンを押す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797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7BB01C6-13DD-43F5-8314-417D63E4C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99" y="825632"/>
            <a:ext cx="3994642" cy="5626138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24CCF9-7661-447B-B564-09874EEDD157}"/>
              </a:ext>
            </a:extLst>
          </p:cNvPr>
          <p:cNvSpPr/>
          <p:nvPr/>
        </p:nvSpPr>
        <p:spPr>
          <a:xfrm>
            <a:off x="884354" y="4226768"/>
            <a:ext cx="3528230" cy="6997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A07715-92F8-47E0-9A4B-40BA78DA2EAE}"/>
              </a:ext>
            </a:extLst>
          </p:cNvPr>
          <p:cNvSpPr/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kumimoji="1" lang="ja-JP" altLang="en-US" sz="2800" b="1" dirty="0">
                <a:solidFill>
                  <a:sysClr val="window" lastClr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郵送確認が必要な場合の確認記録票の記入箇所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191EE8E-F60D-4B15-A3D4-9020F66198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3" t="60902" r="4326" b="27043"/>
          <a:stretch/>
        </p:blipFill>
        <p:spPr>
          <a:xfrm>
            <a:off x="4876802" y="3694579"/>
            <a:ext cx="7019996" cy="1351574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E4F5C4C-832A-4361-A74B-291DA8033654}"/>
              </a:ext>
            </a:extLst>
          </p:cNvPr>
          <p:cNvSpPr/>
          <p:nvPr/>
        </p:nvSpPr>
        <p:spPr>
          <a:xfrm>
            <a:off x="8364890" y="4028276"/>
            <a:ext cx="3531908" cy="958082"/>
          </a:xfrm>
          <a:prstGeom prst="rect">
            <a:avLst/>
          </a:prstGeom>
          <a:solidFill>
            <a:srgbClr val="A5A5A5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246FD6-A26C-4F5F-94ED-D2F7B370AA62}"/>
              </a:ext>
            </a:extLst>
          </p:cNvPr>
          <p:cNvSpPr txBox="1"/>
          <p:nvPr/>
        </p:nvSpPr>
        <p:spPr>
          <a:xfrm>
            <a:off x="9560796" y="4353372"/>
            <a:ext cx="120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2">
                    <a:lumMod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記入不要</a:t>
            </a:r>
            <a:endParaRPr kumimoji="1" lang="en-US" altLang="ja-JP" b="1" dirty="0">
              <a:solidFill>
                <a:schemeClr val="bg2">
                  <a:lumMod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101A742-AAE2-4092-8F9D-E21261856386}"/>
              </a:ext>
            </a:extLst>
          </p:cNvPr>
          <p:cNvCxnSpPr>
            <a:cxnSpLocks/>
          </p:cNvCxnSpPr>
          <p:nvPr/>
        </p:nvCxnSpPr>
        <p:spPr>
          <a:xfrm flipV="1">
            <a:off x="4412584" y="3694579"/>
            <a:ext cx="464218" cy="53219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B454B45-2102-4C88-9CCE-3533CF3F22B3}"/>
              </a:ext>
            </a:extLst>
          </p:cNvPr>
          <p:cNvCxnSpPr>
            <a:cxnSpLocks/>
          </p:cNvCxnSpPr>
          <p:nvPr/>
        </p:nvCxnSpPr>
        <p:spPr>
          <a:xfrm>
            <a:off x="4412584" y="4926563"/>
            <a:ext cx="464218" cy="11959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74D26D3-795C-4534-832C-FD05B234A95E}"/>
              </a:ext>
            </a:extLst>
          </p:cNvPr>
          <p:cNvSpPr/>
          <p:nvPr/>
        </p:nvSpPr>
        <p:spPr>
          <a:xfrm>
            <a:off x="5434613" y="4028275"/>
            <a:ext cx="2930277" cy="9580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044D6F7-0F94-4215-BC9A-A652E4D0B1FD}"/>
              </a:ext>
            </a:extLst>
          </p:cNvPr>
          <p:cNvSpPr txBox="1"/>
          <p:nvPr/>
        </p:nvSpPr>
        <p:spPr>
          <a:xfrm>
            <a:off x="4943745" y="3272063"/>
            <a:ext cx="339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ここを必ず記入してください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631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</TotalTime>
  <Words>599</Words>
  <Application>Microsoft Office PowerPoint</Application>
  <PresentationFormat>ワイド画面</PresentationFormat>
  <Paragraphs>91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Meiryo UI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肥田　彩花</dc:creator>
  <cp:lastModifiedBy>作田　隼樹</cp:lastModifiedBy>
  <cp:revision>65</cp:revision>
  <dcterms:created xsi:type="dcterms:W3CDTF">2024-11-14T02:57:22Z</dcterms:created>
  <dcterms:modified xsi:type="dcterms:W3CDTF">2025-07-22T00:55:33Z</dcterms:modified>
</cp:coreProperties>
</file>