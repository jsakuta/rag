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71" r:id="rId3"/>
    <p:sldId id="272" r:id="rId4"/>
    <p:sldId id="273" r:id="rId5"/>
    <p:sldId id="274"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642" autoAdjust="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239029-7A43-4F83-950C-0DD354426D90}"/>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6803C7E-32ED-4F69-8967-B0AF477F2D58}"/>
              </a:ext>
            </a:extLst>
          </p:cNvPr>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1"/>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0D704F65-68BB-4747-A3D9-490B1CDB5EA9}"/>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5" name="フッター プレースホルダー 4">
            <a:extLst>
              <a:ext uri="{FF2B5EF4-FFF2-40B4-BE49-F238E27FC236}">
                <a16:creationId xmlns:a16="http://schemas.microsoft.com/office/drawing/2014/main" id="{75DF396D-E304-487E-B628-CD6DB25611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A2794B-C6C3-4F83-9B4F-C0500808633C}"/>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1645056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C48CE0-DA69-41C8-ACB2-11DBEAEBFA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6C9C82-BEAC-4628-A281-3F527183FB0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2D4BD99-A796-4613-A86D-5C1D09624FD8}"/>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5" name="フッター プレースホルダー 4">
            <a:extLst>
              <a:ext uri="{FF2B5EF4-FFF2-40B4-BE49-F238E27FC236}">
                <a16:creationId xmlns:a16="http://schemas.microsoft.com/office/drawing/2014/main" id="{0F63A242-BF45-42BF-AAD9-6EBEA915609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59E31CD-4AF1-4570-AE28-B3F8347A63FD}"/>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1170071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EA0A1D-AF06-4BE4-B491-6B84A9CEBD23}"/>
              </a:ext>
            </a:extLst>
          </p:cNvPr>
          <p:cNvSpPr>
            <a:spLocks noGrp="1"/>
          </p:cNvSpPr>
          <p:nvPr>
            <p:ph type="title"/>
          </p:nvPr>
        </p:nvSpPr>
        <p:spPr>
          <a:xfrm>
            <a:off x="831852"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197EE5F-948E-4013-8D4E-8585FA6BB46E}"/>
              </a:ext>
            </a:extLst>
          </p:cNvPr>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1">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C186DAE8-0760-4834-8C79-274C9C33B6B8}"/>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5" name="フッター プレースホルダー 4">
            <a:extLst>
              <a:ext uri="{FF2B5EF4-FFF2-40B4-BE49-F238E27FC236}">
                <a16:creationId xmlns:a16="http://schemas.microsoft.com/office/drawing/2014/main" id="{66A580C7-2F70-4AE1-92A9-5C787ABD617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7EC099C-5D94-4F0E-93B0-01FC6F7272E0}"/>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672379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C30DEE-6AD4-42F2-8E1E-F93994D8904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A4E3911-AB99-433D-BBAF-785E89F29276}"/>
              </a:ext>
            </a:extLst>
          </p:cNvPr>
          <p:cNvSpPr>
            <a:spLocks noGrp="1"/>
          </p:cNvSpPr>
          <p:nvPr>
            <p:ph sz="half" idx="1"/>
          </p:nvPr>
        </p:nvSpPr>
        <p:spPr>
          <a:xfrm>
            <a:off x="838201"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EE7DC1A-0200-47CE-ADA7-235E458B2CB0}"/>
              </a:ext>
            </a:extLst>
          </p:cNvPr>
          <p:cNvSpPr>
            <a:spLocks noGrp="1"/>
          </p:cNvSpPr>
          <p:nvPr>
            <p:ph sz="half" idx="2"/>
          </p:nvPr>
        </p:nvSpPr>
        <p:spPr>
          <a:xfrm>
            <a:off x="6172201"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116DBE9-5C5A-4A25-9156-4972A9E29ECD}"/>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6" name="フッター プレースホルダー 5">
            <a:extLst>
              <a:ext uri="{FF2B5EF4-FFF2-40B4-BE49-F238E27FC236}">
                <a16:creationId xmlns:a16="http://schemas.microsoft.com/office/drawing/2014/main" id="{278E6C0A-A390-45B4-B145-1383ED26AF4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FEC715F-AF1B-4CAF-9E14-8C6A4AF38611}"/>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2147926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A045927-CB23-471D-B0FD-D7C38146DE74}"/>
              </a:ext>
            </a:extLst>
          </p:cNvPr>
          <p:cNvSpPr>
            <a:spLocks noGrp="1"/>
          </p:cNvSpPr>
          <p:nvPr>
            <p:ph type="title"/>
          </p:nvPr>
        </p:nvSpPr>
        <p:spPr>
          <a:xfrm>
            <a:off x="839789"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E73F77E-3440-4647-A507-88E0C410AA59}"/>
              </a:ext>
            </a:extLst>
          </p:cNvPr>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F48B35C-818A-4742-9737-819A59A7DDC0}"/>
              </a:ext>
            </a:extLst>
          </p:cNvPr>
          <p:cNvSpPr>
            <a:spLocks noGrp="1"/>
          </p:cNvSpPr>
          <p:nvPr>
            <p:ph sz="half" idx="2"/>
          </p:nvPr>
        </p:nvSpPr>
        <p:spPr>
          <a:xfrm>
            <a:off x="839789" y="2505076"/>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618EDBEA-C329-4EA2-8410-DF11DAAF1A19}"/>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1"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D761705-E763-4D52-A9A2-11CDB51D6C94}"/>
              </a:ext>
            </a:extLst>
          </p:cNvPr>
          <p:cNvSpPr>
            <a:spLocks noGrp="1"/>
          </p:cNvSpPr>
          <p:nvPr>
            <p:ph sz="quarter" idx="4"/>
          </p:nvPr>
        </p:nvSpPr>
        <p:spPr>
          <a:xfrm>
            <a:off x="6172202" y="2505076"/>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FD4AAFB-8E92-4E6C-B800-2C89D98AB6F5}"/>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8" name="フッター プレースホルダー 7">
            <a:extLst>
              <a:ext uri="{FF2B5EF4-FFF2-40B4-BE49-F238E27FC236}">
                <a16:creationId xmlns:a16="http://schemas.microsoft.com/office/drawing/2014/main" id="{327D7F92-2ED1-4A29-896D-4FA6F0DDEB7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ACFF37F4-27CA-446A-BABA-2DBAFE736CBD}"/>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221039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8B6B31-8309-4343-B2DE-483F5254EF8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DD757E8-14D3-40C6-B7DB-0E06EDE1F0C8}"/>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4" name="フッター プレースホルダー 3">
            <a:extLst>
              <a:ext uri="{FF2B5EF4-FFF2-40B4-BE49-F238E27FC236}">
                <a16:creationId xmlns:a16="http://schemas.microsoft.com/office/drawing/2014/main" id="{60CAB477-485E-4C5A-9E69-91516891D60B}"/>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2612823-9D92-4CF5-867A-70F34D3F9C4D}"/>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1691979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2A48064-74A5-440C-BA09-01F6CD0FBFCA}"/>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3" name="フッター プレースホルダー 2">
            <a:extLst>
              <a:ext uri="{FF2B5EF4-FFF2-40B4-BE49-F238E27FC236}">
                <a16:creationId xmlns:a16="http://schemas.microsoft.com/office/drawing/2014/main" id="{CBE9056D-C319-4B16-BB27-56BCD6C4677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03285A2-0E25-427C-A2D9-4FC908D3FF2A}"/>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2975772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D84EDF-14B3-4A1E-A6EE-D96F4933EF63}"/>
              </a:ext>
            </a:extLst>
          </p:cNvPr>
          <p:cNvSpPr>
            <a:spLocks noGrp="1"/>
          </p:cNvSpPr>
          <p:nvPr>
            <p:ph type="title"/>
          </p:nvPr>
        </p:nvSpPr>
        <p:spPr>
          <a:xfrm>
            <a:off x="839790" y="457200"/>
            <a:ext cx="3932236"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05791A-4284-424D-9C21-6E1F178A4FA2}"/>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A0FF7D8F-E05E-4F4E-B79E-B17F1DA204B3}"/>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BE6E109B-7E23-44C1-84E4-C5F55923240D}"/>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6" name="フッター プレースホルダー 5">
            <a:extLst>
              <a:ext uri="{FF2B5EF4-FFF2-40B4-BE49-F238E27FC236}">
                <a16:creationId xmlns:a16="http://schemas.microsoft.com/office/drawing/2014/main" id="{092EFF43-1D7D-4F38-8CD6-FF384748AD9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84DEBE-188E-4292-940B-491500E44372}"/>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1360734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99293C-DD54-46F2-BC43-06909A125FF1}"/>
              </a:ext>
            </a:extLst>
          </p:cNvPr>
          <p:cNvSpPr>
            <a:spLocks noGrp="1"/>
          </p:cNvSpPr>
          <p:nvPr>
            <p:ph type="title"/>
          </p:nvPr>
        </p:nvSpPr>
        <p:spPr>
          <a:xfrm>
            <a:off x="839790" y="457200"/>
            <a:ext cx="3932236"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1204151-9BB3-4A18-BCD4-C614CA868C9A}"/>
              </a:ext>
            </a:extLst>
          </p:cNvPr>
          <p:cNvSpPr>
            <a:spLocks noGrp="1"/>
          </p:cNvSpPr>
          <p:nvPr>
            <p:ph type="pic" idx="1"/>
          </p:nvPr>
        </p:nvSpPr>
        <p:spPr>
          <a:xfrm>
            <a:off x="5183188" y="987425"/>
            <a:ext cx="6172201" cy="4873625"/>
          </a:xfrm>
        </p:spPr>
        <p:txBody>
          <a:bodyPr/>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85FB7C0-27A5-4919-91DE-991943A8932A}"/>
              </a:ext>
            </a:extLst>
          </p:cNvPr>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1"/>
            </a:lvl2pPr>
            <a:lvl3pPr marL="914411" indent="0">
              <a:buNone/>
              <a:defRPr sz="1200"/>
            </a:lvl3pPr>
            <a:lvl4pPr marL="1371617" indent="0">
              <a:buNone/>
              <a:defRPr sz="1001"/>
            </a:lvl4pPr>
            <a:lvl5pPr marL="1828823" indent="0">
              <a:buNone/>
              <a:defRPr sz="1001"/>
            </a:lvl5pPr>
            <a:lvl6pPr marL="2286029" indent="0">
              <a:buNone/>
              <a:defRPr sz="1001"/>
            </a:lvl6pPr>
            <a:lvl7pPr marL="2743234" indent="0">
              <a:buNone/>
              <a:defRPr sz="1001"/>
            </a:lvl7pPr>
            <a:lvl8pPr marL="3200440" indent="0">
              <a:buNone/>
              <a:defRPr sz="1001"/>
            </a:lvl8pPr>
            <a:lvl9pPr marL="3657646" indent="0">
              <a:buNone/>
              <a:defRPr sz="1001"/>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5E0C585F-C7F2-466F-BBF3-6EEE23312297}"/>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6" name="フッター プレースホルダー 5">
            <a:extLst>
              <a:ext uri="{FF2B5EF4-FFF2-40B4-BE49-F238E27FC236}">
                <a16:creationId xmlns:a16="http://schemas.microsoft.com/office/drawing/2014/main" id="{99E9AFA4-4961-492D-BA71-BC1E1649D09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65D6269-7C4F-494A-B14F-AF82567D5370}"/>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2257952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36871D-5988-4DBF-8AB0-016F775FD24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427BAFB-50D6-42AA-BCA1-13050551FB7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6853C74-DD0B-4806-B760-4A4E1477448F}"/>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5" name="フッター プレースホルダー 4">
            <a:extLst>
              <a:ext uri="{FF2B5EF4-FFF2-40B4-BE49-F238E27FC236}">
                <a16:creationId xmlns:a16="http://schemas.microsoft.com/office/drawing/2014/main" id="{02347E30-9094-4FF6-956D-7A851996694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A5367FB-7CFC-41C6-91B2-2774AED523EF}"/>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3005085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FCF77E4-C232-4355-9DA6-E1291CBC4760}"/>
              </a:ext>
            </a:extLst>
          </p:cNvPr>
          <p:cNvSpPr>
            <a:spLocks noGrp="1"/>
          </p:cNvSpPr>
          <p:nvPr>
            <p:ph type="title" orient="vert"/>
          </p:nvPr>
        </p:nvSpPr>
        <p:spPr>
          <a:xfrm>
            <a:off x="8724899"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573EEFC-FDC9-4520-AEAE-C662920C75CC}"/>
              </a:ext>
            </a:extLst>
          </p:cNvPr>
          <p:cNvSpPr>
            <a:spLocks noGrp="1"/>
          </p:cNvSpPr>
          <p:nvPr>
            <p:ph type="body" orient="vert" idx="1"/>
          </p:nvPr>
        </p:nvSpPr>
        <p:spPr>
          <a:xfrm>
            <a:off x="838199"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0617E1A-3C36-4729-93F8-EC3DC0436413}"/>
              </a:ext>
            </a:extLst>
          </p:cNvPr>
          <p:cNvSpPr>
            <a:spLocks noGrp="1"/>
          </p:cNvSpPr>
          <p:nvPr>
            <p:ph type="dt" sz="half" idx="10"/>
          </p:nvPr>
        </p:nvSpPr>
        <p:spPr/>
        <p:txBody>
          <a:bodyPr/>
          <a:lstStyle/>
          <a:p>
            <a:fld id="{EF659575-8EE3-4015-9567-4E258D1C1D67}" type="datetimeFigureOut">
              <a:rPr kumimoji="1" lang="ja-JP" altLang="en-US" smtClean="0"/>
              <a:t>2024/12/25</a:t>
            </a:fld>
            <a:endParaRPr kumimoji="1" lang="ja-JP" altLang="en-US"/>
          </a:p>
        </p:txBody>
      </p:sp>
      <p:sp>
        <p:nvSpPr>
          <p:cNvPr id="5" name="フッター プレースホルダー 4">
            <a:extLst>
              <a:ext uri="{FF2B5EF4-FFF2-40B4-BE49-F238E27FC236}">
                <a16:creationId xmlns:a16="http://schemas.microsoft.com/office/drawing/2014/main" id="{0E0A324B-F0D1-4828-ACE0-66211CEFA04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59CDC9E-080E-493F-87AD-A77085C20F49}"/>
              </a:ext>
            </a:extLst>
          </p:cNvPr>
          <p:cNvSpPr>
            <a:spLocks noGrp="1"/>
          </p:cNvSpPr>
          <p:nvPr>
            <p:ph type="sldNum" sz="quarter" idx="12"/>
          </p:nvPr>
        </p:nvSpPr>
        <p:spPr/>
        <p:txBody>
          <a:body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3749364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89D8EA1-7A99-4DF6-BD5D-EBCE5F90B67B}"/>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930AFB1-6BDD-4AFB-87C6-2B0C0FEBC2E1}"/>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F66C9B-13A0-4F5E-8386-65AE8043CF9B}"/>
              </a:ext>
            </a:extLst>
          </p:cNvPr>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659575-8EE3-4015-9567-4E258D1C1D67}" type="datetimeFigureOut">
              <a:rPr kumimoji="1" lang="ja-JP" altLang="en-US" smtClean="0"/>
              <a:t>2024/12/25</a:t>
            </a:fld>
            <a:endParaRPr kumimoji="1" lang="ja-JP" altLang="en-US"/>
          </a:p>
        </p:txBody>
      </p:sp>
      <p:sp>
        <p:nvSpPr>
          <p:cNvPr id="5" name="フッター プレースホルダー 4">
            <a:extLst>
              <a:ext uri="{FF2B5EF4-FFF2-40B4-BE49-F238E27FC236}">
                <a16:creationId xmlns:a16="http://schemas.microsoft.com/office/drawing/2014/main" id="{FBB558AA-6BBF-4DFF-96BE-82072924A479}"/>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43660F85-74CC-42A8-867E-96202B60A407}"/>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70A128-1DBA-407C-A4CF-A7EF567742A1}" type="slidenum">
              <a:rPr kumimoji="1" lang="ja-JP" altLang="en-US" smtClean="0"/>
              <a:t>‹#›</a:t>
            </a:fld>
            <a:endParaRPr kumimoji="1" lang="ja-JP" altLang="en-US"/>
          </a:p>
        </p:txBody>
      </p:sp>
    </p:spTree>
    <p:extLst>
      <p:ext uri="{BB962C8B-B14F-4D97-AF65-F5344CB8AC3E}">
        <p14:creationId xmlns:p14="http://schemas.microsoft.com/office/powerpoint/2010/main" val="7613502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11"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4" indent="-228604" algn="l" defTabSz="914411" rtl="0" eaLnBrk="1" latinLnBrk="0" hangingPunct="1">
        <a:lnSpc>
          <a:spcPct val="90000"/>
        </a:lnSpc>
        <a:spcBef>
          <a:spcPts val="1001"/>
        </a:spcBef>
        <a:buFont typeface="Arial" panose="020B0604020202020204" pitchFamily="34" charset="0"/>
        <a:buChar char="•"/>
        <a:defRPr kumimoji="1" sz="2800" kern="1200">
          <a:solidFill>
            <a:schemeClr val="tx1"/>
          </a:solidFill>
          <a:latin typeface="+mn-lt"/>
          <a:ea typeface="+mn-ea"/>
          <a:cs typeface="+mn-cs"/>
        </a:defRPr>
      </a:lvl1pPr>
      <a:lvl2pPr marL="685809" indent="-228604" algn="l" defTabSz="914411"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15" indent="-228604" algn="l" defTabSz="914411"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21"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4pPr>
      <a:lvl5pPr marL="2057427"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5pPr>
      <a:lvl6pPr marL="2514632"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kumimoji="1" sz="1801" kern="1200">
          <a:solidFill>
            <a:schemeClr val="tx1"/>
          </a:solidFill>
          <a:latin typeface="+mn-lt"/>
          <a:ea typeface="+mn-ea"/>
          <a:cs typeface="+mn-cs"/>
        </a:defRPr>
      </a:lvl9pPr>
    </p:bodyStyle>
    <p:otherStyle>
      <a:defPPr>
        <a:defRPr lang="ja-JP"/>
      </a:defPPr>
      <a:lvl1pPr marL="0" algn="l" defTabSz="914411" rtl="0" eaLnBrk="1" latinLnBrk="0" hangingPunct="1">
        <a:defRPr kumimoji="1" sz="1801" kern="1200">
          <a:solidFill>
            <a:schemeClr val="tx1"/>
          </a:solidFill>
          <a:latin typeface="+mn-lt"/>
          <a:ea typeface="+mn-ea"/>
          <a:cs typeface="+mn-cs"/>
        </a:defRPr>
      </a:lvl1pPr>
      <a:lvl2pPr marL="457206" algn="l" defTabSz="914411" rtl="0" eaLnBrk="1" latinLnBrk="0" hangingPunct="1">
        <a:defRPr kumimoji="1" sz="1801" kern="1200">
          <a:solidFill>
            <a:schemeClr val="tx1"/>
          </a:solidFill>
          <a:latin typeface="+mn-lt"/>
          <a:ea typeface="+mn-ea"/>
          <a:cs typeface="+mn-cs"/>
        </a:defRPr>
      </a:lvl2pPr>
      <a:lvl3pPr marL="914411" algn="l" defTabSz="914411" rtl="0" eaLnBrk="1" latinLnBrk="0" hangingPunct="1">
        <a:defRPr kumimoji="1" sz="1801" kern="1200">
          <a:solidFill>
            <a:schemeClr val="tx1"/>
          </a:solidFill>
          <a:latin typeface="+mn-lt"/>
          <a:ea typeface="+mn-ea"/>
          <a:cs typeface="+mn-cs"/>
        </a:defRPr>
      </a:lvl3pPr>
      <a:lvl4pPr marL="1371617" algn="l" defTabSz="914411" rtl="0" eaLnBrk="1" latinLnBrk="0" hangingPunct="1">
        <a:defRPr kumimoji="1" sz="1801" kern="1200">
          <a:solidFill>
            <a:schemeClr val="tx1"/>
          </a:solidFill>
          <a:latin typeface="+mn-lt"/>
          <a:ea typeface="+mn-ea"/>
          <a:cs typeface="+mn-cs"/>
        </a:defRPr>
      </a:lvl4pPr>
      <a:lvl5pPr marL="1828823" algn="l" defTabSz="914411" rtl="0" eaLnBrk="1" latinLnBrk="0" hangingPunct="1">
        <a:defRPr kumimoji="1" sz="1801" kern="1200">
          <a:solidFill>
            <a:schemeClr val="tx1"/>
          </a:solidFill>
          <a:latin typeface="+mn-lt"/>
          <a:ea typeface="+mn-ea"/>
          <a:cs typeface="+mn-cs"/>
        </a:defRPr>
      </a:lvl5pPr>
      <a:lvl6pPr marL="2286029" algn="l" defTabSz="914411" rtl="0" eaLnBrk="1" latinLnBrk="0" hangingPunct="1">
        <a:defRPr kumimoji="1" sz="1801" kern="1200">
          <a:solidFill>
            <a:schemeClr val="tx1"/>
          </a:solidFill>
          <a:latin typeface="+mn-lt"/>
          <a:ea typeface="+mn-ea"/>
          <a:cs typeface="+mn-cs"/>
        </a:defRPr>
      </a:lvl6pPr>
      <a:lvl7pPr marL="2743234" algn="l" defTabSz="914411" rtl="0" eaLnBrk="1" latinLnBrk="0" hangingPunct="1">
        <a:defRPr kumimoji="1" sz="1801" kern="1200">
          <a:solidFill>
            <a:schemeClr val="tx1"/>
          </a:solidFill>
          <a:latin typeface="+mn-lt"/>
          <a:ea typeface="+mn-ea"/>
          <a:cs typeface="+mn-cs"/>
        </a:defRPr>
      </a:lvl7pPr>
      <a:lvl8pPr marL="3200440" algn="l" defTabSz="914411" rtl="0" eaLnBrk="1" latinLnBrk="0" hangingPunct="1">
        <a:defRPr kumimoji="1" sz="1801" kern="1200">
          <a:solidFill>
            <a:schemeClr val="tx1"/>
          </a:solidFill>
          <a:latin typeface="+mn-lt"/>
          <a:ea typeface="+mn-ea"/>
          <a:cs typeface="+mn-cs"/>
        </a:defRPr>
      </a:lvl8pPr>
      <a:lvl9pPr marL="3657646" algn="l" defTabSz="914411" rtl="0" eaLnBrk="1" latinLnBrk="0" hangingPunct="1">
        <a:defRPr kumimoji="1"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4208E0-B3AC-4B2E-8812-83B99C003516}"/>
              </a:ext>
            </a:extLst>
          </p:cNvPr>
          <p:cNvSpPr>
            <a:spLocks noGrp="1"/>
          </p:cNvSpPr>
          <p:nvPr>
            <p:ph type="title"/>
          </p:nvPr>
        </p:nvSpPr>
        <p:spPr>
          <a:xfrm>
            <a:off x="312422" y="365125"/>
            <a:ext cx="11567160" cy="1325563"/>
          </a:xfrm>
        </p:spPr>
        <p:txBody>
          <a:bodyPr>
            <a:normAutofit/>
          </a:bodyPr>
          <a:lstStyle/>
          <a:p>
            <a:r>
              <a:rPr lang="ja-JP" altLang="en-US" sz="3600" b="1" dirty="0">
                <a:latin typeface="Meiryo UI" panose="020B0604030504040204" pitchFamily="50" charset="-128"/>
                <a:ea typeface="Meiryo UI" panose="020B0604030504040204" pitchFamily="50" charset="-128"/>
              </a:rPr>
              <a:t>喪失時の本人確認フロー</a:t>
            </a:r>
            <a:endParaRPr kumimoji="1" lang="ja-JP" altLang="en-US" sz="3600" b="1"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66C8E065-69E7-45EC-8CC9-FFB24C65B347}"/>
              </a:ext>
            </a:extLst>
          </p:cNvPr>
          <p:cNvSpPr/>
          <p:nvPr/>
        </p:nvSpPr>
        <p:spPr>
          <a:xfrm>
            <a:off x="343926" y="1981378"/>
            <a:ext cx="11504148" cy="362186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Wingdings" panose="05000000000000000000" pitchFamily="2" charset="2"/>
              <a:buChar char="ü"/>
            </a:pPr>
            <a:r>
              <a:rPr lang="ja-JP" altLang="en-US" sz="2800" dirty="0">
                <a:solidFill>
                  <a:schemeClr val="tx1"/>
                </a:solidFill>
                <a:latin typeface="Meiryo UI" panose="020B0604030504040204" pitchFamily="50" charset="-128"/>
                <a:ea typeface="Meiryo UI" panose="020B0604030504040204" pitchFamily="50" charset="-128"/>
              </a:rPr>
              <a:t>パターンごとに本人確認の手続きが異なります。</a:t>
            </a:r>
            <a:endParaRPr lang="en-US" altLang="ja-JP" sz="2800" dirty="0">
              <a:solidFill>
                <a:schemeClr val="tx1"/>
              </a:solidFill>
              <a:latin typeface="Meiryo UI" panose="020B0604030504040204" pitchFamily="50" charset="-128"/>
              <a:ea typeface="Meiryo UI" panose="020B0604030504040204" pitchFamily="50" charset="-128"/>
            </a:endParaRPr>
          </a:p>
          <a:p>
            <a:pPr marL="457200" indent="-457200">
              <a:buFont typeface="Wingdings" panose="05000000000000000000" pitchFamily="2" charset="2"/>
              <a:buChar char="ü"/>
            </a:pPr>
            <a:r>
              <a:rPr lang="ja-JP" altLang="en-US" sz="2800" dirty="0">
                <a:solidFill>
                  <a:schemeClr val="tx1"/>
                </a:solidFill>
                <a:latin typeface="Meiryo UI" panose="020B0604030504040204" pitchFamily="50" charset="-128"/>
                <a:ea typeface="Meiryo UI" panose="020B0604030504040204" pitchFamily="50" charset="-128"/>
              </a:rPr>
              <a:t>対応するフローをご確認ください。</a:t>
            </a:r>
            <a:endParaRPr lang="en-US" altLang="ja-JP" sz="2800" dirty="0">
              <a:solidFill>
                <a:schemeClr val="tx1"/>
              </a:solidFill>
              <a:latin typeface="Meiryo UI" panose="020B0604030504040204" pitchFamily="50" charset="-128"/>
              <a:ea typeface="Meiryo UI" panose="020B0604030504040204" pitchFamily="50" charset="-128"/>
            </a:endParaRPr>
          </a:p>
          <a:p>
            <a:endParaRPr lang="en-US" altLang="ja-JP" sz="2800" dirty="0">
              <a:solidFill>
                <a:schemeClr val="tx1"/>
              </a:solidFill>
              <a:latin typeface="Meiryo UI" panose="020B0604030504040204" pitchFamily="50" charset="-128"/>
              <a:ea typeface="Meiryo UI" panose="020B0604030504040204" pitchFamily="50" charset="-128"/>
            </a:endParaRPr>
          </a:p>
          <a:p>
            <a:pPr marL="971555" lvl="1" indent="-514350">
              <a:buFont typeface="+mj-ea"/>
              <a:buAutoNum type="circleNumDbPlain"/>
            </a:pPr>
            <a:r>
              <a:rPr lang="ja-JP" altLang="en-US" sz="2800" dirty="0">
                <a:solidFill>
                  <a:schemeClr val="tx1"/>
                </a:solidFill>
                <a:latin typeface="Meiryo UI" panose="020B0604030504040204" pitchFamily="50" charset="-128"/>
                <a:ea typeface="Meiryo UI" panose="020B0604030504040204" pitchFamily="50" charset="-128"/>
              </a:rPr>
              <a:t>本人来店の場合</a:t>
            </a:r>
            <a:endParaRPr lang="en-US" altLang="ja-JP" sz="2800" dirty="0">
              <a:solidFill>
                <a:schemeClr val="tx1"/>
              </a:solidFill>
              <a:latin typeface="Meiryo UI" panose="020B0604030504040204" pitchFamily="50" charset="-128"/>
              <a:ea typeface="Meiryo UI" panose="020B0604030504040204" pitchFamily="50" charset="-128"/>
            </a:endParaRPr>
          </a:p>
          <a:p>
            <a:pPr marL="971555" lvl="1" indent="-514350">
              <a:buFont typeface="+mj-ea"/>
              <a:buAutoNum type="circleNumDbPlain"/>
            </a:pPr>
            <a:r>
              <a:rPr lang="ja-JP" altLang="en-US" sz="2800" dirty="0">
                <a:solidFill>
                  <a:schemeClr val="tx1"/>
                </a:solidFill>
                <a:latin typeface="Meiryo UI" panose="020B0604030504040204" pitchFamily="50" charset="-128"/>
                <a:ea typeface="Meiryo UI" panose="020B0604030504040204" pitchFamily="50" charset="-128"/>
              </a:rPr>
              <a:t>本人来店で回答書を持参している場合</a:t>
            </a:r>
            <a:endParaRPr lang="en-US" altLang="ja-JP" sz="2800" dirty="0">
              <a:solidFill>
                <a:schemeClr val="tx1"/>
              </a:solidFill>
              <a:latin typeface="Meiryo UI" panose="020B0604030504040204" pitchFamily="50" charset="-128"/>
              <a:ea typeface="Meiryo UI" panose="020B0604030504040204" pitchFamily="50" charset="-128"/>
            </a:endParaRPr>
          </a:p>
          <a:p>
            <a:pPr marL="971555" lvl="1" indent="-514350">
              <a:buFont typeface="+mj-ea"/>
              <a:buAutoNum type="circleNumDbPlain"/>
            </a:pPr>
            <a:r>
              <a:rPr lang="ja-JP" altLang="en-US" sz="2800" dirty="0">
                <a:solidFill>
                  <a:schemeClr val="tx1"/>
                </a:solidFill>
                <a:latin typeface="Meiryo UI" panose="020B0604030504040204" pitchFamily="50" charset="-128"/>
                <a:ea typeface="Meiryo UI" panose="020B0604030504040204" pitchFamily="50" charset="-128"/>
              </a:rPr>
              <a:t>本人来店で行員が来店者を熟知している場合</a:t>
            </a:r>
            <a:endParaRPr lang="en-US" altLang="ja-JP" sz="2800" dirty="0">
              <a:solidFill>
                <a:schemeClr val="tx1"/>
              </a:solidFill>
              <a:latin typeface="Meiryo UI" panose="020B0604030504040204" pitchFamily="50" charset="-128"/>
              <a:ea typeface="Meiryo UI" panose="020B0604030504040204" pitchFamily="50" charset="-128"/>
            </a:endParaRPr>
          </a:p>
          <a:p>
            <a:pPr marL="457205" lvl="1"/>
            <a:endParaRPr lang="en-US" altLang="ja-JP" sz="2800" dirty="0">
              <a:solidFill>
                <a:schemeClr val="tx1"/>
              </a:solidFill>
              <a:latin typeface="Meiryo UI" panose="020B0604030504040204" pitchFamily="50" charset="-128"/>
              <a:ea typeface="Meiryo UI" panose="020B0604030504040204" pitchFamily="50" charset="-128"/>
            </a:endParaRPr>
          </a:p>
          <a:p>
            <a:pPr marL="457205" lvl="1"/>
            <a:r>
              <a:rPr lang="en-US" altLang="ja-JP" sz="2800" dirty="0">
                <a:solidFill>
                  <a:schemeClr val="tx1"/>
                </a:solidFill>
                <a:latin typeface="Meiryo UI" panose="020B0604030504040204" pitchFamily="50" charset="-128"/>
                <a:ea typeface="Meiryo UI" panose="020B0604030504040204" pitchFamily="50" charset="-128"/>
              </a:rPr>
              <a:t>※</a:t>
            </a:r>
            <a:r>
              <a:rPr lang="ja-JP" altLang="en-US" sz="2800" dirty="0">
                <a:solidFill>
                  <a:schemeClr val="tx1"/>
                </a:solidFill>
                <a:latin typeface="Meiryo UI" panose="020B0604030504040204" pitchFamily="50" charset="-128"/>
                <a:ea typeface="Meiryo UI" panose="020B0604030504040204" pitchFamily="50" charset="-128"/>
              </a:rPr>
              <a:t>代理人が来店した場合は回答書を送付してください。</a:t>
            </a:r>
            <a:endParaRPr lang="en-US" altLang="ja-JP" sz="28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88457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FB2B5F-23AE-478A-A8F0-7AFC6DECE40B}"/>
              </a:ext>
            </a:extLst>
          </p:cNvPr>
          <p:cNvSpPr>
            <a:spLocks noGrp="1"/>
          </p:cNvSpPr>
          <p:nvPr>
            <p:ph type="title"/>
          </p:nvPr>
        </p:nvSpPr>
        <p:spPr>
          <a:xfrm>
            <a:off x="191220" y="96708"/>
            <a:ext cx="10515600" cy="618386"/>
          </a:xfrm>
        </p:spPr>
        <p:txBody>
          <a:bodyPr>
            <a:normAutofit/>
          </a:bodyPr>
          <a:lstStyle/>
          <a:p>
            <a:r>
              <a:rPr lang="ja-JP" altLang="en-US" sz="2400" b="1" dirty="0">
                <a:latin typeface="Meiryo UI" panose="020B0604030504040204" pitchFamily="50" charset="-128"/>
                <a:ea typeface="Meiryo UI" panose="020B0604030504040204" pitchFamily="50" charset="-128"/>
              </a:rPr>
              <a:t>喪失受付時の対応（①本人来店の場合）</a:t>
            </a:r>
          </a:p>
        </p:txBody>
      </p:sp>
      <p:sp>
        <p:nvSpPr>
          <p:cNvPr id="16" name="正方形/長方形 15">
            <a:extLst>
              <a:ext uri="{FF2B5EF4-FFF2-40B4-BE49-F238E27FC236}">
                <a16:creationId xmlns:a16="http://schemas.microsoft.com/office/drawing/2014/main" id="{68FAB54F-0B56-4682-8DA4-537BEE911C26}"/>
              </a:ext>
            </a:extLst>
          </p:cNvPr>
          <p:cNvSpPr/>
          <p:nvPr/>
        </p:nvSpPr>
        <p:spPr>
          <a:xfrm>
            <a:off x="514380"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本人確認</a:t>
            </a:r>
          </a:p>
        </p:txBody>
      </p:sp>
      <p:sp>
        <p:nvSpPr>
          <p:cNvPr id="17" name="フローチャート: 判断 16">
            <a:extLst>
              <a:ext uri="{FF2B5EF4-FFF2-40B4-BE49-F238E27FC236}">
                <a16:creationId xmlns:a16="http://schemas.microsoft.com/office/drawing/2014/main" id="{9ACADBA1-1FF8-4EF7-95D0-66E95D58CC1A}"/>
              </a:ext>
            </a:extLst>
          </p:cNvPr>
          <p:cNvSpPr/>
          <p:nvPr/>
        </p:nvSpPr>
        <p:spPr>
          <a:xfrm>
            <a:off x="2884525"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18" name="正方形/長方形 17">
            <a:extLst>
              <a:ext uri="{FF2B5EF4-FFF2-40B4-BE49-F238E27FC236}">
                <a16:creationId xmlns:a16="http://schemas.microsoft.com/office/drawing/2014/main" id="{C1D5409D-26F5-4A64-A277-C07A801F1994}"/>
              </a:ext>
            </a:extLst>
          </p:cNvPr>
          <p:cNvSpPr/>
          <p:nvPr/>
        </p:nvSpPr>
        <p:spPr>
          <a:xfrm>
            <a:off x="4506250" y="1465987"/>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Meiryo UI" panose="020B0604030504040204" pitchFamily="50" charset="-128"/>
                <a:ea typeface="Meiryo UI" panose="020B0604030504040204" pitchFamily="50" charset="-128"/>
              </a:rPr>
              <a:t>S</a:t>
            </a:r>
            <a:r>
              <a:rPr kumimoji="1" lang="ja-JP" altLang="en-US" sz="1400" dirty="0">
                <a:solidFill>
                  <a:schemeClr val="tx1"/>
                </a:solidFill>
                <a:latin typeface="Meiryo UI" panose="020B0604030504040204" pitchFamily="50" charset="-128"/>
                <a:ea typeface="Meiryo UI" panose="020B0604030504040204" pitchFamily="50" charset="-128"/>
              </a:rPr>
              <a:t>照査者面接</a:t>
            </a:r>
            <a:r>
              <a:rPr kumimoji="1" lang="en-US" altLang="ja-JP" sz="1400" baseline="30000" dirty="0">
                <a:solidFill>
                  <a:schemeClr val="tx1"/>
                </a:solidFill>
                <a:latin typeface="Meiryo UI" panose="020B0604030504040204" pitchFamily="50" charset="-128"/>
                <a:ea typeface="Meiryo UI" panose="020B0604030504040204" pitchFamily="50" charset="-128"/>
              </a:rPr>
              <a:t>※</a:t>
            </a:r>
          </a:p>
        </p:txBody>
      </p:sp>
      <p:sp>
        <p:nvSpPr>
          <p:cNvPr id="19" name="フローチャート: 判断 18">
            <a:extLst>
              <a:ext uri="{FF2B5EF4-FFF2-40B4-BE49-F238E27FC236}">
                <a16:creationId xmlns:a16="http://schemas.microsoft.com/office/drawing/2014/main" id="{44BB01A7-04BB-46A5-B38D-C61584F7D0CC}"/>
              </a:ext>
            </a:extLst>
          </p:cNvPr>
          <p:cNvSpPr/>
          <p:nvPr/>
        </p:nvSpPr>
        <p:spPr>
          <a:xfrm>
            <a:off x="9125886" y="2257864"/>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000" dirty="0">
                <a:solidFill>
                  <a:schemeClr val="tx1"/>
                </a:solidFill>
                <a:latin typeface="Meiryo UI" panose="020B0604030504040204" pitchFamily="50" charset="-128"/>
                <a:ea typeface="Meiryo UI" panose="020B0604030504040204" pitchFamily="50" charset="-128"/>
              </a:rPr>
              <a:t>承認</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20B6C91D-0FC8-4EDB-8246-360348E16869}"/>
              </a:ext>
            </a:extLst>
          </p:cNvPr>
          <p:cNvSpPr/>
          <p:nvPr/>
        </p:nvSpPr>
        <p:spPr>
          <a:xfrm>
            <a:off x="10338872"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届出事項変更届・</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再交付通帳受取書受理</a:t>
            </a:r>
          </a:p>
        </p:txBody>
      </p:sp>
      <p:sp>
        <p:nvSpPr>
          <p:cNvPr id="21" name="正方形/長方形 20">
            <a:extLst>
              <a:ext uri="{FF2B5EF4-FFF2-40B4-BE49-F238E27FC236}">
                <a16:creationId xmlns:a16="http://schemas.microsoft.com/office/drawing/2014/main" id="{2EBB5170-2F5D-413A-A85F-D891A5C0791C}"/>
              </a:ext>
            </a:extLst>
          </p:cNvPr>
          <p:cNvSpPr/>
          <p:nvPr/>
        </p:nvSpPr>
        <p:spPr>
          <a:xfrm>
            <a:off x="10338871" y="5123668"/>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回答書の発送</a:t>
            </a:r>
          </a:p>
        </p:txBody>
      </p:sp>
      <p:sp>
        <p:nvSpPr>
          <p:cNvPr id="22" name="正方形/長方形 21">
            <a:extLst>
              <a:ext uri="{FF2B5EF4-FFF2-40B4-BE49-F238E27FC236}">
                <a16:creationId xmlns:a16="http://schemas.microsoft.com/office/drawing/2014/main" id="{551DA84D-B343-48C7-965E-BC4432E05AA8}"/>
              </a:ext>
            </a:extLst>
          </p:cNvPr>
          <p:cNvSpPr/>
          <p:nvPr/>
        </p:nvSpPr>
        <p:spPr>
          <a:xfrm>
            <a:off x="4506250"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dirty="0">
                <a:solidFill>
                  <a:schemeClr val="tx1"/>
                </a:solidFill>
                <a:latin typeface="Meiryo UI" panose="020B0604030504040204" pitchFamily="50" charset="-128"/>
                <a:ea typeface="Meiryo UI" panose="020B0604030504040204" pitchFamily="50" charset="-128"/>
              </a:rPr>
              <a:t>S</a:t>
            </a:r>
            <a:r>
              <a:rPr kumimoji="1" lang="ja-JP" altLang="en-US" sz="1400" dirty="0">
                <a:solidFill>
                  <a:schemeClr val="tx1"/>
                </a:solidFill>
                <a:latin typeface="Meiryo UI" panose="020B0604030504040204" pitchFamily="50" charset="-128"/>
                <a:ea typeface="Meiryo UI" panose="020B0604030504040204" pitchFamily="50" charset="-128"/>
              </a:rPr>
              <a:t>照査者面接</a:t>
            </a:r>
            <a:r>
              <a:rPr kumimoji="1" lang="en-US" altLang="ja-JP" sz="1400" baseline="30000" dirty="0">
                <a:solidFill>
                  <a:schemeClr val="tx1"/>
                </a:solidFill>
                <a:latin typeface="Meiryo UI" panose="020B0604030504040204" pitchFamily="50" charset="-128"/>
                <a:ea typeface="Meiryo UI" panose="020B0604030504040204" pitchFamily="50" charset="-128"/>
              </a:rPr>
              <a:t>※</a:t>
            </a:r>
          </a:p>
          <a:p>
            <a:pPr algn="ctr"/>
            <a:r>
              <a:rPr lang="ja-JP" altLang="en-US" sz="1050" dirty="0">
                <a:solidFill>
                  <a:schemeClr val="tx1"/>
                </a:solidFill>
                <a:latin typeface="Meiryo UI" panose="020B0604030504040204" pitchFamily="50" charset="-128"/>
                <a:ea typeface="Meiryo UI" panose="020B0604030504040204" pitchFamily="50" charset="-128"/>
              </a:rPr>
              <a:t>（本人確認チェック表確認）</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4" name="コネクタ: カギ線 3">
            <a:extLst>
              <a:ext uri="{FF2B5EF4-FFF2-40B4-BE49-F238E27FC236}">
                <a16:creationId xmlns:a16="http://schemas.microsoft.com/office/drawing/2014/main" id="{B3BDB0A2-F06D-4C05-B91E-DFF8EDC6FC13}"/>
              </a:ext>
            </a:extLst>
          </p:cNvPr>
          <p:cNvCxnSpPr>
            <a:cxnSpLocks/>
            <a:stCxn id="17" idx="2"/>
            <a:endCxn id="21" idx="1"/>
          </p:cNvCxnSpPr>
          <p:nvPr/>
        </p:nvCxnSpPr>
        <p:spPr>
          <a:xfrm rot="16200000" flipH="1">
            <a:off x="5417090" y="482972"/>
            <a:ext cx="2804852" cy="703870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E943B310-E3D3-439C-BA1D-870005B60CD5}"/>
              </a:ext>
            </a:extLst>
          </p:cNvPr>
          <p:cNvCxnSpPr>
            <a:cxnSpLocks/>
            <a:stCxn id="17" idx="3"/>
            <a:endCxn id="22" idx="1"/>
          </p:cNvCxnSpPr>
          <p:nvPr/>
        </p:nvCxnSpPr>
        <p:spPr>
          <a:xfrm>
            <a:off x="3715798" y="2426989"/>
            <a:ext cx="790452"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コネクタ: カギ線 27">
            <a:extLst>
              <a:ext uri="{FF2B5EF4-FFF2-40B4-BE49-F238E27FC236}">
                <a16:creationId xmlns:a16="http://schemas.microsoft.com/office/drawing/2014/main" id="{BB14B159-FDC5-40D4-8BCC-1D4E3C5FC55D}"/>
              </a:ext>
            </a:extLst>
          </p:cNvPr>
          <p:cNvCxnSpPr>
            <a:cxnSpLocks/>
            <a:stCxn id="17" idx="0"/>
            <a:endCxn id="18" idx="1"/>
          </p:cNvCxnSpPr>
          <p:nvPr/>
        </p:nvCxnSpPr>
        <p:spPr>
          <a:xfrm rot="5400000" flipH="1" flipV="1">
            <a:off x="3649704" y="1397531"/>
            <a:ext cx="507005" cy="120608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123E007A-A37A-443F-82F1-56025040B24C}"/>
              </a:ext>
            </a:extLst>
          </p:cNvPr>
          <p:cNvCxnSpPr>
            <a:cxnSpLocks/>
            <a:stCxn id="22" idx="3"/>
            <a:endCxn id="50" idx="1"/>
          </p:cNvCxnSpPr>
          <p:nvPr/>
        </p:nvCxnSpPr>
        <p:spPr>
          <a:xfrm flipV="1">
            <a:off x="5932902" y="2426989"/>
            <a:ext cx="326198"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コネクタ: カギ線 33">
            <a:extLst>
              <a:ext uri="{FF2B5EF4-FFF2-40B4-BE49-F238E27FC236}">
                <a16:creationId xmlns:a16="http://schemas.microsoft.com/office/drawing/2014/main" id="{76A35761-E45B-4BBC-9F4F-C0311A2D4784}"/>
              </a:ext>
            </a:extLst>
          </p:cNvPr>
          <p:cNvCxnSpPr>
            <a:cxnSpLocks/>
            <a:stCxn id="18" idx="3"/>
            <a:endCxn id="50" idx="1"/>
          </p:cNvCxnSpPr>
          <p:nvPr/>
        </p:nvCxnSpPr>
        <p:spPr>
          <a:xfrm>
            <a:off x="5932902" y="1747072"/>
            <a:ext cx="326198" cy="679917"/>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コネクタ: カギ線 38">
            <a:extLst>
              <a:ext uri="{FF2B5EF4-FFF2-40B4-BE49-F238E27FC236}">
                <a16:creationId xmlns:a16="http://schemas.microsoft.com/office/drawing/2014/main" id="{FB07BBA6-783F-4315-A920-EFE02DDDBBF9}"/>
              </a:ext>
            </a:extLst>
          </p:cNvPr>
          <p:cNvCxnSpPr>
            <a:cxnSpLocks/>
            <a:stCxn id="19" idx="2"/>
            <a:endCxn id="21" idx="1"/>
          </p:cNvCxnSpPr>
          <p:nvPr/>
        </p:nvCxnSpPr>
        <p:spPr>
          <a:xfrm rot="16200000" flipH="1">
            <a:off x="8539665" y="3605546"/>
            <a:ext cx="2801065" cy="79734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E117C4A7-04DC-4FE8-B0AF-B6D33CD94C48}"/>
              </a:ext>
            </a:extLst>
          </p:cNvPr>
          <p:cNvCxnSpPr>
            <a:cxnSpLocks/>
            <a:stCxn id="19" idx="3"/>
            <a:endCxn id="20" idx="1"/>
          </p:cNvCxnSpPr>
          <p:nvPr/>
        </p:nvCxnSpPr>
        <p:spPr>
          <a:xfrm flipV="1">
            <a:off x="9957159" y="2426990"/>
            <a:ext cx="381713" cy="37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4DB57F8-DA4D-4C33-BDD2-F0E25C972B6E}"/>
              </a:ext>
            </a:extLst>
          </p:cNvPr>
          <p:cNvCxnSpPr>
            <a:cxnSpLocks/>
            <a:stCxn id="16" idx="3"/>
            <a:endCxn id="17" idx="1"/>
          </p:cNvCxnSpPr>
          <p:nvPr/>
        </p:nvCxnSpPr>
        <p:spPr>
          <a:xfrm flipV="1">
            <a:off x="1941032" y="2426989"/>
            <a:ext cx="943493"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正方形/長方形 64">
            <a:extLst>
              <a:ext uri="{FF2B5EF4-FFF2-40B4-BE49-F238E27FC236}">
                <a16:creationId xmlns:a16="http://schemas.microsoft.com/office/drawing/2014/main" id="{DF6390DF-F1CA-4916-B762-9F2921D80682}"/>
              </a:ext>
            </a:extLst>
          </p:cNvPr>
          <p:cNvSpPr/>
          <p:nvPr/>
        </p:nvSpPr>
        <p:spPr>
          <a:xfrm>
            <a:off x="513942" y="2936102"/>
            <a:ext cx="2666755" cy="2934018"/>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ja-JP" altLang="en-US" sz="1000" dirty="0">
                <a:solidFill>
                  <a:srgbClr val="000000"/>
                </a:solidFill>
                <a:latin typeface="Meiryo UI" panose="020B0604030504040204" pitchFamily="50" charset="-128"/>
                <a:ea typeface="Meiryo UI" panose="020B0604030504040204" pitchFamily="50" charset="-128"/>
              </a:rPr>
              <a:t>以下の①②両方で本人確認を行ってください。</a:t>
            </a:r>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en-US" sz="1000" dirty="0">
                <a:solidFill>
                  <a:srgbClr val="000000"/>
                </a:solidFill>
                <a:latin typeface="Meiryo UI" panose="020B0604030504040204" pitchFamily="50" charset="-128"/>
                <a:ea typeface="Meiryo UI" panose="020B0604030504040204" pitchFamily="50" charset="-128"/>
              </a:rPr>
              <a:t>確認はいずれか一つで構いません</a:t>
            </a:r>
            <a:br>
              <a:rPr lang="en-US" altLang="ja-JP" sz="1000" dirty="0">
                <a:solidFill>
                  <a:srgbClr val="000000"/>
                </a:solidFill>
                <a:latin typeface="Meiryo UI" panose="020B0604030504040204" pitchFamily="50" charset="-128"/>
                <a:ea typeface="Meiryo UI" panose="020B0604030504040204" pitchFamily="50" charset="-128"/>
              </a:rPr>
            </a:br>
            <a:r>
              <a:rPr lang="ja-JP" altLang="en-US" sz="1000" dirty="0">
                <a:solidFill>
                  <a:srgbClr val="000000"/>
                </a:solidFill>
                <a:latin typeface="Meiryo UI" panose="020B0604030504040204" pitchFamily="50" charset="-128"/>
                <a:ea typeface="Meiryo UI" panose="020B0604030504040204" pitchFamily="50" charset="-128"/>
              </a:rPr>
              <a:t>① 顔写真付き本人確認書類</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運転免許証</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個人番号カード</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パスポート</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zh-TW" altLang="ja-JP" sz="1000" dirty="0">
                <a:solidFill>
                  <a:srgbClr val="000000"/>
                </a:solidFill>
                <a:latin typeface="Meiryo UI" panose="020B0604030504040204" pitchFamily="50" charset="-128"/>
                <a:ea typeface="Meiryo UI" panose="020B0604030504040204" pitchFamily="50" charset="-128"/>
              </a:rPr>
              <a:t>身体障害者手帳</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顔写真入り勤務先証明書</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顔写真入り学生証</a:t>
            </a:r>
            <a:endParaRPr lang="ja-JP" altLang="ja-JP" sz="20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印鑑証明書（発行</a:t>
            </a:r>
            <a:r>
              <a:rPr lang="en-US" altLang="ja-JP" sz="1000" dirty="0">
                <a:solidFill>
                  <a:srgbClr val="000000"/>
                </a:solidFill>
                <a:latin typeface="Meiryo UI" panose="020B0604030504040204" pitchFamily="50" charset="-128"/>
                <a:ea typeface="Meiryo UI" panose="020B0604030504040204" pitchFamily="50" charset="-128"/>
              </a:rPr>
              <a:t>3</a:t>
            </a:r>
            <a:r>
              <a:rPr lang="ja-JP" altLang="ja-JP" sz="1000" dirty="0">
                <a:solidFill>
                  <a:srgbClr val="000000"/>
                </a:solidFill>
                <a:latin typeface="Meiryo UI" panose="020B0604030504040204" pitchFamily="50" charset="-128"/>
                <a:ea typeface="Meiryo UI" panose="020B0604030504040204" pitchFamily="50" charset="-128"/>
              </a:rPr>
              <a:t>か月以内）</a:t>
            </a:r>
            <a:br>
              <a:rPr lang="en-US" altLang="ja-JP" sz="1000" dirty="0">
                <a:solidFill>
                  <a:srgbClr val="000000"/>
                </a:solidFill>
                <a:latin typeface="Meiryo UI" panose="020B0604030504040204" pitchFamily="50" charset="-128"/>
                <a:ea typeface="Meiryo UI" panose="020B0604030504040204" pitchFamily="50" charset="-128"/>
              </a:rPr>
            </a:br>
            <a:r>
              <a:rPr lang="ja-JP" altLang="en-US" sz="1000" dirty="0">
                <a:solidFill>
                  <a:srgbClr val="000000"/>
                </a:solidFill>
                <a:latin typeface="Meiryo UI" panose="020B0604030504040204" pitchFamily="50" charset="-128"/>
                <a:ea typeface="Meiryo UI" panose="020B0604030504040204" pitchFamily="50" charset="-128"/>
              </a:rPr>
              <a:t>→実印の押印を受け、一致を確認</a:t>
            </a:r>
            <a:endParaRPr lang="en-US" altLang="ja-JP" sz="1000" dirty="0">
              <a:solidFill>
                <a:srgbClr val="000000"/>
              </a:solidFill>
              <a:latin typeface="Meiryo UI" panose="020B0604030504040204" pitchFamily="50" charset="-128"/>
              <a:ea typeface="Meiryo UI" panose="020B0604030504040204" pitchFamily="50" charset="-128"/>
            </a:endParaRPr>
          </a:p>
          <a:p>
            <a:pPr fontAlgn="b"/>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ja-JP" altLang="en-US" sz="1000" dirty="0">
                <a:solidFill>
                  <a:srgbClr val="000000"/>
                </a:solidFill>
                <a:latin typeface="Meiryo UI" panose="020B0604030504040204" pitchFamily="50" charset="-128"/>
                <a:ea typeface="Meiryo UI" panose="020B0604030504040204" pitchFamily="50" charset="-128"/>
              </a:rPr>
              <a:t>② 同一</a:t>
            </a:r>
            <a:r>
              <a:rPr lang="en-US" altLang="ja-JP" sz="1000" dirty="0">
                <a:solidFill>
                  <a:srgbClr val="000000"/>
                </a:solidFill>
                <a:latin typeface="Meiryo UI" panose="020B0604030504040204" pitchFamily="50" charset="-128"/>
                <a:ea typeface="Meiryo UI" panose="020B0604030504040204" pitchFamily="50" charset="-128"/>
              </a:rPr>
              <a:t>CIF</a:t>
            </a:r>
            <a:r>
              <a:rPr lang="ja-JP" altLang="en-US" sz="1000" dirty="0">
                <a:solidFill>
                  <a:srgbClr val="000000"/>
                </a:solidFill>
                <a:latin typeface="Meiryo UI" panose="020B0604030504040204" pitchFamily="50" charset="-128"/>
                <a:ea typeface="Meiryo UI" panose="020B0604030504040204" pitchFamily="50" charset="-128"/>
              </a:rPr>
              <a:t>の帳票・カード・通帳による確認</a:t>
            </a:r>
            <a:endParaRPr lang="en-US" altLang="ja-JP" sz="1000" dirty="0">
              <a:solidFill>
                <a:srgbClr val="000000"/>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届出印の押印（印鑑照合）</a:t>
            </a:r>
            <a:endParaRPr lang="ja-JP" altLang="ja-JP" sz="2000" dirty="0">
              <a:solidFill>
                <a:prstClr val="white"/>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en-US" altLang="ja-JP" sz="1000" dirty="0">
                <a:solidFill>
                  <a:srgbClr val="000000"/>
                </a:solidFill>
                <a:latin typeface="Meiryo UI" panose="020B0604030504040204" pitchFamily="50" charset="-128"/>
                <a:ea typeface="Meiryo UI" panose="020B0604030504040204" pitchFamily="50" charset="-128"/>
              </a:rPr>
              <a:t>e</a:t>
            </a:r>
            <a:r>
              <a:rPr lang="ja-JP" altLang="ja-JP" sz="1000" dirty="0">
                <a:solidFill>
                  <a:srgbClr val="000000"/>
                </a:solidFill>
                <a:latin typeface="Meiryo UI" panose="020B0604030504040204" pitchFamily="50" charset="-128"/>
                <a:ea typeface="Meiryo UI" panose="020B0604030504040204" pitchFamily="50" charset="-128"/>
              </a:rPr>
              <a:t>オペ</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65620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01620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通帳の所持確認</a:t>
            </a:r>
            <a:endParaRPr lang="en-US" altLang="ja-JP" sz="300" dirty="0">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6CD974C4-5003-48A6-B622-6231CD043953}"/>
              </a:ext>
            </a:extLst>
          </p:cNvPr>
          <p:cNvSpPr/>
          <p:nvPr/>
        </p:nvSpPr>
        <p:spPr>
          <a:xfrm>
            <a:off x="3359848" y="1415350"/>
            <a:ext cx="107246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①②ともに</a:t>
            </a:r>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BC955416-82E5-43EB-AFEB-7BE810177111}"/>
              </a:ext>
            </a:extLst>
          </p:cNvPr>
          <p:cNvSpPr/>
          <p:nvPr/>
        </p:nvSpPr>
        <p:spPr>
          <a:xfrm>
            <a:off x="3359848" y="2084421"/>
            <a:ext cx="107246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①②どちらか</a:t>
            </a:r>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DA3839A0-E82E-47E7-A073-16BFCD14FA16}"/>
              </a:ext>
            </a:extLst>
          </p:cNvPr>
          <p:cNvSpPr/>
          <p:nvPr/>
        </p:nvSpPr>
        <p:spPr>
          <a:xfrm>
            <a:off x="3359848" y="4897049"/>
            <a:ext cx="1197717"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①②どちらも</a:t>
            </a:r>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6D4FCE5F-12A3-4C1E-9175-68EEEA604463}"/>
              </a:ext>
            </a:extLst>
          </p:cNvPr>
          <p:cNvSpPr/>
          <p:nvPr/>
        </p:nvSpPr>
        <p:spPr>
          <a:xfrm>
            <a:off x="9640767" y="2736743"/>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97B58D65-B855-4E9C-B135-751FFFAF4B66}"/>
              </a:ext>
            </a:extLst>
          </p:cNvPr>
          <p:cNvSpPr/>
          <p:nvPr/>
        </p:nvSpPr>
        <p:spPr>
          <a:xfrm>
            <a:off x="9888405" y="2109836"/>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84" name="正方形/長方形 83">
            <a:extLst>
              <a:ext uri="{FF2B5EF4-FFF2-40B4-BE49-F238E27FC236}">
                <a16:creationId xmlns:a16="http://schemas.microsoft.com/office/drawing/2014/main" id="{6684035E-0F0F-4E37-B746-0C2FD3562633}"/>
              </a:ext>
            </a:extLst>
          </p:cNvPr>
          <p:cNvSpPr/>
          <p:nvPr/>
        </p:nvSpPr>
        <p:spPr>
          <a:xfrm>
            <a:off x="4116753" y="2879908"/>
            <a:ext cx="2498252" cy="1237908"/>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en-US" sz="1000" dirty="0">
                <a:solidFill>
                  <a:srgbClr val="000000"/>
                </a:solidFill>
                <a:latin typeface="Meiryo UI" panose="020B0604030504040204" pitchFamily="50" charset="-128"/>
                <a:ea typeface="Meiryo UI" panose="020B0604030504040204" pitchFamily="50" charset="-128"/>
              </a:rPr>
              <a:t>本人確認チェック表の確認事項</a:t>
            </a:r>
            <a:r>
              <a:rPr lang="en-US" altLang="ja-JP" sz="1000" dirty="0">
                <a:solidFill>
                  <a:srgbClr val="000000"/>
                </a:solidFill>
                <a:latin typeface="Meiryo UI" panose="020B0604030504040204" pitchFamily="50" charset="-128"/>
                <a:ea typeface="Meiryo UI" panose="020B0604030504040204" pitchFamily="50" charset="-128"/>
              </a:rPr>
              <a:t>】</a:t>
            </a: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通帳紛失時の状況</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申込書・印鑑届等の特徴</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印章の大きさ、形状、字体の特徴</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当該預金の預入原資及び受払状況</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預金受入時（口座開設）の担当者確認</a:t>
            </a:r>
            <a:endParaRPr lang="ja-JP" altLang="ja-JP" sz="1400" dirty="0">
              <a:latin typeface="Meiryo UI" panose="020B0604030504040204" pitchFamily="50" charset="-128"/>
              <a:ea typeface="Meiryo UI" panose="020B0604030504040204" pitchFamily="50" charset="-128"/>
            </a:endParaRPr>
          </a:p>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ja-JP" sz="1000" dirty="0">
                <a:solidFill>
                  <a:srgbClr val="000000"/>
                </a:solidFill>
                <a:latin typeface="Meiryo UI" panose="020B0604030504040204" pitchFamily="50" charset="-128"/>
                <a:ea typeface="Meiryo UI" panose="020B0604030504040204" pitchFamily="50" charset="-128"/>
              </a:rPr>
              <a:t>疑義があれば架電・訪問確認</a:t>
            </a:r>
            <a:r>
              <a:rPr lang="ja-JP" altLang="en-US" sz="1000" dirty="0">
                <a:solidFill>
                  <a:srgbClr val="000000"/>
                </a:solidFill>
                <a:latin typeface="Meiryo UI" panose="020B0604030504040204" pitchFamily="50" charset="-128"/>
                <a:ea typeface="Meiryo UI" panose="020B0604030504040204" pitchFamily="50" charset="-128"/>
              </a:rPr>
              <a:t>すること</a:t>
            </a:r>
            <a:endParaRPr lang="ja-JP" altLang="ja-JP" sz="1400" dirty="0">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0AEF95CE-56AD-4CFD-81CD-06A707C443A4}"/>
              </a:ext>
            </a:extLst>
          </p:cNvPr>
          <p:cNvSpPr/>
          <p:nvPr/>
        </p:nvSpPr>
        <p:spPr>
          <a:xfrm>
            <a:off x="1941032" y="6087469"/>
            <a:ext cx="9702253" cy="4272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住所変更・名義変更を伴う場合、住所・名義の連続性が確認できる公的書類を確認してください。</a:t>
            </a:r>
            <a:endParaRPr lang="en-US" altLang="ja-JP" sz="1200" dirty="0">
              <a:solidFill>
                <a:schemeClr val="tx1"/>
              </a:solidFill>
              <a:latin typeface="Meiryo UI" panose="020B0604030504040204" pitchFamily="50" charset="-128"/>
              <a:ea typeface="Meiryo UI" panose="020B0604030504040204" pitchFamily="50" charset="-128"/>
            </a:endParaRPr>
          </a:p>
          <a:p>
            <a:pPr lvl="0"/>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 法人の</a:t>
            </a:r>
            <a:r>
              <a:rPr lang="ja-JP" altLang="en-US" sz="1200" dirty="0">
                <a:solidFill>
                  <a:prstClr val="black"/>
                </a:solidFill>
                <a:latin typeface="Meiryo UI" panose="020B0604030504040204" pitchFamily="50" charset="-128"/>
                <a:ea typeface="Meiryo UI" panose="020B0604030504040204" pitchFamily="50" charset="-128"/>
              </a:rPr>
              <a:t>代表者来店時は代表者の住所と法人の住所が一致している場合代表者の免許証で本人確認ができます。（不一致の場合は印鑑証明書のみ）</a:t>
            </a:r>
          </a:p>
          <a:p>
            <a:pPr fontAlgn="b"/>
            <a:endParaRPr lang="ja-JP" altLang="ja-JP" sz="1200" dirty="0">
              <a:solidFill>
                <a:schemeClr val="tx1"/>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1944AF73-8A71-4EE4-8178-63266A5441A6}"/>
              </a:ext>
            </a:extLst>
          </p:cNvPr>
          <p:cNvSpPr/>
          <p:nvPr/>
        </p:nvSpPr>
        <p:spPr>
          <a:xfrm>
            <a:off x="7391256"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事務統括者承認</a:t>
            </a:r>
            <a:endParaRPr kumimoji="1" lang="en-US" altLang="ja-JP" sz="1400" baseline="30000" dirty="0">
              <a:solidFill>
                <a:schemeClr val="tx1"/>
              </a:solidFill>
              <a:latin typeface="Meiryo UI" panose="020B0604030504040204" pitchFamily="50" charset="-128"/>
              <a:ea typeface="Meiryo UI" panose="020B0604030504040204" pitchFamily="50" charset="-128"/>
            </a:endParaRPr>
          </a:p>
          <a:p>
            <a:pPr algn="ctr"/>
            <a:r>
              <a:rPr lang="ja-JP" altLang="en-US" sz="1050" dirty="0">
                <a:solidFill>
                  <a:schemeClr val="tx1"/>
                </a:solidFill>
                <a:latin typeface="Meiryo UI" panose="020B0604030504040204" pitchFamily="50" charset="-128"/>
                <a:ea typeface="Meiryo UI" panose="020B0604030504040204" pitchFamily="50" charset="-128"/>
              </a:rPr>
              <a:t>（本人確認チェック表）</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sp>
        <p:nvSpPr>
          <p:cNvPr id="50" name="フローチャート: 判断 49">
            <a:extLst>
              <a:ext uri="{FF2B5EF4-FFF2-40B4-BE49-F238E27FC236}">
                <a16:creationId xmlns:a16="http://schemas.microsoft.com/office/drawing/2014/main" id="{012A5C01-33EB-42DE-9AAC-047B52A8E058}"/>
              </a:ext>
            </a:extLst>
          </p:cNvPr>
          <p:cNvSpPr/>
          <p:nvPr/>
        </p:nvSpPr>
        <p:spPr>
          <a:xfrm>
            <a:off x="6259100"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000" dirty="0">
                <a:solidFill>
                  <a:schemeClr val="tx1"/>
                </a:solidFill>
                <a:latin typeface="Meiryo UI" panose="020B0604030504040204" pitchFamily="50" charset="-128"/>
                <a:ea typeface="Meiryo UI" panose="020B0604030504040204" pitchFamily="50" charset="-128"/>
              </a:rPr>
              <a:t>承認</a:t>
            </a:r>
            <a:r>
              <a:rPr kumimoji="1" lang="ja-JP" altLang="en-US" sz="1000" dirty="0">
                <a:solidFill>
                  <a:schemeClr val="tx1"/>
                </a:solidFill>
                <a:latin typeface="Meiryo UI" panose="020B0604030504040204" pitchFamily="50" charset="-128"/>
                <a:ea typeface="Meiryo UI" panose="020B0604030504040204" pitchFamily="50" charset="-128"/>
              </a:rPr>
              <a:t>？</a:t>
            </a:r>
          </a:p>
        </p:txBody>
      </p:sp>
      <p:cxnSp>
        <p:nvCxnSpPr>
          <p:cNvPr id="66" name="直線矢印コネクタ 65">
            <a:extLst>
              <a:ext uri="{FF2B5EF4-FFF2-40B4-BE49-F238E27FC236}">
                <a16:creationId xmlns:a16="http://schemas.microsoft.com/office/drawing/2014/main" id="{7907038F-CA1E-4626-AD05-C9B602357312}"/>
              </a:ext>
            </a:extLst>
          </p:cNvPr>
          <p:cNvCxnSpPr>
            <a:cxnSpLocks/>
            <a:stCxn id="30" idx="3"/>
            <a:endCxn id="19" idx="1"/>
          </p:cNvCxnSpPr>
          <p:nvPr/>
        </p:nvCxnSpPr>
        <p:spPr>
          <a:xfrm>
            <a:off x="8817908" y="2426990"/>
            <a:ext cx="307978" cy="37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3" name="直線矢印コネクタ 72">
            <a:extLst>
              <a:ext uri="{FF2B5EF4-FFF2-40B4-BE49-F238E27FC236}">
                <a16:creationId xmlns:a16="http://schemas.microsoft.com/office/drawing/2014/main" id="{3734235C-3FC6-413F-BB63-086AD46C2780}"/>
              </a:ext>
            </a:extLst>
          </p:cNvPr>
          <p:cNvCxnSpPr>
            <a:cxnSpLocks/>
            <a:stCxn id="50" idx="3"/>
            <a:endCxn id="30" idx="1"/>
          </p:cNvCxnSpPr>
          <p:nvPr/>
        </p:nvCxnSpPr>
        <p:spPr>
          <a:xfrm>
            <a:off x="7090373" y="2426989"/>
            <a:ext cx="300883"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9" name="コネクタ: カギ線 88">
            <a:extLst>
              <a:ext uri="{FF2B5EF4-FFF2-40B4-BE49-F238E27FC236}">
                <a16:creationId xmlns:a16="http://schemas.microsoft.com/office/drawing/2014/main" id="{51BC465A-B74D-48E4-83E7-ACFCB732E37D}"/>
              </a:ext>
            </a:extLst>
          </p:cNvPr>
          <p:cNvCxnSpPr>
            <a:cxnSpLocks/>
            <a:stCxn id="50" idx="2"/>
            <a:endCxn id="21" idx="1"/>
          </p:cNvCxnSpPr>
          <p:nvPr/>
        </p:nvCxnSpPr>
        <p:spPr>
          <a:xfrm rot="16200000" flipH="1">
            <a:off x="7104378" y="2170260"/>
            <a:ext cx="2804852" cy="3664134"/>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3" name="正方形/長方形 92">
            <a:extLst>
              <a:ext uri="{FF2B5EF4-FFF2-40B4-BE49-F238E27FC236}">
                <a16:creationId xmlns:a16="http://schemas.microsoft.com/office/drawing/2014/main" id="{4B89D8C9-8718-45AC-A507-0A894C9CB82E}"/>
              </a:ext>
            </a:extLst>
          </p:cNvPr>
          <p:cNvSpPr/>
          <p:nvPr/>
        </p:nvSpPr>
        <p:spPr>
          <a:xfrm>
            <a:off x="6698748" y="2736743"/>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64E5486F-658F-4C3B-AAFC-44DDCA817135}"/>
              </a:ext>
            </a:extLst>
          </p:cNvPr>
          <p:cNvSpPr/>
          <p:nvPr/>
        </p:nvSpPr>
        <p:spPr>
          <a:xfrm>
            <a:off x="6946386" y="2109836"/>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9595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FB2B5F-23AE-478A-A8F0-7AFC6DECE40B}"/>
              </a:ext>
            </a:extLst>
          </p:cNvPr>
          <p:cNvSpPr>
            <a:spLocks noGrp="1"/>
          </p:cNvSpPr>
          <p:nvPr>
            <p:ph type="title"/>
          </p:nvPr>
        </p:nvSpPr>
        <p:spPr>
          <a:xfrm>
            <a:off x="191220" y="96708"/>
            <a:ext cx="10515600" cy="618386"/>
          </a:xfrm>
        </p:spPr>
        <p:txBody>
          <a:bodyPr>
            <a:normAutofit/>
          </a:bodyPr>
          <a:lstStyle/>
          <a:p>
            <a:r>
              <a:rPr lang="ja-JP" altLang="en-US" sz="2400" b="1" dirty="0">
                <a:latin typeface="Meiryo UI" panose="020B0604030504040204" pitchFamily="50" charset="-128"/>
                <a:ea typeface="Meiryo UI" panose="020B0604030504040204" pitchFamily="50" charset="-128"/>
              </a:rPr>
              <a:t>喪失受付時の対応（②本人来店で回答書を持参している場合）</a:t>
            </a:r>
          </a:p>
        </p:txBody>
      </p:sp>
      <p:sp>
        <p:nvSpPr>
          <p:cNvPr id="16" name="正方形/長方形 15">
            <a:extLst>
              <a:ext uri="{FF2B5EF4-FFF2-40B4-BE49-F238E27FC236}">
                <a16:creationId xmlns:a16="http://schemas.microsoft.com/office/drawing/2014/main" id="{68FAB54F-0B56-4682-8DA4-537BEE911C26}"/>
              </a:ext>
            </a:extLst>
          </p:cNvPr>
          <p:cNvSpPr/>
          <p:nvPr/>
        </p:nvSpPr>
        <p:spPr>
          <a:xfrm>
            <a:off x="269453" y="2237406"/>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本人確認</a:t>
            </a:r>
          </a:p>
        </p:txBody>
      </p:sp>
      <p:sp>
        <p:nvSpPr>
          <p:cNvPr id="17" name="フローチャート: 判断 16">
            <a:extLst>
              <a:ext uri="{FF2B5EF4-FFF2-40B4-BE49-F238E27FC236}">
                <a16:creationId xmlns:a16="http://schemas.microsoft.com/office/drawing/2014/main" id="{9ACADBA1-1FF8-4EF7-95D0-66E95D58CC1A}"/>
              </a:ext>
            </a:extLst>
          </p:cNvPr>
          <p:cNvSpPr/>
          <p:nvPr/>
        </p:nvSpPr>
        <p:spPr>
          <a:xfrm>
            <a:off x="2710045" y="2345578"/>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19" name="フローチャート: 判断 18">
            <a:extLst>
              <a:ext uri="{FF2B5EF4-FFF2-40B4-BE49-F238E27FC236}">
                <a16:creationId xmlns:a16="http://schemas.microsoft.com/office/drawing/2014/main" id="{44BB01A7-04BB-46A5-B38D-C61584F7D0CC}"/>
              </a:ext>
            </a:extLst>
          </p:cNvPr>
          <p:cNvSpPr/>
          <p:nvPr/>
        </p:nvSpPr>
        <p:spPr>
          <a:xfrm>
            <a:off x="8963283" y="2345578"/>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ja-JP" altLang="en-US" sz="1000" dirty="0">
                <a:solidFill>
                  <a:schemeClr val="tx1"/>
                </a:solidFill>
                <a:latin typeface="Meiryo UI" panose="020B0604030504040204" pitchFamily="50" charset="-128"/>
                <a:ea typeface="Meiryo UI" panose="020B0604030504040204" pitchFamily="50" charset="-128"/>
              </a:rPr>
              <a:t>承認</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20B6C91D-0FC8-4EDB-8246-360348E16869}"/>
              </a:ext>
            </a:extLst>
          </p:cNvPr>
          <p:cNvSpPr/>
          <p:nvPr/>
        </p:nvSpPr>
        <p:spPr>
          <a:xfrm>
            <a:off x="10640949" y="2237406"/>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届出事項変更届・</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再交付通帳受取書受理</a:t>
            </a:r>
          </a:p>
        </p:txBody>
      </p:sp>
      <p:sp>
        <p:nvSpPr>
          <p:cNvPr id="22" name="正方形/長方形 21">
            <a:extLst>
              <a:ext uri="{FF2B5EF4-FFF2-40B4-BE49-F238E27FC236}">
                <a16:creationId xmlns:a16="http://schemas.microsoft.com/office/drawing/2014/main" id="{551DA84D-B343-48C7-965E-BC4432E05AA8}"/>
              </a:ext>
            </a:extLst>
          </p:cNvPr>
          <p:cNvSpPr/>
          <p:nvPr/>
        </p:nvSpPr>
        <p:spPr>
          <a:xfrm>
            <a:off x="4432180" y="2237406"/>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dirty="0">
                <a:solidFill>
                  <a:schemeClr val="tx1"/>
                </a:solidFill>
                <a:latin typeface="Meiryo UI" panose="020B0604030504040204" pitchFamily="50" charset="-128"/>
                <a:ea typeface="Meiryo UI" panose="020B0604030504040204" pitchFamily="50" charset="-128"/>
              </a:rPr>
              <a:t>S</a:t>
            </a:r>
            <a:r>
              <a:rPr kumimoji="1" lang="ja-JP" altLang="en-US" sz="1400" dirty="0">
                <a:solidFill>
                  <a:schemeClr val="tx1"/>
                </a:solidFill>
                <a:latin typeface="Meiryo UI" panose="020B0604030504040204" pitchFamily="50" charset="-128"/>
                <a:ea typeface="Meiryo UI" panose="020B0604030504040204" pitchFamily="50" charset="-128"/>
              </a:rPr>
              <a:t>照査者面接</a:t>
            </a:r>
            <a:r>
              <a:rPr kumimoji="1" lang="en-US" altLang="ja-JP" sz="1400" baseline="30000" dirty="0">
                <a:solidFill>
                  <a:schemeClr val="tx1"/>
                </a:solidFill>
                <a:latin typeface="Meiryo UI" panose="020B0604030504040204" pitchFamily="50" charset="-128"/>
                <a:ea typeface="Meiryo UI" panose="020B0604030504040204" pitchFamily="50" charset="-128"/>
              </a:rPr>
              <a:t>※</a:t>
            </a:r>
          </a:p>
          <a:p>
            <a:pPr algn="ctr"/>
            <a:r>
              <a:rPr lang="ja-JP" altLang="en-US" sz="1050" dirty="0">
                <a:solidFill>
                  <a:schemeClr val="tx1"/>
                </a:solidFill>
                <a:latin typeface="Meiryo UI" panose="020B0604030504040204" pitchFamily="50" charset="-128"/>
                <a:ea typeface="Meiryo UI" panose="020B0604030504040204" pitchFamily="50" charset="-128"/>
              </a:rPr>
              <a:t>（本人確認チェック表含）</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4" name="コネクタ: カギ線 3">
            <a:extLst>
              <a:ext uri="{FF2B5EF4-FFF2-40B4-BE49-F238E27FC236}">
                <a16:creationId xmlns:a16="http://schemas.microsoft.com/office/drawing/2014/main" id="{B3BDB0A2-F06D-4C05-B91E-DFF8EDC6FC13}"/>
              </a:ext>
            </a:extLst>
          </p:cNvPr>
          <p:cNvCxnSpPr>
            <a:cxnSpLocks/>
            <a:stCxn id="17" idx="2"/>
            <a:endCxn id="43" idx="2"/>
          </p:cNvCxnSpPr>
          <p:nvPr/>
        </p:nvCxnSpPr>
        <p:spPr>
          <a:xfrm rot="16200000" flipH="1">
            <a:off x="6722515" y="-905432"/>
            <a:ext cx="1034927" cy="8228593"/>
          </a:xfrm>
          <a:prstGeom prst="bentConnector3">
            <a:avLst>
              <a:gd name="adj1" fmla="val 236949"/>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E943B310-E3D3-439C-BA1D-870005B60CD5}"/>
              </a:ext>
            </a:extLst>
          </p:cNvPr>
          <p:cNvCxnSpPr>
            <a:cxnSpLocks/>
            <a:stCxn id="17" idx="3"/>
            <a:endCxn id="22" idx="1"/>
          </p:cNvCxnSpPr>
          <p:nvPr/>
        </p:nvCxnSpPr>
        <p:spPr>
          <a:xfrm>
            <a:off x="3541318" y="2518490"/>
            <a:ext cx="890862"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4" name="コネクタ: カギ線 33">
            <a:extLst>
              <a:ext uri="{FF2B5EF4-FFF2-40B4-BE49-F238E27FC236}">
                <a16:creationId xmlns:a16="http://schemas.microsoft.com/office/drawing/2014/main" id="{76A35761-E45B-4BBC-9F4F-C0311A2D4784}"/>
              </a:ext>
            </a:extLst>
          </p:cNvPr>
          <p:cNvCxnSpPr>
            <a:cxnSpLocks/>
            <a:stCxn id="17" idx="0"/>
            <a:endCxn id="104" idx="1"/>
          </p:cNvCxnSpPr>
          <p:nvPr/>
        </p:nvCxnSpPr>
        <p:spPr>
          <a:xfrm rot="5400000" flipH="1" flipV="1">
            <a:off x="3514226" y="1427624"/>
            <a:ext cx="529411" cy="130649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コネクタ: カギ線 38">
            <a:extLst>
              <a:ext uri="{FF2B5EF4-FFF2-40B4-BE49-F238E27FC236}">
                <a16:creationId xmlns:a16="http://schemas.microsoft.com/office/drawing/2014/main" id="{FB07BBA6-783F-4315-A920-EFE02DDDBBF9}"/>
              </a:ext>
            </a:extLst>
          </p:cNvPr>
          <p:cNvCxnSpPr>
            <a:cxnSpLocks/>
            <a:stCxn id="19" idx="2"/>
            <a:endCxn id="43" idx="1"/>
          </p:cNvCxnSpPr>
          <p:nvPr/>
        </p:nvCxnSpPr>
        <p:spPr>
          <a:xfrm rot="16200000" flipH="1">
            <a:off x="9633013" y="2437308"/>
            <a:ext cx="753843" cy="1262029"/>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E117C4A7-04DC-4FE8-B0AF-B6D33CD94C48}"/>
              </a:ext>
            </a:extLst>
          </p:cNvPr>
          <p:cNvCxnSpPr>
            <a:cxnSpLocks/>
            <a:stCxn id="19" idx="3"/>
            <a:endCxn id="20" idx="1"/>
          </p:cNvCxnSpPr>
          <p:nvPr/>
        </p:nvCxnSpPr>
        <p:spPr>
          <a:xfrm>
            <a:off x="9794556" y="2518490"/>
            <a:ext cx="846393"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4DB57F8-DA4D-4C33-BDD2-F0E25C972B6E}"/>
              </a:ext>
            </a:extLst>
          </p:cNvPr>
          <p:cNvCxnSpPr>
            <a:cxnSpLocks/>
            <a:stCxn id="16" idx="3"/>
            <a:endCxn id="17" idx="1"/>
          </p:cNvCxnSpPr>
          <p:nvPr/>
        </p:nvCxnSpPr>
        <p:spPr>
          <a:xfrm flipV="1">
            <a:off x="1696105" y="2518490"/>
            <a:ext cx="1013940"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正方形/長方形 64">
            <a:extLst>
              <a:ext uri="{FF2B5EF4-FFF2-40B4-BE49-F238E27FC236}">
                <a16:creationId xmlns:a16="http://schemas.microsoft.com/office/drawing/2014/main" id="{DF6390DF-F1CA-4916-B762-9F2921D80682}"/>
              </a:ext>
            </a:extLst>
          </p:cNvPr>
          <p:cNvSpPr/>
          <p:nvPr/>
        </p:nvSpPr>
        <p:spPr>
          <a:xfrm>
            <a:off x="269015" y="2838133"/>
            <a:ext cx="2666755" cy="3995372"/>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ja-JP" altLang="en-US" sz="1000" dirty="0">
                <a:solidFill>
                  <a:srgbClr val="000000"/>
                </a:solidFill>
                <a:latin typeface="Meiryo UI" panose="020B0604030504040204" pitchFamily="50" charset="-128"/>
                <a:ea typeface="Meiryo UI" panose="020B0604030504040204" pitchFamily="50" charset="-128"/>
              </a:rPr>
              <a:t>以下の①②両方で本人確認を行ってください。</a:t>
            </a:r>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en-US" sz="1000" dirty="0">
                <a:solidFill>
                  <a:srgbClr val="000000"/>
                </a:solidFill>
                <a:latin typeface="Meiryo UI" panose="020B0604030504040204" pitchFamily="50" charset="-128"/>
                <a:ea typeface="Meiryo UI" panose="020B0604030504040204" pitchFamily="50" charset="-128"/>
              </a:rPr>
              <a:t>確認はいずれか一つで構いません</a:t>
            </a:r>
            <a:br>
              <a:rPr lang="en-US" altLang="ja-JP" sz="1000" dirty="0">
                <a:solidFill>
                  <a:srgbClr val="000000"/>
                </a:solidFill>
                <a:latin typeface="Meiryo UI" panose="020B0604030504040204" pitchFamily="50" charset="-128"/>
                <a:ea typeface="Meiryo UI" panose="020B0604030504040204" pitchFamily="50" charset="-128"/>
              </a:rPr>
            </a:br>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ja-JP" altLang="en-US" sz="1000" dirty="0">
                <a:solidFill>
                  <a:srgbClr val="000000"/>
                </a:solidFill>
                <a:latin typeface="Meiryo UI" panose="020B0604030504040204" pitchFamily="50" charset="-128"/>
                <a:ea typeface="Meiryo UI" panose="020B0604030504040204" pitchFamily="50" charset="-128"/>
              </a:rPr>
              <a:t>① 本人確認書類</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運転免許証</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個人番号カード</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パスポート</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zh-TW" altLang="ja-JP" sz="1000" dirty="0">
                <a:solidFill>
                  <a:srgbClr val="000000"/>
                </a:solidFill>
                <a:latin typeface="Meiryo UI" panose="020B0604030504040204" pitchFamily="50" charset="-128"/>
                <a:ea typeface="Meiryo UI" panose="020B0604030504040204" pitchFamily="50" charset="-128"/>
              </a:rPr>
              <a:t>身体障害者手帳</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顔写真入り勤務先証明書</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顔写真入り学生証</a:t>
            </a:r>
            <a:endParaRPr lang="ja-JP" altLang="ja-JP" sz="2000" dirty="0">
              <a:latin typeface="Arial" panose="020B0604020202020204" pitchFamily="34" charset="0"/>
            </a:endParaRPr>
          </a:p>
          <a:p>
            <a:pPr marL="171450" indent="-171450" fontAlgn="b">
              <a:buFont typeface="Arial" panose="020B0604020202020204" pitchFamily="34" charset="0"/>
              <a:buChar char="•"/>
            </a:pPr>
            <a:r>
              <a:rPr lang="ja-JP" altLang="en-US" sz="1000" dirty="0">
                <a:solidFill>
                  <a:srgbClr val="000000"/>
                </a:solidFill>
                <a:latin typeface="Meiryo UI" panose="020B0604030504040204" pitchFamily="50" charset="-128"/>
                <a:ea typeface="Meiryo UI" panose="020B0604030504040204" pitchFamily="50" charset="-128"/>
              </a:rPr>
              <a:t>健康保険被保険者証</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en-US" sz="1000" dirty="0">
                <a:solidFill>
                  <a:srgbClr val="000000"/>
                </a:solidFill>
                <a:latin typeface="Meiryo UI" panose="020B0604030504040204" pitchFamily="50" charset="-128"/>
                <a:ea typeface="Meiryo UI" panose="020B0604030504040204" pitchFamily="50" charset="-128"/>
              </a:rPr>
              <a:t>厚生年金手帳</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en-US" sz="1000" dirty="0">
                <a:solidFill>
                  <a:srgbClr val="000000"/>
                </a:solidFill>
                <a:latin typeface="Meiryo UI" panose="020B0604030504040204" pitchFamily="50" charset="-128"/>
                <a:ea typeface="Meiryo UI" panose="020B0604030504040204" pitchFamily="50" charset="-128"/>
              </a:rPr>
              <a:t>母子健康手帳</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en-US" sz="1000" dirty="0">
                <a:solidFill>
                  <a:srgbClr val="000000"/>
                </a:solidFill>
                <a:latin typeface="Meiryo UI" panose="020B0604030504040204" pitchFamily="50" charset="-128"/>
                <a:ea typeface="Meiryo UI" panose="020B0604030504040204" pitchFamily="50" charset="-128"/>
              </a:rPr>
              <a:t>身体障害者手帳</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印鑑証明書（発行</a:t>
            </a:r>
            <a:r>
              <a:rPr lang="en-US" altLang="ja-JP" sz="1000" dirty="0">
                <a:solidFill>
                  <a:srgbClr val="000000"/>
                </a:solidFill>
                <a:latin typeface="Meiryo UI" panose="020B0604030504040204" pitchFamily="50" charset="-128"/>
                <a:ea typeface="Meiryo UI" panose="020B0604030504040204" pitchFamily="50" charset="-128"/>
              </a:rPr>
              <a:t>3</a:t>
            </a:r>
            <a:r>
              <a:rPr lang="ja-JP" altLang="ja-JP" sz="1000" dirty="0">
                <a:solidFill>
                  <a:srgbClr val="000000"/>
                </a:solidFill>
                <a:latin typeface="Meiryo UI" panose="020B0604030504040204" pitchFamily="50" charset="-128"/>
                <a:ea typeface="Meiryo UI" panose="020B0604030504040204" pitchFamily="50" charset="-128"/>
              </a:rPr>
              <a:t>か月以内）</a:t>
            </a:r>
            <a:br>
              <a:rPr lang="en-US" altLang="ja-JP" sz="1000" dirty="0">
                <a:solidFill>
                  <a:srgbClr val="000000"/>
                </a:solidFill>
                <a:latin typeface="Meiryo UI" panose="020B0604030504040204" pitchFamily="50" charset="-128"/>
                <a:ea typeface="Meiryo UI" panose="020B0604030504040204" pitchFamily="50" charset="-128"/>
              </a:rPr>
            </a:br>
            <a:r>
              <a:rPr lang="ja-JP" altLang="en-US" sz="1000" dirty="0">
                <a:solidFill>
                  <a:srgbClr val="000000"/>
                </a:solidFill>
                <a:latin typeface="Meiryo UI" panose="020B0604030504040204" pitchFamily="50" charset="-128"/>
                <a:ea typeface="Meiryo UI" panose="020B0604030504040204" pitchFamily="50" charset="-128"/>
              </a:rPr>
              <a:t>→実印の押印を受け、一致を確認</a:t>
            </a:r>
            <a:endParaRPr lang="en-US" altLang="ja-JP" sz="1000" dirty="0">
              <a:solidFill>
                <a:srgbClr val="000000"/>
              </a:solidFill>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en-US" sz="1000" dirty="0">
                <a:solidFill>
                  <a:srgbClr val="000000"/>
                </a:solidFill>
                <a:latin typeface="Meiryo UI" panose="020B0604030504040204" pitchFamily="50" charset="-128"/>
                <a:ea typeface="Meiryo UI" panose="020B0604030504040204" pitchFamily="50" charset="-128"/>
              </a:rPr>
              <a:t>公共機関が発行したもので、上記と同種類と</a:t>
            </a:r>
            <a:r>
              <a:rPr lang="en-US" altLang="ja-JP" sz="1000" dirty="0">
                <a:solidFill>
                  <a:srgbClr val="000000"/>
                </a:solidFill>
                <a:latin typeface="Meiryo UI" panose="020B0604030504040204" pitchFamily="50" charset="-128"/>
                <a:ea typeface="Meiryo UI" panose="020B0604030504040204" pitchFamily="50" charset="-128"/>
              </a:rPr>
              <a:t>S</a:t>
            </a:r>
            <a:r>
              <a:rPr lang="ja-JP" altLang="en-US" sz="1000" dirty="0">
                <a:solidFill>
                  <a:srgbClr val="000000"/>
                </a:solidFill>
                <a:latin typeface="Meiryo UI" panose="020B0604030504040204" pitchFamily="50" charset="-128"/>
                <a:ea typeface="Meiryo UI" panose="020B0604030504040204" pitchFamily="50" charset="-128"/>
              </a:rPr>
              <a:t>照査者が判断した書類（生活保護受給証明書など）</a:t>
            </a:r>
            <a:endParaRPr lang="en-US" altLang="ja-JP" sz="1000" dirty="0">
              <a:solidFill>
                <a:srgbClr val="000000"/>
              </a:solidFill>
              <a:latin typeface="Meiryo UI" panose="020B0604030504040204" pitchFamily="50" charset="-128"/>
              <a:ea typeface="Meiryo UI" panose="020B0604030504040204" pitchFamily="50" charset="-128"/>
            </a:endParaRPr>
          </a:p>
          <a:p>
            <a:pPr fontAlgn="b"/>
            <a:endParaRPr lang="en-US" altLang="ja-JP" sz="1000" dirty="0">
              <a:solidFill>
                <a:srgbClr val="000000"/>
              </a:solidFill>
              <a:latin typeface="Meiryo UI" panose="020B0604030504040204" pitchFamily="50" charset="-128"/>
              <a:ea typeface="Meiryo UI" panose="020B0604030504040204" pitchFamily="50" charset="-128"/>
            </a:endParaRPr>
          </a:p>
          <a:p>
            <a:pPr fontAlgn="b"/>
            <a:r>
              <a:rPr lang="ja-JP" altLang="en-US" sz="1000" dirty="0">
                <a:solidFill>
                  <a:srgbClr val="000000"/>
                </a:solidFill>
                <a:latin typeface="Meiryo UI" panose="020B0604030504040204" pitchFamily="50" charset="-128"/>
                <a:ea typeface="Meiryo UI" panose="020B0604030504040204" pitchFamily="50" charset="-128"/>
              </a:rPr>
              <a:t>② 同一</a:t>
            </a:r>
            <a:r>
              <a:rPr lang="en-US" altLang="ja-JP" sz="1000" dirty="0">
                <a:solidFill>
                  <a:srgbClr val="000000"/>
                </a:solidFill>
                <a:latin typeface="Meiryo UI" panose="020B0604030504040204" pitchFamily="50" charset="-128"/>
                <a:ea typeface="Meiryo UI" panose="020B0604030504040204" pitchFamily="50" charset="-128"/>
              </a:rPr>
              <a:t>CIF</a:t>
            </a:r>
            <a:r>
              <a:rPr lang="ja-JP" altLang="en-US" sz="1000" dirty="0">
                <a:solidFill>
                  <a:srgbClr val="000000"/>
                </a:solidFill>
                <a:latin typeface="Meiryo UI" panose="020B0604030504040204" pitchFamily="50" charset="-128"/>
                <a:ea typeface="Meiryo UI" panose="020B0604030504040204" pitchFamily="50" charset="-128"/>
              </a:rPr>
              <a:t>帳票</a:t>
            </a:r>
            <a:endParaRPr lang="en-US" altLang="ja-JP" sz="1000" dirty="0">
              <a:solidFill>
                <a:srgbClr val="000000"/>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届出印の押印（印鑑照合）</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en-US" altLang="ja-JP" sz="1000" dirty="0">
                <a:solidFill>
                  <a:srgbClr val="000000"/>
                </a:solidFill>
                <a:latin typeface="Meiryo UI" panose="020B0604030504040204" pitchFamily="50" charset="-128"/>
                <a:ea typeface="Meiryo UI" panose="020B0604030504040204" pitchFamily="50" charset="-128"/>
              </a:rPr>
              <a:t>e</a:t>
            </a:r>
            <a:r>
              <a:rPr lang="ja-JP" altLang="ja-JP" sz="1000" dirty="0">
                <a:solidFill>
                  <a:srgbClr val="000000"/>
                </a:solidFill>
                <a:latin typeface="Meiryo UI" panose="020B0604030504040204" pitchFamily="50" charset="-128"/>
                <a:ea typeface="Meiryo UI" panose="020B0604030504040204" pitchFamily="50" charset="-128"/>
              </a:rPr>
              <a:t>オペ</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65620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01620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通帳の所持確認</a:t>
            </a:r>
            <a:endParaRPr lang="ja-JP" altLang="en-US" sz="1000" dirty="0">
              <a:solidFill>
                <a:srgbClr val="000000"/>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6CD974C4-5003-48A6-B622-6231CD043953}"/>
              </a:ext>
            </a:extLst>
          </p:cNvPr>
          <p:cNvSpPr/>
          <p:nvPr/>
        </p:nvSpPr>
        <p:spPr>
          <a:xfrm>
            <a:off x="3168321" y="1513326"/>
            <a:ext cx="1197717"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①②ともに</a:t>
            </a:r>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BC955416-82E5-43EB-AFEB-7BE810177111}"/>
              </a:ext>
            </a:extLst>
          </p:cNvPr>
          <p:cNvSpPr/>
          <p:nvPr/>
        </p:nvSpPr>
        <p:spPr>
          <a:xfrm>
            <a:off x="3168321" y="2182397"/>
            <a:ext cx="1197717"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①②どちらか</a:t>
            </a:r>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DA3839A0-E82E-47E7-A073-16BFCD14FA16}"/>
              </a:ext>
            </a:extLst>
          </p:cNvPr>
          <p:cNvSpPr/>
          <p:nvPr/>
        </p:nvSpPr>
        <p:spPr>
          <a:xfrm>
            <a:off x="3168321" y="4755881"/>
            <a:ext cx="1197717"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ja-JP" altLang="en-US" sz="1050" b="1" dirty="0">
                <a:solidFill>
                  <a:schemeClr val="tx1"/>
                </a:solidFill>
                <a:latin typeface="Meiryo UI" panose="020B0604030504040204" pitchFamily="50" charset="-128"/>
                <a:ea typeface="Meiryo UI" panose="020B0604030504040204" pitchFamily="50" charset="-128"/>
              </a:rPr>
              <a:t>①②どちらも</a:t>
            </a:r>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6D4FCE5F-12A3-4C1E-9175-68EEEA604463}"/>
              </a:ext>
            </a:extLst>
          </p:cNvPr>
          <p:cNvSpPr/>
          <p:nvPr/>
        </p:nvSpPr>
        <p:spPr>
          <a:xfrm>
            <a:off x="9495126" y="2834719"/>
            <a:ext cx="598859"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97B58D65-B855-4E9C-B135-751FFFAF4B66}"/>
              </a:ext>
            </a:extLst>
          </p:cNvPr>
          <p:cNvSpPr/>
          <p:nvPr/>
        </p:nvSpPr>
        <p:spPr>
          <a:xfrm>
            <a:off x="9745519" y="2207812"/>
            <a:ext cx="598859"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84" name="正方形/長方形 83">
            <a:extLst>
              <a:ext uri="{FF2B5EF4-FFF2-40B4-BE49-F238E27FC236}">
                <a16:creationId xmlns:a16="http://schemas.microsoft.com/office/drawing/2014/main" id="{6684035E-0F0F-4E37-B746-0C2FD3562633}"/>
              </a:ext>
            </a:extLst>
          </p:cNvPr>
          <p:cNvSpPr/>
          <p:nvPr/>
        </p:nvSpPr>
        <p:spPr>
          <a:xfrm>
            <a:off x="4207737" y="2845514"/>
            <a:ext cx="2246206" cy="1721524"/>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en-US" sz="1000" dirty="0">
                <a:solidFill>
                  <a:srgbClr val="000000"/>
                </a:solidFill>
                <a:latin typeface="Meiryo UI" panose="020B0604030504040204" pitchFamily="50" charset="-128"/>
                <a:ea typeface="Meiryo UI" panose="020B0604030504040204" pitchFamily="50" charset="-128"/>
              </a:rPr>
              <a:t>本人確認チェック表の観点</a:t>
            </a:r>
            <a:r>
              <a:rPr lang="en-US" altLang="ja-JP" sz="1000" dirty="0">
                <a:solidFill>
                  <a:srgbClr val="000000"/>
                </a:solidFill>
                <a:latin typeface="Meiryo UI" panose="020B0604030504040204" pitchFamily="50" charset="-128"/>
                <a:ea typeface="Meiryo UI" panose="020B0604030504040204" pitchFamily="50" charset="-128"/>
              </a:rPr>
              <a:t>】</a:t>
            </a: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通帳紛失時の状況</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申込書・印鑑届等の特徴</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印章の大きさ、形状、字体の特徴</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当該預金の預入原資及び受払状況</a:t>
            </a:r>
            <a:endParaRPr lang="ja-JP" altLang="ja-JP" sz="1400" dirty="0">
              <a:latin typeface="Meiryo UI" panose="020B0604030504040204" pitchFamily="50" charset="-128"/>
              <a:ea typeface="Meiryo UI" panose="020B0604030504040204" pitchFamily="50" charset="-128"/>
            </a:endParaRPr>
          </a:p>
          <a:p>
            <a:pPr marL="17145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預金受入時（口座開設）の担当者確認</a:t>
            </a:r>
            <a:endParaRPr lang="ja-JP" altLang="ja-JP" sz="1400" dirty="0">
              <a:latin typeface="Meiryo UI" panose="020B0604030504040204" pitchFamily="50" charset="-128"/>
              <a:ea typeface="Meiryo UI" panose="020B0604030504040204" pitchFamily="50" charset="-128"/>
            </a:endParaRPr>
          </a:p>
          <a:p>
            <a:pPr fontAlgn="b"/>
            <a:r>
              <a:rPr lang="en-US" altLang="ja-JP" sz="1000" dirty="0">
                <a:solidFill>
                  <a:srgbClr val="000000"/>
                </a:solidFill>
                <a:latin typeface="Meiryo UI" panose="020B0604030504040204" pitchFamily="50" charset="-128"/>
                <a:ea typeface="Meiryo UI" panose="020B0604030504040204" pitchFamily="50" charset="-128"/>
              </a:rPr>
              <a:t>※</a:t>
            </a:r>
            <a:r>
              <a:rPr lang="ja-JP" altLang="ja-JP" sz="1000" dirty="0">
                <a:solidFill>
                  <a:srgbClr val="000000"/>
                </a:solidFill>
                <a:latin typeface="Meiryo UI" panose="020B0604030504040204" pitchFamily="50" charset="-128"/>
                <a:ea typeface="Meiryo UI" panose="020B0604030504040204" pitchFamily="50" charset="-128"/>
              </a:rPr>
              <a:t>疑義があれば架電・訪問確認</a:t>
            </a:r>
            <a:r>
              <a:rPr lang="ja-JP" altLang="en-US" sz="1000" dirty="0">
                <a:solidFill>
                  <a:srgbClr val="000000"/>
                </a:solidFill>
                <a:latin typeface="Meiryo UI" panose="020B0604030504040204" pitchFamily="50" charset="-128"/>
                <a:ea typeface="Meiryo UI" panose="020B0604030504040204" pitchFamily="50" charset="-128"/>
              </a:rPr>
              <a:t>すること</a:t>
            </a:r>
            <a:endParaRPr lang="ja-JP" altLang="ja-JP" sz="1400" dirty="0">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0AEF95CE-56AD-4CFD-81CD-06A707C443A4}"/>
              </a:ext>
            </a:extLst>
          </p:cNvPr>
          <p:cNvSpPr/>
          <p:nvPr/>
        </p:nvSpPr>
        <p:spPr>
          <a:xfrm>
            <a:off x="5453742" y="6067614"/>
            <a:ext cx="6257199" cy="4272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住所変更・名義変更を伴う場合、住所・名義の連続性が確認できる公的書類を確認してください。</a:t>
            </a:r>
            <a:endParaRPr lang="en-US" altLang="ja-JP" sz="1200" dirty="0">
              <a:solidFill>
                <a:schemeClr val="tx1"/>
              </a:solidFill>
              <a:latin typeface="Meiryo UI" panose="020B0604030504040204" pitchFamily="50" charset="-128"/>
              <a:ea typeface="Meiryo UI" panose="020B0604030504040204" pitchFamily="50" charset="-128"/>
            </a:endParaRPr>
          </a:p>
          <a:p>
            <a:pPr fontAlgn="b"/>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代理人が回答書を持参して来店した場合は、代理人本人の本人確認を行ってください。</a:t>
            </a:r>
            <a:endParaRPr lang="ja-JP" altLang="ja-JP" sz="1200" dirty="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DE6E369C-D7F7-49A2-9CB1-340ACD082827}"/>
              </a:ext>
            </a:extLst>
          </p:cNvPr>
          <p:cNvSpPr/>
          <p:nvPr/>
        </p:nvSpPr>
        <p:spPr>
          <a:xfrm>
            <a:off x="10640949" y="3164160"/>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再来店を案内</a:t>
            </a:r>
          </a:p>
        </p:txBody>
      </p:sp>
      <p:sp>
        <p:nvSpPr>
          <p:cNvPr id="104" name="正方形/長方形 103">
            <a:extLst>
              <a:ext uri="{FF2B5EF4-FFF2-40B4-BE49-F238E27FC236}">
                <a16:creationId xmlns:a16="http://schemas.microsoft.com/office/drawing/2014/main" id="{816DA0AB-2CAE-4EA4-BAB8-B38E4939B885}"/>
              </a:ext>
            </a:extLst>
          </p:cNvPr>
          <p:cNvSpPr/>
          <p:nvPr/>
        </p:nvSpPr>
        <p:spPr>
          <a:xfrm>
            <a:off x="4432180" y="1535082"/>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回答書の内容確認</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sp>
        <p:nvSpPr>
          <p:cNvPr id="113" name="フローチャート: 判断 112">
            <a:extLst>
              <a:ext uri="{FF2B5EF4-FFF2-40B4-BE49-F238E27FC236}">
                <a16:creationId xmlns:a16="http://schemas.microsoft.com/office/drawing/2014/main" id="{67FE6D1B-014C-49EC-B419-493D66C480AF}"/>
              </a:ext>
            </a:extLst>
          </p:cNvPr>
          <p:cNvSpPr/>
          <p:nvPr/>
        </p:nvSpPr>
        <p:spPr>
          <a:xfrm>
            <a:off x="8963283" y="1642673"/>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cxnSp>
        <p:nvCxnSpPr>
          <p:cNvPr id="114" name="コネクタ: カギ線 113">
            <a:extLst>
              <a:ext uri="{FF2B5EF4-FFF2-40B4-BE49-F238E27FC236}">
                <a16:creationId xmlns:a16="http://schemas.microsoft.com/office/drawing/2014/main" id="{AFA1178F-4142-4F8D-BCB0-474083B74DFD}"/>
              </a:ext>
            </a:extLst>
          </p:cNvPr>
          <p:cNvCxnSpPr>
            <a:cxnSpLocks/>
            <a:stCxn id="113" idx="3"/>
            <a:endCxn id="20" idx="1"/>
          </p:cNvCxnSpPr>
          <p:nvPr/>
        </p:nvCxnSpPr>
        <p:spPr>
          <a:xfrm>
            <a:off x="9794556" y="1815585"/>
            <a:ext cx="846393" cy="702906"/>
          </a:xfrm>
          <a:prstGeom prst="bentConnector3">
            <a:avLst>
              <a:gd name="adj1" fmla="val 50000"/>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8" name="正方形/長方形 117">
            <a:extLst>
              <a:ext uri="{FF2B5EF4-FFF2-40B4-BE49-F238E27FC236}">
                <a16:creationId xmlns:a16="http://schemas.microsoft.com/office/drawing/2014/main" id="{90F53E7E-DB94-436E-A25E-98FBBD4F313A}"/>
              </a:ext>
            </a:extLst>
          </p:cNvPr>
          <p:cNvSpPr/>
          <p:nvPr/>
        </p:nvSpPr>
        <p:spPr>
          <a:xfrm>
            <a:off x="9745519" y="1488287"/>
            <a:ext cx="598859"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9ED3AE16-BF06-4EF2-94E4-845CEB284B39}"/>
              </a:ext>
            </a:extLst>
          </p:cNvPr>
          <p:cNvSpPr/>
          <p:nvPr/>
        </p:nvSpPr>
        <p:spPr>
          <a:xfrm>
            <a:off x="4432180" y="730243"/>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回答書の修正</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121" name="コネクタ: カギ線 120">
            <a:extLst>
              <a:ext uri="{FF2B5EF4-FFF2-40B4-BE49-F238E27FC236}">
                <a16:creationId xmlns:a16="http://schemas.microsoft.com/office/drawing/2014/main" id="{911754B4-FE26-4D10-BAC3-E07C8B35D06B}"/>
              </a:ext>
            </a:extLst>
          </p:cNvPr>
          <p:cNvCxnSpPr>
            <a:cxnSpLocks/>
            <a:stCxn id="113" idx="0"/>
            <a:endCxn id="120" idx="3"/>
          </p:cNvCxnSpPr>
          <p:nvPr/>
        </p:nvCxnSpPr>
        <p:spPr>
          <a:xfrm rot="16200000" flipV="1">
            <a:off x="7303204" y="-433043"/>
            <a:ext cx="631345" cy="3520088"/>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5" name="直線矢印コネクタ 124">
            <a:extLst>
              <a:ext uri="{FF2B5EF4-FFF2-40B4-BE49-F238E27FC236}">
                <a16:creationId xmlns:a16="http://schemas.microsoft.com/office/drawing/2014/main" id="{273F260C-F38D-4DAB-BCC3-319AA1BB8DF9}"/>
              </a:ext>
            </a:extLst>
          </p:cNvPr>
          <p:cNvCxnSpPr>
            <a:cxnSpLocks/>
            <a:stCxn id="120" idx="2"/>
            <a:endCxn id="104" idx="0"/>
          </p:cNvCxnSpPr>
          <p:nvPr/>
        </p:nvCxnSpPr>
        <p:spPr>
          <a:xfrm>
            <a:off x="5145506" y="1292412"/>
            <a:ext cx="0" cy="24267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0" name="直線矢印コネクタ 129">
            <a:extLst>
              <a:ext uri="{FF2B5EF4-FFF2-40B4-BE49-F238E27FC236}">
                <a16:creationId xmlns:a16="http://schemas.microsoft.com/office/drawing/2014/main" id="{F13F4C2D-E391-405C-8E5A-5E465BA87BFB}"/>
              </a:ext>
            </a:extLst>
          </p:cNvPr>
          <p:cNvCxnSpPr>
            <a:cxnSpLocks/>
            <a:stCxn id="104" idx="3"/>
            <a:endCxn id="113" idx="1"/>
          </p:cNvCxnSpPr>
          <p:nvPr/>
        </p:nvCxnSpPr>
        <p:spPr>
          <a:xfrm flipV="1">
            <a:off x="5858832" y="1815585"/>
            <a:ext cx="3104451" cy="58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8" name="フローチャート: 判断 147">
            <a:extLst>
              <a:ext uri="{FF2B5EF4-FFF2-40B4-BE49-F238E27FC236}">
                <a16:creationId xmlns:a16="http://schemas.microsoft.com/office/drawing/2014/main" id="{1E3EC71C-7471-43D7-BCFE-E3079122C41A}"/>
              </a:ext>
            </a:extLst>
          </p:cNvPr>
          <p:cNvSpPr/>
          <p:nvPr/>
        </p:nvSpPr>
        <p:spPr>
          <a:xfrm>
            <a:off x="6210112" y="2345578"/>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160" name="正方形/長方形 159">
            <a:extLst>
              <a:ext uri="{FF2B5EF4-FFF2-40B4-BE49-F238E27FC236}">
                <a16:creationId xmlns:a16="http://schemas.microsoft.com/office/drawing/2014/main" id="{CDF92094-3396-450E-A319-40CED428FFD2}"/>
              </a:ext>
            </a:extLst>
          </p:cNvPr>
          <p:cNvSpPr/>
          <p:nvPr/>
        </p:nvSpPr>
        <p:spPr>
          <a:xfrm>
            <a:off x="7359094" y="2237406"/>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事務統括者承認</a:t>
            </a:r>
            <a:endParaRPr kumimoji="1" lang="en-US" altLang="ja-JP" sz="1400" baseline="30000" dirty="0">
              <a:solidFill>
                <a:schemeClr val="tx1"/>
              </a:solidFill>
              <a:latin typeface="Meiryo UI" panose="020B0604030504040204" pitchFamily="50" charset="-128"/>
              <a:ea typeface="Meiryo UI" panose="020B0604030504040204" pitchFamily="50" charset="-128"/>
            </a:endParaRPr>
          </a:p>
          <a:p>
            <a:pPr algn="ctr"/>
            <a:r>
              <a:rPr lang="ja-JP" altLang="en-US" sz="1050" dirty="0">
                <a:solidFill>
                  <a:schemeClr val="tx1"/>
                </a:solidFill>
                <a:latin typeface="Meiryo UI" panose="020B0604030504040204" pitchFamily="50" charset="-128"/>
                <a:ea typeface="Meiryo UI" panose="020B0604030504040204" pitchFamily="50" charset="-128"/>
              </a:rPr>
              <a:t>（本人確認チェック表）</a:t>
            </a:r>
            <a:endParaRPr kumimoji="1" lang="ja-JP" altLang="en-US" sz="1050" dirty="0">
              <a:solidFill>
                <a:schemeClr val="tx1"/>
              </a:solidFill>
              <a:latin typeface="Meiryo UI" panose="020B0604030504040204" pitchFamily="50" charset="-128"/>
              <a:ea typeface="Meiryo UI" panose="020B0604030504040204" pitchFamily="50" charset="-128"/>
            </a:endParaRPr>
          </a:p>
        </p:txBody>
      </p:sp>
      <p:cxnSp>
        <p:nvCxnSpPr>
          <p:cNvPr id="161" name="直線矢印コネクタ 160">
            <a:extLst>
              <a:ext uri="{FF2B5EF4-FFF2-40B4-BE49-F238E27FC236}">
                <a16:creationId xmlns:a16="http://schemas.microsoft.com/office/drawing/2014/main" id="{6F5A3D94-44D1-4F44-86A7-F41E9CAB687E}"/>
              </a:ext>
            </a:extLst>
          </p:cNvPr>
          <p:cNvCxnSpPr>
            <a:cxnSpLocks/>
            <a:stCxn id="22" idx="3"/>
            <a:endCxn id="148" idx="1"/>
          </p:cNvCxnSpPr>
          <p:nvPr/>
        </p:nvCxnSpPr>
        <p:spPr>
          <a:xfrm flipV="1">
            <a:off x="5858832" y="2518490"/>
            <a:ext cx="351280"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4" name="コネクタ: カギ線 163">
            <a:extLst>
              <a:ext uri="{FF2B5EF4-FFF2-40B4-BE49-F238E27FC236}">
                <a16:creationId xmlns:a16="http://schemas.microsoft.com/office/drawing/2014/main" id="{D5995F03-3D57-4596-96C0-AD1B253DC3B2}"/>
              </a:ext>
            </a:extLst>
          </p:cNvPr>
          <p:cNvCxnSpPr>
            <a:cxnSpLocks/>
            <a:stCxn id="148" idx="2"/>
            <a:endCxn id="43" idx="1"/>
          </p:cNvCxnSpPr>
          <p:nvPr/>
        </p:nvCxnSpPr>
        <p:spPr>
          <a:xfrm rot="16200000" flipH="1">
            <a:off x="8256428" y="1060723"/>
            <a:ext cx="753843" cy="4015200"/>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7" name="正方形/長方形 166">
            <a:extLst>
              <a:ext uri="{FF2B5EF4-FFF2-40B4-BE49-F238E27FC236}">
                <a16:creationId xmlns:a16="http://schemas.microsoft.com/office/drawing/2014/main" id="{0A8297E0-B4EE-4D30-B5A7-D1BE26ADB928}"/>
              </a:ext>
            </a:extLst>
          </p:cNvPr>
          <p:cNvSpPr/>
          <p:nvPr/>
        </p:nvSpPr>
        <p:spPr>
          <a:xfrm>
            <a:off x="6845361" y="2834719"/>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168" name="正方形/長方形 167">
            <a:extLst>
              <a:ext uri="{FF2B5EF4-FFF2-40B4-BE49-F238E27FC236}">
                <a16:creationId xmlns:a16="http://schemas.microsoft.com/office/drawing/2014/main" id="{ACA075D6-B233-4B91-909B-2F84A44A25C2}"/>
              </a:ext>
            </a:extLst>
          </p:cNvPr>
          <p:cNvSpPr/>
          <p:nvPr/>
        </p:nvSpPr>
        <p:spPr>
          <a:xfrm>
            <a:off x="6920284" y="2207812"/>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cxnSp>
        <p:nvCxnSpPr>
          <p:cNvPr id="169" name="直線矢印コネクタ 168">
            <a:extLst>
              <a:ext uri="{FF2B5EF4-FFF2-40B4-BE49-F238E27FC236}">
                <a16:creationId xmlns:a16="http://schemas.microsoft.com/office/drawing/2014/main" id="{45114F24-9102-4548-807A-745AE23DE3E1}"/>
              </a:ext>
            </a:extLst>
          </p:cNvPr>
          <p:cNvCxnSpPr>
            <a:cxnSpLocks/>
            <a:stCxn id="148" idx="3"/>
            <a:endCxn id="160" idx="1"/>
          </p:cNvCxnSpPr>
          <p:nvPr/>
        </p:nvCxnSpPr>
        <p:spPr>
          <a:xfrm>
            <a:off x="7041385" y="2518490"/>
            <a:ext cx="317709"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2" name="直線矢印コネクタ 171">
            <a:extLst>
              <a:ext uri="{FF2B5EF4-FFF2-40B4-BE49-F238E27FC236}">
                <a16:creationId xmlns:a16="http://schemas.microsoft.com/office/drawing/2014/main" id="{FFDF7661-755B-48F5-B72C-AE626BE69419}"/>
              </a:ext>
            </a:extLst>
          </p:cNvPr>
          <p:cNvCxnSpPr>
            <a:cxnSpLocks/>
            <a:stCxn id="160" idx="3"/>
            <a:endCxn id="19" idx="1"/>
          </p:cNvCxnSpPr>
          <p:nvPr/>
        </p:nvCxnSpPr>
        <p:spPr>
          <a:xfrm flipV="1">
            <a:off x="8785746" y="2518490"/>
            <a:ext cx="177537"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2" name="正方形/長方形 181">
            <a:extLst>
              <a:ext uri="{FF2B5EF4-FFF2-40B4-BE49-F238E27FC236}">
                <a16:creationId xmlns:a16="http://schemas.microsoft.com/office/drawing/2014/main" id="{DCA74C66-425E-450B-8378-3332EA42E0B4}"/>
              </a:ext>
            </a:extLst>
          </p:cNvPr>
          <p:cNvSpPr/>
          <p:nvPr/>
        </p:nvSpPr>
        <p:spPr>
          <a:xfrm>
            <a:off x="8808011" y="658800"/>
            <a:ext cx="598859"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74671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FB2B5F-23AE-478A-A8F0-7AFC6DECE40B}"/>
              </a:ext>
            </a:extLst>
          </p:cNvPr>
          <p:cNvSpPr>
            <a:spLocks noGrp="1"/>
          </p:cNvSpPr>
          <p:nvPr>
            <p:ph type="title"/>
          </p:nvPr>
        </p:nvSpPr>
        <p:spPr>
          <a:xfrm>
            <a:off x="191220" y="96708"/>
            <a:ext cx="10515600" cy="618386"/>
          </a:xfrm>
        </p:spPr>
        <p:txBody>
          <a:bodyPr>
            <a:normAutofit/>
          </a:bodyPr>
          <a:lstStyle/>
          <a:p>
            <a:r>
              <a:rPr lang="ja-JP" altLang="en-US" sz="2400" b="1" dirty="0">
                <a:latin typeface="Meiryo UI" panose="020B0604030504040204" pitchFamily="50" charset="-128"/>
                <a:ea typeface="Meiryo UI" panose="020B0604030504040204" pitchFamily="50" charset="-128"/>
              </a:rPr>
              <a:t>喪失受付時の対応（③本人来店で行員が来店者を熟知している場合）</a:t>
            </a:r>
          </a:p>
        </p:txBody>
      </p:sp>
      <p:sp>
        <p:nvSpPr>
          <p:cNvPr id="16" name="正方形/長方形 15">
            <a:extLst>
              <a:ext uri="{FF2B5EF4-FFF2-40B4-BE49-F238E27FC236}">
                <a16:creationId xmlns:a16="http://schemas.microsoft.com/office/drawing/2014/main" id="{68FAB54F-0B56-4682-8DA4-537BEE911C26}"/>
              </a:ext>
            </a:extLst>
          </p:cNvPr>
          <p:cNvSpPr/>
          <p:nvPr/>
        </p:nvSpPr>
        <p:spPr>
          <a:xfrm>
            <a:off x="514380"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本人確認</a:t>
            </a:r>
          </a:p>
        </p:txBody>
      </p:sp>
      <p:sp>
        <p:nvSpPr>
          <p:cNvPr id="17" name="フローチャート: 判断 16">
            <a:extLst>
              <a:ext uri="{FF2B5EF4-FFF2-40B4-BE49-F238E27FC236}">
                <a16:creationId xmlns:a16="http://schemas.microsoft.com/office/drawing/2014/main" id="{9ACADBA1-1FF8-4EF7-95D0-66E95D58CC1A}"/>
              </a:ext>
            </a:extLst>
          </p:cNvPr>
          <p:cNvSpPr/>
          <p:nvPr/>
        </p:nvSpPr>
        <p:spPr>
          <a:xfrm>
            <a:off x="2392763"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19" name="フローチャート: 判断 18">
            <a:extLst>
              <a:ext uri="{FF2B5EF4-FFF2-40B4-BE49-F238E27FC236}">
                <a16:creationId xmlns:a16="http://schemas.microsoft.com/office/drawing/2014/main" id="{44BB01A7-04BB-46A5-B38D-C61584F7D0CC}"/>
              </a:ext>
            </a:extLst>
          </p:cNvPr>
          <p:cNvSpPr/>
          <p:nvPr/>
        </p:nvSpPr>
        <p:spPr>
          <a:xfrm>
            <a:off x="8072234"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kumimoji="1" lang="ja-JP" altLang="en-US" sz="1000" dirty="0">
                <a:solidFill>
                  <a:schemeClr val="tx1"/>
                </a:solidFill>
                <a:latin typeface="Meiryo UI" panose="020B0604030504040204" pitchFamily="50" charset="-128"/>
                <a:ea typeface="Meiryo UI" panose="020B0604030504040204" pitchFamily="50" charset="-128"/>
              </a:rPr>
              <a:t>？</a:t>
            </a:r>
          </a:p>
        </p:txBody>
      </p:sp>
      <p:sp>
        <p:nvSpPr>
          <p:cNvPr id="20" name="正方形/長方形 19">
            <a:extLst>
              <a:ext uri="{FF2B5EF4-FFF2-40B4-BE49-F238E27FC236}">
                <a16:creationId xmlns:a16="http://schemas.microsoft.com/office/drawing/2014/main" id="{20B6C91D-0FC8-4EDB-8246-360348E16869}"/>
              </a:ext>
            </a:extLst>
          </p:cNvPr>
          <p:cNvSpPr/>
          <p:nvPr/>
        </p:nvSpPr>
        <p:spPr>
          <a:xfrm>
            <a:off x="10338872" y="2132954"/>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届出事項変更届・</a:t>
            </a:r>
            <a:endParaRPr kumimoji="1"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ja-JP" altLang="en-US" sz="1200" dirty="0">
                <a:solidFill>
                  <a:schemeClr val="tx1"/>
                </a:solidFill>
                <a:latin typeface="Meiryo UI" panose="020B0604030504040204" pitchFamily="50" charset="-128"/>
                <a:ea typeface="Meiryo UI" panose="020B0604030504040204" pitchFamily="50" charset="-128"/>
              </a:rPr>
              <a:t>再交付通帳受取書受理</a:t>
            </a:r>
          </a:p>
        </p:txBody>
      </p:sp>
      <p:sp>
        <p:nvSpPr>
          <p:cNvPr id="21" name="正方形/長方形 20">
            <a:extLst>
              <a:ext uri="{FF2B5EF4-FFF2-40B4-BE49-F238E27FC236}">
                <a16:creationId xmlns:a16="http://schemas.microsoft.com/office/drawing/2014/main" id="{2EBB5170-2F5D-413A-A85F-D891A5C0791C}"/>
              </a:ext>
            </a:extLst>
          </p:cNvPr>
          <p:cNvSpPr/>
          <p:nvPr/>
        </p:nvSpPr>
        <p:spPr>
          <a:xfrm>
            <a:off x="10338871" y="5123668"/>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回答書の発送</a:t>
            </a:r>
            <a:endParaRPr kumimoji="1" lang="en-US" altLang="ja-JP" sz="1400" dirty="0">
              <a:solidFill>
                <a:schemeClr val="tx1"/>
              </a:solidFill>
              <a:latin typeface="Meiryo UI" panose="020B0604030504040204" pitchFamily="50" charset="-128"/>
              <a:ea typeface="Meiryo UI" panose="020B0604030504040204" pitchFamily="50" charset="-128"/>
            </a:endParaRPr>
          </a:p>
        </p:txBody>
      </p:sp>
      <p:sp>
        <p:nvSpPr>
          <p:cNvPr id="22" name="正方形/長方形 21">
            <a:extLst>
              <a:ext uri="{FF2B5EF4-FFF2-40B4-BE49-F238E27FC236}">
                <a16:creationId xmlns:a16="http://schemas.microsoft.com/office/drawing/2014/main" id="{551DA84D-B343-48C7-965E-BC4432E05AA8}"/>
              </a:ext>
            </a:extLst>
          </p:cNvPr>
          <p:cNvSpPr/>
          <p:nvPr/>
        </p:nvSpPr>
        <p:spPr>
          <a:xfrm>
            <a:off x="3523207"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400" dirty="0">
                <a:solidFill>
                  <a:schemeClr val="tx1"/>
                </a:solidFill>
                <a:latin typeface="Meiryo UI" panose="020B0604030504040204" pitchFamily="50" charset="-128"/>
                <a:ea typeface="Meiryo UI" panose="020B0604030504040204" pitchFamily="50" charset="-128"/>
              </a:rPr>
              <a:t>S</a:t>
            </a:r>
            <a:r>
              <a:rPr kumimoji="1" lang="ja-JP" altLang="en-US" sz="1400" dirty="0">
                <a:solidFill>
                  <a:schemeClr val="tx1"/>
                </a:solidFill>
                <a:latin typeface="Meiryo UI" panose="020B0604030504040204" pitchFamily="50" charset="-128"/>
                <a:ea typeface="Meiryo UI" panose="020B0604030504040204" pitchFamily="50" charset="-128"/>
              </a:rPr>
              <a:t>照査者面接</a:t>
            </a:r>
            <a:r>
              <a:rPr kumimoji="1" lang="en-US" altLang="ja-JP" sz="1400" baseline="30000" dirty="0">
                <a:solidFill>
                  <a:schemeClr val="tx1"/>
                </a:solidFill>
                <a:latin typeface="Meiryo UI" panose="020B0604030504040204" pitchFamily="50" charset="-128"/>
                <a:ea typeface="Meiryo UI" panose="020B0604030504040204" pitchFamily="50" charset="-128"/>
              </a:rPr>
              <a:t>※</a:t>
            </a:r>
          </a:p>
        </p:txBody>
      </p:sp>
      <p:cxnSp>
        <p:nvCxnSpPr>
          <p:cNvPr id="4" name="コネクタ: カギ線 3">
            <a:extLst>
              <a:ext uri="{FF2B5EF4-FFF2-40B4-BE49-F238E27FC236}">
                <a16:creationId xmlns:a16="http://schemas.microsoft.com/office/drawing/2014/main" id="{B3BDB0A2-F06D-4C05-B91E-DFF8EDC6FC13}"/>
              </a:ext>
            </a:extLst>
          </p:cNvPr>
          <p:cNvCxnSpPr>
            <a:cxnSpLocks/>
            <a:stCxn id="17" idx="2"/>
            <a:endCxn id="21" idx="1"/>
          </p:cNvCxnSpPr>
          <p:nvPr/>
        </p:nvCxnSpPr>
        <p:spPr>
          <a:xfrm rot="16200000" flipH="1">
            <a:off x="5171209" y="237091"/>
            <a:ext cx="2804852" cy="7530471"/>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直線矢印コネクタ 24">
            <a:extLst>
              <a:ext uri="{FF2B5EF4-FFF2-40B4-BE49-F238E27FC236}">
                <a16:creationId xmlns:a16="http://schemas.microsoft.com/office/drawing/2014/main" id="{E943B310-E3D3-439C-BA1D-870005B60CD5}"/>
              </a:ext>
            </a:extLst>
          </p:cNvPr>
          <p:cNvCxnSpPr>
            <a:cxnSpLocks/>
            <a:stCxn id="17" idx="3"/>
            <a:endCxn id="22" idx="1"/>
          </p:cNvCxnSpPr>
          <p:nvPr/>
        </p:nvCxnSpPr>
        <p:spPr>
          <a:xfrm>
            <a:off x="3224036" y="2426989"/>
            <a:ext cx="299171"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123E007A-A37A-443F-82F1-56025040B24C}"/>
              </a:ext>
            </a:extLst>
          </p:cNvPr>
          <p:cNvCxnSpPr>
            <a:cxnSpLocks/>
            <a:stCxn id="22" idx="3"/>
            <a:endCxn id="34" idx="1"/>
          </p:cNvCxnSpPr>
          <p:nvPr/>
        </p:nvCxnSpPr>
        <p:spPr>
          <a:xfrm flipV="1">
            <a:off x="4949859" y="2426989"/>
            <a:ext cx="322061"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9" name="コネクタ: カギ線 38">
            <a:extLst>
              <a:ext uri="{FF2B5EF4-FFF2-40B4-BE49-F238E27FC236}">
                <a16:creationId xmlns:a16="http://schemas.microsoft.com/office/drawing/2014/main" id="{FB07BBA6-783F-4315-A920-EFE02DDDBBF9}"/>
              </a:ext>
            </a:extLst>
          </p:cNvPr>
          <p:cNvCxnSpPr>
            <a:cxnSpLocks/>
            <a:stCxn id="19" idx="2"/>
            <a:endCxn id="21" idx="1"/>
          </p:cNvCxnSpPr>
          <p:nvPr/>
        </p:nvCxnSpPr>
        <p:spPr>
          <a:xfrm rot="16200000" flipH="1">
            <a:off x="8010945" y="3076827"/>
            <a:ext cx="2804852" cy="1851000"/>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E117C4A7-04DC-4FE8-B0AF-B6D33CD94C48}"/>
              </a:ext>
            </a:extLst>
          </p:cNvPr>
          <p:cNvCxnSpPr>
            <a:cxnSpLocks/>
            <a:stCxn id="19" idx="3"/>
            <a:endCxn id="20" idx="1"/>
          </p:cNvCxnSpPr>
          <p:nvPr/>
        </p:nvCxnSpPr>
        <p:spPr>
          <a:xfrm flipV="1">
            <a:off x="8903507" y="2414039"/>
            <a:ext cx="1435365" cy="1295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F4DB57F8-DA4D-4C33-BDD2-F0E25C972B6E}"/>
              </a:ext>
            </a:extLst>
          </p:cNvPr>
          <p:cNvCxnSpPr>
            <a:cxnSpLocks/>
            <a:stCxn id="16" idx="3"/>
            <a:endCxn id="17" idx="1"/>
          </p:cNvCxnSpPr>
          <p:nvPr/>
        </p:nvCxnSpPr>
        <p:spPr>
          <a:xfrm flipV="1">
            <a:off x="1941032" y="2426989"/>
            <a:ext cx="451731"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5" name="正方形/長方形 64">
            <a:extLst>
              <a:ext uri="{FF2B5EF4-FFF2-40B4-BE49-F238E27FC236}">
                <a16:creationId xmlns:a16="http://schemas.microsoft.com/office/drawing/2014/main" id="{DF6390DF-F1CA-4916-B762-9F2921D80682}"/>
              </a:ext>
            </a:extLst>
          </p:cNvPr>
          <p:cNvSpPr/>
          <p:nvPr/>
        </p:nvSpPr>
        <p:spPr>
          <a:xfrm>
            <a:off x="513942" y="2936104"/>
            <a:ext cx="2188437" cy="1375692"/>
          </a:xfrm>
          <a:prstGeom prst="rect">
            <a:avLst/>
          </a:prstGeom>
          <a:solidFill>
            <a:schemeClr val="accent1">
              <a:lumMod val="20000"/>
              <a:lumOff val="8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ja-JP" altLang="en-US" sz="1000" dirty="0">
                <a:solidFill>
                  <a:srgbClr val="000000"/>
                </a:solidFill>
                <a:latin typeface="Meiryo UI" panose="020B0604030504040204" pitchFamily="50" charset="-128"/>
                <a:ea typeface="Meiryo UI" panose="020B0604030504040204" pitchFamily="50" charset="-128"/>
              </a:rPr>
              <a:t>同一</a:t>
            </a:r>
            <a:r>
              <a:rPr lang="en-US" altLang="ja-JP" sz="1000" dirty="0">
                <a:solidFill>
                  <a:srgbClr val="000000"/>
                </a:solidFill>
                <a:latin typeface="Meiryo UI" panose="020B0604030504040204" pitchFamily="50" charset="-128"/>
                <a:ea typeface="Meiryo UI" panose="020B0604030504040204" pitchFamily="50" charset="-128"/>
              </a:rPr>
              <a:t>CIF</a:t>
            </a:r>
            <a:r>
              <a:rPr lang="ja-JP" altLang="en-US" sz="1000" dirty="0">
                <a:solidFill>
                  <a:srgbClr val="000000"/>
                </a:solidFill>
                <a:latin typeface="Meiryo UI" panose="020B0604030504040204" pitchFamily="50" charset="-128"/>
                <a:ea typeface="Meiryo UI" panose="020B0604030504040204" pitchFamily="50" charset="-128"/>
              </a:rPr>
              <a:t>帳票</a:t>
            </a:r>
            <a:endParaRPr lang="en-US" altLang="ja-JP" sz="1000" dirty="0">
              <a:solidFill>
                <a:srgbClr val="000000"/>
              </a:solidFill>
              <a:latin typeface="Meiryo UI" panose="020B0604030504040204" pitchFamily="50" charset="-128"/>
              <a:ea typeface="Meiryo UI" panose="020B0604030504040204" pitchFamily="50" charset="-128"/>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届出印の押印（印鑑照合）</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en-US" altLang="ja-JP" sz="1000" dirty="0">
                <a:solidFill>
                  <a:srgbClr val="000000"/>
                </a:solidFill>
                <a:latin typeface="Meiryo UI" panose="020B0604030504040204" pitchFamily="50" charset="-128"/>
                <a:ea typeface="Meiryo UI" panose="020B0604030504040204" pitchFamily="50" charset="-128"/>
              </a:rPr>
              <a:t>e</a:t>
            </a:r>
            <a:r>
              <a:rPr lang="ja-JP" altLang="ja-JP" sz="1000" dirty="0">
                <a:solidFill>
                  <a:srgbClr val="000000"/>
                </a:solidFill>
                <a:latin typeface="Meiryo UI" panose="020B0604030504040204" pitchFamily="50" charset="-128"/>
                <a:ea typeface="Meiryo UI" panose="020B0604030504040204" pitchFamily="50" charset="-128"/>
              </a:rPr>
              <a:t>オペ</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65620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本人カードの</a:t>
            </a:r>
            <a:r>
              <a:rPr lang="ja-JP" altLang="en-US" sz="1000" dirty="0">
                <a:solidFill>
                  <a:srgbClr val="000000"/>
                </a:solidFill>
                <a:latin typeface="Meiryo UI" panose="020B0604030504040204" pitchFamily="50" charset="-128"/>
                <a:ea typeface="Meiryo UI" panose="020B0604030504040204" pitchFamily="50" charset="-128"/>
              </a:rPr>
              <a:t>暗証</a:t>
            </a:r>
            <a:r>
              <a:rPr lang="ja-JP" altLang="ja-JP" sz="1000" dirty="0">
                <a:solidFill>
                  <a:srgbClr val="000000"/>
                </a:solidFill>
                <a:latin typeface="Meiryo UI" panose="020B0604030504040204" pitchFamily="50" charset="-128"/>
                <a:ea typeface="Meiryo UI" panose="020B0604030504040204" pitchFamily="50" charset="-128"/>
              </a:rPr>
              <a:t>一致</a:t>
            </a:r>
            <a:r>
              <a:rPr lang="ja-JP" altLang="en-US" sz="1000" dirty="0">
                <a:solidFill>
                  <a:srgbClr val="000000"/>
                </a:solidFill>
                <a:latin typeface="Meiryo UI" panose="020B0604030504040204" pitchFamily="50" charset="-128"/>
                <a:ea typeface="Meiryo UI" panose="020B0604030504040204" pitchFamily="50" charset="-128"/>
              </a:rPr>
              <a:t>（</a:t>
            </a:r>
            <a:r>
              <a:rPr lang="en-US" altLang="ja-JP" sz="1000" dirty="0">
                <a:solidFill>
                  <a:srgbClr val="000000"/>
                </a:solidFill>
                <a:latin typeface="Meiryo UI" panose="020B0604030504040204" pitchFamily="50" charset="-128"/>
                <a:ea typeface="Meiryo UI" panose="020B0604030504040204" pitchFamily="50" charset="-128"/>
              </a:rPr>
              <a:t>01620</a:t>
            </a:r>
            <a:r>
              <a:rPr lang="ja-JP" altLang="en-US" sz="1000" dirty="0">
                <a:solidFill>
                  <a:srgbClr val="000000"/>
                </a:solidFill>
                <a:latin typeface="Meiryo UI" panose="020B0604030504040204" pitchFamily="50" charset="-128"/>
                <a:ea typeface="Meiryo UI" panose="020B0604030504040204" pitchFamily="50" charset="-128"/>
              </a:rPr>
              <a:t>）</a:t>
            </a:r>
            <a:endParaRPr lang="ja-JP" altLang="ja-JP" sz="2000" dirty="0">
              <a:solidFill>
                <a:prstClr val="white"/>
              </a:solidFill>
              <a:latin typeface="Arial" panose="020B0604020202020204" pitchFamily="34" charset="0"/>
            </a:endParaRPr>
          </a:p>
          <a:p>
            <a:pPr marL="171450" lvl="0" indent="-171450" fontAlgn="b">
              <a:buFont typeface="Arial" panose="020B0604020202020204" pitchFamily="34" charset="0"/>
              <a:buChar char="•"/>
            </a:pPr>
            <a:r>
              <a:rPr lang="ja-JP" altLang="ja-JP" sz="1000" dirty="0">
                <a:solidFill>
                  <a:srgbClr val="000000"/>
                </a:solidFill>
                <a:latin typeface="Meiryo UI" panose="020B0604030504040204" pitchFamily="50" charset="-128"/>
                <a:ea typeface="Meiryo UI" panose="020B0604030504040204" pitchFamily="50" charset="-128"/>
              </a:rPr>
              <a:t>通帳の所持確認</a:t>
            </a:r>
            <a:endParaRPr lang="en-US" altLang="ja-JP" sz="2000" dirty="0">
              <a:solidFill>
                <a:prstClr val="white"/>
              </a:solidFill>
              <a:latin typeface="Arial" panose="020B0604020202020204" pitchFamily="34" charset="0"/>
              <a:ea typeface="Meiryo UI" panose="020B0604030504040204" pitchFamily="50" charset="-128"/>
            </a:endParaRPr>
          </a:p>
        </p:txBody>
      </p:sp>
      <p:sp>
        <p:nvSpPr>
          <p:cNvPr id="76" name="正方形/長方形 75">
            <a:extLst>
              <a:ext uri="{FF2B5EF4-FFF2-40B4-BE49-F238E27FC236}">
                <a16:creationId xmlns:a16="http://schemas.microsoft.com/office/drawing/2014/main" id="{BC955416-82E5-43EB-AFEB-7BE810177111}"/>
              </a:ext>
            </a:extLst>
          </p:cNvPr>
          <p:cNvSpPr/>
          <p:nvPr/>
        </p:nvSpPr>
        <p:spPr>
          <a:xfrm>
            <a:off x="2981666" y="2084421"/>
            <a:ext cx="1197717"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DA3839A0-E82E-47E7-A073-16BFCD14FA16}"/>
              </a:ext>
            </a:extLst>
          </p:cNvPr>
          <p:cNvSpPr/>
          <p:nvPr/>
        </p:nvSpPr>
        <p:spPr>
          <a:xfrm>
            <a:off x="2981666" y="4897049"/>
            <a:ext cx="1197717" cy="288482"/>
          </a:xfrm>
          <a:prstGeom prst="rect">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6D4FCE5F-12A3-4C1E-9175-68EEEA604463}"/>
              </a:ext>
            </a:extLst>
          </p:cNvPr>
          <p:cNvSpPr/>
          <p:nvPr/>
        </p:nvSpPr>
        <p:spPr>
          <a:xfrm>
            <a:off x="8604077" y="2736743"/>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97B58D65-B855-4E9C-B135-751FFFAF4B66}"/>
              </a:ext>
            </a:extLst>
          </p:cNvPr>
          <p:cNvSpPr/>
          <p:nvPr/>
        </p:nvSpPr>
        <p:spPr>
          <a:xfrm>
            <a:off x="9090293" y="2109836"/>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0AEF95CE-56AD-4CFD-81CD-06A707C443A4}"/>
              </a:ext>
            </a:extLst>
          </p:cNvPr>
          <p:cNvSpPr/>
          <p:nvPr/>
        </p:nvSpPr>
        <p:spPr>
          <a:xfrm>
            <a:off x="4694464" y="5992586"/>
            <a:ext cx="7016477" cy="42727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b"/>
            <a:r>
              <a:rPr lang="en-US" altLang="ja-JP" sz="1200" dirty="0">
                <a:solidFill>
                  <a:schemeClr val="tx1"/>
                </a:solidFill>
                <a:latin typeface="Meiryo UI" panose="020B0604030504040204" pitchFamily="50" charset="-128"/>
                <a:ea typeface="Meiryo UI" panose="020B0604030504040204" pitchFamily="50" charset="-128"/>
              </a:rPr>
              <a:t>※ </a:t>
            </a:r>
            <a:r>
              <a:rPr lang="ja-JP" altLang="en-US" sz="1200" dirty="0">
                <a:solidFill>
                  <a:schemeClr val="tx1"/>
                </a:solidFill>
                <a:latin typeface="Meiryo UI" panose="020B0604030504040204" pitchFamily="50" charset="-128"/>
                <a:ea typeface="Meiryo UI" panose="020B0604030504040204" pitchFamily="50" charset="-128"/>
              </a:rPr>
              <a:t>住所変更・名義変更を伴う場合、住所・名義の連続性が確認できる公的書類を確認してください。</a:t>
            </a:r>
            <a:endParaRPr lang="en-US" altLang="ja-JP" sz="1200" dirty="0">
              <a:solidFill>
                <a:schemeClr val="tx1"/>
              </a:solidFill>
              <a:latin typeface="Meiryo UI" panose="020B0604030504040204" pitchFamily="50" charset="-128"/>
              <a:ea typeface="Meiryo UI" panose="020B0604030504040204" pitchFamily="50" charset="-128"/>
            </a:endParaRPr>
          </a:p>
          <a:p>
            <a:pPr fontAlgn="b"/>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 通帳（証書）と印章の喪失届が同時または相前後して提出された場合は、本人熟知による取扱を行わない</a:t>
            </a:r>
            <a:endParaRPr lang="ja-JP" altLang="ja-JP" sz="1200" dirty="0">
              <a:solidFill>
                <a:schemeClr val="tx1"/>
              </a:solidFill>
              <a:latin typeface="Meiryo UI" panose="020B0604030504040204" pitchFamily="50" charset="-128"/>
              <a:ea typeface="Meiryo UI" panose="020B0604030504040204" pitchFamily="50" charset="-128"/>
            </a:endParaRPr>
          </a:p>
        </p:txBody>
      </p:sp>
      <p:sp>
        <p:nvSpPr>
          <p:cNvPr id="34" name="フローチャート: 判断 33">
            <a:extLst>
              <a:ext uri="{FF2B5EF4-FFF2-40B4-BE49-F238E27FC236}">
                <a16:creationId xmlns:a16="http://schemas.microsoft.com/office/drawing/2014/main" id="{E1A4885D-5B33-4211-9F17-A20CA0417B61}"/>
              </a:ext>
            </a:extLst>
          </p:cNvPr>
          <p:cNvSpPr/>
          <p:nvPr/>
        </p:nvSpPr>
        <p:spPr>
          <a:xfrm>
            <a:off x="5271920" y="2254077"/>
            <a:ext cx="831273" cy="345824"/>
          </a:xfrm>
          <a:prstGeom prst="flowChartDecision">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en-US" altLang="ja-JP" sz="1000" dirty="0">
                <a:solidFill>
                  <a:schemeClr val="tx1"/>
                </a:solidFill>
                <a:latin typeface="Meiryo UI" panose="020B0604030504040204" pitchFamily="50" charset="-128"/>
                <a:ea typeface="Meiryo UI" panose="020B0604030504040204" pitchFamily="50" charset="-128"/>
              </a:rPr>
              <a:t>OK</a:t>
            </a:r>
            <a:r>
              <a:rPr lang="ja-JP" altLang="en-US" sz="1000" dirty="0">
                <a:solidFill>
                  <a:schemeClr val="tx1"/>
                </a:solidFill>
                <a:latin typeface="Meiryo UI" panose="020B0604030504040204" pitchFamily="50" charset="-128"/>
                <a:ea typeface="Meiryo UI" panose="020B0604030504040204" pitchFamily="50" charset="-128"/>
              </a:rPr>
              <a:t>？</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cxnSp>
        <p:nvCxnSpPr>
          <p:cNvPr id="36" name="コネクタ: カギ線 35">
            <a:extLst>
              <a:ext uri="{FF2B5EF4-FFF2-40B4-BE49-F238E27FC236}">
                <a16:creationId xmlns:a16="http://schemas.microsoft.com/office/drawing/2014/main" id="{DA8D5BCF-CF5F-4611-8E02-3C6354B8B6F0}"/>
              </a:ext>
            </a:extLst>
          </p:cNvPr>
          <p:cNvCxnSpPr>
            <a:cxnSpLocks/>
            <a:stCxn id="34" idx="2"/>
            <a:endCxn id="21" idx="1"/>
          </p:cNvCxnSpPr>
          <p:nvPr/>
        </p:nvCxnSpPr>
        <p:spPr>
          <a:xfrm rot="16200000" flipH="1">
            <a:off x="6610788" y="1676670"/>
            <a:ext cx="2804852" cy="4651314"/>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3" name="正方形/長方形 42">
            <a:extLst>
              <a:ext uri="{FF2B5EF4-FFF2-40B4-BE49-F238E27FC236}">
                <a16:creationId xmlns:a16="http://schemas.microsoft.com/office/drawing/2014/main" id="{DA5D537E-D086-4F49-AADD-4CDAE05EC023}"/>
              </a:ext>
            </a:extLst>
          </p:cNvPr>
          <p:cNvSpPr/>
          <p:nvPr/>
        </p:nvSpPr>
        <p:spPr>
          <a:xfrm>
            <a:off x="6433075" y="2145905"/>
            <a:ext cx="1426652" cy="562169"/>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kumimoji="1" lang="ja-JP" altLang="en-US" sz="1400" dirty="0">
                <a:solidFill>
                  <a:schemeClr val="tx1"/>
                </a:solidFill>
                <a:latin typeface="Meiryo UI" panose="020B0604030504040204" pitchFamily="50" charset="-128"/>
                <a:ea typeface="Meiryo UI" panose="020B0604030504040204" pitchFamily="50" charset="-128"/>
              </a:rPr>
              <a:t>事務統括者</a:t>
            </a:r>
            <a:endParaRPr kumimoji="1" lang="en-US" altLang="ja-JP" sz="1400" dirty="0">
              <a:solidFill>
                <a:schemeClr val="tx1"/>
              </a:solidFill>
              <a:latin typeface="Meiryo UI" panose="020B0604030504040204" pitchFamily="50" charset="-128"/>
              <a:ea typeface="Meiryo UI" panose="020B0604030504040204" pitchFamily="50" charset="-128"/>
            </a:endParaRPr>
          </a:p>
          <a:p>
            <a:pPr algn="ctr"/>
            <a:r>
              <a:rPr kumimoji="1" lang="ja-JP" altLang="en-US" sz="1400" dirty="0">
                <a:solidFill>
                  <a:schemeClr val="tx1"/>
                </a:solidFill>
                <a:latin typeface="Meiryo UI" panose="020B0604030504040204" pitchFamily="50" charset="-128"/>
                <a:ea typeface="Meiryo UI" panose="020B0604030504040204" pitchFamily="50" charset="-128"/>
              </a:rPr>
              <a:t>回答書省略承認</a:t>
            </a:r>
            <a:endParaRPr kumimoji="1" lang="en-US" altLang="ja-JP" sz="1400" baseline="30000" dirty="0">
              <a:solidFill>
                <a:schemeClr val="tx1"/>
              </a:solidFill>
              <a:latin typeface="Meiryo UI" panose="020B0604030504040204" pitchFamily="50" charset="-128"/>
              <a:ea typeface="Meiryo UI" panose="020B0604030504040204" pitchFamily="50" charset="-128"/>
            </a:endParaRPr>
          </a:p>
        </p:txBody>
      </p:sp>
      <p:cxnSp>
        <p:nvCxnSpPr>
          <p:cNvPr id="44" name="直線矢印コネクタ 43">
            <a:extLst>
              <a:ext uri="{FF2B5EF4-FFF2-40B4-BE49-F238E27FC236}">
                <a16:creationId xmlns:a16="http://schemas.microsoft.com/office/drawing/2014/main" id="{DA3A1FB3-8857-436D-8385-FBF6D8E42180}"/>
              </a:ext>
            </a:extLst>
          </p:cNvPr>
          <p:cNvCxnSpPr>
            <a:cxnSpLocks/>
            <a:stCxn id="34" idx="3"/>
            <a:endCxn id="43" idx="1"/>
          </p:cNvCxnSpPr>
          <p:nvPr/>
        </p:nvCxnSpPr>
        <p:spPr>
          <a:xfrm>
            <a:off x="6103193" y="2426989"/>
            <a:ext cx="329882"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8" name="直線矢印コネクタ 47">
            <a:extLst>
              <a:ext uri="{FF2B5EF4-FFF2-40B4-BE49-F238E27FC236}">
                <a16:creationId xmlns:a16="http://schemas.microsoft.com/office/drawing/2014/main" id="{2CE9D77E-B0B8-4546-B80D-C2DF28428A88}"/>
              </a:ext>
            </a:extLst>
          </p:cNvPr>
          <p:cNvCxnSpPr>
            <a:cxnSpLocks/>
            <a:stCxn id="43" idx="3"/>
            <a:endCxn id="19" idx="1"/>
          </p:cNvCxnSpPr>
          <p:nvPr/>
        </p:nvCxnSpPr>
        <p:spPr>
          <a:xfrm flipV="1">
            <a:off x="7859727" y="2426989"/>
            <a:ext cx="212507" cy="1"/>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B0028465-F896-4D91-85B0-AD4BCA89F81D}"/>
              </a:ext>
            </a:extLst>
          </p:cNvPr>
          <p:cNvSpPr/>
          <p:nvPr/>
        </p:nvSpPr>
        <p:spPr>
          <a:xfrm>
            <a:off x="5709410" y="2736743"/>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NG</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DA8EF038-5366-4E57-A109-5FA53888E51E}"/>
              </a:ext>
            </a:extLst>
          </p:cNvPr>
          <p:cNvSpPr/>
          <p:nvPr/>
        </p:nvSpPr>
        <p:spPr>
          <a:xfrm>
            <a:off x="6008839" y="2125556"/>
            <a:ext cx="598859" cy="288482"/>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ja-JP" sz="1050" b="1" dirty="0">
                <a:solidFill>
                  <a:schemeClr val="tx1"/>
                </a:solidFill>
                <a:latin typeface="Meiryo UI" panose="020B0604030504040204" pitchFamily="50" charset="-128"/>
                <a:ea typeface="Meiryo UI" panose="020B0604030504040204" pitchFamily="50" charset="-128"/>
              </a:rPr>
              <a:t>OK</a:t>
            </a:r>
            <a:endParaRPr kumimoji="1" lang="ja-JP" altLang="en-US" sz="1050" b="1"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46728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 4">
            <a:extLst>
              <a:ext uri="{FF2B5EF4-FFF2-40B4-BE49-F238E27FC236}">
                <a16:creationId xmlns:a16="http://schemas.microsoft.com/office/drawing/2014/main" id="{5D1D4E93-7E78-4963-909D-009BED480296}"/>
              </a:ext>
            </a:extLst>
          </p:cNvPr>
          <p:cNvGraphicFramePr>
            <a:graphicFrameLocks noGrp="1"/>
          </p:cNvGraphicFramePr>
          <p:nvPr>
            <p:extLst>
              <p:ext uri="{D42A27DB-BD31-4B8C-83A1-F6EECF244321}">
                <p14:modId xmlns:p14="http://schemas.microsoft.com/office/powerpoint/2010/main" val="2332694195"/>
              </p:ext>
            </p:extLst>
          </p:nvPr>
        </p:nvGraphicFramePr>
        <p:xfrm>
          <a:off x="720847" y="855738"/>
          <a:ext cx="10755806" cy="5661786"/>
        </p:xfrm>
        <a:graphic>
          <a:graphicData uri="http://schemas.openxmlformats.org/drawingml/2006/table">
            <a:tbl>
              <a:tblPr/>
              <a:tblGrid>
                <a:gridCol w="3767689">
                  <a:extLst>
                    <a:ext uri="{9D8B030D-6E8A-4147-A177-3AD203B41FA5}">
                      <a16:colId xmlns:a16="http://schemas.microsoft.com/office/drawing/2014/main" val="987294809"/>
                    </a:ext>
                  </a:extLst>
                </a:gridCol>
                <a:gridCol w="6988117">
                  <a:extLst>
                    <a:ext uri="{9D8B030D-6E8A-4147-A177-3AD203B41FA5}">
                      <a16:colId xmlns:a16="http://schemas.microsoft.com/office/drawing/2014/main" val="1204759385"/>
                    </a:ext>
                  </a:extLst>
                </a:gridCol>
              </a:tblGrid>
              <a:tr h="439252">
                <a:tc>
                  <a:txBody>
                    <a:bodyPr/>
                    <a:lstStyle/>
                    <a:p>
                      <a:pPr algn="l" fontAlgn="ctr"/>
                      <a:r>
                        <a:rPr lang="ja-JP" altLang="en-US" sz="2200" b="0" i="0" u="none" strike="noStrike" dirty="0">
                          <a:solidFill>
                            <a:srgbClr val="000000"/>
                          </a:solidFill>
                          <a:effectLst/>
                          <a:latin typeface="Meiryo UI" panose="020B0604030504040204" pitchFamily="50" charset="-128"/>
                          <a:ea typeface="Meiryo UI" panose="020B0604030504040204" pitchFamily="50" charset="-128"/>
                        </a:rPr>
                        <a:t>カード種類</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l" fontAlgn="ctr"/>
                      <a:r>
                        <a:rPr lang="ja-JP" altLang="en-US" sz="2200" b="0" i="0" u="none" strike="noStrike" dirty="0">
                          <a:solidFill>
                            <a:srgbClr val="000000"/>
                          </a:solidFill>
                          <a:effectLst/>
                          <a:latin typeface="Meiryo UI" panose="020B0604030504040204" pitchFamily="50" charset="-128"/>
                          <a:ea typeface="Meiryo UI" panose="020B0604030504040204" pitchFamily="50" charset="-128"/>
                        </a:rPr>
                        <a:t>後続対応</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extLst>
                  <a:ext uri="{0D108BD9-81ED-4DB2-BD59-A6C34878D82A}">
                    <a16:rowId xmlns:a16="http://schemas.microsoft.com/office/drawing/2014/main" val="2913840730"/>
                  </a:ext>
                </a:extLst>
              </a:tr>
              <a:tr h="2024894">
                <a:tc>
                  <a:txBody>
                    <a:bodyPr/>
                    <a:lstStyle/>
                    <a:p>
                      <a:pPr algn="l" fontAlgn="ct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キャッシュカード</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喪失届なし</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・書式（</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11</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）を郵送し、お客様が警察でカード受領</a:t>
                      </a:r>
                      <a:br>
                        <a:rPr lang="ja-JP" altLang="en-US" sz="1900" b="0" i="0" u="none" strike="noStrike" dirty="0">
                          <a:solidFill>
                            <a:srgbClr val="000000"/>
                          </a:solidFill>
                          <a:effectLst/>
                          <a:latin typeface="Meiryo UI" panose="020B0604030504040204" pitchFamily="50" charset="-128"/>
                          <a:ea typeface="Meiryo UI" panose="020B0604030504040204" pitchFamily="50" charset="-128"/>
                        </a:rPr>
                      </a:br>
                      <a:br>
                        <a:rPr lang="ja-JP" altLang="en-US" sz="1900" b="0" i="0" u="none" strike="noStrike" dirty="0">
                          <a:solidFill>
                            <a:srgbClr val="000000"/>
                          </a:solidFill>
                          <a:effectLst/>
                          <a:latin typeface="Meiryo UI" panose="020B0604030504040204" pitchFamily="50" charset="-128"/>
                          <a:ea typeface="Meiryo UI" panose="020B0604030504040204" pitchFamily="50" charset="-128"/>
                        </a:rPr>
                      </a:b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喪失届あり</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・書式（</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12</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）を郵送し、お客様が警察でカード受領</a:t>
                      </a:r>
                      <a:br>
                        <a:rPr lang="ja-JP" altLang="en-US"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・お客様に来店いただき、発見の手続を進める</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2150497"/>
                  </a:ext>
                </a:extLst>
              </a:tr>
              <a:tr h="1418040">
                <a:tc>
                  <a:txBody>
                    <a:bodyPr/>
                    <a:lstStyle/>
                    <a:p>
                      <a:pPr algn="l" fontAlgn="ctr"/>
                      <a:r>
                        <a:rPr lang="ja-JP" altLang="en-US" sz="1900" b="0" i="0" u="none" strike="noStrike">
                          <a:solidFill>
                            <a:srgbClr val="000000"/>
                          </a:solidFill>
                          <a:effectLst/>
                          <a:latin typeface="Meiryo UI" panose="020B0604030504040204" pitchFamily="50" charset="-128"/>
                          <a:ea typeface="Meiryo UI" panose="020B0604030504040204" pitchFamily="50" charset="-128"/>
                        </a:rPr>
                        <a:t>一体型</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900" b="0" i="0" u="none" strike="noStrike">
                          <a:solidFill>
                            <a:srgbClr val="000000"/>
                          </a:solidFill>
                          <a:effectLst/>
                          <a:latin typeface="Meiryo UI" panose="020B0604030504040204" pitchFamily="50" charset="-128"/>
                          <a:ea typeface="Meiryo UI" panose="020B0604030504040204" pitchFamily="50" charset="-128"/>
                        </a:rPr>
                        <a:t>・コード</a:t>
                      </a:r>
                      <a:r>
                        <a:rPr lang="en-US" altLang="ja-JP" sz="1900" b="0" i="0" u="none" strike="noStrike">
                          <a:solidFill>
                            <a:srgbClr val="000000"/>
                          </a:solidFill>
                          <a:effectLst/>
                          <a:latin typeface="Meiryo UI" panose="020B0604030504040204" pitchFamily="50" charset="-128"/>
                          <a:ea typeface="Meiryo UI" panose="020B0604030504040204" pitchFamily="50" charset="-128"/>
                        </a:rPr>
                        <a:t>19</a:t>
                      </a:r>
                      <a:r>
                        <a:rPr lang="ja-JP" altLang="en-US" sz="1900" b="0" i="0" u="none" strike="noStrike">
                          <a:solidFill>
                            <a:srgbClr val="000000"/>
                          </a:solidFill>
                          <a:effectLst/>
                          <a:latin typeface="Meiryo UI" panose="020B0604030504040204" pitchFamily="50" charset="-128"/>
                          <a:ea typeface="Meiryo UI" panose="020B0604030504040204" pitchFamily="50" charset="-128"/>
                        </a:rPr>
                        <a:t>を設定するとともにカードセンターへ停止依頼をする</a:t>
                      </a:r>
                      <a:br>
                        <a:rPr lang="ja-JP" altLang="en-US" sz="1900" b="0" i="0" u="none" strike="noStrike">
                          <a:solidFill>
                            <a:srgbClr val="000000"/>
                          </a:solidFill>
                          <a:effectLst/>
                          <a:latin typeface="Meiryo UI" panose="020B0604030504040204" pitchFamily="50" charset="-128"/>
                          <a:ea typeface="Meiryo UI" panose="020B0604030504040204" pitchFamily="50" charset="-128"/>
                        </a:rPr>
                      </a:br>
                      <a:r>
                        <a:rPr lang="ja-JP" altLang="en-US" sz="1900" b="0" i="0" u="none" strike="noStrike">
                          <a:solidFill>
                            <a:srgbClr val="000000"/>
                          </a:solidFill>
                          <a:effectLst/>
                          <a:latin typeface="Meiryo UI" panose="020B0604030504040204" pitchFamily="50" charset="-128"/>
                          <a:ea typeface="Meiryo UI" panose="020B0604030504040204" pitchFamily="50" charset="-128"/>
                        </a:rPr>
                        <a:t>・書式（</a:t>
                      </a:r>
                      <a:r>
                        <a:rPr lang="en-US" altLang="ja-JP" sz="1900" b="0" i="0" u="none" strike="noStrike">
                          <a:solidFill>
                            <a:srgbClr val="000000"/>
                          </a:solidFill>
                          <a:effectLst/>
                          <a:latin typeface="Meiryo UI" panose="020B0604030504040204" pitchFamily="50" charset="-128"/>
                          <a:ea typeface="Meiryo UI" panose="020B0604030504040204" pitchFamily="50" charset="-128"/>
                        </a:rPr>
                        <a:t>13</a:t>
                      </a:r>
                      <a:r>
                        <a:rPr lang="ja-JP" altLang="en-US" sz="1900" b="0" i="0" u="none" strike="noStrike">
                          <a:solidFill>
                            <a:srgbClr val="000000"/>
                          </a:solidFill>
                          <a:effectLst/>
                          <a:latin typeface="Meiryo UI" panose="020B0604030504040204" pitchFamily="50" charset="-128"/>
                          <a:ea typeface="Meiryo UI" panose="020B0604030504040204" pitchFamily="50" charset="-128"/>
                        </a:rPr>
                        <a:t>）を郵送し、お客様が警察でカード受領</a:t>
                      </a:r>
                      <a:br>
                        <a:rPr lang="ja-JP" altLang="en-US" sz="1900" b="0" i="0" u="none" strike="noStrike">
                          <a:solidFill>
                            <a:srgbClr val="000000"/>
                          </a:solidFill>
                          <a:effectLst/>
                          <a:latin typeface="Meiryo UI" panose="020B0604030504040204" pitchFamily="50" charset="-128"/>
                          <a:ea typeface="Meiryo UI" panose="020B0604030504040204" pitchFamily="50" charset="-128"/>
                        </a:rPr>
                      </a:br>
                      <a:r>
                        <a:rPr lang="ja-JP" altLang="en-US" sz="1900" b="0" i="0" u="none" strike="noStrike">
                          <a:solidFill>
                            <a:srgbClr val="000000"/>
                          </a:solidFill>
                          <a:effectLst/>
                          <a:latin typeface="Meiryo UI" panose="020B0604030504040204" pitchFamily="50" charset="-128"/>
                          <a:ea typeface="Meiryo UI" panose="020B0604030504040204" pitchFamily="50" charset="-128"/>
                        </a:rPr>
                        <a:t>・お客様に来店いただき、再発行依頼書とキャッシュカード暗証届を作成</a:t>
                      </a:r>
                      <a:br>
                        <a:rPr lang="ja-JP" altLang="en-US" sz="1900" b="0" i="0" u="none" strike="noStrike">
                          <a:solidFill>
                            <a:srgbClr val="000000"/>
                          </a:solidFill>
                          <a:effectLst/>
                          <a:latin typeface="Meiryo UI" panose="020B0604030504040204" pitchFamily="50" charset="-128"/>
                          <a:ea typeface="Meiryo UI" panose="020B0604030504040204" pitchFamily="50" charset="-128"/>
                        </a:rPr>
                      </a:br>
                      <a:r>
                        <a:rPr lang="en-US" altLang="ja-JP" sz="1900" b="0" i="0" u="none" strike="noStrike">
                          <a:solidFill>
                            <a:srgbClr val="000000"/>
                          </a:solidFill>
                          <a:effectLst/>
                          <a:latin typeface="Meiryo UI" panose="020B0604030504040204" pitchFamily="50" charset="-128"/>
                          <a:ea typeface="Meiryo UI" panose="020B0604030504040204" pitchFamily="50" charset="-128"/>
                        </a:rPr>
                        <a:t>※Visa</a:t>
                      </a:r>
                      <a:r>
                        <a:rPr lang="ja-JP" altLang="en-US" sz="1900" b="0" i="0" u="none" strike="noStrike">
                          <a:solidFill>
                            <a:srgbClr val="000000"/>
                          </a:solidFill>
                          <a:effectLst/>
                          <a:latin typeface="Meiryo UI" panose="020B0604030504040204" pitchFamily="50" charset="-128"/>
                          <a:ea typeface="Meiryo UI" panose="020B0604030504040204" pitchFamily="50" charset="-128"/>
                        </a:rPr>
                        <a:t>デビットの場合、再発行依頼書のみで</a:t>
                      </a:r>
                      <a:r>
                        <a:rPr lang="en-US" altLang="ja-JP" sz="1900" b="0" i="0" u="none" strike="noStrike">
                          <a:solidFill>
                            <a:srgbClr val="000000"/>
                          </a:solidFill>
                          <a:effectLst/>
                          <a:latin typeface="Meiryo UI" panose="020B0604030504040204" pitchFamily="50" charset="-128"/>
                          <a:ea typeface="Meiryo UI" panose="020B0604030504040204" pitchFamily="50" charset="-128"/>
                        </a:rPr>
                        <a:t>OK</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36667602"/>
                  </a:ext>
                </a:extLst>
              </a:tr>
              <a:tr h="1418040">
                <a:tc>
                  <a:txBody>
                    <a:bodyPr/>
                    <a:lstStyle/>
                    <a:p>
                      <a:pPr algn="l" fontAlgn="ctr"/>
                      <a:r>
                        <a:rPr lang="ja-JP" altLang="en-US" sz="1900" b="0" i="0" u="none" strike="noStrike">
                          <a:solidFill>
                            <a:srgbClr val="000000"/>
                          </a:solidFill>
                          <a:effectLst/>
                          <a:latin typeface="Meiryo UI" panose="020B0604030504040204" pitchFamily="50" charset="-128"/>
                          <a:ea typeface="Meiryo UI" panose="020B0604030504040204" pitchFamily="50" charset="-128"/>
                        </a:rPr>
                        <a:t>単体型</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時間内</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・カードセンターへの機能停止連絡を警察に依頼</a:t>
                      </a:r>
                      <a:br>
                        <a:rPr lang="ja-JP" altLang="en-US" sz="1900" b="0" i="0" u="none" strike="noStrike" dirty="0">
                          <a:solidFill>
                            <a:srgbClr val="000000"/>
                          </a:solidFill>
                          <a:effectLst/>
                          <a:latin typeface="Meiryo UI" panose="020B0604030504040204" pitchFamily="50" charset="-128"/>
                          <a:ea typeface="Meiryo UI" panose="020B0604030504040204" pitchFamily="50" charset="-128"/>
                        </a:rPr>
                      </a:b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時間外</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a:t>
                      </a:r>
                      <a:br>
                        <a:rPr lang="en-US" altLang="ja-JP" sz="1900" b="0" i="0" u="none" strike="noStrike" dirty="0">
                          <a:solidFill>
                            <a:srgbClr val="000000"/>
                          </a:solidFill>
                          <a:effectLst/>
                          <a:latin typeface="Meiryo UI" panose="020B0604030504040204" pitchFamily="50" charset="-128"/>
                          <a:ea typeface="Meiryo UI" panose="020B0604030504040204" pitchFamily="50" charset="-128"/>
                        </a:rPr>
                      </a:b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JCB</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a:t>
                      </a:r>
                      <a:r>
                        <a:rPr lang="en-US" altLang="ja-JP" sz="1900" b="0" i="0" u="none" strike="noStrike" dirty="0">
                          <a:solidFill>
                            <a:srgbClr val="000000"/>
                          </a:solidFill>
                          <a:effectLst/>
                          <a:latin typeface="Meiryo UI" panose="020B0604030504040204" pitchFamily="50" charset="-128"/>
                          <a:ea typeface="Meiryo UI" panose="020B0604030504040204" pitchFamily="50" charset="-128"/>
                        </a:rPr>
                        <a:t>DC</a:t>
                      </a:r>
                      <a:r>
                        <a:rPr lang="ja-JP" altLang="en-US" sz="1900" b="0" i="0" u="none" strike="noStrike" dirty="0" err="1">
                          <a:solidFill>
                            <a:srgbClr val="000000"/>
                          </a:solidFill>
                          <a:effectLst/>
                          <a:latin typeface="Meiryo UI" panose="020B0604030504040204" pitchFamily="50" charset="-128"/>
                          <a:ea typeface="Meiryo UI" panose="020B0604030504040204" pitchFamily="50" charset="-128"/>
                        </a:rPr>
                        <a:t>への</a:t>
                      </a: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機能停止連絡を警察に依頼</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2621503"/>
                  </a:ext>
                </a:extLst>
              </a:tr>
              <a:tr h="337483">
                <a:tc>
                  <a:txBody>
                    <a:bodyPr/>
                    <a:lstStyle/>
                    <a:p>
                      <a:pPr algn="l" fontAlgn="ctr"/>
                      <a:r>
                        <a:rPr lang="ja-JP" altLang="en-US" sz="1900" b="0" i="0" u="none" strike="noStrike">
                          <a:solidFill>
                            <a:srgbClr val="000000"/>
                          </a:solidFill>
                          <a:effectLst/>
                          <a:latin typeface="Meiryo UI" panose="020B0604030504040204" pitchFamily="50" charset="-128"/>
                          <a:ea typeface="Meiryo UI" panose="020B0604030504040204" pitchFamily="50" charset="-128"/>
                        </a:rPr>
                        <a:t>解約・再発行済の無効なカード</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ja-JP" altLang="en-US" sz="1900" b="0" i="0" u="none" strike="noStrike" dirty="0">
                          <a:solidFill>
                            <a:srgbClr val="000000"/>
                          </a:solidFill>
                          <a:effectLst/>
                          <a:latin typeface="Meiryo UI" panose="020B0604030504040204" pitchFamily="50" charset="-128"/>
                          <a:ea typeface="Meiryo UI" panose="020B0604030504040204" pitchFamily="50" charset="-128"/>
                        </a:rPr>
                        <a:t>無効なカードであることを警察へ連絡</a:t>
                      </a:r>
                    </a:p>
                  </a:txBody>
                  <a:tcPr marL="36000" marR="36000" marT="36000" marB="3600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3965541"/>
                  </a:ext>
                </a:extLst>
              </a:tr>
            </a:tbl>
          </a:graphicData>
        </a:graphic>
      </p:graphicFrame>
      <p:sp>
        <p:nvSpPr>
          <p:cNvPr id="6" name="タイトル 1">
            <a:extLst>
              <a:ext uri="{FF2B5EF4-FFF2-40B4-BE49-F238E27FC236}">
                <a16:creationId xmlns:a16="http://schemas.microsoft.com/office/drawing/2014/main" id="{282FFE60-0594-4F0C-9E4D-17EF518E5B99}"/>
              </a:ext>
            </a:extLst>
          </p:cNvPr>
          <p:cNvSpPr txBox="1">
            <a:spLocks/>
          </p:cNvSpPr>
          <p:nvPr/>
        </p:nvSpPr>
        <p:spPr>
          <a:xfrm>
            <a:off x="624840" y="290480"/>
            <a:ext cx="11567160" cy="490613"/>
          </a:xfrm>
          <a:prstGeom prst="rect">
            <a:avLst/>
          </a:prstGeom>
        </p:spPr>
        <p:txBody>
          <a:bodyPr>
            <a:normAutofit/>
          </a:bodyPr>
          <a:lstStyle>
            <a:lvl1pPr algn="l" defTabSz="914411"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800" b="1" dirty="0">
                <a:latin typeface="Meiryo UI" panose="020B0604030504040204" pitchFamily="50" charset="-128"/>
                <a:ea typeface="Meiryo UI" panose="020B0604030504040204" pitchFamily="50" charset="-128"/>
              </a:rPr>
              <a:t>カード種類ごとの後続対応</a:t>
            </a:r>
          </a:p>
        </p:txBody>
      </p:sp>
    </p:spTree>
    <p:extLst>
      <p:ext uri="{BB962C8B-B14F-4D97-AF65-F5344CB8AC3E}">
        <p14:creationId xmlns:p14="http://schemas.microsoft.com/office/powerpoint/2010/main" val="3559687383"/>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1593</TotalTime>
  <Words>994</Words>
  <Application>Microsoft Office PowerPoint</Application>
  <PresentationFormat>ワイド画面</PresentationFormat>
  <Paragraphs>142</Paragraphs>
  <Slides>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Meiryo UI</vt:lpstr>
      <vt:lpstr>游ゴシック</vt:lpstr>
      <vt:lpstr>游ゴシック Light</vt:lpstr>
      <vt:lpstr>Arial</vt:lpstr>
      <vt:lpstr>Wingdings</vt:lpstr>
      <vt:lpstr>Office テーマ</vt:lpstr>
      <vt:lpstr>喪失時の本人確認フロー</vt:lpstr>
      <vt:lpstr>喪失受付時の対応（①本人来店の場合）</vt:lpstr>
      <vt:lpstr>喪失受付時の対応（②本人来店で回答書を持参している場合）</vt:lpstr>
      <vt:lpstr>喪失受付時の対応（③本人来店で行員が来店者を熟知している場合）</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増田　勇</dc:creator>
  <cp:lastModifiedBy>森　明日香</cp:lastModifiedBy>
  <cp:revision>63</cp:revision>
  <dcterms:created xsi:type="dcterms:W3CDTF">2024-04-17T01:31:21Z</dcterms:created>
  <dcterms:modified xsi:type="dcterms:W3CDTF">2024-12-25T02:51:08Z</dcterms:modified>
</cp:coreProperties>
</file>