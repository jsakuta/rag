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24"/>
  </p:notesMasterIdLst>
  <p:sldIdLst>
    <p:sldId id="261" r:id="rId5"/>
    <p:sldId id="262" r:id="rId6"/>
    <p:sldId id="263" r:id="rId7"/>
    <p:sldId id="258" r:id="rId8"/>
    <p:sldId id="260" r:id="rId9"/>
    <p:sldId id="268" r:id="rId10"/>
    <p:sldId id="281" r:id="rId11"/>
    <p:sldId id="269" r:id="rId12"/>
    <p:sldId id="282" r:id="rId13"/>
    <p:sldId id="271" r:id="rId14"/>
    <p:sldId id="272" r:id="rId15"/>
    <p:sldId id="283" r:id="rId16"/>
    <p:sldId id="266" r:id="rId17"/>
    <p:sldId id="274" r:id="rId18"/>
    <p:sldId id="267" r:id="rId19"/>
    <p:sldId id="279" r:id="rId20"/>
    <p:sldId id="275" r:id="rId21"/>
    <p:sldId id="278"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作田　隼樹" initials="作田　隼樹" lastIdx="2" clrIdx="0">
    <p:extLst>
      <p:ext uri="{19B8F6BF-5375-455C-9EA6-DF929625EA0E}">
        <p15:presenceInfo xmlns:p15="http://schemas.microsoft.com/office/powerpoint/2012/main" userId="S-1-5-21-1957994488-527237240-1606980848-35762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F23F2A-66C3-47DF-86E5-84D120D98CCC}" v="196" dt="2025-01-10T07:43:13.987"/>
  </p1510:revLst>
</p1510:revInfo>
</file>

<file path=ppt/tableStyles.xml><?xml version="1.0" encoding="utf-8"?>
<a:tblStyleLst xmlns:a="http://schemas.openxmlformats.org/drawingml/2006/main" def="{5C22544A-7EE6-4342-B048-85BDC9FD1C3A}">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92" autoAdjust="0"/>
    <p:restoredTop sz="94802" autoAdjust="0"/>
  </p:normalViewPr>
  <p:slideViewPr>
    <p:cSldViewPr showGuides="1">
      <p:cViewPr varScale="1">
        <p:scale>
          <a:sx n="111" d="100"/>
          <a:sy n="111" d="100"/>
        </p:scale>
        <p:origin x="246" y="96"/>
      </p:cViewPr>
      <p:guideLst>
        <p:guide orient="horz" pos="2160"/>
        <p:guide pos="3840"/>
      </p:guideLst>
    </p:cSldViewPr>
  </p:slideViewPr>
  <p:notesTextViewPr>
    <p:cViewPr>
      <p:scale>
        <a:sx n="1" d="1"/>
        <a:sy n="1" d="1"/>
      </p:scale>
      <p:origin x="0" y="0"/>
    </p:cViewPr>
  </p:notesText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B60262-0ECC-4A1E-A114-E92A85F0AD23}" type="datetimeFigureOut">
              <a:rPr kumimoji="1" lang="ja-JP" altLang="en-US" smtClean="0"/>
              <a:t>2025/11/14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85D758-1BB0-4E40-9DBC-13F24133BDCF}" type="slidenum">
              <a:rPr kumimoji="1" lang="ja-JP" altLang="en-US" smtClean="0"/>
              <a:t>‹#›</a:t>
            </a:fld>
            <a:endParaRPr kumimoji="1" lang="ja-JP" altLang="en-US"/>
          </a:p>
        </p:txBody>
      </p:sp>
    </p:spTree>
    <p:extLst>
      <p:ext uri="{BB962C8B-B14F-4D97-AF65-F5344CB8AC3E}">
        <p14:creationId xmlns:p14="http://schemas.microsoft.com/office/powerpoint/2010/main" val="125333922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485D758-1BB0-4E40-9DBC-13F24133BDCF}" type="slidenum">
              <a:rPr kumimoji="1" lang="ja-JP" altLang="en-US" smtClean="0"/>
              <a:t>6</a:t>
            </a:fld>
            <a:endParaRPr kumimoji="1" lang="ja-JP" altLang="en-US"/>
          </a:p>
        </p:txBody>
      </p:sp>
    </p:spTree>
    <p:extLst>
      <p:ext uri="{BB962C8B-B14F-4D97-AF65-F5344CB8AC3E}">
        <p14:creationId xmlns:p14="http://schemas.microsoft.com/office/powerpoint/2010/main" val="2332576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485D758-1BB0-4E40-9DBC-13F24133BDCF}" type="slidenum">
              <a:rPr kumimoji="1" lang="ja-JP" altLang="en-US" smtClean="0"/>
              <a:t>8</a:t>
            </a:fld>
            <a:endParaRPr kumimoji="1" lang="ja-JP" altLang="en-US"/>
          </a:p>
        </p:txBody>
      </p:sp>
    </p:spTree>
    <p:extLst>
      <p:ext uri="{BB962C8B-B14F-4D97-AF65-F5344CB8AC3E}">
        <p14:creationId xmlns:p14="http://schemas.microsoft.com/office/powerpoint/2010/main" val="112870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33AA28E0-6EB2-44BD-919C-73BF76D71611}" type="datetimeFigureOut">
              <a:rPr kumimoji="1" lang="ja-JP" altLang="en-US" smtClean="0"/>
              <a:t>2025/11/14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2EFFE5A-34E3-4288-9D26-064F6469FBC1}" type="slidenum">
              <a:rPr kumimoji="1" lang="ja-JP" altLang="en-US" smtClean="0"/>
              <a:t>‹#›</a:t>
            </a:fld>
            <a:endParaRPr kumimoji="1" lang="ja-JP" altLang="en-US"/>
          </a:p>
        </p:txBody>
      </p:sp>
    </p:spTree>
    <p:extLst>
      <p:ext uri="{BB962C8B-B14F-4D97-AF65-F5344CB8AC3E}">
        <p14:creationId xmlns:p14="http://schemas.microsoft.com/office/powerpoint/2010/main" val="175058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33AA28E0-6EB2-44BD-919C-73BF76D71611}" type="datetimeFigureOut">
              <a:rPr kumimoji="1" lang="ja-JP" altLang="en-US" smtClean="0"/>
              <a:t>2025/11/14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2EFFE5A-34E3-4288-9D26-064F6469FBC1}" type="slidenum">
              <a:rPr kumimoji="1" lang="ja-JP" altLang="en-US" smtClean="0"/>
              <a:t>‹#›</a:t>
            </a:fld>
            <a:endParaRPr kumimoji="1" lang="ja-JP" altLang="en-US"/>
          </a:p>
        </p:txBody>
      </p:sp>
    </p:spTree>
    <p:extLst>
      <p:ext uri="{BB962C8B-B14F-4D97-AF65-F5344CB8AC3E}">
        <p14:creationId xmlns:p14="http://schemas.microsoft.com/office/powerpoint/2010/main" val="634846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3AA28E0-6EB2-44BD-919C-73BF76D71611}" type="datetimeFigureOut">
              <a:rPr kumimoji="1" lang="ja-JP" altLang="en-US" smtClean="0"/>
              <a:t>2025/11/14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2EFFE5A-34E3-4288-9D26-064F6469FBC1}" type="slidenum">
              <a:rPr kumimoji="1" lang="ja-JP" altLang="en-US" smtClean="0"/>
              <a:t>‹#›</a:t>
            </a:fld>
            <a:endParaRPr kumimoji="1" lang="ja-JP" altLang="en-US"/>
          </a:p>
        </p:txBody>
      </p:sp>
    </p:spTree>
    <p:extLst>
      <p:ext uri="{BB962C8B-B14F-4D97-AF65-F5344CB8AC3E}">
        <p14:creationId xmlns:p14="http://schemas.microsoft.com/office/powerpoint/2010/main" val="3200217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33AA28E0-6EB2-44BD-919C-73BF76D71611}" type="datetimeFigureOut">
              <a:rPr kumimoji="1" lang="ja-JP" altLang="en-US" smtClean="0"/>
              <a:t>2025/11/14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2EFFE5A-34E3-4288-9D26-064F6469FBC1}" type="slidenum">
              <a:rPr kumimoji="1" lang="ja-JP" altLang="en-US" smtClean="0"/>
              <a:t>‹#›</a:t>
            </a:fld>
            <a:endParaRPr kumimoji="1" lang="ja-JP" altLang="en-US"/>
          </a:p>
        </p:txBody>
      </p:sp>
    </p:spTree>
    <p:extLst>
      <p:ext uri="{BB962C8B-B14F-4D97-AF65-F5344CB8AC3E}">
        <p14:creationId xmlns:p14="http://schemas.microsoft.com/office/powerpoint/2010/main" val="21166798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33AA28E0-6EB2-44BD-919C-73BF76D71611}" type="datetimeFigureOut">
              <a:rPr kumimoji="1" lang="ja-JP" altLang="en-US" smtClean="0"/>
              <a:t>2025/11/14</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72EFFE5A-34E3-4288-9D26-064F6469FBC1}" type="slidenum">
              <a:rPr kumimoji="1" lang="ja-JP" altLang="en-US" smtClean="0"/>
              <a:t>‹#›</a:t>
            </a:fld>
            <a:endParaRPr kumimoji="1" lang="ja-JP" altLang="en-US"/>
          </a:p>
        </p:txBody>
      </p:sp>
    </p:spTree>
    <p:extLst>
      <p:ext uri="{BB962C8B-B14F-4D97-AF65-F5344CB8AC3E}">
        <p14:creationId xmlns:p14="http://schemas.microsoft.com/office/powerpoint/2010/main" val="3395636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33AA28E0-6EB2-44BD-919C-73BF76D71611}" type="datetimeFigureOut">
              <a:rPr kumimoji="1" lang="ja-JP" altLang="en-US" smtClean="0"/>
              <a:t>2025/11/14</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2EFFE5A-34E3-4288-9D26-064F6469FBC1}" type="slidenum">
              <a:rPr kumimoji="1" lang="ja-JP" altLang="en-US" smtClean="0"/>
              <a:t>‹#›</a:t>
            </a:fld>
            <a:endParaRPr kumimoji="1" lang="ja-JP" altLang="en-US"/>
          </a:p>
        </p:txBody>
      </p:sp>
    </p:spTree>
    <p:extLst>
      <p:ext uri="{BB962C8B-B14F-4D97-AF65-F5344CB8AC3E}">
        <p14:creationId xmlns:p14="http://schemas.microsoft.com/office/powerpoint/2010/main" val="3390577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AA28E0-6EB2-44BD-919C-73BF76D71611}" type="datetimeFigureOut">
              <a:rPr kumimoji="1" lang="ja-JP" altLang="en-US" smtClean="0"/>
              <a:t>2025/11/14</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72EFFE5A-34E3-4288-9D26-064F6469FBC1}" type="slidenum">
              <a:rPr kumimoji="1" lang="ja-JP" altLang="en-US" smtClean="0"/>
              <a:t>‹#›</a:t>
            </a:fld>
            <a:endParaRPr kumimoji="1" lang="ja-JP" altLang="en-US"/>
          </a:p>
        </p:txBody>
      </p:sp>
    </p:spTree>
    <p:extLst>
      <p:ext uri="{BB962C8B-B14F-4D97-AF65-F5344CB8AC3E}">
        <p14:creationId xmlns:p14="http://schemas.microsoft.com/office/powerpoint/2010/main" val="161355055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3AA28E0-6EB2-44BD-919C-73BF76D71611}" type="datetimeFigureOut">
              <a:rPr kumimoji="1" lang="ja-JP" altLang="en-US" smtClean="0"/>
              <a:t>2025/11/14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2EFFE5A-34E3-4288-9D26-064F6469FBC1}" type="slidenum">
              <a:rPr kumimoji="1" lang="ja-JP" altLang="en-US" smtClean="0"/>
              <a:t>‹#›</a:t>
            </a:fld>
            <a:endParaRPr kumimoji="1" lang="ja-JP" altLang="en-US"/>
          </a:p>
        </p:txBody>
      </p:sp>
    </p:spTree>
    <p:extLst>
      <p:ext uri="{BB962C8B-B14F-4D97-AF65-F5344CB8AC3E}">
        <p14:creationId xmlns:p14="http://schemas.microsoft.com/office/powerpoint/2010/main" val="1623453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3AA28E0-6EB2-44BD-919C-73BF76D71611}" type="datetimeFigureOut">
              <a:rPr kumimoji="1" lang="ja-JP" altLang="en-US" smtClean="0"/>
              <a:t>2025/11/14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2EFFE5A-34E3-4288-9D26-064F6469FBC1}" type="slidenum">
              <a:rPr kumimoji="1" lang="ja-JP" altLang="en-US" smtClean="0"/>
              <a:t>‹#›</a:t>
            </a:fld>
            <a:endParaRPr kumimoji="1" lang="ja-JP" altLang="en-US"/>
          </a:p>
        </p:txBody>
      </p:sp>
    </p:spTree>
    <p:extLst>
      <p:ext uri="{BB962C8B-B14F-4D97-AF65-F5344CB8AC3E}">
        <p14:creationId xmlns:p14="http://schemas.microsoft.com/office/powerpoint/2010/main" val="1589277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33AA28E0-6EB2-44BD-919C-73BF76D71611}" type="datetimeFigureOut">
              <a:rPr kumimoji="1" lang="ja-JP" altLang="en-US" smtClean="0"/>
              <a:t>2025/11/14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2EFFE5A-34E3-4288-9D26-064F6469FBC1}" type="slidenum">
              <a:rPr kumimoji="1" lang="ja-JP" altLang="en-US" smtClean="0"/>
              <a:t>‹#›</a:t>
            </a:fld>
            <a:endParaRPr kumimoji="1" lang="ja-JP" altLang="en-US"/>
          </a:p>
        </p:txBody>
      </p:sp>
    </p:spTree>
    <p:extLst>
      <p:ext uri="{BB962C8B-B14F-4D97-AF65-F5344CB8AC3E}">
        <p14:creationId xmlns:p14="http://schemas.microsoft.com/office/powerpoint/2010/main" val="13463222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33AA28E0-6EB2-44BD-919C-73BF76D71611}" type="datetimeFigureOut">
              <a:rPr kumimoji="1" lang="ja-JP" altLang="en-US" smtClean="0"/>
              <a:t>2025/11/14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2EFFE5A-34E3-4288-9D26-064F6469FBC1}" type="slidenum">
              <a:rPr kumimoji="1" lang="ja-JP" altLang="en-US" smtClean="0"/>
              <a:t>‹#›</a:t>
            </a:fld>
            <a:endParaRPr kumimoji="1" lang="ja-JP" altLang="en-US"/>
          </a:p>
        </p:txBody>
      </p:sp>
    </p:spTree>
    <p:extLst>
      <p:ext uri="{BB962C8B-B14F-4D97-AF65-F5344CB8AC3E}">
        <p14:creationId xmlns:p14="http://schemas.microsoft.com/office/powerpoint/2010/main" val="14930089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AA28E0-6EB2-44BD-919C-73BF76D71611}" type="datetimeFigureOut">
              <a:rPr kumimoji="1" lang="ja-JP" altLang="en-US" smtClean="0"/>
              <a:t>2025/11/14</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EFFE5A-34E3-4288-9D26-064F6469FBC1}" type="slidenum">
              <a:rPr kumimoji="1" lang="ja-JP" altLang="en-US" smtClean="0"/>
              <a:t>‹#›</a:t>
            </a:fld>
            <a:endParaRPr kumimoji="1" lang="ja-JP" altLang="en-US"/>
          </a:p>
        </p:txBody>
      </p:sp>
    </p:spTree>
    <p:extLst>
      <p:ext uri="{BB962C8B-B14F-4D97-AF65-F5344CB8AC3E}">
        <p14:creationId xmlns:p14="http://schemas.microsoft.com/office/powerpoint/2010/main" val="118779162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66712050-EC33-74CD-85BE-83282480EC8F}"/>
              </a:ext>
            </a:extLst>
          </p:cNvPr>
          <p:cNvGraphicFramePr>
            <a:graphicFrameLocks noGrp="1"/>
          </p:cNvGraphicFramePr>
          <p:nvPr>
            <p:extLst>
              <p:ext uri="{D42A27DB-BD31-4B8C-83A1-F6EECF244321}">
                <p14:modId xmlns:p14="http://schemas.microsoft.com/office/powerpoint/2010/main" val="3370522286"/>
              </p:ext>
            </p:extLst>
          </p:nvPr>
        </p:nvGraphicFramePr>
        <p:xfrm>
          <a:off x="263998" y="1481709"/>
          <a:ext cx="11664002" cy="1814400"/>
        </p:xfrm>
        <a:graphic>
          <a:graphicData uri="http://schemas.openxmlformats.org/drawingml/2006/table">
            <a:tbl>
              <a:tblPr/>
              <a:tblGrid>
                <a:gridCol w="4320000">
                  <a:extLst>
                    <a:ext uri="{9D8B030D-6E8A-4147-A177-3AD203B41FA5}">
                      <a16:colId xmlns:a16="http://schemas.microsoft.com/office/drawing/2014/main" val="2472418392"/>
                    </a:ext>
                  </a:extLst>
                </a:gridCol>
                <a:gridCol w="3672001">
                  <a:extLst>
                    <a:ext uri="{9D8B030D-6E8A-4147-A177-3AD203B41FA5}">
                      <a16:colId xmlns:a16="http://schemas.microsoft.com/office/drawing/2014/main" val="2518075419"/>
                    </a:ext>
                  </a:extLst>
                </a:gridCol>
                <a:gridCol w="3672001">
                  <a:extLst>
                    <a:ext uri="{9D8B030D-6E8A-4147-A177-3AD203B41FA5}">
                      <a16:colId xmlns:a16="http://schemas.microsoft.com/office/drawing/2014/main" val="2213247180"/>
                    </a:ext>
                  </a:extLst>
                </a:gridCol>
              </a:tblGrid>
              <a:tr h="604800">
                <a:tc>
                  <a:txBody>
                    <a:bodyPr/>
                    <a:lstStyle/>
                    <a:p>
                      <a:endParaRPr lang="ja-JP" altLang="en-US" sz="2000" b="0" dirty="0">
                        <a:solidFill>
                          <a:schemeClr val="bg1"/>
                        </a:solidFill>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0" dirty="0">
                          <a:solidFill>
                            <a:sysClr val="windowText" lastClr="000000"/>
                          </a:solidFill>
                          <a:latin typeface="+mn-lt"/>
                        </a:rPr>
                        <a:t>線引あり</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0" dirty="0">
                          <a:solidFill>
                            <a:sysClr val="windowText" lastClr="000000"/>
                          </a:solidFill>
                          <a:latin typeface="+mn-lt"/>
                        </a:rPr>
                        <a:t>線引なし</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68415140"/>
                  </a:ext>
                </a:extLst>
              </a:tr>
              <a:tr h="604800">
                <a:tc>
                  <a:txBody>
                    <a:bodyPr/>
                    <a:lstStyle/>
                    <a:p>
                      <a:r>
                        <a:rPr lang="ja-JP" altLang="en-US" sz="2000" b="0" dirty="0">
                          <a:latin typeface="+mn-lt"/>
                        </a:rPr>
                        <a:t>現金支払取引</a:t>
                      </a:r>
                      <a:endParaRPr lang="zh-TW" altLang="en-US" sz="2000" b="0" dirty="0">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1" dirty="0">
                          <a:solidFill>
                            <a:schemeClr val="accent1"/>
                          </a:solidFill>
                          <a:latin typeface="+mn-lt"/>
                        </a:rPr>
                        <a:t>特定取引に該当</a:t>
                      </a:r>
                      <a:endParaRPr lang="zh-TW" altLang="en-US" sz="2000" b="1" dirty="0">
                        <a:solidFill>
                          <a:schemeClr val="accent1"/>
                        </a:solidFill>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000" b="1" dirty="0">
                          <a:solidFill>
                            <a:schemeClr val="accent1"/>
                          </a:solidFill>
                          <a:latin typeface="+mn-lt"/>
                        </a:rPr>
                        <a:t>特定取引に該当</a:t>
                      </a:r>
                      <a:endParaRPr lang="zh-TW" altLang="en-US" sz="2000" b="1" dirty="0">
                        <a:solidFill>
                          <a:schemeClr val="accent1"/>
                        </a:solidFill>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21887199"/>
                  </a:ext>
                </a:extLst>
              </a:tr>
              <a:tr h="604800">
                <a:tc>
                  <a:txBody>
                    <a:bodyPr/>
                    <a:lstStyle/>
                    <a:p>
                      <a:r>
                        <a:rPr lang="ja-JP" altLang="en-US" sz="2000" b="0" dirty="0">
                          <a:latin typeface="+mn-lt"/>
                        </a:rPr>
                        <a:t>現金の支払を伴わない取引（振替等）</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1" dirty="0">
                          <a:solidFill>
                            <a:srgbClr val="FF0000"/>
                          </a:solidFill>
                          <a:latin typeface="+mn-lt"/>
                        </a:rPr>
                        <a:t>特定取引に該当しない</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ja-JP" altLang="en-US" sz="2000" b="1" dirty="0">
                          <a:solidFill>
                            <a:schemeClr val="accent1"/>
                          </a:solidFill>
                        </a:rPr>
                        <a:t>特定取引に該当</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35477997"/>
                  </a:ext>
                </a:extLst>
              </a:tr>
            </a:tbl>
          </a:graphicData>
        </a:graphic>
      </p:graphicFrame>
      <p:sp>
        <p:nvSpPr>
          <p:cNvPr id="3" name="正方形/長方形 2">
            <a:extLst>
              <a:ext uri="{FF2B5EF4-FFF2-40B4-BE49-F238E27FC236}">
                <a16:creationId xmlns:a16="http://schemas.microsoft.com/office/drawing/2014/main" id="{82A7819A-4D4D-3430-2C00-2B06D593FDB0}"/>
              </a:ext>
            </a:extLst>
          </p:cNvPr>
          <p:cNvSpPr/>
          <p:nvPr/>
        </p:nvSpPr>
        <p:spPr>
          <a:xfrm>
            <a:off x="264000" y="239658"/>
            <a:ext cx="11664000" cy="680400"/>
          </a:xfrm>
          <a:prstGeom prst="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3200" b="1" dirty="0">
                <a:latin typeface="MS-Mincho"/>
              </a:rPr>
              <a:t>小切手金額</a:t>
            </a:r>
            <a:r>
              <a:rPr lang="en-US" altLang="ja-JP" sz="3200" b="1" i="0" u="none" strike="noStrike" baseline="0" dirty="0">
                <a:latin typeface="MS-Mincho"/>
              </a:rPr>
              <a:t>200</a:t>
            </a:r>
            <a:r>
              <a:rPr lang="ja-JP" altLang="en-US" sz="3200" b="1" i="0" u="none" strike="noStrike" baseline="0" dirty="0">
                <a:latin typeface="MS-Mincho"/>
              </a:rPr>
              <a:t>万円超の自己宛小切手における取引時確認</a:t>
            </a:r>
            <a:endParaRPr kumimoji="1" lang="ja-JP" altLang="en-US" sz="4800" b="1" dirty="0"/>
          </a:p>
        </p:txBody>
      </p:sp>
      <p:sp>
        <p:nvSpPr>
          <p:cNvPr id="5" name="テキスト ボックス 4">
            <a:extLst>
              <a:ext uri="{FF2B5EF4-FFF2-40B4-BE49-F238E27FC236}">
                <a16:creationId xmlns:a16="http://schemas.microsoft.com/office/drawing/2014/main" id="{A6264615-5EE2-968B-B73A-98978E5D9EE4}"/>
              </a:ext>
            </a:extLst>
          </p:cNvPr>
          <p:cNvSpPr txBox="1"/>
          <p:nvPr/>
        </p:nvSpPr>
        <p:spPr>
          <a:xfrm>
            <a:off x="263998" y="1021242"/>
            <a:ext cx="6096000" cy="400110"/>
          </a:xfrm>
          <a:prstGeom prst="rect">
            <a:avLst/>
          </a:prstGeom>
          <a:noFill/>
        </p:spPr>
        <p:txBody>
          <a:bodyPr wrap="square">
            <a:spAutoFit/>
          </a:bodyPr>
          <a:lstStyle/>
          <a:p>
            <a:r>
              <a:rPr kumimoji="1" lang="en-US" altLang="ja-JP" sz="2000" b="1" dirty="0"/>
              <a:t>(1)</a:t>
            </a:r>
            <a:r>
              <a:rPr kumimoji="1" lang="ja-JP" altLang="en-US" sz="2000" b="1" dirty="0"/>
              <a:t>自己宛小切手支払取引（自己宛小切手の受入）</a:t>
            </a:r>
          </a:p>
        </p:txBody>
      </p:sp>
      <p:graphicFrame>
        <p:nvGraphicFramePr>
          <p:cNvPr id="6" name="表 5">
            <a:extLst>
              <a:ext uri="{FF2B5EF4-FFF2-40B4-BE49-F238E27FC236}">
                <a16:creationId xmlns:a16="http://schemas.microsoft.com/office/drawing/2014/main" id="{9A34FBDB-A123-5333-E931-5896CDE2D5FA}"/>
              </a:ext>
            </a:extLst>
          </p:cNvPr>
          <p:cNvGraphicFramePr>
            <a:graphicFrameLocks noGrp="1"/>
          </p:cNvGraphicFramePr>
          <p:nvPr>
            <p:extLst>
              <p:ext uri="{D42A27DB-BD31-4B8C-83A1-F6EECF244321}">
                <p14:modId xmlns:p14="http://schemas.microsoft.com/office/powerpoint/2010/main" val="3617392957"/>
              </p:ext>
            </p:extLst>
          </p:nvPr>
        </p:nvGraphicFramePr>
        <p:xfrm>
          <a:off x="263999" y="3952517"/>
          <a:ext cx="11664002" cy="1814400"/>
        </p:xfrm>
        <a:graphic>
          <a:graphicData uri="http://schemas.openxmlformats.org/drawingml/2006/table">
            <a:tbl>
              <a:tblPr/>
              <a:tblGrid>
                <a:gridCol w="4320000">
                  <a:extLst>
                    <a:ext uri="{9D8B030D-6E8A-4147-A177-3AD203B41FA5}">
                      <a16:colId xmlns:a16="http://schemas.microsoft.com/office/drawing/2014/main" val="2472418392"/>
                    </a:ext>
                  </a:extLst>
                </a:gridCol>
                <a:gridCol w="3672001">
                  <a:extLst>
                    <a:ext uri="{9D8B030D-6E8A-4147-A177-3AD203B41FA5}">
                      <a16:colId xmlns:a16="http://schemas.microsoft.com/office/drawing/2014/main" val="2518075419"/>
                    </a:ext>
                  </a:extLst>
                </a:gridCol>
                <a:gridCol w="3672001">
                  <a:extLst>
                    <a:ext uri="{9D8B030D-6E8A-4147-A177-3AD203B41FA5}">
                      <a16:colId xmlns:a16="http://schemas.microsoft.com/office/drawing/2014/main" val="2213247180"/>
                    </a:ext>
                  </a:extLst>
                </a:gridCol>
              </a:tblGrid>
              <a:tr h="604800">
                <a:tc>
                  <a:txBody>
                    <a:bodyPr/>
                    <a:lstStyle/>
                    <a:p>
                      <a:endParaRPr lang="ja-JP" altLang="en-US" sz="2000" b="1" dirty="0">
                        <a:solidFill>
                          <a:schemeClr val="bg1"/>
                        </a:solidFill>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0" dirty="0">
                          <a:solidFill>
                            <a:sysClr val="windowText" lastClr="000000"/>
                          </a:solidFill>
                          <a:latin typeface="+mn-lt"/>
                        </a:rPr>
                        <a:t>線引あり</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0" dirty="0">
                          <a:solidFill>
                            <a:sysClr val="windowText" lastClr="000000"/>
                          </a:solidFill>
                          <a:latin typeface="+mn-lt"/>
                        </a:rPr>
                        <a:t>線引なし</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68415140"/>
                  </a:ext>
                </a:extLst>
              </a:tr>
              <a:tr h="604800">
                <a:tc>
                  <a:txBody>
                    <a:bodyPr/>
                    <a:lstStyle/>
                    <a:p>
                      <a:r>
                        <a:rPr lang="ja-JP" altLang="en-US" sz="2000" b="0" dirty="0">
                          <a:latin typeface="+mn-lt"/>
                        </a:rPr>
                        <a:t>現金の受入による振出</a:t>
                      </a:r>
                      <a:endParaRPr lang="zh-TW" altLang="en-US" sz="2000" b="0" dirty="0">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1" dirty="0">
                          <a:solidFill>
                            <a:schemeClr val="accent1"/>
                          </a:solidFill>
                          <a:latin typeface="+mn-lt"/>
                        </a:rPr>
                        <a:t>特定取引に該当</a:t>
                      </a:r>
                      <a:endParaRPr lang="zh-TW" altLang="en-US" sz="2000" b="1" dirty="0">
                        <a:solidFill>
                          <a:schemeClr val="accent1"/>
                        </a:solidFill>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000" b="1" dirty="0">
                          <a:solidFill>
                            <a:schemeClr val="accent1"/>
                          </a:solidFill>
                          <a:latin typeface="+mn-lt"/>
                        </a:rPr>
                        <a:t>特定取引に該当</a:t>
                      </a:r>
                      <a:endParaRPr lang="zh-TW" altLang="en-US" sz="2000" b="1" dirty="0">
                        <a:solidFill>
                          <a:schemeClr val="accent1"/>
                        </a:solidFill>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21887199"/>
                  </a:ext>
                </a:extLst>
              </a:tr>
              <a:tr h="604800">
                <a:tc>
                  <a:txBody>
                    <a:bodyPr/>
                    <a:lstStyle/>
                    <a:p>
                      <a:r>
                        <a:rPr lang="ja-JP" altLang="en-US" sz="2000" b="0" dirty="0">
                          <a:latin typeface="+mn-lt"/>
                        </a:rPr>
                        <a:t>現金の受入によらない振出</a:t>
                      </a:r>
                      <a:endParaRPr lang="en-US" altLang="ja-JP" sz="2000" b="0" dirty="0">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1" dirty="0">
                          <a:solidFill>
                            <a:srgbClr val="FF0000"/>
                          </a:solidFill>
                          <a:latin typeface="+mn-lt"/>
                        </a:rPr>
                        <a:t>特定取引に該当しない</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ja-JP" altLang="en-US" sz="2000" b="1" dirty="0">
                          <a:solidFill>
                            <a:schemeClr val="accent1"/>
                          </a:solidFill>
                        </a:rPr>
                        <a:t>特定取引に該当</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35477997"/>
                  </a:ext>
                </a:extLst>
              </a:tr>
            </a:tbl>
          </a:graphicData>
        </a:graphic>
      </p:graphicFrame>
      <p:sp>
        <p:nvSpPr>
          <p:cNvPr id="7" name="テキスト ボックス 6">
            <a:extLst>
              <a:ext uri="{FF2B5EF4-FFF2-40B4-BE49-F238E27FC236}">
                <a16:creationId xmlns:a16="http://schemas.microsoft.com/office/drawing/2014/main" id="{D4220095-E06F-F6FB-E2FE-D4366482E30B}"/>
              </a:ext>
            </a:extLst>
          </p:cNvPr>
          <p:cNvSpPr txBox="1"/>
          <p:nvPr/>
        </p:nvSpPr>
        <p:spPr>
          <a:xfrm>
            <a:off x="263998" y="3458155"/>
            <a:ext cx="6096000" cy="400110"/>
          </a:xfrm>
          <a:prstGeom prst="rect">
            <a:avLst/>
          </a:prstGeom>
          <a:noFill/>
        </p:spPr>
        <p:txBody>
          <a:bodyPr wrap="square">
            <a:spAutoFit/>
          </a:bodyPr>
          <a:lstStyle/>
          <a:p>
            <a:r>
              <a:rPr kumimoji="1" lang="en-US" altLang="ja-JP" sz="2000" b="1" dirty="0"/>
              <a:t>(2)</a:t>
            </a:r>
            <a:r>
              <a:rPr kumimoji="1" lang="ja-JP" altLang="en-US" sz="2000" b="1" dirty="0"/>
              <a:t>自己宛小切手の振出</a:t>
            </a:r>
          </a:p>
        </p:txBody>
      </p:sp>
      <p:sp>
        <p:nvSpPr>
          <p:cNvPr id="9" name="テキスト ボックス 8">
            <a:extLst>
              <a:ext uri="{FF2B5EF4-FFF2-40B4-BE49-F238E27FC236}">
                <a16:creationId xmlns:a16="http://schemas.microsoft.com/office/drawing/2014/main" id="{C6789FBE-4C90-9B8D-7D10-476EE80881B5}"/>
              </a:ext>
            </a:extLst>
          </p:cNvPr>
          <p:cNvSpPr txBox="1"/>
          <p:nvPr/>
        </p:nvSpPr>
        <p:spPr>
          <a:xfrm>
            <a:off x="258958" y="5895067"/>
            <a:ext cx="11664002" cy="723275"/>
          </a:xfrm>
          <a:prstGeom prst="rect">
            <a:avLst/>
          </a:prstGeom>
          <a:noFill/>
        </p:spPr>
        <p:txBody>
          <a:bodyPr wrap="square">
            <a:spAutoFit/>
          </a:bodyPr>
          <a:lstStyle/>
          <a:p>
            <a:pPr algn="l">
              <a:spcAft>
                <a:spcPts val="600"/>
              </a:spcAft>
            </a:pPr>
            <a:r>
              <a:rPr lang="en-US" altLang="ja-JP" b="0" i="0" u="none" strike="noStrike" baseline="0" dirty="0">
                <a:latin typeface="MS-Mincho"/>
              </a:rPr>
              <a:t>※</a:t>
            </a:r>
            <a:r>
              <a:rPr lang="en-US" altLang="ja-JP" dirty="0">
                <a:latin typeface="MS-Mincho"/>
              </a:rPr>
              <a:t>1 </a:t>
            </a:r>
            <a:r>
              <a:rPr lang="ja-JP" altLang="en-US" b="0" i="0" u="none" strike="noStrike" baseline="0" dirty="0">
                <a:latin typeface="MS-Mincho"/>
              </a:rPr>
              <a:t>持参人払式、記名式、指図式にかかわらず、上表</a:t>
            </a:r>
            <a:r>
              <a:rPr lang="en-US" altLang="ja-JP" b="0" i="0" u="none" strike="noStrike" baseline="0" dirty="0">
                <a:latin typeface="MS-Mincho"/>
              </a:rPr>
              <a:t>(1)(2)</a:t>
            </a:r>
            <a:r>
              <a:rPr lang="ja-JP" altLang="en-US" b="0" i="0" u="none" strike="noStrike" baseline="0" dirty="0">
                <a:latin typeface="MS-Mincho"/>
              </a:rPr>
              <a:t>の場合、特定取引に該当します。</a:t>
            </a:r>
          </a:p>
          <a:p>
            <a:pPr algn="l">
              <a:spcAft>
                <a:spcPts val="600"/>
              </a:spcAft>
            </a:pPr>
            <a:r>
              <a:rPr lang="en-US" altLang="ja-JP" b="0" i="0" u="none" strike="noStrike" baseline="0" dirty="0">
                <a:latin typeface="MS-Mincho"/>
              </a:rPr>
              <a:t>※2</a:t>
            </a:r>
            <a:r>
              <a:rPr lang="ja-JP" altLang="en-US" dirty="0">
                <a:latin typeface="MS-Mincho"/>
              </a:rPr>
              <a:t> </a:t>
            </a:r>
            <a:r>
              <a:rPr lang="ja-JP" altLang="en-US" b="0" i="0" u="none" strike="noStrike" baseline="0" dirty="0">
                <a:latin typeface="MS-Mincho"/>
              </a:rPr>
              <a:t>他店・他行が振出の自己宛小切手も、上表</a:t>
            </a:r>
            <a:r>
              <a:rPr lang="en-US" altLang="ja-JP" b="0" i="0" u="none" strike="noStrike" baseline="0" dirty="0">
                <a:latin typeface="MS-Mincho"/>
              </a:rPr>
              <a:t>(1)</a:t>
            </a:r>
            <a:r>
              <a:rPr lang="ja-JP" altLang="en-US" b="0" i="0" u="none" strike="noStrike" baseline="0" dirty="0">
                <a:latin typeface="MS-Mincho"/>
              </a:rPr>
              <a:t>に該当する場合は、同じ取扱いです。</a:t>
            </a:r>
            <a:endParaRPr lang="ja-JP" altLang="en-US" dirty="0"/>
          </a:p>
        </p:txBody>
      </p:sp>
    </p:spTree>
    <p:extLst>
      <p:ext uri="{BB962C8B-B14F-4D97-AF65-F5344CB8AC3E}">
        <p14:creationId xmlns:p14="http://schemas.microsoft.com/office/powerpoint/2010/main" val="1559694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08747-4C7E-24B8-EE88-8BD49CEA72AF}"/>
            </a:ext>
          </a:extLst>
        </p:cNvPr>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04261151-31ED-621E-C705-BFE8D7212E31}"/>
              </a:ext>
            </a:extLst>
          </p:cNvPr>
          <p:cNvGraphicFramePr>
            <a:graphicFrameLocks noGrp="1"/>
          </p:cNvGraphicFramePr>
          <p:nvPr>
            <p:extLst>
              <p:ext uri="{D42A27DB-BD31-4B8C-83A1-F6EECF244321}">
                <p14:modId xmlns:p14="http://schemas.microsoft.com/office/powerpoint/2010/main" val="1237325972"/>
              </p:ext>
            </p:extLst>
          </p:nvPr>
        </p:nvGraphicFramePr>
        <p:xfrm>
          <a:off x="263998" y="1481709"/>
          <a:ext cx="11664002" cy="1593282"/>
        </p:xfrm>
        <a:graphic>
          <a:graphicData uri="http://schemas.openxmlformats.org/drawingml/2006/table">
            <a:tbl>
              <a:tblPr/>
              <a:tblGrid>
                <a:gridCol w="4320000">
                  <a:extLst>
                    <a:ext uri="{9D8B030D-6E8A-4147-A177-3AD203B41FA5}">
                      <a16:colId xmlns:a16="http://schemas.microsoft.com/office/drawing/2014/main" val="2472418392"/>
                    </a:ext>
                  </a:extLst>
                </a:gridCol>
                <a:gridCol w="3672001">
                  <a:extLst>
                    <a:ext uri="{9D8B030D-6E8A-4147-A177-3AD203B41FA5}">
                      <a16:colId xmlns:a16="http://schemas.microsoft.com/office/drawing/2014/main" val="2518075419"/>
                    </a:ext>
                  </a:extLst>
                </a:gridCol>
                <a:gridCol w="3672001">
                  <a:extLst>
                    <a:ext uri="{9D8B030D-6E8A-4147-A177-3AD203B41FA5}">
                      <a16:colId xmlns:a16="http://schemas.microsoft.com/office/drawing/2014/main" val="2213247180"/>
                    </a:ext>
                  </a:extLst>
                </a:gridCol>
              </a:tblGrid>
              <a:tr h="531094">
                <a:tc>
                  <a:txBody>
                    <a:bodyPr/>
                    <a:lstStyle/>
                    <a:p>
                      <a:endParaRPr lang="ja-JP" altLang="en-US" sz="2000" b="1" dirty="0">
                        <a:solidFill>
                          <a:schemeClr val="bg1"/>
                        </a:solidFill>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0" dirty="0">
                          <a:solidFill>
                            <a:sysClr val="windowText" lastClr="000000"/>
                          </a:solidFill>
                          <a:latin typeface="+mn-lt"/>
                        </a:rPr>
                        <a:t>線引あり</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0" dirty="0">
                          <a:solidFill>
                            <a:sysClr val="windowText" lastClr="000000"/>
                          </a:solidFill>
                          <a:latin typeface="+mn-lt"/>
                        </a:rPr>
                        <a:t>線引なし</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68415140"/>
                  </a:ext>
                </a:extLst>
              </a:tr>
              <a:tr h="531094">
                <a:tc>
                  <a:txBody>
                    <a:bodyPr/>
                    <a:lstStyle/>
                    <a:p>
                      <a:r>
                        <a:rPr lang="ja-JP" altLang="en-US" sz="2000" b="0" dirty="0">
                          <a:latin typeface="+mn-lt"/>
                        </a:rPr>
                        <a:t>現金支払取引</a:t>
                      </a:r>
                      <a:endParaRPr lang="zh-TW" altLang="en-US" sz="2000" b="0" dirty="0">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1" dirty="0">
                          <a:solidFill>
                            <a:schemeClr val="accent1"/>
                          </a:solidFill>
                          <a:latin typeface="+mn-lt"/>
                        </a:rPr>
                        <a:t>特定取引に該当</a:t>
                      </a:r>
                      <a:endParaRPr lang="zh-TW" altLang="en-US" sz="2000" b="1" dirty="0">
                        <a:solidFill>
                          <a:schemeClr val="accent1"/>
                        </a:solidFill>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000" b="1" dirty="0">
                          <a:solidFill>
                            <a:schemeClr val="accent1"/>
                          </a:solidFill>
                          <a:latin typeface="+mn-lt"/>
                        </a:rPr>
                        <a:t>特定取引に該当</a:t>
                      </a:r>
                      <a:endParaRPr lang="zh-TW" altLang="en-US" sz="2000" b="1" dirty="0">
                        <a:solidFill>
                          <a:schemeClr val="accent1"/>
                        </a:solidFill>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21887199"/>
                  </a:ext>
                </a:extLst>
              </a:tr>
              <a:tr h="531094">
                <a:tc>
                  <a:txBody>
                    <a:bodyPr/>
                    <a:lstStyle/>
                    <a:p>
                      <a:r>
                        <a:rPr lang="ja-JP" altLang="en-US" sz="2000" b="0" dirty="0">
                          <a:latin typeface="+mn-lt"/>
                        </a:rPr>
                        <a:t>現金の支払を伴わない取引（振替等）</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1" dirty="0">
                          <a:solidFill>
                            <a:srgbClr val="FF0000"/>
                          </a:solidFill>
                          <a:latin typeface="+mn-lt"/>
                        </a:rPr>
                        <a:t>特定取引に該当しない</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2000" b="1" dirty="0">
                          <a:solidFill>
                            <a:srgbClr val="FF0000"/>
                          </a:solidFill>
                          <a:latin typeface="+mn-lt"/>
                        </a:rPr>
                        <a:t>特定取引に該当しない（</a:t>
                      </a:r>
                      <a:r>
                        <a:rPr lang="en-US" altLang="ja-JP" sz="2000" b="1" dirty="0">
                          <a:solidFill>
                            <a:srgbClr val="FF0000"/>
                          </a:solidFill>
                          <a:latin typeface="+mn-lt"/>
                        </a:rPr>
                        <a:t>※4</a:t>
                      </a:r>
                      <a:r>
                        <a:rPr lang="ja-JP" altLang="en-US" sz="2000" b="1" dirty="0">
                          <a:solidFill>
                            <a:srgbClr val="FF0000"/>
                          </a:solidFill>
                          <a:latin typeface="+mn-lt"/>
                        </a:rPr>
                        <a:t>）</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35477997"/>
                  </a:ext>
                </a:extLst>
              </a:tr>
            </a:tbl>
          </a:graphicData>
        </a:graphic>
      </p:graphicFrame>
      <p:sp>
        <p:nvSpPr>
          <p:cNvPr id="3" name="正方形/長方形 2">
            <a:extLst>
              <a:ext uri="{FF2B5EF4-FFF2-40B4-BE49-F238E27FC236}">
                <a16:creationId xmlns:a16="http://schemas.microsoft.com/office/drawing/2014/main" id="{B1EF87C9-B929-FBDB-E213-56E0C6571365}"/>
              </a:ext>
            </a:extLst>
          </p:cNvPr>
          <p:cNvSpPr/>
          <p:nvPr/>
        </p:nvSpPr>
        <p:spPr>
          <a:xfrm>
            <a:off x="264000" y="239658"/>
            <a:ext cx="11664000" cy="680400"/>
          </a:xfrm>
          <a:prstGeom prst="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3200" b="1" dirty="0">
                <a:latin typeface="MS-Mincho"/>
              </a:rPr>
              <a:t>小切手金額</a:t>
            </a:r>
            <a:r>
              <a:rPr lang="en-US" altLang="ja-JP" sz="3200" b="1" dirty="0">
                <a:latin typeface="MS-Mincho"/>
              </a:rPr>
              <a:t>10</a:t>
            </a:r>
            <a:r>
              <a:rPr lang="ja-JP" altLang="en-US" sz="3200" b="1" i="0" u="none" strike="noStrike" baseline="0" dirty="0">
                <a:latin typeface="MS-Mincho"/>
              </a:rPr>
              <a:t>万円超の自己宛小切手における取引時確認</a:t>
            </a:r>
            <a:endParaRPr kumimoji="1" lang="ja-JP" altLang="en-US" sz="4800" b="1" dirty="0"/>
          </a:p>
        </p:txBody>
      </p:sp>
      <p:sp>
        <p:nvSpPr>
          <p:cNvPr id="5" name="テキスト ボックス 4">
            <a:extLst>
              <a:ext uri="{FF2B5EF4-FFF2-40B4-BE49-F238E27FC236}">
                <a16:creationId xmlns:a16="http://schemas.microsoft.com/office/drawing/2014/main" id="{32915EFD-8D8E-489E-2924-037999F67DCB}"/>
              </a:ext>
            </a:extLst>
          </p:cNvPr>
          <p:cNvSpPr txBox="1"/>
          <p:nvPr/>
        </p:nvSpPr>
        <p:spPr>
          <a:xfrm>
            <a:off x="263998" y="1021242"/>
            <a:ext cx="6096000" cy="400110"/>
          </a:xfrm>
          <a:prstGeom prst="rect">
            <a:avLst/>
          </a:prstGeom>
          <a:noFill/>
        </p:spPr>
        <p:txBody>
          <a:bodyPr wrap="square">
            <a:spAutoFit/>
          </a:bodyPr>
          <a:lstStyle/>
          <a:p>
            <a:r>
              <a:rPr kumimoji="1" lang="en-US" altLang="ja-JP" sz="2000" b="1" dirty="0"/>
              <a:t>(1)</a:t>
            </a:r>
            <a:r>
              <a:rPr kumimoji="1" lang="ja-JP" altLang="en-US" sz="2000" b="1" dirty="0"/>
              <a:t>自己宛小切手支払取引（自己宛小切手の受入）</a:t>
            </a:r>
          </a:p>
        </p:txBody>
      </p:sp>
      <p:graphicFrame>
        <p:nvGraphicFramePr>
          <p:cNvPr id="6" name="表 5">
            <a:extLst>
              <a:ext uri="{FF2B5EF4-FFF2-40B4-BE49-F238E27FC236}">
                <a16:creationId xmlns:a16="http://schemas.microsoft.com/office/drawing/2014/main" id="{810A34AC-77BA-4DCB-1340-4EC37E36FDD9}"/>
              </a:ext>
            </a:extLst>
          </p:cNvPr>
          <p:cNvGraphicFramePr>
            <a:graphicFrameLocks noGrp="1"/>
          </p:cNvGraphicFramePr>
          <p:nvPr>
            <p:extLst>
              <p:ext uri="{D42A27DB-BD31-4B8C-83A1-F6EECF244321}">
                <p14:modId xmlns:p14="http://schemas.microsoft.com/office/powerpoint/2010/main" val="2016213394"/>
              </p:ext>
            </p:extLst>
          </p:nvPr>
        </p:nvGraphicFramePr>
        <p:xfrm>
          <a:off x="263999" y="3707718"/>
          <a:ext cx="11664002" cy="1593282"/>
        </p:xfrm>
        <a:graphic>
          <a:graphicData uri="http://schemas.openxmlformats.org/drawingml/2006/table">
            <a:tbl>
              <a:tblPr/>
              <a:tblGrid>
                <a:gridCol w="4320000">
                  <a:extLst>
                    <a:ext uri="{9D8B030D-6E8A-4147-A177-3AD203B41FA5}">
                      <a16:colId xmlns:a16="http://schemas.microsoft.com/office/drawing/2014/main" val="2472418392"/>
                    </a:ext>
                  </a:extLst>
                </a:gridCol>
                <a:gridCol w="3672001">
                  <a:extLst>
                    <a:ext uri="{9D8B030D-6E8A-4147-A177-3AD203B41FA5}">
                      <a16:colId xmlns:a16="http://schemas.microsoft.com/office/drawing/2014/main" val="2518075419"/>
                    </a:ext>
                  </a:extLst>
                </a:gridCol>
                <a:gridCol w="3672001">
                  <a:extLst>
                    <a:ext uri="{9D8B030D-6E8A-4147-A177-3AD203B41FA5}">
                      <a16:colId xmlns:a16="http://schemas.microsoft.com/office/drawing/2014/main" val="2213247180"/>
                    </a:ext>
                  </a:extLst>
                </a:gridCol>
              </a:tblGrid>
              <a:tr h="531094">
                <a:tc>
                  <a:txBody>
                    <a:bodyPr/>
                    <a:lstStyle/>
                    <a:p>
                      <a:endParaRPr lang="ja-JP" altLang="en-US" sz="2000" b="1" dirty="0">
                        <a:solidFill>
                          <a:schemeClr val="bg1"/>
                        </a:solidFill>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0" dirty="0">
                          <a:solidFill>
                            <a:sysClr val="windowText" lastClr="000000"/>
                          </a:solidFill>
                          <a:latin typeface="+mn-lt"/>
                        </a:rPr>
                        <a:t>線引あり</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0" dirty="0">
                          <a:solidFill>
                            <a:sysClr val="windowText" lastClr="000000"/>
                          </a:solidFill>
                          <a:latin typeface="+mn-lt"/>
                        </a:rPr>
                        <a:t>線引なし</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68415140"/>
                  </a:ext>
                </a:extLst>
              </a:tr>
              <a:tr h="531094">
                <a:tc>
                  <a:txBody>
                    <a:bodyPr/>
                    <a:lstStyle/>
                    <a:p>
                      <a:r>
                        <a:rPr lang="ja-JP" altLang="en-US" sz="2000" b="0" dirty="0">
                          <a:latin typeface="+mn-lt"/>
                        </a:rPr>
                        <a:t>現金の受入による振出</a:t>
                      </a:r>
                      <a:endParaRPr lang="zh-TW" altLang="en-US" sz="2000" b="0" dirty="0">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1" dirty="0">
                          <a:solidFill>
                            <a:srgbClr val="FF0000"/>
                          </a:solidFill>
                          <a:latin typeface="+mn-lt"/>
                        </a:rPr>
                        <a:t>特定取引に該当しない（</a:t>
                      </a:r>
                      <a:r>
                        <a:rPr lang="en-US" altLang="ja-JP" sz="2000" b="1" dirty="0">
                          <a:solidFill>
                            <a:srgbClr val="FF0000"/>
                          </a:solidFill>
                          <a:latin typeface="+mn-lt"/>
                        </a:rPr>
                        <a:t>※4</a:t>
                      </a:r>
                      <a:r>
                        <a:rPr lang="ja-JP" altLang="en-US" sz="2000" b="1" dirty="0">
                          <a:solidFill>
                            <a:srgbClr val="FF0000"/>
                          </a:solidFill>
                          <a:latin typeface="+mn-lt"/>
                        </a:rPr>
                        <a:t>）</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000" b="1" dirty="0">
                          <a:solidFill>
                            <a:schemeClr val="accent1"/>
                          </a:solidFill>
                          <a:latin typeface="+mn-lt"/>
                        </a:rPr>
                        <a:t>特定取引に該当</a:t>
                      </a:r>
                      <a:endParaRPr lang="zh-TW" altLang="en-US" sz="2000" b="1" dirty="0">
                        <a:solidFill>
                          <a:schemeClr val="accent1"/>
                        </a:solidFill>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21887199"/>
                  </a:ext>
                </a:extLst>
              </a:tr>
              <a:tr h="531094">
                <a:tc>
                  <a:txBody>
                    <a:bodyPr/>
                    <a:lstStyle/>
                    <a:p>
                      <a:r>
                        <a:rPr lang="ja-JP" altLang="en-US" sz="2000" b="0" dirty="0">
                          <a:latin typeface="+mn-lt"/>
                        </a:rPr>
                        <a:t>現金の受入によらない振出</a:t>
                      </a:r>
                      <a:endParaRPr lang="en-US" altLang="ja-JP" sz="2000" b="0" dirty="0">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1" dirty="0">
                          <a:solidFill>
                            <a:srgbClr val="FF0000"/>
                          </a:solidFill>
                          <a:latin typeface="+mn-lt"/>
                        </a:rPr>
                        <a:t>特定取引に該当しない</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ja-JP" altLang="en-US" sz="2000" b="1" dirty="0">
                          <a:solidFill>
                            <a:srgbClr val="FF0000"/>
                          </a:solidFill>
                        </a:rPr>
                        <a:t>特定取引に該当しない（</a:t>
                      </a:r>
                      <a:r>
                        <a:rPr lang="en-US" altLang="ja-JP" sz="2000" b="1" dirty="0">
                          <a:solidFill>
                            <a:srgbClr val="FF0000"/>
                          </a:solidFill>
                        </a:rPr>
                        <a:t>※4</a:t>
                      </a:r>
                      <a:r>
                        <a:rPr lang="ja-JP" altLang="en-US" sz="2000" b="1" dirty="0">
                          <a:solidFill>
                            <a:srgbClr val="FF0000"/>
                          </a:solidFill>
                        </a:rPr>
                        <a:t>）</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35477997"/>
                  </a:ext>
                </a:extLst>
              </a:tr>
            </a:tbl>
          </a:graphicData>
        </a:graphic>
      </p:graphicFrame>
      <p:sp>
        <p:nvSpPr>
          <p:cNvPr id="7" name="テキスト ボックス 6">
            <a:extLst>
              <a:ext uri="{FF2B5EF4-FFF2-40B4-BE49-F238E27FC236}">
                <a16:creationId xmlns:a16="http://schemas.microsoft.com/office/drawing/2014/main" id="{2206A49D-5D34-3326-7659-023D0385874E}"/>
              </a:ext>
            </a:extLst>
          </p:cNvPr>
          <p:cNvSpPr txBox="1"/>
          <p:nvPr/>
        </p:nvSpPr>
        <p:spPr>
          <a:xfrm>
            <a:off x="263998" y="3213139"/>
            <a:ext cx="6096000" cy="400110"/>
          </a:xfrm>
          <a:prstGeom prst="rect">
            <a:avLst/>
          </a:prstGeom>
          <a:noFill/>
        </p:spPr>
        <p:txBody>
          <a:bodyPr wrap="square">
            <a:spAutoFit/>
          </a:bodyPr>
          <a:lstStyle/>
          <a:p>
            <a:r>
              <a:rPr kumimoji="1" lang="en-US" altLang="ja-JP" sz="2000" b="1" dirty="0"/>
              <a:t>(2)</a:t>
            </a:r>
            <a:r>
              <a:rPr kumimoji="1" lang="ja-JP" altLang="en-US" sz="2000" b="1" dirty="0"/>
              <a:t>自己宛小切手の振出</a:t>
            </a:r>
          </a:p>
        </p:txBody>
      </p:sp>
      <p:sp>
        <p:nvSpPr>
          <p:cNvPr id="9" name="テキスト ボックス 8">
            <a:extLst>
              <a:ext uri="{FF2B5EF4-FFF2-40B4-BE49-F238E27FC236}">
                <a16:creationId xmlns:a16="http://schemas.microsoft.com/office/drawing/2014/main" id="{4C21A903-E5C6-E4F8-97FA-8B038FEBC9AC}"/>
              </a:ext>
            </a:extLst>
          </p:cNvPr>
          <p:cNvSpPr txBox="1"/>
          <p:nvPr/>
        </p:nvSpPr>
        <p:spPr>
          <a:xfrm>
            <a:off x="238468" y="5376291"/>
            <a:ext cx="11664002" cy="1508105"/>
          </a:xfrm>
          <a:prstGeom prst="rect">
            <a:avLst/>
          </a:prstGeom>
          <a:noFill/>
        </p:spPr>
        <p:txBody>
          <a:bodyPr wrap="square">
            <a:spAutoFit/>
          </a:bodyPr>
          <a:lstStyle/>
          <a:p>
            <a:pPr algn="l">
              <a:spcAft>
                <a:spcPts val="600"/>
              </a:spcAft>
            </a:pPr>
            <a:r>
              <a:rPr lang="en-US" altLang="ja-JP" sz="1600" b="0" i="0" u="none" strike="noStrike" baseline="0" dirty="0">
                <a:latin typeface="MS-Mincho"/>
              </a:rPr>
              <a:t>※</a:t>
            </a:r>
            <a:r>
              <a:rPr lang="en-US" altLang="ja-JP" sz="1600" dirty="0">
                <a:latin typeface="MS-Mincho"/>
              </a:rPr>
              <a:t>1</a:t>
            </a:r>
            <a:r>
              <a:rPr lang="ja-JP" altLang="en-US" sz="1600" dirty="0">
                <a:latin typeface="MS-Mincho"/>
              </a:rPr>
              <a:t> </a:t>
            </a:r>
            <a:r>
              <a:rPr lang="ja-JP" altLang="en-US" sz="1600" b="0" i="0" u="none" strike="noStrike" baseline="0" dirty="0">
                <a:latin typeface="MS-Mincho"/>
              </a:rPr>
              <a:t>持参人払式、記名式、指図式にかかわらず、上表</a:t>
            </a:r>
            <a:r>
              <a:rPr lang="en-US" altLang="ja-JP" sz="1600" b="0" i="0" u="none" strike="noStrike" baseline="0" dirty="0">
                <a:latin typeface="MS-Mincho"/>
              </a:rPr>
              <a:t>(1)(2)</a:t>
            </a:r>
            <a:r>
              <a:rPr lang="ja-JP" altLang="en-US" sz="1600" b="0" i="0" u="none" strike="noStrike" baseline="0" dirty="0">
                <a:latin typeface="MS-Mincho"/>
              </a:rPr>
              <a:t>の場合、特定取引に該当します。</a:t>
            </a:r>
          </a:p>
          <a:p>
            <a:pPr algn="l">
              <a:spcAft>
                <a:spcPts val="600"/>
              </a:spcAft>
            </a:pPr>
            <a:r>
              <a:rPr lang="en-US" altLang="ja-JP" sz="1600" b="0" i="0" u="none" strike="noStrike" baseline="0" dirty="0">
                <a:latin typeface="MS-Mincho"/>
              </a:rPr>
              <a:t>※</a:t>
            </a:r>
            <a:r>
              <a:rPr lang="en-US" altLang="ja-JP" sz="1600" dirty="0">
                <a:latin typeface="MS-Mincho"/>
              </a:rPr>
              <a:t>2</a:t>
            </a:r>
            <a:r>
              <a:rPr lang="ja-JP" altLang="en-US" sz="1600" dirty="0">
                <a:latin typeface="MS-Mincho"/>
              </a:rPr>
              <a:t> </a:t>
            </a:r>
            <a:r>
              <a:rPr lang="ja-JP" altLang="en-US" sz="1600" b="0" i="0" u="none" strike="noStrike" baseline="0" dirty="0">
                <a:latin typeface="MS-Mincho"/>
              </a:rPr>
              <a:t>他店・他行が振出の自己宛小切手も、上表</a:t>
            </a:r>
            <a:r>
              <a:rPr lang="en-US" altLang="ja-JP" sz="1600" b="0" i="0" u="none" strike="noStrike" baseline="0" dirty="0">
                <a:latin typeface="MS-Mincho"/>
              </a:rPr>
              <a:t>(1)</a:t>
            </a:r>
            <a:r>
              <a:rPr lang="ja-JP" altLang="en-US" sz="1600" b="0" i="0" u="none" strike="noStrike" baseline="0" dirty="0">
                <a:latin typeface="MS-Mincho"/>
              </a:rPr>
              <a:t>に該当する場合は、同じ取扱いです。</a:t>
            </a:r>
            <a:endParaRPr lang="en-US" altLang="ja-JP" sz="1600" b="0" i="0" u="none" strike="noStrike" baseline="0" dirty="0">
              <a:latin typeface="MS-Mincho"/>
            </a:endParaRPr>
          </a:p>
          <a:p>
            <a:pPr marL="354013" indent="-354013" algn="l"/>
            <a:r>
              <a:rPr lang="en-US" altLang="ja-JP" sz="1600" dirty="0">
                <a:latin typeface="MS-Mincho"/>
              </a:rPr>
              <a:t>※3</a:t>
            </a:r>
            <a:r>
              <a:rPr lang="ja-JP" altLang="en-US" sz="1600" dirty="0">
                <a:latin typeface="MS-Mincho"/>
              </a:rPr>
              <a:t> </a:t>
            </a:r>
            <a:r>
              <a:rPr lang="en-US" altLang="ja-JP" sz="1600" i="0" u="none" strike="noStrike" baseline="0" dirty="0">
                <a:latin typeface="MS-Mincho"/>
              </a:rPr>
              <a:t>10</a:t>
            </a:r>
            <a:r>
              <a:rPr lang="ja-JP" altLang="en-US" sz="1600" i="0" u="none" strike="noStrike" baseline="0" dirty="0">
                <a:latin typeface="MS-Mincho"/>
              </a:rPr>
              <a:t>万円超の自己宛小切手の現金支払は、線引ある自己宛小切手の場合でも、特定取引である「</a:t>
            </a:r>
            <a:r>
              <a:rPr lang="en-US" altLang="ja-JP" sz="1600" i="0" u="none" strike="noStrike" baseline="0" dirty="0">
                <a:latin typeface="MS-Mincho"/>
              </a:rPr>
              <a:t>10</a:t>
            </a:r>
            <a:r>
              <a:rPr lang="ja-JP" altLang="en-US" sz="1600" i="0" u="none" strike="noStrike" baseline="0" dirty="0">
                <a:latin typeface="MS-Mincho"/>
              </a:rPr>
              <a:t>万円超の現金の受払いをする取立（為替取引</a:t>
            </a:r>
            <a:r>
              <a:rPr lang="ja-JP" altLang="en-US" sz="1600" dirty="0">
                <a:latin typeface="MS-Mincho"/>
              </a:rPr>
              <a:t>）</a:t>
            </a:r>
            <a:r>
              <a:rPr lang="ja-JP" altLang="en-US" sz="1600" i="0" u="none" strike="noStrike" baseline="0" dirty="0">
                <a:latin typeface="MS-Mincho"/>
              </a:rPr>
              <a:t>」に該当するため、特定取引に該当する。</a:t>
            </a:r>
            <a:endParaRPr lang="en-US" altLang="ja-JP" sz="1600" i="0" u="none" strike="noStrike" baseline="0" dirty="0">
              <a:latin typeface="MS-Mincho"/>
            </a:endParaRPr>
          </a:p>
          <a:p>
            <a:pPr algn="l"/>
            <a:r>
              <a:rPr lang="en-US" altLang="ja-JP" sz="1600" dirty="0">
                <a:latin typeface="MS-Mincho"/>
              </a:rPr>
              <a:t>※4 </a:t>
            </a:r>
            <a:r>
              <a:rPr lang="ja-JP" altLang="en-US" sz="1600" dirty="0">
                <a:latin typeface="MS-Mincho"/>
              </a:rPr>
              <a:t>小切手金額が</a:t>
            </a:r>
            <a:r>
              <a:rPr lang="en-US" altLang="ja-JP" sz="1600" dirty="0">
                <a:latin typeface="MS-Mincho"/>
              </a:rPr>
              <a:t>200</a:t>
            </a:r>
            <a:r>
              <a:rPr lang="ja-JP" altLang="en-US" sz="1600" dirty="0">
                <a:latin typeface="MS-Mincho"/>
              </a:rPr>
              <a:t>万円超の場合、特定取引に該当する。</a:t>
            </a:r>
            <a:endParaRPr lang="ja-JP" altLang="en-US" sz="1600" dirty="0"/>
          </a:p>
        </p:txBody>
      </p:sp>
    </p:spTree>
    <p:extLst>
      <p:ext uri="{BB962C8B-B14F-4D97-AF65-F5344CB8AC3E}">
        <p14:creationId xmlns:p14="http://schemas.microsoft.com/office/powerpoint/2010/main" val="12391971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A96E49AF-1847-6FBC-71A8-923913541A86}"/>
              </a:ext>
            </a:extLst>
          </p:cNvPr>
          <p:cNvGraphicFramePr>
            <a:graphicFrameLocks noGrp="1"/>
          </p:cNvGraphicFramePr>
          <p:nvPr>
            <p:extLst>
              <p:ext uri="{D42A27DB-BD31-4B8C-83A1-F6EECF244321}">
                <p14:modId xmlns:p14="http://schemas.microsoft.com/office/powerpoint/2010/main" val="692446556"/>
              </p:ext>
            </p:extLst>
          </p:nvPr>
        </p:nvGraphicFramePr>
        <p:xfrm>
          <a:off x="264000" y="1756933"/>
          <a:ext cx="11664002" cy="2665096"/>
        </p:xfrm>
        <a:graphic>
          <a:graphicData uri="http://schemas.openxmlformats.org/drawingml/2006/table">
            <a:tbl>
              <a:tblPr/>
              <a:tblGrid>
                <a:gridCol w="5112000">
                  <a:extLst>
                    <a:ext uri="{9D8B030D-6E8A-4147-A177-3AD203B41FA5}">
                      <a16:colId xmlns:a16="http://schemas.microsoft.com/office/drawing/2014/main" val="2472418392"/>
                    </a:ext>
                  </a:extLst>
                </a:gridCol>
                <a:gridCol w="3240001">
                  <a:extLst>
                    <a:ext uri="{9D8B030D-6E8A-4147-A177-3AD203B41FA5}">
                      <a16:colId xmlns:a16="http://schemas.microsoft.com/office/drawing/2014/main" val="2518075419"/>
                    </a:ext>
                  </a:extLst>
                </a:gridCol>
                <a:gridCol w="3312001">
                  <a:extLst>
                    <a:ext uri="{9D8B030D-6E8A-4147-A177-3AD203B41FA5}">
                      <a16:colId xmlns:a16="http://schemas.microsoft.com/office/drawing/2014/main" val="2213247180"/>
                    </a:ext>
                  </a:extLst>
                </a:gridCol>
              </a:tblGrid>
              <a:tr h="756000">
                <a:tc>
                  <a:txBody>
                    <a:bodyPr/>
                    <a:lstStyle/>
                    <a:p>
                      <a:endParaRPr lang="ja-JP" altLang="en-US" sz="2400" b="1" dirty="0">
                        <a:solidFill>
                          <a:schemeClr val="bg1"/>
                        </a:solidFill>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400" b="0" dirty="0">
                          <a:solidFill>
                            <a:sysClr val="windowText" lastClr="000000"/>
                          </a:solidFill>
                          <a:latin typeface="+mn-lt"/>
                        </a:rPr>
                        <a:t>線引あり</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400" b="0" dirty="0">
                          <a:solidFill>
                            <a:sysClr val="windowText" lastClr="000000"/>
                          </a:solidFill>
                          <a:latin typeface="+mn-lt"/>
                        </a:rPr>
                        <a:t>線引なし</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68415140"/>
                  </a:ext>
                </a:extLst>
              </a:tr>
              <a:tr h="954548">
                <a:tc>
                  <a:txBody>
                    <a:bodyPr/>
                    <a:lstStyle/>
                    <a:p>
                      <a:r>
                        <a:rPr lang="ja-JP" altLang="en-US" sz="2400" b="0" dirty="0">
                          <a:latin typeface="+mn-lt"/>
                        </a:rPr>
                        <a:t>現金支払取引</a:t>
                      </a:r>
                      <a:endParaRPr lang="zh-TW" altLang="en-US" sz="2400" b="0" dirty="0">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400" b="1" dirty="0">
                          <a:solidFill>
                            <a:schemeClr val="accent1"/>
                          </a:solidFill>
                          <a:latin typeface="+mn-lt"/>
                        </a:rPr>
                        <a:t>特定取引に該当</a:t>
                      </a:r>
                      <a:endParaRPr lang="zh-TW" altLang="en-US" sz="2400" b="1" dirty="0">
                        <a:solidFill>
                          <a:schemeClr val="accent1"/>
                        </a:solidFill>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400" b="1" dirty="0">
                          <a:solidFill>
                            <a:schemeClr val="accent1"/>
                          </a:solidFill>
                          <a:latin typeface="+mn-lt"/>
                        </a:rPr>
                        <a:t>特定取引に該当</a:t>
                      </a:r>
                      <a:endParaRPr lang="zh-TW" altLang="en-US" sz="2400" b="1" dirty="0">
                        <a:solidFill>
                          <a:schemeClr val="accent1"/>
                        </a:solidFill>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21887199"/>
                  </a:ext>
                </a:extLst>
              </a:tr>
              <a:tr h="954548">
                <a:tc>
                  <a:txBody>
                    <a:bodyPr/>
                    <a:lstStyle/>
                    <a:p>
                      <a:r>
                        <a:rPr lang="ja-JP" altLang="en-US" sz="2400" b="0" dirty="0">
                          <a:latin typeface="+mn-lt"/>
                        </a:rPr>
                        <a:t>現金の支払を伴わない取引（振替等）</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400" b="1" dirty="0">
                          <a:solidFill>
                            <a:srgbClr val="FF0000"/>
                          </a:solidFill>
                          <a:latin typeface="+mn-lt"/>
                        </a:rPr>
                        <a:t>特定取引に該当しない</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2400" b="1" dirty="0">
                          <a:solidFill>
                            <a:srgbClr val="FF0000"/>
                          </a:solidFill>
                          <a:latin typeface="+mn-lt"/>
                        </a:rPr>
                        <a:t>特定取引に該当しない</a:t>
                      </a:r>
                      <a:r>
                        <a:rPr lang="en-US" altLang="ja-JP" sz="2400" b="1" dirty="0">
                          <a:solidFill>
                            <a:srgbClr val="FF0000"/>
                          </a:solidFill>
                          <a:latin typeface="+mn-lt"/>
                        </a:rPr>
                        <a:t>(※3)</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35477997"/>
                  </a:ext>
                </a:extLst>
              </a:tr>
            </a:tbl>
          </a:graphicData>
        </a:graphic>
      </p:graphicFrame>
      <p:sp>
        <p:nvSpPr>
          <p:cNvPr id="3" name="正方形/長方形 2">
            <a:extLst>
              <a:ext uri="{FF2B5EF4-FFF2-40B4-BE49-F238E27FC236}">
                <a16:creationId xmlns:a16="http://schemas.microsoft.com/office/drawing/2014/main" id="{75223FB8-40A1-FE6E-C3DE-CAE13A32505F}"/>
              </a:ext>
            </a:extLst>
          </p:cNvPr>
          <p:cNvSpPr/>
          <p:nvPr/>
        </p:nvSpPr>
        <p:spPr>
          <a:xfrm>
            <a:off x="264000" y="239658"/>
            <a:ext cx="11664000" cy="680400"/>
          </a:xfrm>
          <a:prstGeom prst="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3200" b="1" dirty="0">
                <a:latin typeface="MS-Mincho"/>
              </a:rPr>
              <a:t>小切手金額</a:t>
            </a:r>
            <a:r>
              <a:rPr lang="en-US" altLang="ja-JP" sz="3200" b="1" dirty="0">
                <a:latin typeface="MS-Mincho"/>
              </a:rPr>
              <a:t>10</a:t>
            </a:r>
            <a:r>
              <a:rPr lang="ja-JP" altLang="en-US" sz="3200" b="1" i="0" u="none" strike="noStrike" baseline="0" dirty="0">
                <a:latin typeface="MS-Mincho"/>
              </a:rPr>
              <a:t>万円超の当座小切手における取引時確認</a:t>
            </a:r>
            <a:endParaRPr kumimoji="1" lang="ja-JP" altLang="en-US" sz="4800" b="1" dirty="0"/>
          </a:p>
        </p:txBody>
      </p:sp>
      <p:sp>
        <p:nvSpPr>
          <p:cNvPr id="5" name="テキスト ボックス 4">
            <a:extLst>
              <a:ext uri="{FF2B5EF4-FFF2-40B4-BE49-F238E27FC236}">
                <a16:creationId xmlns:a16="http://schemas.microsoft.com/office/drawing/2014/main" id="{03FFC8A9-9099-D198-28AD-18FA53F6B682}"/>
              </a:ext>
            </a:extLst>
          </p:cNvPr>
          <p:cNvSpPr txBox="1"/>
          <p:nvPr/>
        </p:nvSpPr>
        <p:spPr>
          <a:xfrm>
            <a:off x="240044" y="5016600"/>
            <a:ext cx="11664002" cy="1354217"/>
          </a:xfrm>
          <a:prstGeom prst="rect">
            <a:avLst/>
          </a:prstGeom>
          <a:noFill/>
        </p:spPr>
        <p:txBody>
          <a:bodyPr wrap="square">
            <a:spAutoFit/>
          </a:bodyPr>
          <a:lstStyle/>
          <a:p>
            <a:pPr marL="446088" indent="-446088" algn="l">
              <a:spcAft>
                <a:spcPts val="600"/>
              </a:spcAft>
            </a:pPr>
            <a:r>
              <a:rPr lang="en-US" altLang="ja-JP" dirty="0">
                <a:latin typeface="+mj-lt"/>
              </a:rPr>
              <a:t>※1</a:t>
            </a:r>
            <a:r>
              <a:rPr lang="ja-JP" altLang="en-US" dirty="0">
                <a:latin typeface="+mj-lt"/>
              </a:rPr>
              <a:t> </a:t>
            </a:r>
            <a:r>
              <a:rPr lang="en-US" altLang="ja-JP" b="0" i="0" u="none" strike="noStrike" baseline="0" dirty="0">
                <a:latin typeface="+mj-lt"/>
              </a:rPr>
              <a:t>10</a:t>
            </a:r>
            <a:r>
              <a:rPr lang="ja-JP" altLang="en-US" b="0" i="0" u="none" strike="noStrike" baseline="0" dirty="0">
                <a:latin typeface="+mj-lt"/>
              </a:rPr>
              <a:t>万円超の当座小切手の現金支払は、線引ある当座小切手の場合でも、特定取引である「</a:t>
            </a:r>
            <a:r>
              <a:rPr lang="en-US" altLang="ja-JP" b="0" i="0" u="none" strike="noStrike" baseline="0" dirty="0">
                <a:latin typeface="+mj-lt"/>
              </a:rPr>
              <a:t>10</a:t>
            </a:r>
            <a:r>
              <a:rPr lang="ja-JP" altLang="en-US" b="0" i="0" u="none" strike="noStrike" baseline="0" dirty="0">
                <a:latin typeface="+mj-lt"/>
              </a:rPr>
              <a:t>万円超の現金の受払をする取立</a:t>
            </a:r>
            <a:r>
              <a:rPr lang="en-US" altLang="ja-JP" b="0" i="0" u="none" strike="noStrike" baseline="0" dirty="0">
                <a:latin typeface="+mj-lt"/>
              </a:rPr>
              <a:t>(</a:t>
            </a:r>
            <a:r>
              <a:rPr lang="ja-JP" altLang="en-US" b="0" i="0" u="none" strike="noStrike" baseline="0" dirty="0">
                <a:latin typeface="+mj-lt"/>
              </a:rPr>
              <a:t>為替取引</a:t>
            </a:r>
            <a:r>
              <a:rPr lang="en-US" altLang="ja-JP" b="0" i="0" u="none" strike="noStrike" baseline="0" dirty="0">
                <a:latin typeface="+mj-lt"/>
              </a:rPr>
              <a:t>)</a:t>
            </a:r>
            <a:r>
              <a:rPr lang="ja-JP" altLang="en-US" b="0" i="0" u="none" strike="noStrike" baseline="0" dirty="0">
                <a:latin typeface="+mj-lt"/>
              </a:rPr>
              <a:t>」に該当する</a:t>
            </a:r>
            <a:r>
              <a:rPr lang="ja-JP" altLang="en-US" dirty="0">
                <a:latin typeface="+mj-lt"/>
              </a:rPr>
              <a:t>ため、</a:t>
            </a:r>
            <a:r>
              <a:rPr lang="ja-JP" altLang="en-US" b="0" i="0" u="none" strike="noStrike" baseline="0" dirty="0">
                <a:latin typeface="+mj-lt"/>
              </a:rPr>
              <a:t>特定取引に該当</a:t>
            </a:r>
            <a:r>
              <a:rPr lang="ja-JP" altLang="en-US" dirty="0">
                <a:latin typeface="+mj-lt"/>
              </a:rPr>
              <a:t>する</a:t>
            </a:r>
            <a:r>
              <a:rPr lang="ja-JP" altLang="en-US" b="0" i="0" u="none" strike="noStrike" baseline="0" dirty="0">
                <a:latin typeface="+mj-lt"/>
              </a:rPr>
              <a:t>。</a:t>
            </a:r>
          </a:p>
          <a:p>
            <a:pPr algn="l">
              <a:spcAft>
                <a:spcPts val="600"/>
              </a:spcAft>
            </a:pPr>
            <a:r>
              <a:rPr lang="en-US" altLang="ja-JP" b="0" i="0" u="none" strike="noStrike" baseline="0" dirty="0">
                <a:latin typeface="+mj-lt"/>
              </a:rPr>
              <a:t>※</a:t>
            </a:r>
            <a:r>
              <a:rPr lang="en-US" altLang="ja-JP" dirty="0">
                <a:latin typeface="+mj-lt"/>
              </a:rPr>
              <a:t>2</a:t>
            </a:r>
            <a:r>
              <a:rPr lang="ja-JP" altLang="en-US" dirty="0">
                <a:latin typeface="+mj-lt"/>
              </a:rPr>
              <a:t> </a:t>
            </a:r>
            <a:r>
              <a:rPr lang="ja-JP" altLang="en-US" b="0" i="0" u="none" strike="noStrike" baseline="0" dirty="0">
                <a:latin typeface="+mj-lt"/>
              </a:rPr>
              <a:t>当店券に限らず、他店・他行の当座小切手も、上表に該当する場合は、同じ取扱いです。</a:t>
            </a:r>
            <a:endParaRPr lang="en-US" altLang="ja-JP" b="0" i="0" u="none" strike="noStrike" baseline="0" dirty="0">
              <a:latin typeface="+mj-lt"/>
            </a:endParaRPr>
          </a:p>
          <a:p>
            <a:pPr algn="l">
              <a:spcAft>
                <a:spcPts val="600"/>
              </a:spcAft>
            </a:pPr>
            <a:r>
              <a:rPr lang="en-US" altLang="ja-JP" dirty="0">
                <a:latin typeface="+mj-lt"/>
              </a:rPr>
              <a:t>※3 </a:t>
            </a:r>
            <a:r>
              <a:rPr lang="ja-JP" altLang="en-US" dirty="0">
                <a:latin typeface="+mj-lt"/>
              </a:rPr>
              <a:t>小切手金額が</a:t>
            </a:r>
            <a:r>
              <a:rPr lang="en-US" altLang="ja-JP" dirty="0">
                <a:latin typeface="+mj-lt"/>
              </a:rPr>
              <a:t>200</a:t>
            </a:r>
            <a:r>
              <a:rPr lang="ja-JP" altLang="en-US" dirty="0">
                <a:latin typeface="+mj-lt"/>
              </a:rPr>
              <a:t>万円超の場合、特定取引に該当します。</a:t>
            </a:r>
          </a:p>
        </p:txBody>
      </p:sp>
    </p:spTree>
    <p:extLst>
      <p:ext uri="{BB962C8B-B14F-4D97-AF65-F5344CB8AC3E}">
        <p14:creationId xmlns:p14="http://schemas.microsoft.com/office/powerpoint/2010/main" val="3187097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B8445809-FDD4-1ED8-70B3-05E31003AF0F}"/>
              </a:ext>
            </a:extLst>
          </p:cNvPr>
          <p:cNvGraphicFramePr>
            <a:graphicFrameLocks noGrp="1"/>
          </p:cNvGraphicFramePr>
          <p:nvPr>
            <p:extLst>
              <p:ext uri="{D42A27DB-BD31-4B8C-83A1-F6EECF244321}">
                <p14:modId xmlns:p14="http://schemas.microsoft.com/office/powerpoint/2010/main" val="4141981816"/>
              </p:ext>
            </p:extLst>
          </p:nvPr>
        </p:nvGraphicFramePr>
        <p:xfrm>
          <a:off x="264000" y="1105112"/>
          <a:ext cx="11664000" cy="5131888"/>
        </p:xfrm>
        <a:graphic>
          <a:graphicData uri="http://schemas.openxmlformats.org/drawingml/2006/table">
            <a:tbl>
              <a:tblPr/>
              <a:tblGrid>
                <a:gridCol w="1745632">
                  <a:extLst>
                    <a:ext uri="{9D8B030D-6E8A-4147-A177-3AD203B41FA5}">
                      <a16:colId xmlns:a16="http://schemas.microsoft.com/office/drawing/2014/main" val="2518075419"/>
                    </a:ext>
                  </a:extLst>
                </a:gridCol>
                <a:gridCol w="2286368">
                  <a:extLst>
                    <a:ext uri="{9D8B030D-6E8A-4147-A177-3AD203B41FA5}">
                      <a16:colId xmlns:a16="http://schemas.microsoft.com/office/drawing/2014/main" val="2213247180"/>
                    </a:ext>
                  </a:extLst>
                </a:gridCol>
                <a:gridCol w="3960000">
                  <a:extLst>
                    <a:ext uri="{9D8B030D-6E8A-4147-A177-3AD203B41FA5}">
                      <a16:colId xmlns:a16="http://schemas.microsoft.com/office/drawing/2014/main" val="2675432624"/>
                    </a:ext>
                  </a:extLst>
                </a:gridCol>
                <a:gridCol w="3672000">
                  <a:extLst>
                    <a:ext uri="{9D8B030D-6E8A-4147-A177-3AD203B41FA5}">
                      <a16:colId xmlns:a16="http://schemas.microsoft.com/office/drawing/2014/main" val="1714303370"/>
                    </a:ext>
                  </a:extLst>
                </a:gridCol>
              </a:tblGrid>
              <a:tr h="359362">
                <a:tc>
                  <a:txBody>
                    <a:bodyPr/>
                    <a:lstStyle/>
                    <a:p>
                      <a:r>
                        <a:rPr lang="ja-JP" altLang="en-US" sz="1800" b="1" dirty="0">
                          <a:solidFill>
                            <a:schemeClr val="bg1"/>
                          </a:solidFill>
                          <a:latin typeface="+mn-lt"/>
                        </a:rPr>
                        <a:t>取引区分</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r>
                        <a:rPr lang="ja-JP" altLang="en-US" sz="1800" b="1" dirty="0">
                          <a:solidFill>
                            <a:schemeClr val="bg1"/>
                          </a:solidFill>
                          <a:latin typeface="+mn-lt"/>
                        </a:rPr>
                        <a:t>内容</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r>
                        <a:rPr lang="ja-JP" altLang="en-US" sz="1800" b="1" dirty="0">
                          <a:solidFill>
                            <a:schemeClr val="bg1"/>
                          </a:solidFill>
                          <a:latin typeface="+mn-lt"/>
                        </a:rPr>
                        <a:t>対象</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r>
                        <a:rPr lang="ja-JP" altLang="en-US" sz="1800" b="1" dirty="0">
                          <a:solidFill>
                            <a:schemeClr val="bg1"/>
                          </a:solidFill>
                          <a:latin typeface="+mn-lt"/>
                        </a:rPr>
                        <a:t>条件・注意点</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68415140"/>
                  </a:ext>
                </a:extLst>
              </a:tr>
              <a:tr h="598511">
                <a:tc>
                  <a:txBody>
                    <a:bodyPr/>
                    <a:lstStyle/>
                    <a:p>
                      <a:r>
                        <a:rPr lang="zh-TW" altLang="en-US" sz="1600" dirty="0">
                          <a:latin typeface="+mn-lt"/>
                        </a:rPr>
                        <a:t>①</a:t>
                      </a:r>
                      <a:r>
                        <a:rPr lang="ja-JP" altLang="en-US" sz="1600" dirty="0">
                          <a:solidFill>
                            <a:schemeClr val="tx1"/>
                          </a:solidFill>
                          <a:latin typeface="+mn-lt"/>
                        </a:rPr>
                        <a:t>国・地公体</a:t>
                      </a:r>
                      <a:r>
                        <a:rPr lang="zh-TW" altLang="en-US" sz="1600" dirty="0">
                          <a:latin typeface="+mn-lt"/>
                        </a:rPr>
                        <a:t>納付</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600" dirty="0">
                          <a:latin typeface="+mn-lt"/>
                        </a:rPr>
                        <a:t>国・地方公共団体への金品納付</a:t>
                      </a:r>
                      <a:r>
                        <a:rPr lang="en-US" altLang="ja-JP" sz="1600" dirty="0">
                          <a:latin typeface="+mn-lt"/>
                        </a:rPr>
                        <a:t>/</a:t>
                      </a:r>
                      <a:r>
                        <a:rPr lang="ja-JP" altLang="en-US" sz="1600" dirty="0">
                          <a:latin typeface="+mn-lt"/>
                        </a:rPr>
                        <a:t>納入</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600" dirty="0">
                          <a:latin typeface="+mn-lt"/>
                        </a:rPr>
                        <a:t>全ての納付</a:t>
                      </a:r>
                      <a:r>
                        <a:rPr lang="en-US" altLang="ja-JP" sz="1600" dirty="0">
                          <a:latin typeface="+mn-lt"/>
                        </a:rPr>
                        <a:t>/</a:t>
                      </a:r>
                      <a:r>
                        <a:rPr lang="ja-JP" altLang="en-US" sz="1600" dirty="0">
                          <a:latin typeface="+mn-lt"/>
                        </a:rPr>
                        <a:t>納入</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ja-JP" altLang="en-US" sz="1600" dirty="0">
                          <a:latin typeface="+mn-lt"/>
                        </a:rPr>
                        <a:t>ー</a:t>
                      </a:r>
                      <a:endParaRPr lang="en-US" altLang="ja-JP" sz="1600" dirty="0">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21887199"/>
                  </a:ext>
                </a:extLst>
              </a:tr>
              <a:tr h="681449">
                <a:tc>
                  <a:txBody>
                    <a:bodyPr/>
                    <a:lstStyle/>
                    <a:p>
                      <a:r>
                        <a:rPr lang="ja-JP" altLang="en-US" sz="1600" dirty="0">
                          <a:latin typeface="+mn-lt"/>
                        </a:rPr>
                        <a:t>②公共料金支払</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600" dirty="0">
                          <a:latin typeface="+mn-lt"/>
                        </a:rPr>
                        <a:t>公共料金の支払い</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dirty="0">
                          <a:latin typeface="+mn-lt"/>
                        </a:rPr>
                        <a:t>電気・ガス・水道水（電話、</a:t>
                      </a:r>
                      <a:r>
                        <a:rPr lang="en-US" altLang="ja-JP" sz="1600" dirty="0">
                          <a:latin typeface="+mn-lt"/>
                        </a:rPr>
                        <a:t>NHK</a:t>
                      </a:r>
                      <a:r>
                        <a:rPr lang="ja-JP" altLang="en-US" sz="1600" dirty="0">
                          <a:latin typeface="+mn-lt"/>
                        </a:rPr>
                        <a:t>は除く）</a:t>
                      </a:r>
                      <a:endParaRPr lang="en-US" altLang="ja-JP" sz="1600" dirty="0">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600" dirty="0">
                          <a:latin typeface="+mn-lt"/>
                        </a:rPr>
                        <a:t>・マネロン等疑いある場合は確認必要</a:t>
                      </a:r>
                      <a:r>
                        <a:rPr lang="en-US" altLang="ja-JP" sz="1600" dirty="0">
                          <a:latin typeface="+mn-lt"/>
                        </a:rPr>
                        <a:t> </a:t>
                      </a:r>
                      <a:endParaRPr lang="ja-JP" altLang="en-US" sz="1600" dirty="0">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35477997"/>
                  </a:ext>
                </a:extLst>
              </a:tr>
              <a:tr h="1418452">
                <a:tc>
                  <a:txBody>
                    <a:bodyPr/>
                    <a:lstStyle/>
                    <a:p>
                      <a:r>
                        <a:rPr lang="zh-TW" altLang="en-US" sz="1600" dirty="0">
                          <a:latin typeface="+mn-lt"/>
                        </a:rPr>
                        <a:t>③教育機関支払</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600" dirty="0">
                          <a:latin typeface="+mn-lt"/>
                        </a:rPr>
                        <a:t>入学金・授業料等</a:t>
                      </a:r>
                      <a:endParaRPr lang="ja-JP" altLang="en-US" sz="1600" dirty="0">
                        <a:solidFill>
                          <a:srgbClr val="FF0000"/>
                        </a:solidFill>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600" dirty="0">
                          <a:latin typeface="+mn-lt"/>
                        </a:rPr>
                        <a:t>・小</a:t>
                      </a:r>
                      <a:r>
                        <a:rPr lang="en-US" altLang="ja-JP" sz="1600" dirty="0">
                          <a:latin typeface="+mn-lt"/>
                        </a:rPr>
                        <a:t>/</a:t>
                      </a:r>
                      <a:r>
                        <a:rPr lang="ja-JP" altLang="en-US" sz="1600" dirty="0">
                          <a:latin typeface="+mn-lt"/>
                        </a:rPr>
                        <a:t>中</a:t>
                      </a:r>
                      <a:r>
                        <a:rPr lang="en-US" altLang="ja-JP" sz="1600" dirty="0">
                          <a:latin typeface="+mn-lt"/>
                        </a:rPr>
                        <a:t>/</a:t>
                      </a:r>
                      <a:r>
                        <a:rPr lang="ja-JP" altLang="en-US" sz="1600" dirty="0">
                          <a:latin typeface="+mn-lt"/>
                        </a:rPr>
                        <a:t>高校</a:t>
                      </a:r>
                      <a:r>
                        <a:rPr lang="en-US" altLang="ja-JP" sz="1600" dirty="0">
                          <a:latin typeface="+mn-lt"/>
                        </a:rPr>
                        <a:t> </a:t>
                      </a:r>
                      <a:r>
                        <a:rPr lang="ja-JP" altLang="en-US" sz="1600" dirty="0">
                          <a:latin typeface="+mn-lt"/>
                        </a:rPr>
                        <a:t>・義務教育学校</a:t>
                      </a:r>
                      <a:r>
                        <a:rPr lang="en-US" altLang="ja-JP" sz="1600" dirty="0">
                          <a:latin typeface="+mn-lt"/>
                        </a:rPr>
                        <a:t> </a:t>
                      </a:r>
                      <a:br>
                        <a:rPr lang="en-US" altLang="ja-JP" sz="1600" dirty="0">
                          <a:latin typeface="+mn-lt"/>
                        </a:rPr>
                      </a:br>
                      <a:r>
                        <a:rPr lang="ja-JP" altLang="en-US" sz="1600" dirty="0">
                          <a:latin typeface="+mn-lt"/>
                        </a:rPr>
                        <a:t>・中等教育学校</a:t>
                      </a:r>
                      <a:r>
                        <a:rPr lang="en-US" altLang="ja-JP" sz="1600" dirty="0">
                          <a:latin typeface="+mn-lt"/>
                        </a:rPr>
                        <a:t> </a:t>
                      </a:r>
                      <a:r>
                        <a:rPr lang="ja-JP" altLang="en-US" sz="1600" dirty="0">
                          <a:latin typeface="+mn-lt"/>
                        </a:rPr>
                        <a:t>、特別支援学校</a:t>
                      </a:r>
                      <a:r>
                        <a:rPr lang="en-US" altLang="ja-JP" sz="1600" dirty="0">
                          <a:latin typeface="+mn-lt"/>
                        </a:rPr>
                        <a:t> </a:t>
                      </a:r>
                      <a:br>
                        <a:rPr lang="en-US" altLang="ja-JP" sz="1600" dirty="0">
                          <a:latin typeface="+mn-lt"/>
                        </a:rPr>
                      </a:br>
                      <a:r>
                        <a:rPr lang="ja-JP" altLang="en-US" sz="1600" dirty="0">
                          <a:latin typeface="+mn-lt"/>
                        </a:rPr>
                        <a:t>・大学</a:t>
                      </a:r>
                      <a:r>
                        <a:rPr lang="en-US" altLang="ja-JP" sz="1600" dirty="0">
                          <a:latin typeface="+mn-lt"/>
                        </a:rPr>
                        <a:t>(</a:t>
                      </a:r>
                      <a:r>
                        <a:rPr lang="ja-JP" altLang="en-US" sz="1600" dirty="0">
                          <a:latin typeface="+mn-lt"/>
                        </a:rPr>
                        <a:t>院含</a:t>
                      </a:r>
                      <a:r>
                        <a:rPr lang="en-US" altLang="ja-JP" sz="1600" dirty="0">
                          <a:latin typeface="+mn-lt"/>
                        </a:rPr>
                        <a:t>) </a:t>
                      </a:r>
                      <a:br>
                        <a:rPr lang="en-US" altLang="ja-JP" sz="1600" dirty="0">
                          <a:latin typeface="+mn-lt"/>
                        </a:rPr>
                      </a:br>
                      <a:r>
                        <a:rPr lang="ja-JP" altLang="en-US" sz="1600" dirty="0">
                          <a:latin typeface="+mn-lt"/>
                        </a:rPr>
                        <a:t>・高専</a:t>
                      </a:r>
                      <a:r>
                        <a:rPr lang="en-US" altLang="ja-JP" sz="1600" dirty="0">
                          <a:latin typeface="+mn-lt"/>
                        </a:rPr>
                        <a:t> </a:t>
                      </a:r>
                      <a:r>
                        <a:rPr lang="ja-JP" altLang="en-US" sz="1600" dirty="0">
                          <a:latin typeface="+mn-lt"/>
                        </a:rPr>
                        <a:t>・専修学校</a:t>
                      </a:r>
                      <a:r>
                        <a:rPr lang="en-US" altLang="ja-JP" sz="1600" dirty="0">
                          <a:latin typeface="+mn-lt"/>
                        </a:rPr>
                        <a:t>(</a:t>
                      </a:r>
                      <a:r>
                        <a:rPr lang="ja-JP" altLang="en-US" sz="1600" dirty="0">
                          <a:latin typeface="+mn-lt"/>
                        </a:rPr>
                        <a:t>高等</a:t>
                      </a:r>
                      <a:r>
                        <a:rPr lang="en-US" altLang="ja-JP" sz="1600" dirty="0">
                          <a:latin typeface="+mn-lt"/>
                        </a:rPr>
                        <a:t>/</a:t>
                      </a:r>
                      <a:r>
                        <a:rPr lang="ja-JP" altLang="en-US" sz="1600" dirty="0">
                          <a:latin typeface="+mn-lt"/>
                        </a:rPr>
                        <a:t>専門課程</a:t>
                      </a:r>
                      <a:r>
                        <a:rPr lang="en-US" altLang="ja-JP" sz="1600" dirty="0">
                          <a:latin typeface="+mn-lt"/>
                        </a:rPr>
                        <a:t>)</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dirty="0">
                          <a:latin typeface="+mn-lt"/>
                        </a:rPr>
                        <a:t>・幼稚園</a:t>
                      </a:r>
                      <a:r>
                        <a:rPr lang="en-US" altLang="ja-JP" sz="1600" dirty="0">
                          <a:latin typeface="+mn-lt"/>
                        </a:rPr>
                        <a:t> </a:t>
                      </a:r>
                      <a:r>
                        <a:rPr lang="ja-JP" altLang="en-US" sz="1600" dirty="0">
                          <a:latin typeface="+mn-lt"/>
                        </a:rPr>
                        <a:t>、専修学校一般課程</a:t>
                      </a:r>
                      <a:r>
                        <a:rPr lang="en-US" altLang="ja-JP" sz="1600" dirty="0">
                          <a:latin typeface="+mn-lt"/>
                        </a:rPr>
                        <a:t> </a:t>
                      </a:r>
                      <a:r>
                        <a:rPr lang="ja-JP" altLang="en-US" sz="1600" dirty="0">
                          <a:latin typeface="+mn-lt"/>
                        </a:rPr>
                        <a:t>、各種学校</a:t>
                      </a:r>
                      <a:r>
                        <a:rPr lang="en-US" altLang="ja-JP" sz="1600" dirty="0">
                          <a:latin typeface="+mn-lt"/>
                        </a:rPr>
                        <a:t> </a:t>
                      </a:r>
                      <a:r>
                        <a:rPr lang="ja-JP" altLang="en-US" sz="1600" dirty="0">
                          <a:latin typeface="+mn-lt"/>
                        </a:rPr>
                        <a:t>、海外校は対象外（確認が必要）</a:t>
                      </a:r>
                      <a:br>
                        <a:rPr lang="en-US" altLang="ja-JP" sz="1600" dirty="0">
                          <a:latin typeface="+mn-lt"/>
                        </a:rPr>
                      </a:br>
                      <a:r>
                        <a:rPr lang="ja-JP" altLang="en-US" sz="1600" dirty="0">
                          <a:latin typeface="+mn-lt"/>
                        </a:rPr>
                        <a:t>・入学金</a:t>
                      </a:r>
                      <a:r>
                        <a:rPr lang="en-US" altLang="ja-JP" sz="1600" dirty="0">
                          <a:latin typeface="+mn-lt"/>
                        </a:rPr>
                        <a:t>/</a:t>
                      </a:r>
                      <a:r>
                        <a:rPr lang="ja-JP" altLang="en-US" sz="1600" dirty="0">
                          <a:latin typeface="+mn-lt"/>
                        </a:rPr>
                        <a:t>授業料と同時支払いの諸費用</a:t>
                      </a:r>
                      <a:r>
                        <a:rPr lang="en-US" altLang="ja-JP" sz="1600" dirty="0">
                          <a:latin typeface="+mn-lt"/>
                        </a:rPr>
                        <a:t> </a:t>
                      </a:r>
                      <a:br>
                        <a:rPr lang="en-US" altLang="ja-JP" sz="1600" dirty="0">
                          <a:latin typeface="+mn-lt"/>
                        </a:rPr>
                      </a:br>
                      <a:r>
                        <a:rPr lang="ja-JP" altLang="en-US" sz="1600" dirty="0">
                          <a:latin typeface="+mn-lt"/>
                        </a:rPr>
                        <a:t>・受験料</a:t>
                      </a:r>
                      <a:r>
                        <a:rPr lang="en-US" altLang="ja-JP" sz="1600" dirty="0">
                          <a:latin typeface="+mn-lt"/>
                        </a:rPr>
                        <a:t> </a:t>
                      </a:r>
                      <a:br>
                        <a:rPr lang="en-US" altLang="ja-JP" sz="1600" dirty="0">
                          <a:latin typeface="+mn-lt"/>
                        </a:rPr>
                      </a:br>
                      <a:r>
                        <a:rPr lang="ja-JP" altLang="en-US" sz="1600" dirty="0">
                          <a:latin typeface="+mn-lt"/>
                        </a:rPr>
                        <a:t>・委託先支払で納付書等確認可</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755412319"/>
                  </a:ext>
                </a:extLst>
              </a:tr>
              <a:tr h="598511">
                <a:tc>
                  <a:txBody>
                    <a:bodyPr/>
                    <a:lstStyle/>
                    <a:p>
                      <a:r>
                        <a:rPr lang="zh-TW" altLang="en-US" sz="1600">
                          <a:latin typeface="+mn-lt"/>
                        </a:rPr>
                        <a:t>④公的機関取引</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600">
                          <a:latin typeface="+mn-lt"/>
                        </a:rPr>
                        <a:t>公務員による法定取引</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600" dirty="0">
                          <a:latin typeface="+mn-lt"/>
                        </a:rPr>
                        <a:t>国・地方公共団体職員の法令上権限内取引</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600" dirty="0">
                          <a:latin typeface="+mn-lt"/>
                        </a:rPr>
                        <a:t>・</a:t>
                      </a:r>
                      <a:r>
                        <a:rPr lang="ja-JP" altLang="en-US" sz="1600" dirty="0">
                          <a:solidFill>
                            <a:schemeClr val="tx1"/>
                          </a:solidFill>
                          <a:latin typeface="+mn-lt"/>
                        </a:rPr>
                        <a:t>法令上の権限を示す</a:t>
                      </a:r>
                      <a:r>
                        <a:rPr lang="ja-JP" altLang="en-US" sz="1600" dirty="0">
                          <a:latin typeface="+mn-lt"/>
                        </a:rPr>
                        <a:t>証明書類要</a:t>
                      </a:r>
                      <a:r>
                        <a:rPr lang="en-US" altLang="ja-JP" sz="1600" dirty="0">
                          <a:latin typeface="+mn-lt"/>
                        </a:rPr>
                        <a:t> </a:t>
                      </a:r>
                      <a:br>
                        <a:rPr lang="en-US" altLang="ja-JP" sz="1600" dirty="0">
                          <a:latin typeface="+mn-lt"/>
                        </a:rPr>
                      </a:br>
                      <a:r>
                        <a:rPr lang="ja-JP" altLang="en-US" sz="1600" dirty="0">
                          <a:latin typeface="+mn-lt"/>
                        </a:rPr>
                        <a:t>・確認記録票不要だが提示書類記録必要</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825941329"/>
                  </a:ext>
                </a:extLst>
              </a:tr>
              <a:tr h="794154">
                <a:tc>
                  <a:txBody>
                    <a:bodyPr/>
                    <a:lstStyle/>
                    <a:p>
                      <a:r>
                        <a:rPr lang="ja-JP" altLang="en-US" sz="1600" dirty="0">
                          <a:latin typeface="+mn-lt"/>
                        </a:rPr>
                        <a:t>⑤破産管財人等</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600" dirty="0">
                          <a:latin typeface="+mn-lt"/>
                        </a:rPr>
                        <a:t>破産管財人等による取引</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600" dirty="0">
                          <a:latin typeface="+mn-lt"/>
                        </a:rPr>
                        <a:t>・破産管財人</a:t>
                      </a:r>
                      <a:r>
                        <a:rPr lang="en-US" altLang="ja-JP" sz="1600" dirty="0">
                          <a:latin typeface="+mn-lt"/>
                        </a:rPr>
                        <a:t> </a:t>
                      </a:r>
                      <a:r>
                        <a:rPr lang="ja-JP" altLang="en-US" sz="1600" dirty="0">
                          <a:latin typeface="+mn-lt"/>
                        </a:rPr>
                        <a:t>、保全管理人</a:t>
                      </a:r>
                      <a:r>
                        <a:rPr lang="en-US" altLang="ja-JP" sz="1600" dirty="0">
                          <a:latin typeface="+mn-lt"/>
                        </a:rPr>
                        <a:t> </a:t>
                      </a:r>
                      <a:br>
                        <a:rPr lang="en-US" altLang="ja-JP" sz="1600" dirty="0">
                          <a:latin typeface="+mn-lt"/>
                        </a:rPr>
                      </a:br>
                      <a:r>
                        <a:rPr lang="ja-JP" altLang="en-US" sz="1600" dirty="0">
                          <a:latin typeface="+mn-lt"/>
                        </a:rPr>
                        <a:t>・不在者財産管理人</a:t>
                      </a:r>
                      <a:r>
                        <a:rPr lang="en-US" altLang="ja-JP" sz="1600" dirty="0">
                          <a:latin typeface="+mn-lt"/>
                        </a:rPr>
                        <a:t> </a:t>
                      </a:r>
                      <a:r>
                        <a:rPr lang="ja-JP" altLang="en-US" sz="1600" dirty="0">
                          <a:latin typeface="+mn-lt"/>
                        </a:rPr>
                        <a:t>、相続財産清算</a:t>
                      </a:r>
                      <a:r>
                        <a:rPr lang="en-US" altLang="ja-JP" sz="1600" dirty="0">
                          <a:latin typeface="+mn-lt"/>
                        </a:rPr>
                        <a:t>/</a:t>
                      </a:r>
                      <a:r>
                        <a:rPr lang="ja-JP" altLang="en-US" sz="1600" dirty="0">
                          <a:latin typeface="+mn-lt"/>
                        </a:rPr>
                        <a:t>管理人</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600" dirty="0">
                          <a:latin typeface="+mn-lt"/>
                        </a:rPr>
                        <a:t>・裁判所選任証明書類要</a:t>
                      </a:r>
                      <a:br>
                        <a:rPr lang="en-US" altLang="ja-JP" sz="1600" dirty="0">
                          <a:latin typeface="+mn-lt"/>
                        </a:rPr>
                      </a:br>
                      <a:r>
                        <a:rPr lang="ja-JP" altLang="en-US" sz="1600" dirty="0">
                          <a:latin typeface="+mn-lt"/>
                        </a:rPr>
                        <a:t>・確認記録票不要だが提示書類記録必要</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225182293"/>
                  </a:ext>
                </a:extLst>
              </a:tr>
              <a:tr h="681449">
                <a:tc>
                  <a:txBody>
                    <a:bodyPr/>
                    <a:lstStyle/>
                    <a:p>
                      <a:r>
                        <a:rPr lang="ja-JP" altLang="en-US" sz="1600" dirty="0">
                          <a:latin typeface="+mn-lt"/>
                        </a:rPr>
                        <a:t>⑥保険料振込</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en-US" altLang="ja-JP" sz="1600" dirty="0">
                          <a:latin typeface="+mn-lt"/>
                        </a:rPr>
                        <a:t>200</a:t>
                      </a:r>
                      <a:r>
                        <a:rPr lang="ja-JP" altLang="en-US" sz="1600" dirty="0">
                          <a:latin typeface="+mn-lt"/>
                        </a:rPr>
                        <a:t>万円以下の保険料等現金振込</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600" dirty="0">
                          <a:latin typeface="+mn-lt"/>
                        </a:rPr>
                        <a:t>・全国健康保険協会</a:t>
                      </a:r>
                      <a:r>
                        <a:rPr lang="en-US" altLang="ja-JP" sz="1600" dirty="0">
                          <a:latin typeface="+mn-lt"/>
                        </a:rPr>
                        <a:t> </a:t>
                      </a:r>
                      <a:r>
                        <a:rPr lang="ja-JP" altLang="en-US" sz="1600" dirty="0">
                          <a:latin typeface="+mn-lt"/>
                        </a:rPr>
                        <a:t>、国民健康保険組合</a:t>
                      </a:r>
                      <a:r>
                        <a:rPr lang="en-US" altLang="ja-JP" sz="1600" dirty="0">
                          <a:latin typeface="+mn-lt"/>
                        </a:rPr>
                        <a:t> </a:t>
                      </a:r>
                      <a:br>
                        <a:rPr lang="en-US" altLang="ja-JP" sz="1600" dirty="0">
                          <a:latin typeface="+mn-lt"/>
                        </a:rPr>
                      </a:br>
                      <a:r>
                        <a:rPr lang="ja-JP" altLang="en-US" sz="1600" dirty="0">
                          <a:latin typeface="+mn-lt"/>
                        </a:rPr>
                        <a:t>・健康保険組合</a:t>
                      </a:r>
                      <a:r>
                        <a:rPr lang="en-US" altLang="ja-JP" sz="1600" dirty="0">
                          <a:latin typeface="+mn-lt"/>
                        </a:rPr>
                        <a:t> </a:t>
                      </a:r>
                      <a:r>
                        <a:rPr lang="ja-JP" altLang="en-US" sz="1600" dirty="0">
                          <a:latin typeface="+mn-lt"/>
                        </a:rPr>
                        <a:t>、公務員共済組合等</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600" dirty="0">
                          <a:latin typeface="+mn-lt"/>
                        </a:rPr>
                        <a:t>・納付場所として当行指定要</a:t>
                      </a:r>
                      <a:r>
                        <a:rPr lang="en-US" altLang="ja-JP" sz="1600" dirty="0">
                          <a:latin typeface="+mn-lt"/>
                        </a:rPr>
                        <a:t> </a:t>
                      </a:r>
                      <a:endParaRPr lang="ja-JP" altLang="en-US" sz="1600" dirty="0">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616419813"/>
                  </a:ext>
                </a:extLst>
              </a:tr>
            </a:tbl>
          </a:graphicData>
        </a:graphic>
      </p:graphicFrame>
      <p:sp>
        <p:nvSpPr>
          <p:cNvPr id="9" name="テキスト ボックス 8">
            <a:extLst>
              <a:ext uri="{FF2B5EF4-FFF2-40B4-BE49-F238E27FC236}">
                <a16:creationId xmlns:a16="http://schemas.microsoft.com/office/drawing/2014/main" id="{287EE067-4CCF-96B4-40F0-373B50827767}"/>
              </a:ext>
            </a:extLst>
          </p:cNvPr>
          <p:cNvSpPr txBox="1"/>
          <p:nvPr/>
        </p:nvSpPr>
        <p:spPr>
          <a:xfrm>
            <a:off x="267744" y="6307604"/>
            <a:ext cx="11664000" cy="3385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ts val="600"/>
              </a:spcAft>
              <a:buClrTx/>
              <a:buSzTx/>
              <a:tabLst/>
            </a:pPr>
            <a:r>
              <a:rPr kumimoji="0" lang="en-US" altLang="ja-JP" sz="1600" b="0" i="0" u="none" strike="noStrike" cap="none" normalizeH="0" baseline="0" dirty="0">
                <a:ln>
                  <a:noFill/>
                </a:ln>
                <a:solidFill>
                  <a:schemeClr val="tx1"/>
                </a:solidFill>
                <a:effectLst/>
                <a:latin typeface="Arial" panose="020B0604020202020204" pitchFamily="34" charset="0"/>
              </a:rPr>
              <a:t>※</a:t>
            </a:r>
            <a:r>
              <a:rPr kumimoji="0" lang="ja-JP" altLang="ja-JP" sz="1600" b="0" i="0" u="none" strike="noStrike" cap="none" normalizeH="0" baseline="0" dirty="0">
                <a:ln>
                  <a:noFill/>
                </a:ln>
                <a:solidFill>
                  <a:schemeClr val="tx1"/>
                </a:solidFill>
                <a:effectLst/>
                <a:latin typeface="Arial" panose="020B0604020202020204" pitchFamily="34" charset="0"/>
              </a:rPr>
              <a:t>マネー・ローンダリング疑いある取引 </a:t>
            </a:r>
            <a:r>
              <a:rPr kumimoji="0" lang="ja-JP" altLang="en-US" sz="1600" b="0" i="0" u="none" strike="noStrike" cap="none" normalizeH="0" baseline="0" dirty="0">
                <a:ln>
                  <a:noFill/>
                </a:ln>
                <a:solidFill>
                  <a:schemeClr val="tx1"/>
                </a:solidFill>
                <a:effectLst/>
                <a:latin typeface="Arial" panose="020B0604020202020204" pitchFamily="34" charset="0"/>
              </a:rPr>
              <a:t>、</a:t>
            </a:r>
            <a:r>
              <a:rPr kumimoji="0" lang="ja-JP" altLang="ja-JP" sz="1600" b="0" i="0" u="none" strike="noStrike" cap="none" normalizeH="0" baseline="0" dirty="0">
                <a:ln>
                  <a:noFill/>
                </a:ln>
                <a:solidFill>
                  <a:schemeClr val="tx1"/>
                </a:solidFill>
                <a:effectLst/>
                <a:latin typeface="Arial" panose="020B0604020202020204" pitchFamily="34" charset="0"/>
              </a:rPr>
              <a:t>通常と著しく異なる態様の取引</a:t>
            </a:r>
            <a:r>
              <a:rPr kumimoji="0" lang="ja-JP" altLang="en-US" sz="1600" b="0" i="0" u="none" strike="noStrike" cap="none" normalizeH="0" baseline="0" dirty="0">
                <a:ln>
                  <a:noFill/>
                </a:ln>
                <a:solidFill>
                  <a:schemeClr val="tx1"/>
                </a:solidFill>
                <a:effectLst/>
                <a:latin typeface="Arial" panose="020B0604020202020204" pitchFamily="34" charset="0"/>
              </a:rPr>
              <a:t>の場合、上記の対象であっても、取引時確認が必要です。</a:t>
            </a:r>
            <a:endParaRPr kumimoji="0" lang="ja-JP" altLang="ja-JP" sz="1600" b="0" i="0" u="none" strike="noStrike" cap="none" normalizeH="0" baseline="0" dirty="0">
              <a:ln>
                <a:noFill/>
              </a:ln>
              <a:solidFill>
                <a:schemeClr val="tx1"/>
              </a:solidFill>
              <a:effectLst/>
              <a:latin typeface="Arial" panose="020B0604020202020204" pitchFamily="34" charset="0"/>
            </a:endParaRPr>
          </a:p>
        </p:txBody>
      </p:sp>
      <p:sp>
        <p:nvSpPr>
          <p:cNvPr id="10" name="正方形/長方形 9">
            <a:extLst>
              <a:ext uri="{FF2B5EF4-FFF2-40B4-BE49-F238E27FC236}">
                <a16:creationId xmlns:a16="http://schemas.microsoft.com/office/drawing/2014/main" id="{590F99B4-64E9-842B-C08E-96A3113234D6}"/>
              </a:ext>
            </a:extLst>
          </p:cNvPr>
          <p:cNvSpPr/>
          <p:nvPr/>
        </p:nvSpPr>
        <p:spPr>
          <a:xfrm>
            <a:off x="264000" y="239658"/>
            <a:ext cx="11664000" cy="680400"/>
          </a:xfrm>
          <a:prstGeom prst="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t>取引時確認が不要な取引一覧</a:t>
            </a:r>
          </a:p>
        </p:txBody>
      </p:sp>
    </p:spTree>
    <p:extLst>
      <p:ext uri="{BB962C8B-B14F-4D97-AF65-F5344CB8AC3E}">
        <p14:creationId xmlns:p14="http://schemas.microsoft.com/office/powerpoint/2010/main" val="2160511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0B9AE8C7-0099-B42F-D8D1-A19FBA49972E}"/>
              </a:ext>
            </a:extLst>
          </p:cNvPr>
          <p:cNvGraphicFramePr>
            <a:graphicFrameLocks noGrp="1"/>
          </p:cNvGraphicFramePr>
          <p:nvPr>
            <p:extLst>
              <p:ext uri="{D42A27DB-BD31-4B8C-83A1-F6EECF244321}">
                <p14:modId xmlns:p14="http://schemas.microsoft.com/office/powerpoint/2010/main" val="1290668506"/>
              </p:ext>
            </p:extLst>
          </p:nvPr>
        </p:nvGraphicFramePr>
        <p:xfrm>
          <a:off x="264000" y="1751755"/>
          <a:ext cx="11664001" cy="4642019"/>
        </p:xfrm>
        <a:graphic>
          <a:graphicData uri="http://schemas.openxmlformats.org/drawingml/2006/table">
            <a:tbl>
              <a:tblPr/>
              <a:tblGrid>
                <a:gridCol w="360000">
                  <a:extLst>
                    <a:ext uri="{9D8B030D-6E8A-4147-A177-3AD203B41FA5}">
                      <a16:colId xmlns:a16="http://schemas.microsoft.com/office/drawing/2014/main" val="2472418392"/>
                    </a:ext>
                  </a:extLst>
                </a:gridCol>
                <a:gridCol w="5472000">
                  <a:extLst>
                    <a:ext uri="{9D8B030D-6E8A-4147-A177-3AD203B41FA5}">
                      <a16:colId xmlns:a16="http://schemas.microsoft.com/office/drawing/2014/main" val="2518075419"/>
                    </a:ext>
                  </a:extLst>
                </a:gridCol>
                <a:gridCol w="5832001">
                  <a:extLst>
                    <a:ext uri="{9D8B030D-6E8A-4147-A177-3AD203B41FA5}">
                      <a16:colId xmlns:a16="http://schemas.microsoft.com/office/drawing/2014/main" val="2213247180"/>
                    </a:ext>
                  </a:extLst>
                </a:gridCol>
              </a:tblGrid>
              <a:tr h="379867">
                <a:tc>
                  <a:txBody>
                    <a:bodyPr/>
                    <a:lstStyle/>
                    <a:p>
                      <a:pPr algn="l"/>
                      <a:r>
                        <a:rPr lang="en-US" altLang="ja-JP" sz="2000" b="1" dirty="0">
                          <a:solidFill>
                            <a:schemeClr val="bg1"/>
                          </a:solidFill>
                          <a:latin typeface="+mn-lt"/>
                        </a:rPr>
                        <a:t>#</a:t>
                      </a:r>
                      <a:endParaRPr lang="ja-JP" altLang="en-US" sz="2000" b="1" dirty="0">
                        <a:solidFill>
                          <a:schemeClr val="bg1"/>
                        </a:solidFill>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pPr algn="l"/>
                      <a:r>
                        <a:rPr lang="ja-JP" altLang="en-US" sz="2000" b="1" dirty="0">
                          <a:solidFill>
                            <a:schemeClr val="bg1"/>
                          </a:solidFill>
                          <a:latin typeface="+mn-lt"/>
                        </a:rPr>
                        <a:t>取引</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pPr algn="l"/>
                      <a:r>
                        <a:rPr lang="ja-JP" altLang="en-US" sz="2000" b="1" dirty="0">
                          <a:solidFill>
                            <a:schemeClr val="bg1"/>
                          </a:solidFill>
                          <a:latin typeface="+mn-lt"/>
                        </a:rPr>
                        <a:t>補足・注意事項</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68415140"/>
                  </a:ext>
                </a:extLst>
              </a:tr>
              <a:tr h="1089976">
                <a:tc>
                  <a:txBody>
                    <a:bodyPr/>
                    <a:lstStyle/>
                    <a:p>
                      <a:pPr algn="l"/>
                      <a:r>
                        <a:rPr lang="en-US" altLang="zh-TW" sz="2000" dirty="0">
                          <a:latin typeface="+mn-lt"/>
                        </a:rPr>
                        <a:t>1</a:t>
                      </a:r>
                      <a:endParaRPr lang="zh-TW" altLang="en-US" sz="2000" dirty="0">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173038" indent="-173038" algn="l">
                        <a:buFont typeface="Arial" panose="020B0604020202020204" pitchFamily="34" charset="0"/>
                        <a:buChar char="•"/>
                      </a:pPr>
                      <a:r>
                        <a:rPr lang="ja-JP" altLang="en-US" sz="2000" dirty="0"/>
                        <a:t>県内の地方公営企業で、収納を民間会社に委託している水道・下水道・ガス等の料金の納付</a:t>
                      </a:r>
                      <a:endParaRPr lang="zh-TW" altLang="en-US" sz="2000" dirty="0">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182563" indent="-182563" algn="l">
                        <a:buFont typeface="Arial" panose="020B0604020202020204" pitchFamily="34" charset="0"/>
                        <a:buChar char="•"/>
                      </a:pPr>
                      <a:r>
                        <a:rPr lang="ja-JP" altLang="en-US" sz="2000" dirty="0"/>
                        <a:t>受託会社としてヴェオリア・ジェネッツ株式会社、第一環境株式会社、株式会社東計電算が該当する。</a:t>
                      </a:r>
                      <a:endParaRPr lang="ja-JP" altLang="en-US" sz="2000" dirty="0">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21887199"/>
                  </a:ext>
                </a:extLst>
              </a:tr>
              <a:tr h="2065827">
                <a:tc>
                  <a:txBody>
                    <a:bodyPr/>
                    <a:lstStyle/>
                    <a:p>
                      <a:pPr algn="l"/>
                      <a:r>
                        <a:rPr lang="en-US" altLang="ja-JP" sz="2000" dirty="0">
                          <a:latin typeface="+mn-lt"/>
                        </a:rPr>
                        <a:t>2</a:t>
                      </a:r>
                      <a:endParaRPr lang="ja-JP" altLang="en-US" sz="2000" dirty="0">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169863" indent="-169863" algn="l">
                        <a:spcAft>
                          <a:spcPts val="600"/>
                        </a:spcAft>
                        <a:buFont typeface="Arial" panose="020B0604020202020204" pitchFamily="34" charset="0"/>
                        <a:buChar char="•"/>
                      </a:pPr>
                      <a:r>
                        <a:rPr lang="ja-JP" altLang="en-US" sz="2000" dirty="0"/>
                        <a:t>国家公務員共済組合（○○省共済組合等）</a:t>
                      </a:r>
                      <a:endParaRPr lang="en-US" altLang="ja-JP" sz="2000" dirty="0"/>
                    </a:p>
                    <a:p>
                      <a:pPr marL="169863" indent="-169863" algn="l">
                        <a:spcAft>
                          <a:spcPts val="600"/>
                        </a:spcAft>
                        <a:buFont typeface="Arial" panose="020B0604020202020204" pitchFamily="34" charset="0"/>
                        <a:buChar char="•"/>
                      </a:pPr>
                      <a:r>
                        <a:rPr lang="ja-JP" altLang="en-US" sz="2000" dirty="0"/>
                        <a:t>地方公務員共済組合（公立学校共済組合等）</a:t>
                      </a:r>
                      <a:endParaRPr lang="en-US" altLang="ja-JP" sz="2000" dirty="0"/>
                    </a:p>
                    <a:p>
                      <a:pPr marL="169863" indent="-169863" algn="l">
                        <a:spcAft>
                          <a:spcPts val="600"/>
                        </a:spcAft>
                        <a:buFont typeface="Arial" panose="020B0604020202020204" pitchFamily="34" charset="0"/>
                        <a:buChar char="•"/>
                      </a:pPr>
                      <a:r>
                        <a:rPr lang="ja-JP" altLang="en-US" sz="2000" dirty="0"/>
                        <a:t>その他地方公共団体の外郭団体</a:t>
                      </a:r>
                      <a:endParaRPr lang="en-US" altLang="ja-JP" sz="2000" dirty="0"/>
                    </a:p>
                    <a:p>
                      <a:pPr marL="169863" indent="-169863" algn="l">
                        <a:spcAft>
                          <a:spcPts val="600"/>
                        </a:spcAft>
                        <a:buFont typeface="Arial" panose="020B0604020202020204" pitchFamily="34" charset="0"/>
                        <a:buChar char="•"/>
                      </a:pPr>
                      <a:r>
                        <a:rPr lang="ja-JP" altLang="en-US" sz="2000" dirty="0"/>
                        <a:t>警察友の会</a:t>
                      </a:r>
                      <a:endParaRPr lang="en-US" altLang="ja-JP" sz="2000" dirty="0"/>
                    </a:p>
                    <a:p>
                      <a:pPr marL="0" indent="0" algn="l">
                        <a:spcAft>
                          <a:spcPts val="600"/>
                        </a:spcAft>
                        <a:buFont typeface="Arial" panose="020B0604020202020204" pitchFamily="34" charset="0"/>
                        <a:buNone/>
                      </a:pPr>
                      <a:r>
                        <a:rPr lang="ja-JP" altLang="en-US" sz="2000" dirty="0"/>
                        <a:t>　等への振込</a:t>
                      </a:r>
                      <a:endParaRPr lang="ja-JP" altLang="en-US" sz="2000" dirty="0">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182563" marR="0" lvl="0" indent="-1825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ja-JP" altLang="en-US" sz="2000" dirty="0"/>
                        <a:t>左記に示す団体は国・地方公共団体そのものではありません。</a:t>
                      </a:r>
                      <a:endParaRPr lang="en-US" altLang="ja-JP" sz="2000" dirty="0"/>
                    </a:p>
                    <a:p>
                      <a:pPr marL="182563" marR="0" lvl="0" indent="-1825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ja-JP" altLang="en-US" sz="2000" dirty="0"/>
                        <a:t>国家公務員共済組合、地方公務員共済組合への保険料等の現金振込み（200万円以下のものに限る）については、取引時確認は不要です。</a:t>
                      </a:r>
                      <a:endParaRPr lang="en-US" altLang="ja-JP" sz="2000" dirty="0"/>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35477997"/>
                  </a:ext>
                </a:extLst>
              </a:tr>
              <a:tr h="1089976">
                <a:tc>
                  <a:txBody>
                    <a:bodyPr/>
                    <a:lstStyle/>
                    <a:p>
                      <a:pPr algn="l"/>
                      <a:r>
                        <a:rPr lang="en-US" altLang="ja-JP" sz="2000" dirty="0"/>
                        <a:t>3</a:t>
                      </a:r>
                      <a:endParaRPr lang="ja-JP" altLang="en-US" sz="2000" dirty="0"/>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173038" indent="-173038" algn="l">
                        <a:buFont typeface="Arial" panose="020B0604020202020204" pitchFamily="34" charset="0"/>
                        <a:buChar char="•"/>
                      </a:pPr>
                      <a:r>
                        <a:rPr lang="ja-JP" altLang="en-US" sz="2000" dirty="0"/>
                        <a:t>国立大学法人の設置する国立大学等への振込</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182563" indent="-182563" algn="l">
                        <a:buFont typeface="Arial" panose="020B0604020202020204" pitchFamily="34" charset="0"/>
                        <a:buChar char="•"/>
                      </a:pPr>
                      <a:r>
                        <a:rPr lang="ja-JP" altLang="en-US" sz="2000" dirty="0"/>
                        <a:t>入学金・授業料等について、取引時確認は不要です。</a:t>
                      </a:r>
                      <a:endParaRPr lang="zh-TW" altLang="en-US" sz="2000" dirty="0">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755412319"/>
                  </a:ext>
                </a:extLst>
              </a:tr>
            </a:tbl>
          </a:graphicData>
        </a:graphic>
      </p:graphicFrame>
      <p:sp>
        <p:nvSpPr>
          <p:cNvPr id="5" name="正方形/長方形 4">
            <a:extLst>
              <a:ext uri="{FF2B5EF4-FFF2-40B4-BE49-F238E27FC236}">
                <a16:creationId xmlns:a16="http://schemas.microsoft.com/office/drawing/2014/main" id="{E03F08C0-51C1-5504-8C63-79C22EFA4B90}"/>
              </a:ext>
            </a:extLst>
          </p:cNvPr>
          <p:cNvSpPr/>
          <p:nvPr/>
        </p:nvSpPr>
        <p:spPr>
          <a:xfrm>
            <a:off x="264000" y="239658"/>
            <a:ext cx="11664000" cy="680400"/>
          </a:xfrm>
          <a:prstGeom prst="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t>国･地方公共団体への納付に該当しない取引</a:t>
            </a:r>
          </a:p>
        </p:txBody>
      </p:sp>
      <p:sp>
        <p:nvSpPr>
          <p:cNvPr id="7" name="テキスト ボックス 6">
            <a:extLst>
              <a:ext uri="{FF2B5EF4-FFF2-40B4-BE49-F238E27FC236}">
                <a16:creationId xmlns:a16="http://schemas.microsoft.com/office/drawing/2014/main" id="{BDF74E31-F198-FF93-34A4-4A702F37018C}"/>
              </a:ext>
            </a:extLst>
          </p:cNvPr>
          <p:cNvSpPr txBox="1"/>
          <p:nvPr/>
        </p:nvSpPr>
        <p:spPr>
          <a:xfrm>
            <a:off x="264000" y="1105074"/>
            <a:ext cx="11205360" cy="400110"/>
          </a:xfrm>
          <a:prstGeom prst="rect">
            <a:avLst/>
          </a:prstGeom>
          <a:noFill/>
        </p:spPr>
        <p:txBody>
          <a:bodyPr wrap="square">
            <a:spAutoFit/>
          </a:bodyPr>
          <a:lstStyle/>
          <a:p>
            <a:r>
              <a:rPr lang="ja-JP" altLang="en-US" sz="2000" dirty="0"/>
              <a:t>以下の取引は、国･地方公共団体への納付に該当しないため取引時確認が必要です。</a:t>
            </a:r>
          </a:p>
        </p:txBody>
      </p:sp>
    </p:spTree>
    <p:extLst>
      <p:ext uri="{BB962C8B-B14F-4D97-AF65-F5344CB8AC3E}">
        <p14:creationId xmlns:p14="http://schemas.microsoft.com/office/powerpoint/2010/main" val="53324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1E1703DC-7A17-E7DB-0874-4396C245D1FC}"/>
              </a:ext>
            </a:extLst>
          </p:cNvPr>
          <p:cNvGraphicFramePr>
            <a:graphicFrameLocks noGrp="1"/>
          </p:cNvGraphicFramePr>
          <p:nvPr>
            <p:extLst>
              <p:ext uri="{D42A27DB-BD31-4B8C-83A1-F6EECF244321}">
                <p14:modId xmlns:p14="http://schemas.microsoft.com/office/powerpoint/2010/main" val="37891638"/>
              </p:ext>
            </p:extLst>
          </p:nvPr>
        </p:nvGraphicFramePr>
        <p:xfrm>
          <a:off x="264000" y="1105112"/>
          <a:ext cx="11664000" cy="4267890"/>
        </p:xfrm>
        <a:graphic>
          <a:graphicData uri="http://schemas.openxmlformats.org/drawingml/2006/table">
            <a:tbl>
              <a:tblPr/>
              <a:tblGrid>
                <a:gridCol w="2088000">
                  <a:extLst>
                    <a:ext uri="{9D8B030D-6E8A-4147-A177-3AD203B41FA5}">
                      <a16:colId xmlns:a16="http://schemas.microsoft.com/office/drawing/2014/main" val="2518075419"/>
                    </a:ext>
                  </a:extLst>
                </a:gridCol>
                <a:gridCol w="2394000">
                  <a:extLst>
                    <a:ext uri="{9D8B030D-6E8A-4147-A177-3AD203B41FA5}">
                      <a16:colId xmlns:a16="http://schemas.microsoft.com/office/drawing/2014/main" val="2213247180"/>
                    </a:ext>
                  </a:extLst>
                </a:gridCol>
                <a:gridCol w="2394000">
                  <a:extLst>
                    <a:ext uri="{9D8B030D-6E8A-4147-A177-3AD203B41FA5}">
                      <a16:colId xmlns:a16="http://schemas.microsoft.com/office/drawing/2014/main" val="2675432624"/>
                    </a:ext>
                  </a:extLst>
                </a:gridCol>
                <a:gridCol w="2394000">
                  <a:extLst>
                    <a:ext uri="{9D8B030D-6E8A-4147-A177-3AD203B41FA5}">
                      <a16:colId xmlns:a16="http://schemas.microsoft.com/office/drawing/2014/main" val="1714303370"/>
                    </a:ext>
                  </a:extLst>
                </a:gridCol>
                <a:gridCol w="2394000">
                  <a:extLst>
                    <a:ext uri="{9D8B030D-6E8A-4147-A177-3AD203B41FA5}">
                      <a16:colId xmlns:a16="http://schemas.microsoft.com/office/drawing/2014/main" val="448659884"/>
                    </a:ext>
                  </a:extLst>
                </a:gridCol>
              </a:tblGrid>
              <a:tr h="320667">
                <a:tc rowSpan="2">
                  <a:txBody>
                    <a:bodyPr/>
                    <a:lstStyle/>
                    <a:p>
                      <a:r>
                        <a:rPr lang="ja-JP" altLang="en-US" sz="1600" b="1" dirty="0">
                          <a:solidFill>
                            <a:schemeClr val="bg1"/>
                          </a:solidFill>
                          <a:latin typeface="+mn-lt"/>
                        </a:rPr>
                        <a:t>確認項目</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gridSpan="4">
                  <a:txBody>
                    <a:bodyPr/>
                    <a:lstStyle/>
                    <a:p>
                      <a:r>
                        <a:rPr lang="ja-JP" altLang="en-US" sz="1600" b="1" dirty="0">
                          <a:solidFill>
                            <a:schemeClr val="bg1"/>
                          </a:solidFill>
                          <a:latin typeface="+mn-lt"/>
                        </a:rPr>
                        <a:t>確認方法</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hMerge="1">
                  <a:txBody>
                    <a:bodyPr/>
                    <a:lstStyle/>
                    <a:p>
                      <a:endParaRPr lang="ja-JP" altLang="en-US" sz="1800" b="1" dirty="0">
                        <a:solidFill>
                          <a:schemeClr val="bg1"/>
                        </a:solidFill>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hMerge="1">
                  <a:txBody>
                    <a:bodyPr/>
                    <a:lstStyle/>
                    <a:p>
                      <a:endParaRPr lang="ja-JP" altLang="en-US" sz="1800" b="1" dirty="0">
                        <a:solidFill>
                          <a:schemeClr val="bg1"/>
                        </a:solidFill>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hMerge="1">
                  <a:txBody>
                    <a:bodyPr/>
                    <a:lstStyle/>
                    <a:p>
                      <a:endParaRPr lang="ja-JP" altLang="en-US" sz="1800" b="1" dirty="0">
                        <a:solidFill>
                          <a:schemeClr val="bg1"/>
                        </a:solidFill>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68415140"/>
                  </a:ext>
                </a:extLst>
              </a:tr>
              <a:tr h="590169">
                <a:tc vMerge="1">
                  <a:txBody>
                    <a:bodyPr/>
                    <a:lstStyle/>
                    <a:p>
                      <a:endParaRPr lang="zh-TW" altLang="en-US" sz="1600" b="1" dirty="0">
                        <a:solidFill>
                          <a:schemeClr val="bg1"/>
                        </a:solidFill>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r>
                        <a:rPr lang="ja-JP" altLang="en-US" sz="1600" b="1" dirty="0">
                          <a:solidFill>
                            <a:schemeClr val="bg1"/>
                          </a:solidFill>
                          <a:latin typeface="+mn-lt"/>
                        </a:rPr>
                        <a:t>個人</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r>
                        <a:rPr lang="ja-JP" altLang="en-US" sz="1600" b="1" dirty="0">
                          <a:solidFill>
                            <a:schemeClr val="bg1"/>
                          </a:solidFill>
                          <a:latin typeface="+mn-lt"/>
                        </a:rPr>
                        <a:t>法人</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r>
                        <a:rPr lang="ja-JP" altLang="en-US" sz="1600" b="1" dirty="0">
                          <a:solidFill>
                            <a:schemeClr val="bg1"/>
                          </a:solidFill>
                          <a:latin typeface="+mn-lt"/>
                        </a:rPr>
                        <a:t>国・地公体等</a:t>
                      </a:r>
                      <a:endParaRPr lang="en-US" altLang="ja-JP" sz="1600" b="1" dirty="0">
                        <a:solidFill>
                          <a:schemeClr val="bg1"/>
                        </a:solidFill>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r>
                        <a:rPr lang="ja-JP" altLang="en-US" sz="1600" b="1" dirty="0">
                          <a:solidFill>
                            <a:schemeClr val="bg1"/>
                          </a:solidFill>
                          <a:latin typeface="+mn-lt"/>
                        </a:rPr>
                        <a:t>人格のない社団・財団</a:t>
                      </a:r>
                      <a:endParaRPr lang="en-US" altLang="ja-JP" sz="1600" b="1" dirty="0">
                        <a:solidFill>
                          <a:schemeClr val="bg1"/>
                        </a:solidFill>
                        <a:latin typeface="+mn-lt"/>
                      </a:endParaRPr>
                    </a:p>
                    <a:p>
                      <a:r>
                        <a:rPr lang="ja-JP" altLang="en-US" sz="1600" b="1" dirty="0">
                          <a:solidFill>
                            <a:schemeClr val="bg1"/>
                          </a:solidFill>
                          <a:latin typeface="+mn-lt"/>
                        </a:rPr>
                        <a:t>（任意団体・権能）</a:t>
                      </a:r>
                      <a:endParaRPr lang="en-US" altLang="ja-JP" sz="1600" b="1" dirty="0">
                        <a:solidFill>
                          <a:schemeClr val="bg1"/>
                        </a:solidFill>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221887199"/>
                  </a:ext>
                </a:extLst>
              </a:tr>
              <a:tr h="758609">
                <a:tc>
                  <a:txBody>
                    <a:bodyPr/>
                    <a:lstStyle/>
                    <a:p>
                      <a:r>
                        <a:rPr lang="ja-JP" altLang="en-US" sz="1400" dirty="0">
                          <a:latin typeface="+mn-lt"/>
                        </a:rPr>
                        <a:t>本人特定事項</a:t>
                      </a:r>
                      <a:endParaRPr lang="en-US" altLang="ja-JP" sz="1400" dirty="0">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400" dirty="0">
                          <a:latin typeface="+mn-lt"/>
                        </a:rPr>
                        <a:t>本人確認書類の提示・送付</a:t>
                      </a:r>
                      <a:endParaRPr lang="en-US" altLang="ja-JP" sz="1400" dirty="0">
                        <a:latin typeface="+mn-lt"/>
                      </a:endParaRPr>
                    </a:p>
                    <a:p>
                      <a:r>
                        <a:rPr lang="ja-JP" altLang="en-US" sz="1400" dirty="0">
                          <a:latin typeface="+mn-lt"/>
                        </a:rPr>
                        <a:t>（氏名、住所、生年月日）</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dirty="0">
                          <a:latin typeface="+mn-lt"/>
                        </a:rPr>
                        <a:t>本人確認書類の提示</a:t>
                      </a:r>
                      <a:endParaRPr lang="en-US" altLang="ja-JP" sz="140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dirty="0">
                          <a:latin typeface="+mn-lt"/>
                        </a:rPr>
                        <a:t>（名称及び本店または主たる事務所の所在地）</a:t>
                      </a:r>
                      <a:endParaRPr lang="en-US" altLang="ja-JP" sz="1400" dirty="0">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ja-JP" altLang="en-US" sz="1400" dirty="0">
                          <a:latin typeface="+mn-lt"/>
                        </a:rPr>
                        <a:t>ー</a:t>
                      </a:r>
                      <a:endParaRPr lang="en-US" altLang="ja-JP" sz="1400" dirty="0">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ja-JP" altLang="en-US" sz="1400" dirty="0">
                          <a:latin typeface="+mn-lt"/>
                        </a:rPr>
                        <a:t>ー</a:t>
                      </a:r>
                      <a:endParaRPr lang="en-US" altLang="ja-JP" sz="1400" dirty="0">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35477997"/>
                  </a:ext>
                </a:extLst>
              </a:tr>
              <a:tr h="522793">
                <a:tc>
                  <a:txBody>
                    <a:bodyPr/>
                    <a:lstStyle/>
                    <a:p>
                      <a:r>
                        <a:rPr lang="ja-JP" altLang="en-US" sz="1400" dirty="0">
                          <a:latin typeface="+mn-lt"/>
                        </a:rPr>
                        <a:t>代理人の本人特定事項</a:t>
                      </a:r>
                      <a:endParaRPr lang="zh-TW" altLang="en-US" sz="1400" dirty="0">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a:ea typeface="Meiryo UI"/>
                          <a:cs typeface="+mn-cs"/>
                        </a:rPr>
                        <a:t>本人確認書類の提示・送付</a:t>
                      </a:r>
                      <a:endParaRPr kumimoji="1" lang="en-US" altLang="ja-JP" sz="14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a:ea typeface="Meiryo UI"/>
                          <a:cs typeface="+mn-cs"/>
                        </a:rPr>
                        <a:t>（氏名、住所、生年月日）</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a:ea typeface="Meiryo UI"/>
                          <a:cs typeface="+mn-cs"/>
                        </a:rPr>
                        <a:t>本人確認書類の提示・送付</a:t>
                      </a:r>
                      <a:endParaRPr kumimoji="1" lang="en-US" altLang="ja-JP" sz="14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a:ea typeface="Meiryo UI"/>
                          <a:cs typeface="+mn-cs"/>
                        </a:rPr>
                        <a:t>（氏名、住所、生年月日）</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本人確認書類の提示・送付</a:t>
                      </a:r>
                      <a:endParaRPr kumimoji="1" lang="en-US" altLang="ja-JP" sz="1400" b="0" i="0" u="none" strike="noStrike" kern="1200" cap="none" spc="0" normalizeH="0" baseline="0" noProof="0">
                        <a:ln>
                          <a:noFill/>
                        </a:ln>
                        <a:solidFill>
                          <a:prstClr val="black"/>
                        </a:solidFill>
                        <a:effectLst/>
                        <a:uLnTx/>
                        <a:uFillTx/>
                        <a:latin typeface="Meiryo UI"/>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（氏名、住所、生年月日）</a:t>
                      </a:r>
                      <a:endParaRPr kumimoji="1" lang="ja-JP" altLang="en-US" sz="1400" b="0" i="0" u="none" strike="noStrike" kern="1200" cap="none" spc="0" normalizeH="0" baseline="0" noProof="0" dirty="0">
                        <a:ln>
                          <a:noFill/>
                        </a:ln>
                        <a:solidFill>
                          <a:prstClr val="black"/>
                        </a:solidFill>
                        <a:effectLst/>
                        <a:uLnTx/>
                        <a:uFillTx/>
                        <a:latin typeface="Meiryo UI"/>
                        <a:ea typeface="Meiryo UI"/>
                        <a:cs typeface="+mn-cs"/>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a:ea typeface="Meiryo UI"/>
                          <a:cs typeface="+mn-cs"/>
                        </a:rPr>
                        <a:t>本人確認書類の提示・送付</a:t>
                      </a:r>
                      <a:endParaRPr kumimoji="1" lang="en-US" altLang="ja-JP" sz="14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a:ea typeface="Meiryo UI"/>
                          <a:cs typeface="+mn-cs"/>
                        </a:rPr>
                        <a:t>（氏名、住所、生年月日）</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755412319"/>
                  </a:ext>
                </a:extLst>
              </a:tr>
              <a:tr h="515033">
                <a:tc>
                  <a:txBody>
                    <a:bodyPr/>
                    <a:lstStyle/>
                    <a:p>
                      <a:r>
                        <a:rPr lang="ja-JP" altLang="en-US" sz="1400" dirty="0">
                          <a:latin typeface="+mn-lt"/>
                        </a:rPr>
                        <a:t>取引を行う目的</a:t>
                      </a:r>
                      <a:endParaRPr lang="zh-TW" altLang="en-US" sz="1400" dirty="0">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400" dirty="0">
                          <a:latin typeface="+mn-lt"/>
                        </a:rPr>
                        <a:t>当該顧客または代理人の申告</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dirty="0">
                          <a:latin typeface="+mn-lt"/>
                        </a:rPr>
                        <a:t>当該顧客または代理人の申告</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a:ea typeface="Meiryo UI"/>
                          <a:cs typeface="+mn-cs"/>
                        </a:rPr>
                        <a:t>ー</a:t>
                      </a:r>
                      <a:endParaRPr kumimoji="1" lang="en-US" altLang="ja-JP" sz="1400" b="0" i="0" u="none" strike="noStrike" kern="1200" cap="none" spc="0" normalizeH="0" baseline="0" noProof="0" dirty="0">
                        <a:ln>
                          <a:noFill/>
                        </a:ln>
                        <a:solidFill>
                          <a:prstClr val="black"/>
                        </a:solidFill>
                        <a:effectLst/>
                        <a:uLnTx/>
                        <a:uFillTx/>
                        <a:latin typeface="Meiryo UI"/>
                        <a:ea typeface="Meiryo UI"/>
                        <a:cs typeface="+mn-cs"/>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dirty="0">
                          <a:latin typeface="+mn-lt"/>
                        </a:rPr>
                        <a:t>当該顧客または代理人の申告</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825941329"/>
                  </a:ext>
                </a:extLst>
              </a:tr>
              <a:tr h="522793">
                <a:tc>
                  <a:txBody>
                    <a:bodyPr/>
                    <a:lstStyle/>
                    <a:p>
                      <a:r>
                        <a:rPr lang="ja-JP" altLang="en-US" sz="1400" dirty="0">
                          <a:latin typeface="+mn-lt"/>
                        </a:rPr>
                        <a:t>職業・事業内容</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dirty="0">
                          <a:latin typeface="+mn-lt"/>
                        </a:rPr>
                        <a:t>当該顧客または代理人の申告（職業）</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400" dirty="0">
                          <a:latin typeface="+mn-lt"/>
                        </a:rPr>
                        <a:t>書類による確認（事業内容）</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a:ea typeface="Meiryo UI"/>
                          <a:cs typeface="+mn-cs"/>
                        </a:rPr>
                        <a:t>ー</a:t>
                      </a:r>
                      <a:endParaRPr kumimoji="1" lang="en-US" altLang="ja-JP" sz="1400" b="0" i="0" u="none" strike="noStrike" kern="1200" cap="none" spc="0" normalizeH="0" baseline="0" noProof="0" dirty="0">
                        <a:ln>
                          <a:noFill/>
                        </a:ln>
                        <a:solidFill>
                          <a:prstClr val="black"/>
                        </a:solidFill>
                        <a:effectLst/>
                        <a:uLnTx/>
                        <a:uFillTx/>
                        <a:latin typeface="Meiryo UI"/>
                        <a:ea typeface="Meiryo UI"/>
                        <a:cs typeface="+mn-cs"/>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dirty="0">
                          <a:latin typeface="+mn-lt"/>
                        </a:rPr>
                        <a:t>代理人の申告（事業内容）</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225182293"/>
                  </a:ext>
                </a:extLst>
              </a:tr>
              <a:tr h="522793">
                <a:tc>
                  <a:txBody>
                    <a:bodyPr/>
                    <a:lstStyle/>
                    <a:p>
                      <a:r>
                        <a:rPr lang="ja-JP" altLang="en-US" sz="1400" dirty="0">
                          <a:latin typeface="+mn-lt"/>
                        </a:rPr>
                        <a:t>実質的支配者</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ja-JP" altLang="en-US" sz="1400" dirty="0">
                          <a:latin typeface="+mn-lt"/>
                        </a:rPr>
                        <a:t>ー</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400" dirty="0">
                          <a:latin typeface="+mn-lt"/>
                        </a:rPr>
                        <a:t>申告による確認（実質的支配者とその本人特定事項）</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a:ea typeface="Meiryo UI"/>
                          <a:cs typeface="+mn-cs"/>
                        </a:rPr>
                        <a:t>ー</a:t>
                      </a:r>
                      <a:endParaRPr kumimoji="1" lang="en-US" altLang="ja-JP" sz="1400" b="0" i="0" u="none" strike="noStrike" kern="1200" cap="none" spc="0" normalizeH="0" baseline="0" noProof="0" dirty="0">
                        <a:ln>
                          <a:noFill/>
                        </a:ln>
                        <a:solidFill>
                          <a:prstClr val="black"/>
                        </a:solidFill>
                        <a:effectLst/>
                        <a:uLnTx/>
                        <a:uFillTx/>
                        <a:latin typeface="Meiryo UI"/>
                        <a:ea typeface="Meiryo UI"/>
                        <a:cs typeface="+mn-cs"/>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ja-JP" altLang="en-US" sz="1400" dirty="0">
                          <a:latin typeface="+mn-lt"/>
                        </a:rPr>
                        <a:t>ー</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616419813"/>
                  </a:ext>
                </a:extLst>
              </a:tr>
              <a:tr h="515033">
                <a:tc>
                  <a:txBody>
                    <a:bodyPr/>
                    <a:lstStyle/>
                    <a:p>
                      <a:r>
                        <a:rPr lang="ja-JP" altLang="en-US" sz="1400" dirty="0">
                          <a:latin typeface="+mn-lt"/>
                        </a:rPr>
                        <a:t>代理権（</a:t>
                      </a:r>
                      <a:r>
                        <a:rPr lang="en-US" altLang="ja-JP" sz="1400" dirty="0">
                          <a:latin typeface="+mn-lt"/>
                        </a:rPr>
                        <a:t>※1</a:t>
                      </a:r>
                      <a:r>
                        <a:rPr lang="ja-JP" altLang="en-US" sz="1400" dirty="0">
                          <a:latin typeface="+mn-lt"/>
                        </a:rPr>
                        <a:t>）</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ja-JP" altLang="en-US" sz="1400" dirty="0">
                          <a:latin typeface="+mn-lt"/>
                        </a:rPr>
                        <a:t>代理権の有無（</a:t>
                      </a:r>
                      <a:r>
                        <a:rPr lang="en-US" altLang="ja-JP" sz="1400" dirty="0">
                          <a:latin typeface="+mn-lt"/>
                        </a:rPr>
                        <a:t>※2</a:t>
                      </a:r>
                      <a:r>
                        <a:rPr lang="ja-JP" altLang="en-US" sz="1400" dirty="0">
                          <a:latin typeface="+mn-lt"/>
                        </a:rPr>
                        <a:t>）</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a:ea typeface="Meiryo UI"/>
                          <a:cs typeface="+mn-cs"/>
                        </a:rPr>
                        <a:t>代理権の有無</a:t>
                      </a:r>
                      <a:r>
                        <a:rPr lang="ja-JP" altLang="en-US" sz="1400" dirty="0">
                          <a:latin typeface="+mn-lt"/>
                        </a:rPr>
                        <a:t>（</a:t>
                      </a:r>
                      <a:r>
                        <a:rPr lang="en-US" altLang="ja-JP" sz="1400" dirty="0">
                          <a:latin typeface="+mn-lt"/>
                        </a:rPr>
                        <a:t>※3</a:t>
                      </a:r>
                      <a:r>
                        <a:rPr lang="ja-JP" altLang="en-US" sz="1400" dirty="0">
                          <a:latin typeface="+mn-lt"/>
                        </a:rPr>
                        <a:t>）</a:t>
                      </a:r>
                      <a:endParaRPr kumimoji="1" lang="ja-JP" altLang="en-US" sz="1400" b="0" i="0" u="none" strike="noStrike" kern="1200" cap="none" spc="0" normalizeH="0" baseline="0" noProof="0" dirty="0">
                        <a:ln>
                          <a:noFill/>
                        </a:ln>
                        <a:solidFill>
                          <a:prstClr val="black"/>
                        </a:solidFill>
                        <a:effectLst/>
                        <a:uLnTx/>
                        <a:uFillTx/>
                        <a:latin typeface="Meiryo UI"/>
                        <a:ea typeface="Meiryo UI"/>
                        <a:cs typeface="+mn-cs"/>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a:ea typeface="Meiryo UI"/>
                          <a:cs typeface="+mn-cs"/>
                        </a:rPr>
                        <a:t>代理権の有無</a:t>
                      </a:r>
                      <a:r>
                        <a:rPr lang="ja-JP" altLang="en-US" sz="1400" dirty="0">
                          <a:latin typeface="+mn-lt"/>
                        </a:rPr>
                        <a:t>（</a:t>
                      </a:r>
                      <a:r>
                        <a:rPr lang="en-US" altLang="ja-JP" sz="1400" dirty="0">
                          <a:latin typeface="+mn-lt"/>
                        </a:rPr>
                        <a:t>※3</a:t>
                      </a:r>
                      <a:r>
                        <a:rPr lang="ja-JP" altLang="en-US" sz="1400" dirty="0">
                          <a:latin typeface="+mn-lt"/>
                        </a:rPr>
                        <a:t>）</a:t>
                      </a:r>
                      <a:endParaRPr kumimoji="1" lang="ja-JP" altLang="en-US" sz="1400" b="0" i="0" u="none" strike="noStrike" kern="1200" cap="none" spc="0" normalizeH="0" baseline="0" noProof="0" dirty="0">
                        <a:ln>
                          <a:noFill/>
                        </a:ln>
                        <a:solidFill>
                          <a:prstClr val="black"/>
                        </a:solidFill>
                        <a:effectLst/>
                        <a:uLnTx/>
                        <a:uFillTx/>
                        <a:latin typeface="Meiryo UI"/>
                        <a:ea typeface="Meiryo UI"/>
                        <a:cs typeface="+mn-cs"/>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ja-JP" altLang="en-US" sz="1400" dirty="0">
                          <a:latin typeface="+mn-lt"/>
                        </a:rPr>
                        <a:t>ー（</a:t>
                      </a:r>
                      <a:r>
                        <a:rPr lang="en-US" altLang="ja-JP" sz="1400" dirty="0">
                          <a:latin typeface="+mn-lt"/>
                        </a:rPr>
                        <a:t>※4</a:t>
                      </a:r>
                      <a:r>
                        <a:rPr lang="ja-JP" altLang="en-US" sz="1400" dirty="0">
                          <a:latin typeface="+mn-lt"/>
                        </a:rPr>
                        <a:t>）</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801146834"/>
                  </a:ext>
                </a:extLst>
              </a:tr>
            </a:tbl>
          </a:graphicData>
        </a:graphic>
      </p:graphicFrame>
      <p:sp>
        <p:nvSpPr>
          <p:cNvPr id="3" name="正方形/長方形 2">
            <a:extLst>
              <a:ext uri="{FF2B5EF4-FFF2-40B4-BE49-F238E27FC236}">
                <a16:creationId xmlns:a16="http://schemas.microsoft.com/office/drawing/2014/main" id="{532DD3AD-17EF-2D79-2614-873C6F64555E}"/>
              </a:ext>
            </a:extLst>
          </p:cNvPr>
          <p:cNvSpPr/>
          <p:nvPr/>
        </p:nvSpPr>
        <p:spPr>
          <a:xfrm>
            <a:off x="264000" y="239658"/>
            <a:ext cx="11664000" cy="680400"/>
          </a:xfrm>
          <a:prstGeom prst="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t>取引時確認の確認項目別の確認方法</a:t>
            </a:r>
          </a:p>
        </p:txBody>
      </p:sp>
      <p:sp>
        <p:nvSpPr>
          <p:cNvPr id="5" name="テキスト ボックス 4">
            <a:extLst>
              <a:ext uri="{FF2B5EF4-FFF2-40B4-BE49-F238E27FC236}">
                <a16:creationId xmlns:a16="http://schemas.microsoft.com/office/drawing/2014/main" id="{C239DD4B-3C63-1C7D-C541-725E57ECE81F}"/>
              </a:ext>
            </a:extLst>
          </p:cNvPr>
          <p:cNvSpPr txBox="1"/>
          <p:nvPr/>
        </p:nvSpPr>
        <p:spPr>
          <a:xfrm>
            <a:off x="264000" y="5457617"/>
            <a:ext cx="11647968" cy="1400383"/>
          </a:xfrm>
          <a:prstGeom prst="rect">
            <a:avLst/>
          </a:prstGeom>
          <a:noFill/>
        </p:spPr>
        <p:txBody>
          <a:bodyPr wrap="square">
            <a:spAutoFit/>
          </a:bodyPr>
          <a:lstStyle/>
          <a:p>
            <a:pPr algn="l">
              <a:spcAft>
                <a:spcPts val="600"/>
              </a:spcAft>
            </a:pPr>
            <a:r>
              <a:rPr lang="en-US" altLang="ja-JP" sz="1400" dirty="0">
                <a:latin typeface="MS-Mincho"/>
              </a:rPr>
              <a:t>(</a:t>
            </a:r>
            <a:r>
              <a:rPr lang="en-US" altLang="ja-JP" sz="1400" b="0" i="0" u="none" strike="noStrike" baseline="0" dirty="0">
                <a:latin typeface="MS-Mincho"/>
              </a:rPr>
              <a:t>※1)</a:t>
            </a:r>
            <a:r>
              <a:rPr lang="ja-JP" altLang="en-US" sz="1400" dirty="0">
                <a:latin typeface="MS-Mincho"/>
              </a:rPr>
              <a:t> </a:t>
            </a:r>
            <a:r>
              <a:rPr lang="ja-JP" altLang="en-US" sz="1400" b="0" i="0" u="none" strike="noStrike" baseline="0" dirty="0">
                <a:latin typeface="MS-Mincho"/>
              </a:rPr>
              <a:t>代理人が顧客のために特定取引の任にあたっていると認めた理由</a:t>
            </a:r>
            <a:endParaRPr lang="en-US" altLang="ja-JP" sz="1400" b="0" i="0" u="none" strike="noStrike" baseline="0" dirty="0">
              <a:latin typeface="MS-Mincho"/>
            </a:endParaRPr>
          </a:p>
          <a:p>
            <a:pPr>
              <a:spcAft>
                <a:spcPts val="600"/>
              </a:spcAft>
            </a:pPr>
            <a:r>
              <a:rPr lang="en-US" altLang="ja-JP" sz="1400" dirty="0">
                <a:latin typeface="MS-Mincho"/>
              </a:rPr>
              <a:t>(※2)</a:t>
            </a:r>
            <a:r>
              <a:rPr lang="ja-JP" altLang="en-US" sz="1400" dirty="0">
                <a:latin typeface="MS-Mincho"/>
              </a:rPr>
              <a:t> </a:t>
            </a:r>
            <a:r>
              <a:rPr lang="ja-JP" altLang="en-US" sz="1400" b="0" i="0" u="none" strike="noStrike" baseline="0" dirty="0">
                <a:latin typeface="MS-Mincho"/>
              </a:rPr>
              <a:t>①同居の親族など、②委任状、③電話による確認、④取引の任に当たっていることが明らか</a:t>
            </a:r>
            <a:endParaRPr lang="en-US" altLang="ja-JP" sz="1400" b="0" i="0" u="none" strike="noStrike" baseline="0" dirty="0">
              <a:latin typeface="MS-Mincho"/>
            </a:endParaRPr>
          </a:p>
          <a:p>
            <a:pPr>
              <a:spcAft>
                <a:spcPts val="600"/>
              </a:spcAft>
            </a:pPr>
            <a:r>
              <a:rPr lang="en-US" altLang="ja-JP" sz="1400" b="0" i="0" u="none" strike="noStrike" baseline="0" dirty="0">
                <a:latin typeface="MS-Mincho"/>
              </a:rPr>
              <a:t>(※3) </a:t>
            </a:r>
            <a:r>
              <a:rPr lang="ja-JP" altLang="en-US" sz="1400" b="0" i="0" u="none" strike="noStrike" baseline="0" dirty="0">
                <a:latin typeface="MS-Mincho"/>
              </a:rPr>
              <a:t>①委任状、②代表する権限を有する役員としての登記、③電話による確認、④取引の任に当たっていることが明らか</a:t>
            </a:r>
            <a:endParaRPr lang="en-US" altLang="ja-JP" sz="1400" b="0" i="0" u="none" strike="noStrike" baseline="0" dirty="0">
              <a:latin typeface="MS-Mincho"/>
            </a:endParaRPr>
          </a:p>
          <a:p>
            <a:pPr>
              <a:spcAft>
                <a:spcPts val="600"/>
              </a:spcAft>
            </a:pPr>
            <a:r>
              <a:rPr lang="en-US" altLang="ja-JP" sz="1400" dirty="0">
                <a:latin typeface="MS-Mincho"/>
              </a:rPr>
              <a:t>(※4) </a:t>
            </a:r>
            <a:r>
              <a:rPr lang="ja-JP" altLang="en-US" sz="1400" dirty="0">
                <a:latin typeface="MS-Mincho"/>
              </a:rPr>
              <a:t>代理人（現に取引の任にあたっている個人）が顧客のために特定取引の任にあたっていることの確認を個人、法人のように求められていないが、確認記録票に代理人と顧客（取引の名義人）との関係の記載は求められています。</a:t>
            </a:r>
            <a:endParaRPr lang="en-US" altLang="ja-JP" sz="1400" dirty="0">
              <a:latin typeface="MS-Mincho"/>
            </a:endParaRPr>
          </a:p>
        </p:txBody>
      </p:sp>
    </p:spTree>
    <p:extLst>
      <p:ext uri="{BB962C8B-B14F-4D97-AF65-F5344CB8AC3E}">
        <p14:creationId xmlns:p14="http://schemas.microsoft.com/office/powerpoint/2010/main" val="4090514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四角形: 角を丸くする 37">
            <a:extLst>
              <a:ext uri="{FF2B5EF4-FFF2-40B4-BE49-F238E27FC236}">
                <a16:creationId xmlns:a16="http://schemas.microsoft.com/office/drawing/2014/main" id="{4FD7F717-C309-4652-9FF1-496FBD113A58}"/>
              </a:ext>
            </a:extLst>
          </p:cNvPr>
          <p:cNvSpPr/>
          <p:nvPr/>
        </p:nvSpPr>
        <p:spPr>
          <a:xfrm>
            <a:off x="9253055" y="1549566"/>
            <a:ext cx="2664000" cy="792000"/>
          </a:xfrm>
          <a:prstGeom prst="roundRect">
            <a:avLst>
              <a:gd name="adj" fmla="val 7337"/>
            </a:avLst>
          </a:prstGeom>
          <a:solidFill>
            <a:schemeClr val="bg1"/>
          </a:solid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600" b="1" dirty="0">
                <a:solidFill>
                  <a:schemeClr val="accent1">
                    <a:lumMod val="75000"/>
                  </a:schemeClr>
                </a:solidFill>
              </a:rPr>
              <a:t>原本提示</a:t>
            </a:r>
          </a:p>
        </p:txBody>
      </p:sp>
      <p:sp>
        <p:nvSpPr>
          <p:cNvPr id="35" name="四角形: 角を丸くする 34">
            <a:extLst>
              <a:ext uri="{FF2B5EF4-FFF2-40B4-BE49-F238E27FC236}">
                <a16:creationId xmlns:a16="http://schemas.microsoft.com/office/drawing/2014/main" id="{0C0EF4B1-3EAA-4CC5-8511-FA6061368AE5}"/>
              </a:ext>
            </a:extLst>
          </p:cNvPr>
          <p:cNvSpPr/>
          <p:nvPr/>
        </p:nvSpPr>
        <p:spPr>
          <a:xfrm>
            <a:off x="9253055" y="2620243"/>
            <a:ext cx="2664000" cy="792000"/>
          </a:xfrm>
          <a:prstGeom prst="roundRect">
            <a:avLst>
              <a:gd name="adj" fmla="val 7337"/>
            </a:avLst>
          </a:prstGeom>
          <a:solidFill>
            <a:schemeClr val="bg1"/>
          </a:solid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600" b="1" dirty="0">
                <a:solidFill>
                  <a:schemeClr val="accent1">
                    <a:lumMod val="75000"/>
                  </a:schemeClr>
                </a:solidFill>
              </a:rPr>
              <a:t>原本提示</a:t>
            </a:r>
          </a:p>
        </p:txBody>
      </p:sp>
      <p:sp>
        <p:nvSpPr>
          <p:cNvPr id="6" name="正方形/長方形 5">
            <a:extLst>
              <a:ext uri="{FF2B5EF4-FFF2-40B4-BE49-F238E27FC236}">
                <a16:creationId xmlns:a16="http://schemas.microsoft.com/office/drawing/2014/main" id="{ADCA46F3-393E-32FC-25DA-B30A4D55149C}"/>
              </a:ext>
            </a:extLst>
          </p:cNvPr>
          <p:cNvSpPr/>
          <p:nvPr/>
        </p:nvSpPr>
        <p:spPr>
          <a:xfrm>
            <a:off x="1827264" y="1549566"/>
            <a:ext cx="1440000" cy="792000"/>
          </a:xfrm>
          <a:prstGeom prst="rect">
            <a:avLst/>
          </a:prstGeom>
          <a:solidFill>
            <a:schemeClr val="bg1"/>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600" dirty="0">
                <a:solidFill>
                  <a:schemeClr val="tx1"/>
                </a:solidFill>
              </a:rPr>
              <a:t>顔写真あり</a:t>
            </a:r>
          </a:p>
        </p:txBody>
      </p:sp>
      <p:sp>
        <p:nvSpPr>
          <p:cNvPr id="14" name="四角形: 角を丸くする 13">
            <a:extLst>
              <a:ext uri="{FF2B5EF4-FFF2-40B4-BE49-F238E27FC236}">
                <a16:creationId xmlns:a16="http://schemas.microsoft.com/office/drawing/2014/main" id="{707C0468-06D5-AB4A-1C3B-CD9B1D2A5116}"/>
              </a:ext>
            </a:extLst>
          </p:cNvPr>
          <p:cNvSpPr/>
          <p:nvPr/>
        </p:nvSpPr>
        <p:spPr>
          <a:xfrm>
            <a:off x="9253055" y="3693494"/>
            <a:ext cx="2664000" cy="792000"/>
          </a:xfrm>
          <a:prstGeom prst="roundRect">
            <a:avLst>
              <a:gd name="adj" fmla="val 7337"/>
            </a:avLst>
          </a:prstGeom>
          <a:solidFill>
            <a:schemeClr val="bg1"/>
          </a:solid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600" b="1" dirty="0">
                <a:solidFill>
                  <a:schemeClr val="accent1">
                    <a:lumMod val="75000"/>
                  </a:schemeClr>
                </a:solidFill>
              </a:rPr>
              <a:t>原本提示＋</a:t>
            </a:r>
            <a:br>
              <a:rPr kumimoji="1" lang="en-US" altLang="ja-JP" sz="1600" b="1" dirty="0">
                <a:solidFill>
                  <a:schemeClr val="accent1">
                    <a:lumMod val="75000"/>
                  </a:schemeClr>
                </a:solidFill>
              </a:rPr>
            </a:br>
            <a:r>
              <a:rPr kumimoji="1" lang="ja-JP" altLang="en-US" sz="1600" b="1" dirty="0">
                <a:solidFill>
                  <a:schemeClr val="accent1">
                    <a:lumMod val="75000"/>
                  </a:schemeClr>
                </a:solidFill>
              </a:rPr>
              <a:t>転送不要扱い書留郵便</a:t>
            </a:r>
          </a:p>
        </p:txBody>
      </p:sp>
      <p:sp>
        <p:nvSpPr>
          <p:cNvPr id="15" name="四角形: 角を丸くする 14">
            <a:extLst>
              <a:ext uri="{FF2B5EF4-FFF2-40B4-BE49-F238E27FC236}">
                <a16:creationId xmlns:a16="http://schemas.microsoft.com/office/drawing/2014/main" id="{4256CC7C-2941-0233-F156-284D80EEA048}"/>
              </a:ext>
            </a:extLst>
          </p:cNvPr>
          <p:cNvSpPr/>
          <p:nvPr/>
        </p:nvSpPr>
        <p:spPr>
          <a:xfrm>
            <a:off x="9253055" y="4765458"/>
            <a:ext cx="2664000" cy="792000"/>
          </a:xfrm>
          <a:prstGeom prst="roundRect">
            <a:avLst>
              <a:gd name="adj" fmla="val 6171"/>
            </a:avLst>
          </a:prstGeom>
          <a:solidFill>
            <a:schemeClr val="bg1"/>
          </a:solid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600" b="1" dirty="0">
                <a:solidFill>
                  <a:schemeClr val="accent1">
                    <a:lumMod val="75000"/>
                  </a:schemeClr>
                </a:solidFill>
              </a:rPr>
              <a:t>C</a:t>
            </a:r>
            <a:r>
              <a:rPr kumimoji="1" lang="ja-JP" altLang="en-US" sz="1600" b="1" dirty="0">
                <a:solidFill>
                  <a:schemeClr val="accent1">
                    <a:lumMod val="75000"/>
                  </a:schemeClr>
                </a:solidFill>
              </a:rPr>
              <a:t>群の原本提示＋</a:t>
            </a:r>
            <a:br>
              <a:rPr kumimoji="1" lang="en-US" altLang="ja-JP" sz="1600" b="1" dirty="0">
                <a:solidFill>
                  <a:schemeClr val="accent1">
                    <a:lumMod val="75000"/>
                  </a:schemeClr>
                </a:solidFill>
              </a:rPr>
            </a:br>
            <a:r>
              <a:rPr kumimoji="1" lang="ja-JP" altLang="en-US" sz="1600" b="1" dirty="0">
                <a:solidFill>
                  <a:schemeClr val="accent1">
                    <a:lumMod val="75000"/>
                  </a:schemeClr>
                </a:solidFill>
              </a:rPr>
              <a:t>転送不要扱い書留郵便</a:t>
            </a:r>
          </a:p>
        </p:txBody>
      </p:sp>
      <p:sp>
        <p:nvSpPr>
          <p:cNvPr id="16" name="正方形/長方形 15">
            <a:extLst>
              <a:ext uri="{FF2B5EF4-FFF2-40B4-BE49-F238E27FC236}">
                <a16:creationId xmlns:a16="http://schemas.microsoft.com/office/drawing/2014/main" id="{21AFAA0E-19AE-36DA-6685-E8B7209917ED}"/>
              </a:ext>
            </a:extLst>
          </p:cNvPr>
          <p:cNvSpPr/>
          <p:nvPr/>
        </p:nvSpPr>
        <p:spPr>
          <a:xfrm>
            <a:off x="264000" y="1549566"/>
            <a:ext cx="936000" cy="3754007"/>
          </a:xfrm>
          <a:prstGeom prst="rect">
            <a:avLst/>
          </a:prstGeom>
          <a:solidFill>
            <a:schemeClr val="bg1"/>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600" dirty="0">
                <a:solidFill>
                  <a:schemeClr val="tx1"/>
                </a:solidFill>
              </a:rPr>
              <a:t>本人確認</a:t>
            </a:r>
            <a:br>
              <a:rPr kumimoji="1" lang="en-US" altLang="ja-JP" sz="1600" dirty="0">
                <a:solidFill>
                  <a:schemeClr val="tx1"/>
                </a:solidFill>
              </a:rPr>
            </a:br>
            <a:r>
              <a:rPr kumimoji="1" lang="ja-JP" altLang="en-US" sz="1600" dirty="0">
                <a:solidFill>
                  <a:schemeClr val="tx1"/>
                </a:solidFill>
              </a:rPr>
              <a:t>書類</a:t>
            </a:r>
          </a:p>
        </p:txBody>
      </p:sp>
      <p:sp>
        <p:nvSpPr>
          <p:cNvPr id="49" name="正方形/長方形 48">
            <a:extLst>
              <a:ext uri="{FF2B5EF4-FFF2-40B4-BE49-F238E27FC236}">
                <a16:creationId xmlns:a16="http://schemas.microsoft.com/office/drawing/2014/main" id="{8C4638D7-F6E0-6A9C-AB06-750E24CE4B7D}"/>
              </a:ext>
            </a:extLst>
          </p:cNvPr>
          <p:cNvSpPr/>
          <p:nvPr/>
        </p:nvSpPr>
        <p:spPr>
          <a:xfrm>
            <a:off x="5961792" y="2619670"/>
            <a:ext cx="2664000" cy="792000"/>
          </a:xfrm>
          <a:prstGeom prst="rect">
            <a:avLst/>
          </a:prstGeom>
          <a:solidFill>
            <a:schemeClr val="bg1"/>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600" dirty="0">
                <a:solidFill>
                  <a:schemeClr val="tx1"/>
                </a:solidFill>
              </a:rPr>
              <a:t>B</a:t>
            </a:r>
            <a:r>
              <a:rPr kumimoji="1" lang="ja-JP" altLang="en-US" sz="1600" dirty="0">
                <a:solidFill>
                  <a:schemeClr val="tx1"/>
                </a:solidFill>
              </a:rPr>
              <a:t>群の書類</a:t>
            </a:r>
            <a:br>
              <a:rPr kumimoji="1" lang="en-US" altLang="ja-JP" sz="1600" dirty="0">
                <a:solidFill>
                  <a:schemeClr val="tx1"/>
                </a:solidFill>
              </a:rPr>
            </a:br>
            <a:r>
              <a:rPr kumimoji="1" lang="ja-JP" altLang="en-US" sz="1600" dirty="0">
                <a:solidFill>
                  <a:schemeClr val="tx1"/>
                </a:solidFill>
              </a:rPr>
              <a:t>＋</a:t>
            </a:r>
            <a:br>
              <a:rPr kumimoji="1" lang="en-US" altLang="ja-JP" sz="1600" dirty="0">
                <a:solidFill>
                  <a:schemeClr val="tx1"/>
                </a:solidFill>
              </a:rPr>
            </a:br>
            <a:r>
              <a:rPr kumimoji="1" lang="en-US" altLang="ja-JP" sz="1600" dirty="0">
                <a:solidFill>
                  <a:schemeClr val="tx1"/>
                </a:solidFill>
              </a:rPr>
              <a:t>B</a:t>
            </a:r>
            <a:r>
              <a:rPr kumimoji="1" lang="ja-JP" altLang="en-US" sz="1600" dirty="0">
                <a:solidFill>
                  <a:schemeClr val="tx1"/>
                </a:solidFill>
              </a:rPr>
              <a:t>群 </a:t>
            </a:r>
            <a:r>
              <a:rPr kumimoji="1" lang="en-US" altLang="ja-JP" sz="1600" dirty="0">
                <a:solidFill>
                  <a:schemeClr val="tx1"/>
                </a:solidFill>
              </a:rPr>
              <a:t>or</a:t>
            </a:r>
            <a:r>
              <a:rPr kumimoji="1" lang="ja-JP" altLang="en-US" sz="1600" dirty="0">
                <a:solidFill>
                  <a:schemeClr val="tx1"/>
                </a:solidFill>
              </a:rPr>
              <a:t> </a:t>
            </a:r>
            <a:r>
              <a:rPr kumimoji="1" lang="en-US" altLang="ja-JP" sz="1600" dirty="0">
                <a:solidFill>
                  <a:schemeClr val="tx1"/>
                </a:solidFill>
              </a:rPr>
              <a:t>C</a:t>
            </a:r>
            <a:r>
              <a:rPr kumimoji="1" lang="ja-JP" altLang="en-US" sz="1600" dirty="0">
                <a:solidFill>
                  <a:schemeClr val="tx1"/>
                </a:solidFill>
              </a:rPr>
              <a:t>群 </a:t>
            </a:r>
            <a:r>
              <a:rPr kumimoji="1" lang="en-US" altLang="ja-JP" sz="1600" dirty="0">
                <a:solidFill>
                  <a:schemeClr val="tx1"/>
                </a:solidFill>
              </a:rPr>
              <a:t>or</a:t>
            </a:r>
            <a:r>
              <a:rPr kumimoji="1" lang="ja-JP" altLang="en-US" sz="1600" dirty="0">
                <a:solidFill>
                  <a:schemeClr val="tx1"/>
                </a:solidFill>
              </a:rPr>
              <a:t> </a:t>
            </a:r>
            <a:r>
              <a:rPr kumimoji="1" lang="en-US" altLang="ja-JP" sz="1600" dirty="0">
                <a:solidFill>
                  <a:schemeClr val="tx1"/>
                </a:solidFill>
              </a:rPr>
              <a:t>D</a:t>
            </a:r>
            <a:r>
              <a:rPr kumimoji="1" lang="ja-JP" altLang="en-US" sz="1600" dirty="0">
                <a:solidFill>
                  <a:schemeClr val="tx1"/>
                </a:solidFill>
              </a:rPr>
              <a:t>群書類</a:t>
            </a:r>
            <a:endParaRPr kumimoji="1" lang="en-US" altLang="ja-JP" sz="1600" dirty="0">
              <a:solidFill>
                <a:schemeClr val="tx1"/>
              </a:solidFill>
            </a:endParaRPr>
          </a:p>
        </p:txBody>
      </p:sp>
      <p:sp>
        <p:nvSpPr>
          <p:cNvPr id="55" name="正方形/長方形 54">
            <a:extLst>
              <a:ext uri="{FF2B5EF4-FFF2-40B4-BE49-F238E27FC236}">
                <a16:creationId xmlns:a16="http://schemas.microsoft.com/office/drawing/2014/main" id="{97BDE4E7-C197-4D47-6385-9C733F74850D}"/>
              </a:ext>
            </a:extLst>
          </p:cNvPr>
          <p:cNvSpPr/>
          <p:nvPr/>
        </p:nvSpPr>
        <p:spPr>
          <a:xfrm>
            <a:off x="5961792" y="3696913"/>
            <a:ext cx="2664000" cy="792000"/>
          </a:xfrm>
          <a:prstGeom prst="rect">
            <a:avLst/>
          </a:prstGeom>
          <a:solidFill>
            <a:schemeClr val="bg1"/>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600" dirty="0">
                <a:solidFill>
                  <a:schemeClr val="tx1"/>
                </a:solidFill>
              </a:rPr>
              <a:t>B</a:t>
            </a:r>
            <a:r>
              <a:rPr kumimoji="1" lang="ja-JP" altLang="en-US" sz="1600" dirty="0">
                <a:solidFill>
                  <a:schemeClr val="tx1"/>
                </a:solidFill>
              </a:rPr>
              <a:t>群の書類が</a:t>
            </a:r>
            <a:r>
              <a:rPr kumimoji="1" lang="en-US" altLang="ja-JP" sz="1600" dirty="0">
                <a:solidFill>
                  <a:schemeClr val="tx1"/>
                </a:solidFill>
              </a:rPr>
              <a:t>1</a:t>
            </a:r>
            <a:r>
              <a:rPr kumimoji="1" lang="ja-JP" altLang="en-US" sz="1600" dirty="0">
                <a:solidFill>
                  <a:schemeClr val="tx1"/>
                </a:solidFill>
              </a:rPr>
              <a:t>つ</a:t>
            </a:r>
            <a:endParaRPr kumimoji="1" lang="en-US" altLang="ja-JP" sz="1600" dirty="0">
              <a:solidFill>
                <a:schemeClr val="tx1"/>
              </a:solidFill>
            </a:endParaRPr>
          </a:p>
        </p:txBody>
      </p:sp>
      <p:sp>
        <p:nvSpPr>
          <p:cNvPr id="57" name="正方形/長方形 56">
            <a:extLst>
              <a:ext uri="{FF2B5EF4-FFF2-40B4-BE49-F238E27FC236}">
                <a16:creationId xmlns:a16="http://schemas.microsoft.com/office/drawing/2014/main" id="{39CEAF73-9B93-B66B-6FAE-C871973B3341}"/>
              </a:ext>
            </a:extLst>
          </p:cNvPr>
          <p:cNvSpPr/>
          <p:nvPr/>
        </p:nvSpPr>
        <p:spPr>
          <a:xfrm>
            <a:off x="3894528" y="4765458"/>
            <a:ext cx="1440000" cy="792000"/>
          </a:xfrm>
          <a:prstGeom prst="rect">
            <a:avLst/>
          </a:prstGeom>
          <a:solidFill>
            <a:schemeClr val="bg1"/>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600" dirty="0">
                <a:solidFill>
                  <a:schemeClr val="tx1"/>
                </a:solidFill>
              </a:rPr>
              <a:t>B</a:t>
            </a:r>
            <a:r>
              <a:rPr kumimoji="1" lang="ja-JP" altLang="en-US" sz="1600" dirty="0">
                <a:solidFill>
                  <a:schemeClr val="tx1"/>
                </a:solidFill>
              </a:rPr>
              <a:t>群の書類なし</a:t>
            </a:r>
          </a:p>
        </p:txBody>
      </p:sp>
      <p:cxnSp>
        <p:nvCxnSpPr>
          <p:cNvPr id="62" name="直線矢印コネクタ 61">
            <a:extLst>
              <a:ext uri="{FF2B5EF4-FFF2-40B4-BE49-F238E27FC236}">
                <a16:creationId xmlns:a16="http://schemas.microsoft.com/office/drawing/2014/main" id="{7BFACB7B-8835-3079-9A4F-D4937EC71296}"/>
              </a:ext>
            </a:extLst>
          </p:cNvPr>
          <p:cNvCxnSpPr>
            <a:cxnSpLocks/>
            <a:endCxn id="6" idx="1"/>
          </p:cNvCxnSpPr>
          <p:nvPr/>
        </p:nvCxnSpPr>
        <p:spPr>
          <a:xfrm>
            <a:off x="1200000" y="1945566"/>
            <a:ext cx="62726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3" name="直線矢印コネクタ 62">
            <a:extLst>
              <a:ext uri="{FF2B5EF4-FFF2-40B4-BE49-F238E27FC236}">
                <a16:creationId xmlns:a16="http://schemas.microsoft.com/office/drawing/2014/main" id="{3FB3898D-32A7-F3BD-395B-47642664FF79}"/>
              </a:ext>
            </a:extLst>
          </p:cNvPr>
          <p:cNvCxnSpPr>
            <a:cxnSpLocks/>
            <a:stCxn id="6" idx="3"/>
          </p:cNvCxnSpPr>
          <p:nvPr/>
        </p:nvCxnSpPr>
        <p:spPr>
          <a:xfrm>
            <a:off x="3267264" y="1945566"/>
            <a:ext cx="598579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1" name="直線矢印コネクタ 70">
            <a:extLst>
              <a:ext uri="{FF2B5EF4-FFF2-40B4-BE49-F238E27FC236}">
                <a16:creationId xmlns:a16="http://schemas.microsoft.com/office/drawing/2014/main" id="{C049144C-3BE6-3142-924D-CC435741D50B}"/>
              </a:ext>
            </a:extLst>
          </p:cNvPr>
          <p:cNvCxnSpPr>
            <a:cxnSpLocks/>
            <a:endCxn id="49" idx="1"/>
          </p:cNvCxnSpPr>
          <p:nvPr/>
        </p:nvCxnSpPr>
        <p:spPr>
          <a:xfrm>
            <a:off x="5334528" y="3015670"/>
            <a:ext cx="62726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8" name="直線矢印コネクタ 77">
            <a:extLst>
              <a:ext uri="{FF2B5EF4-FFF2-40B4-BE49-F238E27FC236}">
                <a16:creationId xmlns:a16="http://schemas.microsoft.com/office/drawing/2014/main" id="{C4D8CA25-C662-4C4D-1624-8F5705064DB7}"/>
              </a:ext>
            </a:extLst>
          </p:cNvPr>
          <p:cNvCxnSpPr>
            <a:cxnSpLocks/>
            <a:endCxn id="57" idx="1"/>
          </p:cNvCxnSpPr>
          <p:nvPr/>
        </p:nvCxnSpPr>
        <p:spPr>
          <a:xfrm>
            <a:off x="3267264" y="5161458"/>
            <a:ext cx="62726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2" name="直線矢印コネクタ 81">
            <a:extLst>
              <a:ext uri="{FF2B5EF4-FFF2-40B4-BE49-F238E27FC236}">
                <a16:creationId xmlns:a16="http://schemas.microsoft.com/office/drawing/2014/main" id="{2158B412-89E6-656B-DF13-1A9784CA982F}"/>
              </a:ext>
            </a:extLst>
          </p:cNvPr>
          <p:cNvCxnSpPr>
            <a:cxnSpLocks/>
            <a:endCxn id="55" idx="1"/>
          </p:cNvCxnSpPr>
          <p:nvPr/>
        </p:nvCxnSpPr>
        <p:spPr>
          <a:xfrm>
            <a:off x="5334528" y="4092913"/>
            <a:ext cx="62726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5" name="直線矢印コネクタ 84">
            <a:extLst>
              <a:ext uri="{FF2B5EF4-FFF2-40B4-BE49-F238E27FC236}">
                <a16:creationId xmlns:a16="http://schemas.microsoft.com/office/drawing/2014/main" id="{00BB9681-3A1E-C4C5-C7ED-9DBEB8592816}"/>
              </a:ext>
            </a:extLst>
          </p:cNvPr>
          <p:cNvCxnSpPr>
            <a:cxnSpLocks/>
            <a:stCxn id="49" idx="3"/>
          </p:cNvCxnSpPr>
          <p:nvPr/>
        </p:nvCxnSpPr>
        <p:spPr>
          <a:xfrm>
            <a:off x="8625792" y="3015670"/>
            <a:ext cx="627263" cy="5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8" name="直線矢印コネクタ 87">
            <a:extLst>
              <a:ext uri="{FF2B5EF4-FFF2-40B4-BE49-F238E27FC236}">
                <a16:creationId xmlns:a16="http://schemas.microsoft.com/office/drawing/2014/main" id="{0CAAB6A6-137C-9AD0-4E53-0669379703B1}"/>
              </a:ext>
            </a:extLst>
          </p:cNvPr>
          <p:cNvCxnSpPr>
            <a:cxnSpLocks/>
            <a:stCxn id="55" idx="3"/>
          </p:cNvCxnSpPr>
          <p:nvPr/>
        </p:nvCxnSpPr>
        <p:spPr>
          <a:xfrm flipV="1">
            <a:off x="8625792" y="4089494"/>
            <a:ext cx="627263" cy="34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1" name="直線矢印コネクタ 90">
            <a:extLst>
              <a:ext uri="{FF2B5EF4-FFF2-40B4-BE49-F238E27FC236}">
                <a16:creationId xmlns:a16="http://schemas.microsoft.com/office/drawing/2014/main" id="{EEC1F491-87E0-CB15-4F23-B42762C8CBE0}"/>
              </a:ext>
            </a:extLst>
          </p:cNvPr>
          <p:cNvCxnSpPr>
            <a:cxnSpLocks/>
            <a:stCxn id="57" idx="3"/>
          </p:cNvCxnSpPr>
          <p:nvPr/>
        </p:nvCxnSpPr>
        <p:spPr>
          <a:xfrm>
            <a:off x="5334528" y="5161458"/>
            <a:ext cx="391852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7" name="直線矢印コネクタ 96">
            <a:extLst>
              <a:ext uri="{FF2B5EF4-FFF2-40B4-BE49-F238E27FC236}">
                <a16:creationId xmlns:a16="http://schemas.microsoft.com/office/drawing/2014/main" id="{D5988819-9E17-9341-4A04-C9E3DCFE4AF9}"/>
              </a:ext>
            </a:extLst>
          </p:cNvPr>
          <p:cNvCxnSpPr>
            <a:cxnSpLocks/>
            <a:endCxn id="7" idx="1"/>
          </p:cNvCxnSpPr>
          <p:nvPr/>
        </p:nvCxnSpPr>
        <p:spPr>
          <a:xfrm flipV="1">
            <a:off x="1200000" y="4016512"/>
            <a:ext cx="627264" cy="9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正方形/長方形 8">
            <a:extLst>
              <a:ext uri="{FF2B5EF4-FFF2-40B4-BE49-F238E27FC236}">
                <a16:creationId xmlns:a16="http://schemas.microsoft.com/office/drawing/2014/main" id="{9D10504B-AAEE-96FC-DDCD-7CBF3AC205E9}"/>
              </a:ext>
            </a:extLst>
          </p:cNvPr>
          <p:cNvSpPr/>
          <p:nvPr/>
        </p:nvSpPr>
        <p:spPr>
          <a:xfrm>
            <a:off x="3894528" y="2619670"/>
            <a:ext cx="1440000" cy="1788312"/>
          </a:xfrm>
          <a:prstGeom prst="rect">
            <a:avLst/>
          </a:prstGeom>
          <a:solidFill>
            <a:schemeClr val="bg1"/>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600" dirty="0">
                <a:solidFill>
                  <a:schemeClr val="tx1"/>
                </a:solidFill>
              </a:rPr>
              <a:t>B</a:t>
            </a:r>
            <a:r>
              <a:rPr kumimoji="1" lang="ja-JP" altLang="en-US" sz="1600" dirty="0">
                <a:solidFill>
                  <a:schemeClr val="tx1"/>
                </a:solidFill>
              </a:rPr>
              <a:t>群の書類あり</a:t>
            </a:r>
            <a:endParaRPr kumimoji="1" lang="en-US" altLang="ja-JP" sz="1600" dirty="0">
              <a:solidFill>
                <a:schemeClr val="tx1"/>
              </a:solidFill>
            </a:endParaRPr>
          </a:p>
        </p:txBody>
      </p:sp>
      <p:sp>
        <p:nvSpPr>
          <p:cNvPr id="7" name="正方形/長方形 6">
            <a:extLst>
              <a:ext uri="{FF2B5EF4-FFF2-40B4-BE49-F238E27FC236}">
                <a16:creationId xmlns:a16="http://schemas.microsoft.com/office/drawing/2014/main" id="{F95FE21F-EEBF-4E02-186E-8F976D114265}"/>
              </a:ext>
            </a:extLst>
          </p:cNvPr>
          <p:cNvSpPr/>
          <p:nvPr/>
        </p:nvSpPr>
        <p:spPr>
          <a:xfrm>
            <a:off x="1827264" y="2619670"/>
            <a:ext cx="1440000" cy="2793683"/>
          </a:xfrm>
          <a:prstGeom prst="rect">
            <a:avLst/>
          </a:prstGeom>
          <a:solidFill>
            <a:schemeClr val="bg1"/>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600" dirty="0">
                <a:solidFill>
                  <a:schemeClr val="tx1"/>
                </a:solidFill>
              </a:rPr>
              <a:t>顔写真なし</a:t>
            </a:r>
          </a:p>
        </p:txBody>
      </p:sp>
      <p:sp>
        <p:nvSpPr>
          <p:cNvPr id="100" name="正方形/長方形 99">
            <a:extLst>
              <a:ext uri="{FF2B5EF4-FFF2-40B4-BE49-F238E27FC236}">
                <a16:creationId xmlns:a16="http://schemas.microsoft.com/office/drawing/2014/main" id="{7019DF40-F04B-E1DF-02BA-B851021D2F48}"/>
              </a:ext>
            </a:extLst>
          </p:cNvPr>
          <p:cNvSpPr/>
          <p:nvPr/>
        </p:nvSpPr>
        <p:spPr>
          <a:xfrm>
            <a:off x="264000" y="152636"/>
            <a:ext cx="11664000" cy="680400"/>
          </a:xfrm>
          <a:prstGeom prst="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t>書類別の本人確認方法</a:t>
            </a:r>
          </a:p>
        </p:txBody>
      </p:sp>
      <p:sp>
        <p:nvSpPr>
          <p:cNvPr id="101" name="吹き出し: 折線 100">
            <a:extLst>
              <a:ext uri="{FF2B5EF4-FFF2-40B4-BE49-F238E27FC236}">
                <a16:creationId xmlns:a16="http://schemas.microsoft.com/office/drawing/2014/main" id="{4C906D22-F87C-19AC-E193-195B051B4F7D}"/>
              </a:ext>
            </a:extLst>
          </p:cNvPr>
          <p:cNvSpPr/>
          <p:nvPr/>
        </p:nvSpPr>
        <p:spPr>
          <a:xfrm>
            <a:off x="3419949" y="995760"/>
            <a:ext cx="2270066" cy="1398862"/>
          </a:xfrm>
          <a:prstGeom prst="borderCallout2">
            <a:avLst>
              <a:gd name="adj1" fmla="val 32138"/>
              <a:gd name="adj2" fmla="val -626"/>
              <a:gd name="adj3" fmla="val 32343"/>
              <a:gd name="adj4" fmla="val -7126"/>
              <a:gd name="adj5" fmla="val 46696"/>
              <a:gd name="adj6" fmla="val -13111"/>
            </a:avLst>
          </a:prstGeom>
          <a:solidFill>
            <a:schemeClr val="accent1">
              <a:lumMod val="20000"/>
              <a:lumOff val="80000"/>
            </a:schemeClr>
          </a:solidFill>
          <a:ln w="9525">
            <a:solidFill>
              <a:schemeClr val="tx1"/>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tx1"/>
                </a:solidFill>
              </a:rPr>
              <a:t>①運転免許証</a:t>
            </a:r>
            <a:br>
              <a:rPr kumimoji="1" lang="en-US" altLang="ja-JP" sz="1100" dirty="0">
                <a:solidFill>
                  <a:schemeClr val="tx1"/>
                </a:solidFill>
              </a:rPr>
            </a:br>
            <a:r>
              <a:rPr kumimoji="1" lang="ja-JP" altLang="en-US" sz="1100" dirty="0">
                <a:solidFill>
                  <a:schemeClr val="tx1"/>
                </a:solidFill>
              </a:rPr>
              <a:t>②在留カード、③特別永住者証明書④旅券、⑤個人番号カード</a:t>
            </a:r>
            <a:br>
              <a:rPr kumimoji="1" lang="en-US" altLang="ja-JP" sz="1100" dirty="0">
                <a:solidFill>
                  <a:schemeClr val="tx1"/>
                </a:solidFill>
              </a:rPr>
            </a:br>
            <a:r>
              <a:rPr kumimoji="1" lang="ja-JP" altLang="en-US" sz="1100" dirty="0">
                <a:solidFill>
                  <a:schemeClr val="tx1"/>
                </a:solidFill>
              </a:rPr>
              <a:t>⑥住民基本台帳カード</a:t>
            </a:r>
            <a:endParaRPr kumimoji="1" lang="en-US" altLang="ja-JP" sz="1100" dirty="0">
              <a:solidFill>
                <a:schemeClr val="tx1"/>
              </a:solidFill>
            </a:endParaRPr>
          </a:p>
          <a:p>
            <a:r>
              <a:rPr kumimoji="1" lang="ja-JP" altLang="en-US" sz="1100" dirty="0">
                <a:solidFill>
                  <a:schemeClr val="tx1"/>
                </a:solidFill>
              </a:rPr>
              <a:t>⑦身体障害者手帳</a:t>
            </a:r>
            <a:endParaRPr kumimoji="1" lang="en-US" altLang="ja-JP" sz="1100" dirty="0">
              <a:solidFill>
                <a:schemeClr val="tx1"/>
              </a:solidFill>
            </a:endParaRPr>
          </a:p>
          <a:p>
            <a:r>
              <a:rPr kumimoji="1" lang="ja-JP" altLang="en-US" sz="1100" dirty="0">
                <a:solidFill>
                  <a:schemeClr val="tx1"/>
                </a:solidFill>
              </a:rPr>
              <a:t>⑧運転経歴証明書</a:t>
            </a:r>
            <a:endParaRPr kumimoji="1" lang="en-US" altLang="ja-JP" sz="1100" dirty="0">
              <a:solidFill>
                <a:schemeClr val="tx1"/>
              </a:solidFill>
            </a:endParaRPr>
          </a:p>
          <a:p>
            <a:r>
              <a:rPr kumimoji="1" lang="ja-JP" altLang="en-US" sz="1100" dirty="0">
                <a:solidFill>
                  <a:schemeClr val="tx1"/>
                </a:solidFill>
              </a:rPr>
              <a:t>⑨官公庁から発行・発給された書類等（写真付き）等</a:t>
            </a:r>
          </a:p>
        </p:txBody>
      </p:sp>
      <p:sp>
        <p:nvSpPr>
          <p:cNvPr id="103" name="吹き出し: 折線 102">
            <a:extLst>
              <a:ext uri="{FF2B5EF4-FFF2-40B4-BE49-F238E27FC236}">
                <a16:creationId xmlns:a16="http://schemas.microsoft.com/office/drawing/2014/main" id="{0413EA53-8395-D6E6-4636-2D89FCC8D0A8}"/>
              </a:ext>
            </a:extLst>
          </p:cNvPr>
          <p:cNvSpPr/>
          <p:nvPr/>
        </p:nvSpPr>
        <p:spPr>
          <a:xfrm>
            <a:off x="649356" y="5246272"/>
            <a:ext cx="2967843" cy="1599487"/>
          </a:xfrm>
          <a:prstGeom prst="borderCallout2">
            <a:avLst>
              <a:gd name="adj1" fmla="val -32"/>
              <a:gd name="adj2" fmla="val 79907"/>
              <a:gd name="adj3" fmla="val -79051"/>
              <a:gd name="adj4" fmla="val 99619"/>
              <a:gd name="adj5" fmla="val -79062"/>
              <a:gd name="adj6" fmla="val 110370"/>
            </a:avLst>
          </a:prstGeom>
          <a:solidFill>
            <a:schemeClr val="accent1">
              <a:lumMod val="20000"/>
              <a:lumOff val="80000"/>
            </a:schemeClr>
          </a:solidFill>
          <a:ln w="9525">
            <a:solidFill>
              <a:schemeClr val="tx1"/>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tx1"/>
                </a:solidFill>
              </a:rPr>
              <a:t>①健康保険等の資格確認書</a:t>
            </a:r>
            <a:endParaRPr kumimoji="1" lang="en-US" altLang="ja-JP" sz="1100" strike="sngStrike" dirty="0">
              <a:solidFill>
                <a:schemeClr val="tx1"/>
              </a:solidFill>
            </a:endParaRPr>
          </a:p>
          <a:p>
            <a:r>
              <a:rPr kumimoji="1" lang="ja-JP" altLang="en-US" sz="1100" dirty="0">
                <a:solidFill>
                  <a:schemeClr val="tx1"/>
                </a:solidFill>
              </a:rPr>
              <a:t>②健康保険日雇特例被保険者手帳</a:t>
            </a:r>
            <a:endParaRPr kumimoji="1" lang="en-US" altLang="ja-JP" sz="1100" dirty="0">
              <a:solidFill>
                <a:schemeClr val="tx1"/>
              </a:solidFill>
            </a:endParaRPr>
          </a:p>
          <a:p>
            <a:r>
              <a:rPr kumimoji="1" lang="ja-JP" altLang="en-US" sz="1100" dirty="0">
                <a:solidFill>
                  <a:schemeClr val="tx1"/>
                </a:solidFill>
              </a:rPr>
              <a:t>③国家・地方公務員共済組合の資格確認書</a:t>
            </a:r>
            <a:endParaRPr kumimoji="1" lang="en-US" altLang="ja-JP" sz="1100" strike="sngStrike" dirty="0">
              <a:solidFill>
                <a:schemeClr val="tx1"/>
              </a:solidFill>
            </a:endParaRPr>
          </a:p>
          <a:p>
            <a:r>
              <a:rPr kumimoji="1" lang="ja-JP" altLang="en-US" sz="1100" dirty="0">
                <a:solidFill>
                  <a:schemeClr val="tx1"/>
                </a:solidFill>
              </a:rPr>
              <a:t>④私立学校教職員共済制度の資格確認書</a:t>
            </a:r>
            <a:endParaRPr kumimoji="1" lang="en-US" altLang="ja-JP" sz="1100" strike="sngStrike" dirty="0">
              <a:solidFill>
                <a:schemeClr val="tx1"/>
              </a:solidFill>
            </a:endParaRPr>
          </a:p>
          <a:p>
            <a:r>
              <a:rPr kumimoji="1" lang="ja-JP" altLang="en-US" sz="1100" dirty="0">
                <a:solidFill>
                  <a:schemeClr val="tx1"/>
                </a:solidFill>
              </a:rPr>
              <a:t>⑤後期高齢者医療資格確認書</a:t>
            </a:r>
            <a:endParaRPr kumimoji="1" lang="en-US" altLang="ja-JP" sz="1100" strike="sngStrike" dirty="0">
              <a:solidFill>
                <a:schemeClr val="tx1"/>
              </a:solidFill>
            </a:endParaRPr>
          </a:p>
          <a:p>
            <a:r>
              <a:rPr kumimoji="1" lang="ja-JP" altLang="en-US" sz="1100" dirty="0">
                <a:solidFill>
                  <a:schemeClr val="tx1"/>
                </a:solidFill>
              </a:rPr>
              <a:t>⑥国民年金手帳</a:t>
            </a:r>
            <a:endParaRPr kumimoji="1" lang="en-US" altLang="ja-JP" sz="1100" dirty="0">
              <a:solidFill>
                <a:schemeClr val="tx1"/>
              </a:solidFill>
            </a:endParaRPr>
          </a:p>
          <a:p>
            <a:r>
              <a:rPr kumimoji="1" lang="ja-JP" altLang="en-US" sz="1100" dirty="0">
                <a:solidFill>
                  <a:schemeClr val="tx1"/>
                </a:solidFill>
              </a:rPr>
              <a:t>⑦児童扶養手当証書</a:t>
            </a:r>
            <a:endParaRPr kumimoji="1" lang="en-US" altLang="ja-JP" sz="1100" dirty="0">
              <a:solidFill>
                <a:schemeClr val="tx1"/>
              </a:solidFill>
            </a:endParaRPr>
          </a:p>
          <a:p>
            <a:r>
              <a:rPr kumimoji="1" lang="ja-JP" altLang="en-US" sz="1100" dirty="0">
                <a:solidFill>
                  <a:schemeClr val="tx1"/>
                </a:solidFill>
              </a:rPr>
              <a:t>⑧母子健康手帳</a:t>
            </a:r>
            <a:endParaRPr kumimoji="1" lang="en-US" altLang="ja-JP" sz="1100" dirty="0">
              <a:solidFill>
                <a:schemeClr val="tx1"/>
              </a:solidFill>
            </a:endParaRPr>
          </a:p>
          <a:p>
            <a:r>
              <a:rPr kumimoji="1" lang="ja-JP" altLang="en-US" sz="1100" dirty="0">
                <a:solidFill>
                  <a:schemeClr val="tx1"/>
                </a:solidFill>
              </a:rPr>
              <a:t>⑨届出印に使用した印章の印鑑登録証明書　等</a:t>
            </a:r>
          </a:p>
        </p:txBody>
      </p:sp>
      <p:sp>
        <p:nvSpPr>
          <p:cNvPr id="104" name="吹き出し: 折線 103">
            <a:extLst>
              <a:ext uri="{FF2B5EF4-FFF2-40B4-BE49-F238E27FC236}">
                <a16:creationId xmlns:a16="http://schemas.microsoft.com/office/drawing/2014/main" id="{966D51F3-3684-5163-FFC2-9365C1EAB521}"/>
              </a:ext>
            </a:extLst>
          </p:cNvPr>
          <p:cNvSpPr/>
          <p:nvPr/>
        </p:nvSpPr>
        <p:spPr>
          <a:xfrm flipH="1">
            <a:off x="6081889" y="5647532"/>
            <a:ext cx="2498111" cy="939938"/>
          </a:xfrm>
          <a:prstGeom prst="borderCallout2">
            <a:avLst>
              <a:gd name="adj1" fmla="val 46407"/>
              <a:gd name="adj2" fmla="val 179"/>
              <a:gd name="adj3" fmla="val 45110"/>
              <a:gd name="adj4" fmla="val -11417"/>
              <a:gd name="adj5" fmla="val -14751"/>
              <a:gd name="adj6" fmla="val -30453"/>
            </a:avLst>
          </a:prstGeom>
          <a:solidFill>
            <a:schemeClr val="accent1">
              <a:lumMod val="20000"/>
              <a:lumOff val="80000"/>
            </a:schemeClr>
          </a:solidFill>
          <a:ln w="9525">
            <a:solidFill>
              <a:schemeClr val="tx1"/>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tx1"/>
                </a:solidFill>
              </a:rPr>
              <a:t>①戸籍の附票の写し</a:t>
            </a:r>
            <a:endParaRPr kumimoji="1" lang="en-US" altLang="ja-JP" sz="1100" dirty="0">
              <a:solidFill>
                <a:schemeClr val="tx1"/>
              </a:solidFill>
            </a:endParaRPr>
          </a:p>
          <a:p>
            <a:r>
              <a:rPr kumimoji="1" lang="ja-JP" altLang="en-US" sz="1100" dirty="0">
                <a:solidFill>
                  <a:schemeClr val="tx1"/>
                </a:solidFill>
              </a:rPr>
              <a:t>②住民票の写し</a:t>
            </a:r>
            <a:endParaRPr kumimoji="1" lang="en-US" altLang="ja-JP" sz="1100" dirty="0">
              <a:solidFill>
                <a:schemeClr val="tx1"/>
              </a:solidFill>
            </a:endParaRPr>
          </a:p>
          <a:p>
            <a:r>
              <a:rPr kumimoji="1" lang="ja-JP" altLang="en-US" sz="1100" dirty="0">
                <a:solidFill>
                  <a:schemeClr val="tx1"/>
                </a:solidFill>
              </a:rPr>
              <a:t>③住民票記載事項証明書</a:t>
            </a:r>
            <a:endParaRPr kumimoji="1" lang="en-US" altLang="ja-JP" sz="1100" dirty="0">
              <a:solidFill>
                <a:schemeClr val="tx1"/>
              </a:solidFill>
            </a:endParaRPr>
          </a:p>
          <a:p>
            <a:r>
              <a:rPr kumimoji="1" lang="ja-JP" altLang="en-US" sz="1100" dirty="0">
                <a:solidFill>
                  <a:schemeClr val="tx1"/>
                </a:solidFill>
              </a:rPr>
              <a:t>④印鑑登録証明書（</a:t>
            </a:r>
            <a:r>
              <a:rPr kumimoji="1" lang="en-US" altLang="ja-JP" sz="1100" dirty="0">
                <a:solidFill>
                  <a:schemeClr val="tx1"/>
                </a:solidFill>
              </a:rPr>
              <a:t>B</a:t>
            </a:r>
            <a:r>
              <a:rPr kumimoji="1" lang="ja-JP" altLang="en-US" sz="1100" dirty="0">
                <a:solidFill>
                  <a:schemeClr val="tx1"/>
                </a:solidFill>
              </a:rPr>
              <a:t>群の⑨を除く）</a:t>
            </a:r>
          </a:p>
        </p:txBody>
      </p:sp>
      <p:cxnSp>
        <p:nvCxnSpPr>
          <p:cNvPr id="44" name="直線矢印コネクタ 43">
            <a:extLst>
              <a:ext uri="{FF2B5EF4-FFF2-40B4-BE49-F238E27FC236}">
                <a16:creationId xmlns:a16="http://schemas.microsoft.com/office/drawing/2014/main" id="{29E63CDD-8B9B-B863-CA15-EFE43FC65230}"/>
              </a:ext>
            </a:extLst>
          </p:cNvPr>
          <p:cNvCxnSpPr>
            <a:cxnSpLocks/>
          </p:cNvCxnSpPr>
          <p:nvPr/>
        </p:nvCxnSpPr>
        <p:spPr>
          <a:xfrm>
            <a:off x="3267264" y="3513826"/>
            <a:ext cx="62726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吹き出し: 折線 44">
            <a:extLst>
              <a:ext uri="{FF2B5EF4-FFF2-40B4-BE49-F238E27FC236}">
                <a16:creationId xmlns:a16="http://schemas.microsoft.com/office/drawing/2014/main" id="{7A42802A-E791-7049-14D9-E77CF345B6DE}"/>
              </a:ext>
            </a:extLst>
          </p:cNvPr>
          <p:cNvSpPr/>
          <p:nvPr/>
        </p:nvSpPr>
        <p:spPr>
          <a:xfrm flipH="1">
            <a:off x="6061510" y="1010643"/>
            <a:ext cx="3490874" cy="859087"/>
          </a:xfrm>
          <a:prstGeom prst="borderCallout2">
            <a:avLst>
              <a:gd name="adj1" fmla="val 101005"/>
              <a:gd name="adj2" fmla="val 32675"/>
              <a:gd name="adj3" fmla="val 196729"/>
              <a:gd name="adj4" fmla="val 32711"/>
              <a:gd name="adj5" fmla="val 237211"/>
              <a:gd name="adj6" fmla="val 42532"/>
            </a:avLst>
          </a:prstGeom>
          <a:solidFill>
            <a:schemeClr val="accent1">
              <a:lumMod val="20000"/>
              <a:lumOff val="80000"/>
            </a:schemeClr>
          </a:solidFill>
          <a:ln w="9525">
            <a:solidFill>
              <a:schemeClr val="tx1"/>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tx1"/>
                </a:solidFill>
              </a:rPr>
              <a:t>①国税または地方税の領収証書</a:t>
            </a:r>
            <a:br>
              <a:rPr kumimoji="1" lang="en-US" altLang="ja-JP" sz="1100" dirty="0">
                <a:solidFill>
                  <a:schemeClr val="tx1"/>
                </a:solidFill>
              </a:rPr>
            </a:br>
            <a:r>
              <a:rPr kumimoji="1" lang="ja-JP" altLang="en-US" sz="1100" dirty="0">
                <a:solidFill>
                  <a:schemeClr val="tx1"/>
                </a:solidFill>
              </a:rPr>
              <a:t>または納税証明書</a:t>
            </a:r>
            <a:endParaRPr kumimoji="1" lang="en-US" altLang="ja-JP" sz="1100" dirty="0">
              <a:solidFill>
                <a:schemeClr val="tx1"/>
              </a:solidFill>
            </a:endParaRPr>
          </a:p>
          <a:p>
            <a:r>
              <a:rPr kumimoji="1" lang="ja-JP" altLang="en-US" sz="1100" dirty="0">
                <a:solidFill>
                  <a:schemeClr val="tx1"/>
                </a:solidFill>
              </a:rPr>
              <a:t>②社会保険料の領収証書</a:t>
            </a:r>
            <a:endParaRPr kumimoji="1" lang="en-US" altLang="ja-JP" sz="1100" dirty="0">
              <a:solidFill>
                <a:schemeClr val="tx1"/>
              </a:solidFill>
            </a:endParaRPr>
          </a:p>
          <a:p>
            <a:r>
              <a:rPr kumimoji="1" lang="ja-JP" altLang="en-US" sz="1100" dirty="0">
                <a:solidFill>
                  <a:schemeClr val="tx1"/>
                </a:solidFill>
              </a:rPr>
              <a:t>③公共料金（電気・ガス・水道・電話・</a:t>
            </a:r>
            <a:r>
              <a:rPr kumimoji="1" lang="en-US" altLang="ja-JP" sz="1100" dirty="0">
                <a:solidFill>
                  <a:schemeClr val="tx1"/>
                </a:solidFill>
              </a:rPr>
              <a:t>NHK</a:t>
            </a:r>
            <a:r>
              <a:rPr kumimoji="1" lang="ja-JP" altLang="en-US" sz="1100" dirty="0">
                <a:solidFill>
                  <a:schemeClr val="tx1"/>
                </a:solidFill>
              </a:rPr>
              <a:t>）の領収証書</a:t>
            </a:r>
            <a:endParaRPr kumimoji="1" lang="en-US" altLang="ja-JP" sz="1100" dirty="0">
              <a:solidFill>
                <a:schemeClr val="tx1"/>
              </a:solidFill>
            </a:endParaRPr>
          </a:p>
          <a:p>
            <a:r>
              <a:rPr kumimoji="1" lang="en-US" altLang="ja-JP" sz="1100" dirty="0">
                <a:solidFill>
                  <a:schemeClr val="tx1"/>
                </a:solidFill>
              </a:rPr>
              <a:t>※</a:t>
            </a:r>
            <a:r>
              <a:rPr kumimoji="1" lang="ja-JP" altLang="en-US" sz="1100" dirty="0">
                <a:solidFill>
                  <a:schemeClr val="tx1"/>
                </a:solidFill>
              </a:rPr>
              <a:t>携帯電話料金の領収証書は含まない</a:t>
            </a:r>
          </a:p>
        </p:txBody>
      </p:sp>
      <p:sp>
        <p:nvSpPr>
          <p:cNvPr id="3" name="四角形: 角を丸くする 2">
            <a:extLst>
              <a:ext uri="{FF2B5EF4-FFF2-40B4-BE49-F238E27FC236}">
                <a16:creationId xmlns:a16="http://schemas.microsoft.com/office/drawing/2014/main" id="{13DB64D8-1947-767D-D664-606E3A2DF1B3}"/>
              </a:ext>
            </a:extLst>
          </p:cNvPr>
          <p:cNvSpPr/>
          <p:nvPr/>
        </p:nvSpPr>
        <p:spPr>
          <a:xfrm>
            <a:off x="5102591" y="909689"/>
            <a:ext cx="648000" cy="222316"/>
          </a:xfrm>
          <a:prstGeom prst="round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chemeClr val="bg1"/>
                </a:solidFill>
              </a:rPr>
              <a:t>A</a:t>
            </a:r>
            <a:r>
              <a:rPr kumimoji="1" lang="ja-JP" altLang="en-US" sz="1600" b="1" dirty="0">
                <a:solidFill>
                  <a:schemeClr val="bg1"/>
                </a:solidFill>
              </a:rPr>
              <a:t>群</a:t>
            </a:r>
          </a:p>
        </p:txBody>
      </p:sp>
      <p:sp>
        <p:nvSpPr>
          <p:cNvPr id="4" name="四角形: 角を丸くする 3">
            <a:extLst>
              <a:ext uri="{FF2B5EF4-FFF2-40B4-BE49-F238E27FC236}">
                <a16:creationId xmlns:a16="http://schemas.microsoft.com/office/drawing/2014/main" id="{633CA1E3-87C5-DFEF-CC40-514A5AB7BC2B}"/>
              </a:ext>
            </a:extLst>
          </p:cNvPr>
          <p:cNvSpPr/>
          <p:nvPr/>
        </p:nvSpPr>
        <p:spPr>
          <a:xfrm>
            <a:off x="9032046" y="949363"/>
            <a:ext cx="648000" cy="222316"/>
          </a:xfrm>
          <a:prstGeom prst="round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chemeClr val="bg1"/>
                </a:solidFill>
              </a:rPr>
              <a:t>D</a:t>
            </a:r>
            <a:r>
              <a:rPr kumimoji="1" lang="ja-JP" altLang="en-US" sz="1600" b="1" dirty="0">
                <a:solidFill>
                  <a:schemeClr val="bg1"/>
                </a:solidFill>
              </a:rPr>
              <a:t>群</a:t>
            </a:r>
          </a:p>
        </p:txBody>
      </p:sp>
      <p:sp>
        <p:nvSpPr>
          <p:cNvPr id="5" name="四角形: 角を丸くする 4">
            <a:extLst>
              <a:ext uri="{FF2B5EF4-FFF2-40B4-BE49-F238E27FC236}">
                <a16:creationId xmlns:a16="http://schemas.microsoft.com/office/drawing/2014/main" id="{B7D211D8-A6E9-24FA-C31B-80D2232F69DF}"/>
              </a:ext>
            </a:extLst>
          </p:cNvPr>
          <p:cNvSpPr/>
          <p:nvPr/>
        </p:nvSpPr>
        <p:spPr>
          <a:xfrm>
            <a:off x="7986512" y="5536374"/>
            <a:ext cx="648000" cy="222316"/>
          </a:xfrm>
          <a:prstGeom prst="round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chemeClr val="bg1"/>
                </a:solidFill>
              </a:rPr>
              <a:t>C</a:t>
            </a:r>
            <a:r>
              <a:rPr kumimoji="1" lang="ja-JP" altLang="en-US" sz="1600" b="1" dirty="0">
                <a:solidFill>
                  <a:schemeClr val="bg1"/>
                </a:solidFill>
              </a:rPr>
              <a:t>群</a:t>
            </a:r>
          </a:p>
        </p:txBody>
      </p:sp>
      <p:sp>
        <p:nvSpPr>
          <p:cNvPr id="10" name="四角形: 角を丸くする 9">
            <a:extLst>
              <a:ext uri="{FF2B5EF4-FFF2-40B4-BE49-F238E27FC236}">
                <a16:creationId xmlns:a16="http://schemas.microsoft.com/office/drawing/2014/main" id="{3D5D7EAB-574C-13EA-67B4-850A96A3A2B7}"/>
              </a:ext>
            </a:extLst>
          </p:cNvPr>
          <p:cNvSpPr/>
          <p:nvPr/>
        </p:nvSpPr>
        <p:spPr>
          <a:xfrm>
            <a:off x="3023264" y="5192415"/>
            <a:ext cx="648000" cy="222316"/>
          </a:xfrm>
          <a:prstGeom prst="round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chemeClr val="bg1"/>
                </a:solidFill>
              </a:rPr>
              <a:t>B</a:t>
            </a:r>
            <a:r>
              <a:rPr kumimoji="1" lang="ja-JP" altLang="en-US" sz="1600" b="1" dirty="0">
                <a:solidFill>
                  <a:schemeClr val="bg1"/>
                </a:solidFill>
              </a:rPr>
              <a:t>群</a:t>
            </a:r>
          </a:p>
        </p:txBody>
      </p:sp>
    </p:spTree>
    <p:extLst>
      <p:ext uri="{BB962C8B-B14F-4D97-AF65-F5344CB8AC3E}">
        <p14:creationId xmlns:p14="http://schemas.microsoft.com/office/powerpoint/2010/main" val="3362573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 5">
            <a:extLst>
              <a:ext uri="{FF2B5EF4-FFF2-40B4-BE49-F238E27FC236}">
                <a16:creationId xmlns:a16="http://schemas.microsoft.com/office/drawing/2014/main" id="{CE25DDA2-B334-4986-3F5B-4D843780EE73}"/>
              </a:ext>
            </a:extLst>
          </p:cNvPr>
          <p:cNvGraphicFramePr>
            <a:graphicFrameLocks noGrp="1"/>
          </p:cNvGraphicFramePr>
          <p:nvPr>
            <p:extLst>
              <p:ext uri="{D42A27DB-BD31-4B8C-83A1-F6EECF244321}">
                <p14:modId xmlns:p14="http://schemas.microsoft.com/office/powerpoint/2010/main" val="842239637"/>
              </p:ext>
            </p:extLst>
          </p:nvPr>
        </p:nvGraphicFramePr>
        <p:xfrm>
          <a:off x="192000" y="117001"/>
          <a:ext cx="11664000" cy="6485526"/>
        </p:xfrm>
        <a:graphic>
          <a:graphicData uri="http://schemas.openxmlformats.org/drawingml/2006/table">
            <a:tbl>
              <a:tblPr>
                <a:tableStyleId>{7E9639D4-E3E2-4D34-9284-5A2195B3D0D7}</a:tableStyleId>
              </a:tblPr>
              <a:tblGrid>
                <a:gridCol w="1080000">
                  <a:extLst>
                    <a:ext uri="{9D8B030D-6E8A-4147-A177-3AD203B41FA5}">
                      <a16:colId xmlns:a16="http://schemas.microsoft.com/office/drawing/2014/main" val="1602421370"/>
                    </a:ext>
                  </a:extLst>
                </a:gridCol>
                <a:gridCol w="6696000">
                  <a:extLst>
                    <a:ext uri="{9D8B030D-6E8A-4147-A177-3AD203B41FA5}">
                      <a16:colId xmlns:a16="http://schemas.microsoft.com/office/drawing/2014/main" val="3394598843"/>
                    </a:ext>
                  </a:extLst>
                </a:gridCol>
                <a:gridCol w="3888000">
                  <a:extLst>
                    <a:ext uri="{9D8B030D-6E8A-4147-A177-3AD203B41FA5}">
                      <a16:colId xmlns:a16="http://schemas.microsoft.com/office/drawing/2014/main" val="456287621"/>
                    </a:ext>
                  </a:extLst>
                </a:gridCol>
              </a:tblGrid>
              <a:tr h="262305">
                <a:tc>
                  <a:txBody>
                    <a:bodyPr/>
                    <a:lstStyle/>
                    <a:p>
                      <a:r>
                        <a:rPr lang="ja-JP" altLang="en-US" sz="1600" b="1" dirty="0">
                          <a:solidFill>
                            <a:schemeClr val="bg1"/>
                          </a:solidFill>
                        </a:rPr>
                        <a:t>種類</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r>
                        <a:rPr lang="ja-JP" altLang="en-US" sz="1600" b="1" dirty="0">
                          <a:solidFill>
                            <a:schemeClr val="bg1"/>
                          </a:solidFill>
                        </a:rPr>
                        <a:t>確認書類</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r>
                        <a:rPr lang="ja-JP" altLang="en-US" sz="1600" b="1" dirty="0">
                          <a:solidFill>
                            <a:schemeClr val="bg1"/>
                          </a:solidFill>
                        </a:rPr>
                        <a:t>有効期限</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487429639"/>
                  </a:ext>
                </a:extLst>
              </a:tr>
              <a:tr h="438486">
                <a:tc rowSpan="11">
                  <a:txBody>
                    <a:bodyPr/>
                    <a:lstStyle/>
                    <a:p>
                      <a:r>
                        <a:rPr lang="ja-JP" altLang="en-US" sz="1400" b="0" dirty="0"/>
                        <a:t>基本書類</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400" dirty="0"/>
                        <a:t>運転経歴証明書</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400" dirty="0">
                          <a:solidFill>
                            <a:schemeClr val="tx1"/>
                          </a:solidFill>
                        </a:rPr>
                        <a:t>平成</a:t>
                      </a:r>
                      <a:r>
                        <a:rPr kumimoji="1" lang="en-US" altLang="ja-JP" sz="1400" dirty="0">
                          <a:solidFill>
                            <a:schemeClr val="tx1"/>
                          </a:solidFill>
                        </a:rPr>
                        <a:t>24</a:t>
                      </a:r>
                      <a:r>
                        <a:rPr kumimoji="1" lang="ja-JP" altLang="en-US" sz="1400" dirty="0">
                          <a:solidFill>
                            <a:schemeClr val="tx1"/>
                          </a:solidFill>
                        </a:rPr>
                        <a:t>年</a:t>
                      </a:r>
                      <a:r>
                        <a:rPr kumimoji="1" lang="en-US" altLang="ja-JP" sz="1400" dirty="0">
                          <a:solidFill>
                            <a:schemeClr val="tx1"/>
                          </a:solidFill>
                        </a:rPr>
                        <a:t>4</a:t>
                      </a:r>
                      <a:r>
                        <a:rPr kumimoji="1" lang="ja-JP" altLang="en-US" sz="1400" dirty="0">
                          <a:solidFill>
                            <a:schemeClr val="tx1"/>
                          </a:solidFill>
                        </a:rPr>
                        <a:t>月</a:t>
                      </a:r>
                      <a:r>
                        <a:rPr kumimoji="1" lang="en-US" altLang="ja-JP" sz="1400" dirty="0">
                          <a:solidFill>
                            <a:schemeClr val="tx1"/>
                          </a:solidFill>
                        </a:rPr>
                        <a:t>1</a:t>
                      </a:r>
                      <a:r>
                        <a:rPr kumimoji="1" lang="ja-JP" altLang="en-US" sz="1400" dirty="0">
                          <a:solidFill>
                            <a:schemeClr val="tx1"/>
                          </a:solidFill>
                        </a:rPr>
                        <a:t>日以降発行のものに限る</a:t>
                      </a:r>
                      <a:endParaRPr kumimoji="1" lang="ja-JP" altLang="en-US" sz="1400" b="0" i="0" u="none" strike="noStrike" kern="1200" baseline="0" dirty="0">
                        <a:solidFill>
                          <a:schemeClr val="tx1"/>
                        </a:solidFill>
                        <a:latin typeface="+mn-lt"/>
                        <a:ea typeface="+mn-ea"/>
                        <a:cs typeface="+mn-cs"/>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54539959"/>
                  </a:ext>
                </a:extLst>
              </a:tr>
              <a:tr h="232942">
                <a:tc vMerge="1">
                  <a:txBody>
                    <a:bodyPr/>
                    <a:lstStyle/>
                    <a:p>
                      <a:endParaRPr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400" dirty="0"/>
                        <a:t>運転免許証</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3">
                  <a:txBody>
                    <a:bodyPr/>
                    <a:lstStyle/>
                    <a:p>
                      <a:r>
                        <a:rPr lang="ja-JP" altLang="en-US" sz="1400" dirty="0"/>
                        <a:t>当該書類の有効期限内</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6170261"/>
                  </a:ext>
                </a:extLst>
              </a:tr>
              <a:tr h="232942">
                <a:tc vMerge="1">
                  <a:txBody>
                    <a:bodyPr/>
                    <a:lstStyle/>
                    <a:p>
                      <a:endParaRPr lang="ja-JP" altLang="en-US" sz="160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400" dirty="0"/>
                        <a:t>在留カード</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2812049"/>
                  </a:ext>
                </a:extLst>
              </a:tr>
              <a:tr h="232942">
                <a:tc vMerge="1">
                  <a:txBody>
                    <a:bodyPr/>
                    <a:lstStyle/>
                    <a:p>
                      <a:endParaRPr lang="ja-JP" altLang="en-US" sz="16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400" dirty="0"/>
                        <a:t>特別永住者証明書</a:t>
                      </a:r>
                      <a:endParaRPr lang="en-US" altLang="zh-TW" sz="14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0106207"/>
                  </a:ext>
                </a:extLst>
              </a:tr>
              <a:tr h="232942">
                <a:tc vMerge="1">
                  <a:txBody>
                    <a:bodyPr/>
                    <a:lstStyle/>
                    <a:p>
                      <a:endParaRPr lang="ja-JP" altLang="en-US" sz="160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400" dirty="0"/>
                        <a:t>旅券</a:t>
                      </a:r>
                      <a:endParaRPr lang="en-US" altLang="ja-JP" sz="14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23757288"/>
                  </a:ext>
                </a:extLst>
              </a:tr>
              <a:tr h="232942">
                <a:tc vMerge="1">
                  <a:txBody>
                    <a:bodyPr/>
                    <a:lstStyle/>
                    <a:p>
                      <a:endParaRPr lang="ja-JP" altLang="en-US" sz="16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400" dirty="0"/>
                        <a:t>個人番号カード</a:t>
                      </a:r>
                      <a:endParaRPr lang="en-US" altLang="ja-JP" sz="14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805096"/>
                  </a:ext>
                </a:extLst>
              </a:tr>
              <a:tr h="232942">
                <a:tc vMerge="1">
                  <a:txBody>
                    <a:bodyPr/>
                    <a:lstStyle/>
                    <a:p>
                      <a:endParaRPr lang="ja-JP" altLang="en-US" sz="160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400" dirty="0"/>
                        <a:t>住民基本台帳カード（顔写真付）</a:t>
                      </a:r>
                      <a:endParaRPr lang="en-US" altLang="ja-JP" sz="14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915618"/>
                  </a:ext>
                </a:extLst>
              </a:tr>
              <a:tr h="232942">
                <a:tc vMerge="1">
                  <a:txBody>
                    <a:bodyPr/>
                    <a:lstStyle/>
                    <a:p>
                      <a:endParaRPr lang="ja-JP" altLang="en-US" sz="16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400" dirty="0"/>
                        <a:t>身体障害者手帳</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1508240"/>
                  </a:ext>
                </a:extLst>
              </a:tr>
              <a:tr h="232942">
                <a:tc vMerge="1">
                  <a:txBody>
                    <a:bodyPr/>
                    <a:lstStyle/>
                    <a:p>
                      <a:endParaRPr lang="ja-JP" altLang="en-US" sz="16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400"/>
                        <a:t>精神障害者保健福祉手帳</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8081003"/>
                  </a:ext>
                </a:extLst>
              </a:tr>
              <a:tr h="232942">
                <a:tc vMerge="1">
                  <a:txBody>
                    <a:bodyPr/>
                    <a:lstStyle/>
                    <a:p>
                      <a:endParaRPr lang="ja-JP" altLang="en-US" sz="16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400" dirty="0"/>
                        <a:t>療育手帳</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7607918"/>
                  </a:ext>
                </a:extLst>
              </a:tr>
              <a:tr h="232942">
                <a:tc vMerge="1">
                  <a:txBody>
                    <a:bodyPr/>
                    <a:lstStyle/>
                    <a:p>
                      <a:endParaRPr lang="ja-JP" altLang="en-US" sz="16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400" dirty="0"/>
                        <a:t>戦傷病者手帳</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23898568"/>
                  </a:ext>
                </a:extLst>
              </a:tr>
              <a:tr h="232942">
                <a:tc rowSpan="13">
                  <a:txBody>
                    <a:bodyPr/>
                    <a:lstStyle/>
                    <a:p>
                      <a:r>
                        <a:rPr lang="ja-JP" altLang="en-US" sz="1400" b="0" dirty="0"/>
                        <a:t>官公庁から発行・発給された書類（顔写真付き）等</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400" dirty="0"/>
                        <a:t>小型船舶操縦免許証</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9655476"/>
                  </a:ext>
                </a:extLst>
              </a:tr>
              <a:tr h="232942">
                <a:tc vMerge="1">
                  <a:txBody>
                    <a:bodyPr/>
                    <a:lstStyle/>
                    <a:p>
                      <a:endParaRPr lang="ja-JP" altLang="en-US" sz="16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400" dirty="0"/>
                        <a:t>猟銃・空気銃所持許可証</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45298250"/>
                  </a:ext>
                </a:extLst>
              </a:tr>
              <a:tr h="232942">
                <a:tc vMerge="1">
                  <a:txBody>
                    <a:bodyPr/>
                    <a:lstStyle/>
                    <a:p>
                      <a:endParaRPr lang="ja-JP" altLang="en-US" sz="16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400" dirty="0"/>
                        <a:t>宅地建物取引主任者証、宅地建物取引士証</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67980717"/>
                  </a:ext>
                </a:extLst>
              </a:tr>
              <a:tr h="232942">
                <a:tc vMerge="1">
                  <a:txBody>
                    <a:bodyPr/>
                    <a:lstStyle/>
                    <a:p>
                      <a:endParaRPr lang="ja-JP" altLang="en-US" sz="16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400" dirty="0"/>
                        <a:t>電気工事士免状</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83860913"/>
                  </a:ext>
                </a:extLst>
              </a:tr>
              <a:tr h="232942">
                <a:tc vMerge="1">
                  <a:txBody>
                    <a:bodyPr/>
                    <a:lstStyle/>
                    <a:p>
                      <a:endParaRPr lang="ja-JP" altLang="en-US" sz="160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400" dirty="0"/>
                        <a:t>認定電気工事従事者認定証</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47505509"/>
                  </a:ext>
                </a:extLst>
              </a:tr>
              <a:tr h="232942">
                <a:tc vMerge="1">
                  <a:txBody>
                    <a:bodyPr/>
                    <a:lstStyle/>
                    <a:p>
                      <a:endParaRPr lang="ja-JP" altLang="en-US" sz="16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400" dirty="0"/>
                        <a:t>特殊電気工事資格者認定証</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49440130"/>
                  </a:ext>
                </a:extLst>
              </a:tr>
              <a:tr h="232942">
                <a:tc vMerge="1">
                  <a:txBody>
                    <a:bodyPr/>
                    <a:lstStyle/>
                    <a:p>
                      <a:endParaRPr lang="ja-JP" altLang="en-US" sz="160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400" dirty="0"/>
                        <a:t>耐空検査員の証</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95750114"/>
                  </a:ext>
                </a:extLst>
              </a:tr>
              <a:tr h="232942">
                <a:tc vMerge="1">
                  <a:txBody>
                    <a:bodyPr/>
                    <a:lstStyle/>
                    <a:p>
                      <a:endParaRPr lang="ja-JP" altLang="en-US" sz="16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400" dirty="0"/>
                        <a:t>教習資格認定証</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02340607"/>
                  </a:ext>
                </a:extLst>
              </a:tr>
              <a:tr h="232942">
                <a:tc vMerge="1">
                  <a:txBody>
                    <a:bodyPr/>
                    <a:lstStyle/>
                    <a:p>
                      <a:endParaRPr lang="ja-JP" altLang="en-US" sz="16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400" dirty="0"/>
                        <a:t>国会議員身分証明書（氏名、住所、生年月日の記載があるもの）</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32563653"/>
                  </a:ext>
                </a:extLst>
              </a:tr>
              <a:tr h="438486">
                <a:tc vMerge="1">
                  <a:txBody>
                    <a:bodyPr/>
                    <a:lstStyle/>
                    <a:p>
                      <a:endParaRPr lang="ja-JP" altLang="en-US" sz="16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400" dirty="0"/>
                        <a:t>参議院議員公設秘書、参議院事務局職員、参議院法制局職員、裁判官弾劾裁判所職員の身分証明書（氏名、住所、生年月日の記載があるもの）</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85974785"/>
                  </a:ext>
                </a:extLst>
              </a:tr>
              <a:tr h="232942">
                <a:tc vMerge="1">
                  <a:txBody>
                    <a:bodyPr/>
                    <a:lstStyle/>
                    <a:p>
                      <a:endParaRPr lang="ja-JP" altLang="en-US" sz="160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400" dirty="0"/>
                        <a:t>衆議院議員公設秘書の身分証明書</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7679959"/>
                  </a:ext>
                </a:extLst>
              </a:tr>
              <a:tr h="232942">
                <a:tc vMerge="1">
                  <a:txBody>
                    <a:bodyPr/>
                    <a:lstStyle/>
                    <a:p>
                      <a:endParaRPr lang="ja-JP" altLang="en-US" sz="16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400" dirty="0"/>
                        <a:t>建設業法に基づく指定資格者証交付機関が発行する「監理技術者資格者証」</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2910406"/>
                  </a:ext>
                </a:extLst>
              </a:tr>
              <a:tr h="232942">
                <a:tc vMerge="1">
                  <a:txBody>
                    <a:bodyPr/>
                    <a:lstStyle/>
                    <a:p>
                      <a:endParaRPr lang="ja-JP" altLang="en-US" sz="16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400" dirty="0"/>
                        <a:t>在日外交官等に発給される身分証明票（個人住居の記載、所持人の署名があるもの）</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2726632"/>
                  </a:ext>
                </a:extLst>
              </a:tr>
            </a:tbl>
          </a:graphicData>
        </a:graphic>
      </p:graphicFrame>
    </p:spTree>
    <p:extLst>
      <p:ext uri="{BB962C8B-B14F-4D97-AF65-F5344CB8AC3E}">
        <p14:creationId xmlns:p14="http://schemas.microsoft.com/office/powerpoint/2010/main" val="1646730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BF15C57D-D7D2-22DF-53B4-77DD7DBA6C08}"/>
              </a:ext>
            </a:extLst>
          </p:cNvPr>
          <p:cNvGraphicFramePr>
            <a:graphicFrameLocks noGrp="1"/>
          </p:cNvGraphicFramePr>
          <p:nvPr>
            <p:extLst>
              <p:ext uri="{D42A27DB-BD31-4B8C-83A1-F6EECF244321}">
                <p14:modId xmlns:p14="http://schemas.microsoft.com/office/powerpoint/2010/main" val="1278419030"/>
              </p:ext>
            </p:extLst>
          </p:nvPr>
        </p:nvGraphicFramePr>
        <p:xfrm>
          <a:off x="264000" y="333000"/>
          <a:ext cx="11664000" cy="5510310"/>
        </p:xfrm>
        <a:graphic>
          <a:graphicData uri="http://schemas.openxmlformats.org/drawingml/2006/table">
            <a:tbl>
              <a:tblPr>
                <a:tableStyleId>{616DA210-FB5B-4158-B5E0-FEB733F419BA}</a:tableStyleId>
              </a:tblPr>
              <a:tblGrid>
                <a:gridCol w="1916229">
                  <a:extLst>
                    <a:ext uri="{9D8B030D-6E8A-4147-A177-3AD203B41FA5}">
                      <a16:colId xmlns:a16="http://schemas.microsoft.com/office/drawing/2014/main" val="1147674588"/>
                    </a:ext>
                  </a:extLst>
                </a:gridCol>
                <a:gridCol w="7196271">
                  <a:extLst>
                    <a:ext uri="{9D8B030D-6E8A-4147-A177-3AD203B41FA5}">
                      <a16:colId xmlns:a16="http://schemas.microsoft.com/office/drawing/2014/main" val="43521921"/>
                    </a:ext>
                  </a:extLst>
                </a:gridCol>
                <a:gridCol w="2551500">
                  <a:extLst>
                    <a:ext uri="{9D8B030D-6E8A-4147-A177-3AD203B41FA5}">
                      <a16:colId xmlns:a16="http://schemas.microsoft.com/office/drawing/2014/main" val="1464378148"/>
                    </a:ext>
                  </a:extLst>
                </a:gridCol>
              </a:tblGrid>
              <a:tr h="349642">
                <a:tc>
                  <a:txBody>
                    <a:bodyPr/>
                    <a:lstStyle/>
                    <a:p>
                      <a:r>
                        <a:rPr lang="ja-JP" altLang="en-US" sz="2400" b="1" dirty="0">
                          <a:solidFill>
                            <a:schemeClr val="bg1"/>
                          </a:solidFill>
                        </a:rPr>
                        <a:t>種類</a:t>
                      </a:r>
                    </a:p>
                  </a:txBody>
                  <a:tcPr marL="38170" marR="38170" marT="19085" marB="19085" anchor="ctr">
                    <a:solidFill>
                      <a:schemeClr val="accent1">
                        <a:lumMod val="75000"/>
                      </a:schemeClr>
                    </a:solidFill>
                  </a:tcPr>
                </a:tc>
                <a:tc>
                  <a:txBody>
                    <a:bodyPr/>
                    <a:lstStyle/>
                    <a:p>
                      <a:r>
                        <a:rPr lang="ja-JP" altLang="en-US" sz="2400" b="1" dirty="0">
                          <a:solidFill>
                            <a:schemeClr val="bg1"/>
                          </a:solidFill>
                        </a:rPr>
                        <a:t>確認書類</a:t>
                      </a:r>
                    </a:p>
                  </a:txBody>
                  <a:tcPr marL="38170" marR="38170" marT="19085" marB="19085" anchor="ctr">
                    <a:solidFill>
                      <a:schemeClr val="accent1">
                        <a:lumMod val="75000"/>
                      </a:schemeClr>
                    </a:solidFill>
                  </a:tcPr>
                </a:tc>
                <a:tc>
                  <a:txBody>
                    <a:bodyPr/>
                    <a:lstStyle/>
                    <a:p>
                      <a:r>
                        <a:rPr lang="ja-JP" altLang="en-US" sz="2400" b="1" dirty="0">
                          <a:solidFill>
                            <a:schemeClr val="bg1"/>
                          </a:solidFill>
                        </a:rPr>
                        <a:t>有効期限</a:t>
                      </a:r>
                    </a:p>
                  </a:txBody>
                  <a:tcPr marL="38170" marR="38170" marT="19085" marB="19085" anchor="ctr">
                    <a:solidFill>
                      <a:schemeClr val="accent1">
                        <a:lumMod val="75000"/>
                      </a:schemeClr>
                    </a:solidFill>
                  </a:tcPr>
                </a:tc>
                <a:extLst>
                  <a:ext uri="{0D108BD9-81ED-4DB2-BD59-A6C34878D82A}">
                    <a16:rowId xmlns:a16="http://schemas.microsoft.com/office/drawing/2014/main" val="1088179958"/>
                  </a:ext>
                </a:extLst>
              </a:tr>
              <a:tr h="315538">
                <a:tc rowSpan="9">
                  <a:txBody>
                    <a:bodyPr/>
                    <a:lstStyle/>
                    <a:p>
                      <a:r>
                        <a:rPr lang="ja-JP" altLang="en-US" sz="2000" dirty="0">
                          <a:solidFill>
                            <a:schemeClr val="tx1"/>
                          </a:solidFill>
                        </a:rPr>
                        <a:t>資格確認書</a:t>
                      </a:r>
                      <a:r>
                        <a:rPr lang="ja-JP" altLang="en-US" sz="2000" b="0" dirty="0">
                          <a:solidFill>
                            <a:schemeClr val="tx1"/>
                          </a:solidFill>
                        </a:rPr>
                        <a:t>等</a:t>
                      </a:r>
                      <a:r>
                        <a:rPr lang="en-US" altLang="ja-JP" sz="2000" b="0" strike="noStrike" dirty="0">
                          <a:solidFill>
                            <a:schemeClr val="tx1"/>
                          </a:solidFill>
                        </a:rPr>
                        <a:t>※</a:t>
                      </a:r>
                      <a:endParaRPr lang="ja-JP" altLang="en-US" sz="2000" b="0" strike="noStrike" dirty="0">
                        <a:solidFill>
                          <a:schemeClr val="tx1"/>
                        </a:solidFill>
                      </a:endParaRPr>
                    </a:p>
                  </a:txBody>
                  <a:tcPr marL="38170" marR="38170" marT="19085" marB="19085" anchor="ctr"/>
                </a:tc>
                <a:tc>
                  <a:txBody>
                    <a:bodyPr/>
                    <a:lstStyle/>
                    <a:p>
                      <a:r>
                        <a:rPr lang="ja-JP" altLang="en-US" sz="2000" dirty="0"/>
                        <a:t>国民健康保険</a:t>
                      </a:r>
                      <a:r>
                        <a:rPr lang="ja-JP" altLang="en-US" sz="2000" dirty="0">
                          <a:solidFill>
                            <a:schemeClr val="tx1"/>
                          </a:solidFill>
                        </a:rPr>
                        <a:t>の資格確認書</a:t>
                      </a:r>
                    </a:p>
                  </a:txBody>
                  <a:tcPr marL="38170" marR="38170" marT="19085" marB="19085" anchor="ctr"/>
                </a:tc>
                <a:tc rowSpan="12">
                  <a:txBody>
                    <a:bodyPr/>
                    <a:lstStyle/>
                    <a:p>
                      <a:r>
                        <a:rPr lang="ja-JP" altLang="en-US" sz="2000" dirty="0"/>
                        <a:t>当該書類の有効期限</a:t>
                      </a:r>
                    </a:p>
                  </a:txBody>
                  <a:tcPr marL="38170" marR="38170" marT="19085" marB="19085" anchor="ctr"/>
                </a:tc>
                <a:extLst>
                  <a:ext uri="{0D108BD9-81ED-4DB2-BD59-A6C34878D82A}">
                    <a16:rowId xmlns:a16="http://schemas.microsoft.com/office/drawing/2014/main" val="940970780"/>
                  </a:ext>
                </a:extLst>
              </a:tr>
              <a:tr h="315538">
                <a:tc vMerge="1">
                  <a:txBody>
                    <a:bodyPr/>
                    <a:lstStyle/>
                    <a:p>
                      <a:endParaRPr lang="ja-JP" altLang="en-US" sz="1400" dirty="0"/>
                    </a:p>
                  </a:txBody>
                  <a:tcPr marL="38170" marR="38170" marT="19085" marB="19085" anchor="ctr"/>
                </a:tc>
                <a:tc>
                  <a:txBody>
                    <a:bodyPr/>
                    <a:lstStyle/>
                    <a:p>
                      <a:r>
                        <a:rPr lang="zh-TW" altLang="en-US" sz="2000" dirty="0"/>
                        <a:t>健康保険</a:t>
                      </a:r>
                      <a:r>
                        <a:rPr lang="ja-JP" altLang="en-US" sz="2000" dirty="0">
                          <a:solidFill>
                            <a:schemeClr val="tx1"/>
                          </a:solidFill>
                        </a:rPr>
                        <a:t>の資格確認書</a:t>
                      </a:r>
                      <a:endParaRPr lang="zh-TW" altLang="en-US" sz="2000" dirty="0">
                        <a:solidFill>
                          <a:schemeClr val="tx1"/>
                        </a:solidFill>
                      </a:endParaRPr>
                    </a:p>
                  </a:txBody>
                  <a:tcPr marL="38170" marR="38170" marT="19085" marB="19085" anchor="ctr"/>
                </a:tc>
                <a:tc vMerge="1">
                  <a:txBody>
                    <a:bodyPr/>
                    <a:lstStyle/>
                    <a:p>
                      <a:endParaRPr/>
                    </a:p>
                  </a:txBody>
                  <a:tcPr marL="38170" marR="38170" marT="19085" marB="19085" anchor="ctr"/>
                </a:tc>
                <a:extLst>
                  <a:ext uri="{0D108BD9-81ED-4DB2-BD59-A6C34878D82A}">
                    <a16:rowId xmlns:a16="http://schemas.microsoft.com/office/drawing/2014/main" val="1457075383"/>
                  </a:ext>
                </a:extLst>
              </a:tr>
              <a:tr h="315538">
                <a:tc vMerge="1">
                  <a:txBody>
                    <a:bodyPr/>
                    <a:lstStyle/>
                    <a:p>
                      <a:endParaRPr lang="ja-JP" altLang="en-US" sz="1400"/>
                    </a:p>
                  </a:txBody>
                  <a:tcPr marL="38170" marR="38170" marT="19085" marB="19085" anchor="ctr"/>
                </a:tc>
                <a:tc>
                  <a:txBody>
                    <a:bodyPr/>
                    <a:lstStyle/>
                    <a:p>
                      <a:r>
                        <a:rPr lang="zh-TW" altLang="en-US" sz="2000" dirty="0"/>
                        <a:t>船員保険</a:t>
                      </a:r>
                      <a:r>
                        <a:rPr lang="ja-JP" altLang="en-US" sz="2000" dirty="0">
                          <a:solidFill>
                            <a:schemeClr val="tx1"/>
                          </a:solidFill>
                        </a:rPr>
                        <a:t>の資格確認書</a:t>
                      </a:r>
                      <a:endParaRPr lang="zh-TW" altLang="en-US" sz="2000" dirty="0">
                        <a:solidFill>
                          <a:schemeClr val="tx1"/>
                        </a:solidFill>
                      </a:endParaRPr>
                    </a:p>
                  </a:txBody>
                  <a:tcPr marL="38170" marR="38170" marT="19085" marB="19085" anchor="ctr"/>
                </a:tc>
                <a:tc vMerge="1">
                  <a:txBody>
                    <a:bodyPr/>
                    <a:lstStyle/>
                    <a:p>
                      <a:endParaRPr/>
                    </a:p>
                  </a:txBody>
                  <a:tcPr marL="38170" marR="38170" marT="19085" marB="19085" anchor="ctr"/>
                </a:tc>
                <a:extLst>
                  <a:ext uri="{0D108BD9-81ED-4DB2-BD59-A6C34878D82A}">
                    <a16:rowId xmlns:a16="http://schemas.microsoft.com/office/drawing/2014/main" val="709295585"/>
                  </a:ext>
                </a:extLst>
              </a:tr>
              <a:tr h="315538">
                <a:tc vMerge="1">
                  <a:txBody>
                    <a:bodyPr/>
                    <a:lstStyle/>
                    <a:p>
                      <a:endParaRPr lang="ja-JP" altLang="en-US" sz="1400" dirty="0"/>
                    </a:p>
                  </a:txBody>
                  <a:tcPr marL="38170" marR="38170" marT="19085" marB="19085" anchor="ctr"/>
                </a:tc>
                <a:tc>
                  <a:txBody>
                    <a:bodyPr/>
                    <a:lstStyle/>
                    <a:p>
                      <a:r>
                        <a:rPr lang="zh-TW" altLang="en-US" sz="2000" dirty="0"/>
                        <a:t>介護保険被保険者証</a:t>
                      </a:r>
                    </a:p>
                  </a:txBody>
                  <a:tcPr marL="38170" marR="38170" marT="19085" marB="19085" anchor="ctr"/>
                </a:tc>
                <a:tc vMerge="1">
                  <a:txBody>
                    <a:bodyPr/>
                    <a:lstStyle/>
                    <a:p>
                      <a:endParaRPr/>
                    </a:p>
                  </a:txBody>
                  <a:tcPr marL="38170" marR="38170" marT="19085" marB="19085" anchor="ctr"/>
                </a:tc>
                <a:extLst>
                  <a:ext uri="{0D108BD9-81ED-4DB2-BD59-A6C34878D82A}">
                    <a16:rowId xmlns:a16="http://schemas.microsoft.com/office/drawing/2014/main" val="1299795383"/>
                  </a:ext>
                </a:extLst>
              </a:tr>
              <a:tr h="315538">
                <a:tc vMerge="1">
                  <a:txBody>
                    <a:bodyPr/>
                    <a:lstStyle/>
                    <a:p>
                      <a:endParaRPr lang="ja-JP" altLang="en-US" sz="1400" dirty="0"/>
                    </a:p>
                  </a:txBody>
                  <a:tcPr marL="38170" marR="38170" marT="19085" marB="19085" anchor="ctr"/>
                </a:tc>
                <a:tc>
                  <a:txBody>
                    <a:bodyPr/>
                    <a:lstStyle/>
                    <a:p>
                      <a:r>
                        <a:rPr lang="zh-TW" altLang="en-US" sz="2000" dirty="0"/>
                        <a:t>後期高齢者</a:t>
                      </a:r>
                      <a:r>
                        <a:rPr lang="ja-JP" altLang="en-US" sz="2000" dirty="0">
                          <a:solidFill>
                            <a:schemeClr val="tx1"/>
                          </a:solidFill>
                        </a:rPr>
                        <a:t>の資格確認書</a:t>
                      </a:r>
                      <a:endParaRPr lang="zh-TW" altLang="en-US" sz="2000" dirty="0">
                        <a:solidFill>
                          <a:schemeClr val="tx1"/>
                        </a:solidFill>
                      </a:endParaRPr>
                    </a:p>
                  </a:txBody>
                  <a:tcPr marL="38170" marR="38170" marT="19085" marB="19085" anchor="ctr"/>
                </a:tc>
                <a:tc vMerge="1">
                  <a:txBody>
                    <a:bodyPr/>
                    <a:lstStyle/>
                    <a:p>
                      <a:endParaRPr/>
                    </a:p>
                  </a:txBody>
                  <a:tcPr marL="38170" marR="38170" marT="19085" marB="19085" anchor="ctr"/>
                </a:tc>
                <a:extLst>
                  <a:ext uri="{0D108BD9-81ED-4DB2-BD59-A6C34878D82A}">
                    <a16:rowId xmlns:a16="http://schemas.microsoft.com/office/drawing/2014/main" val="2651471588"/>
                  </a:ext>
                </a:extLst>
              </a:tr>
              <a:tr h="315538">
                <a:tc vMerge="1">
                  <a:txBody>
                    <a:bodyPr/>
                    <a:lstStyle/>
                    <a:p>
                      <a:endParaRPr lang="ja-JP" altLang="en-US" sz="1400" dirty="0"/>
                    </a:p>
                  </a:txBody>
                  <a:tcPr marL="38170" marR="38170" marT="19085" marB="19085" anchor="ctr"/>
                </a:tc>
                <a:tc>
                  <a:txBody>
                    <a:bodyPr/>
                    <a:lstStyle/>
                    <a:p>
                      <a:r>
                        <a:rPr lang="zh-TW" altLang="en-US" sz="2000" dirty="0"/>
                        <a:t>健康保険日雇特例被保険者手帳</a:t>
                      </a:r>
                    </a:p>
                  </a:txBody>
                  <a:tcPr marL="38170" marR="38170" marT="19085" marB="19085" anchor="ctr"/>
                </a:tc>
                <a:tc vMerge="1">
                  <a:txBody>
                    <a:bodyPr/>
                    <a:lstStyle/>
                    <a:p>
                      <a:endParaRPr/>
                    </a:p>
                  </a:txBody>
                  <a:tcPr marL="38170" marR="38170" marT="19085" marB="19085" anchor="ctr"/>
                </a:tc>
                <a:extLst>
                  <a:ext uri="{0D108BD9-81ED-4DB2-BD59-A6C34878D82A}">
                    <a16:rowId xmlns:a16="http://schemas.microsoft.com/office/drawing/2014/main" val="149905208"/>
                  </a:ext>
                </a:extLst>
              </a:tr>
              <a:tr h="315538">
                <a:tc vMerge="1">
                  <a:txBody>
                    <a:bodyPr/>
                    <a:lstStyle/>
                    <a:p>
                      <a:endParaRPr lang="ja-JP" altLang="en-US" sz="1400" dirty="0"/>
                    </a:p>
                  </a:txBody>
                  <a:tcPr marL="38170" marR="38170" marT="19085" marB="19085" anchor="ctr"/>
                </a:tc>
                <a:tc>
                  <a:txBody>
                    <a:bodyPr/>
                    <a:lstStyle/>
                    <a:p>
                      <a:r>
                        <a:rPr lang="zh-TW" altLang="en-US" sz="2000" dirty="0"/>
                        <a:t>国家公務員共済組合</a:t>
                      </a:r>
                      <a:r>
                        <a:rPr lang="ja-JP" altLang="en-US" sz="2000" dirty="0">
                          <a:solidFill>
                            <a:schemeClr val="tx1"/>
                          </a:solidFill>
                        </a:rPr>
                        <a:t>の資格確認書</a:t>
                      </a:r>
                      <a:endParaRPr lang="zh-TW" altLang="en-US" sz="2000" dirty="0">
                        <a:solidFill>
                          <a:schemeClr val="tx1"/>
                        </a:solidFill>
                      </a:endParaRPr>
                    </a:p>
                  </a:txBody>
                  <a:tcPr marL="38170" marR="38170" marT="19085" marB="19085" anchor="ctr"/>
                </a:tc>
                <a:tc vMerge="1">
                  <a:txBody>
                    <a:bodyPr/>
                    <a:lstStyle/>
                    <a:p>
                      <a:endParaRPr/>
                    </a:p>
                  </a:txBody>
                  <a:tcPr marL="38170" marR="38170" marT="19085" marB="19085" anchor="ctr"/>
                </a:tc>
                <a:extLst>
                  <a:ext uri="{0D108BD9-81ED-4DB2-BD59-A6C34878D82A}">
                    <a16:rowId xmlns:a16="http://schemas.microsoft.com/office/drawing/2014/main" val="1681118677"/>
                  </a:ext>
                </a:extLst>
              </a:tr>
              <a:tr h="315538">
                <a:tc vMerge="1">
                  <a:txBody>
                    <a:bodyPr/>
                    <a:lstStyle/>
                    <a:p>
                      <a:endParaRPr lang="ja-JP" altLang="en-US" sz="1400" dirty="0"/>
                    </a:p>
                  </a:txBody>
                  <a:tcPr marL="38170" marR="38170" marT="19085" marB="19085" anchor="ctr"/>
                </a:tc>
                <a:tc>
                  <a:txBody>
                    <a:bodyPr/>
                    <a:lstStyle/>
                    <a:p>
                      <a:r>
                        <a:rPr lang="zh-TW" altLang="en-US" sz="2000" dirty="0"/>
                        <a:t>地方公務員共済組合</a:t>
                      </a:r>
                      <a:r>
                        <a:rPr lang="ja-JP" altLang="en-US" sz="2000" dirty="0">
                          <a:solidFill>
                            <a:schemeClr val="tx1"/>
                          </a:solidFill>
                        </a:rPr>
                        <a:t>の資格確認書</a:t>
                      </a:r>
                      <a:endParaRPr lang="zh-TW" altLang="en-US" sz="2000" dirty="0">
                        <a:solidFill>
                          <a:schemeClr val="tx1"/>
                        </a:solidFill>
                      </a:endParaRPr>
                    </a:p>
                  </a:txBody>
                  <a:tcPr marL="38170" marR="38170" marT="19085" marB="19085" anchor="ctr"/>
                </a:tc>
                <a:tc vMerge="1">
                  <a:txBody>
                    <a:bodyPr/>
                    <a:lstStyle/>
                    <a:p>
                      <a:endParaRPr/>
                    </a:p>
                  </a:txBody>
                  <a:tcPr marL="38170" marR="38170" marT="19085" marB="19085" anchor="ctr"/>
                </a:tc>
                <a:extLst>
                  <a:ext uri="{0D108BD9-81ED-4DB2-BD59-A6C34878D82A}">
                    <a16:rowId xmlns:a16="http://schemas.microsoft.com/office/drawing/2014/main" val="3401850132"/>
                  </a:ext>
                </a:extLst>
              </a:tr>
              <a:tr h="315538">
                <a:tc vMerge="1">
                  <a:txBody>
                    <a:bodyPr/>
                    <a:lstStyle/>
                    <a:p>
                      <a:endParaRPr lang="ja-JP" altLang="en-US" sz="1400" dirty="0"/>
                    </a:p>
                  </a:txBody>
                  <a:tcPr marL="38170" marR="38170" marT="19085" marB="19085" anchor="ctr"/>
                </a:tc>
                <a:tc>
                  <a:txBody>
                    <a:bodyPr/>
                    <a:lstStyle/>
                    <a:p>
                      <a:r>
                        <a:rPr lang="ja-JP" altLang="en-US" sz="2000" dirty="0"/>
                        <a:t>私立学校教職員共済制度の</a:t>
                      </a:r>
                      <a:r>
                        <a:rPr lang="ja-JP" altLang="en-US" sz="2000" dirty="0">
                          <a:solidFill>
                            <a:schemeClr val="tx1"/>
                          </a:solidFill>
                        </a:rPr>
                        <a:t>資格確認書</a:t>
                      </a:r>
                    </a:p>
                  </a:txBody>
                  <a:tcPr marL="38170" marR="38170" marT="19085" marB="19085" anchor="ctr"/>
                </a:tc>
                <a:tc vMerge="1">
                  <a:txBody>
                    <a:bodyPr/>
                    <a:lstStyle/>
                    <a:p>
                      <a:endParaRPr/>
                    </a:p>
                  </a:txBody>
                  <a:tcPr marL="38170" marR="38170" marT="19085" marB="19085" anchor="ctr"/>
                </a:tc>
                <a:extLst>
                  <a:ext uri="{0D108BD9-81ED-4DB2-BD59-A6C34878D82A}">
                    <a16:rowId xmlns:a16="http://schemas.microsoft.com/office/drawing/2014/main" val="1072026096"/>
                  </a:ext>
                </a:extLst>
              </a:tr>
              <a:tr h="315538">
                <a:tc rowSpan="3">
                  <a:txBody>
                    <a:bodyPr/>
                    <a:lstStyle/>
                    <a:p>
                      <a:r>
                        <a:rPr lang="ja-JP" altLang="en-US" sz="2000" b="0" dirty="0">
                          <a:solidFill>
                            <a:schemeClr val="tx1"/>
                          </a:solidFill>
                        </a:rPr>
                        <a:t>手帳類</a:t>
                      </a:r>
                      <a:r>
                        <a:rPr lang="en-US" altLang="ja-JP" sz="2000" b="0" strike="noStrike" dirty="0">
                          <a:solidFill>
                            <a:schemeClr val="tx1"/>
                          </a:solidFill>
                        </a:rPr>
                        <a:t>※</a:t>
                      </a:r>
                      <a:endParaRPr lang="ja-JP" altLang="en-US" sz="2000" b="0" strike="noStrike" dirty="0">
                        <a:solidFill>
                          <a:schemeClr val="tx1"/>
                        </a:solidFill>
                      </a:endParaRPr>
                    </a:p>
                  </a:txBody>
                  <a:tcPr marL="38170" marR="38170" marT="19085" marB="19085" anchor="ctr"/>
                </a:tc>
                <a:tc>
                  <a:txBody>
                    <a:bodyPr/>
                    <a:lstStyle/>
                    <a:p>
                      <a:r>
                        <a:rPr lang="ja-JP" altLang="en-US" sz="2000" dirty="0"/>
                        <a:t>国民年金手帳</a:t>
                      </a:r>
                    </a:p>
                  </a:txBody>
                  <a:tcPr marL="38170" marR="38170" marT="19085" marB="19085" anchor="ctr"/>
                </a:tc>
                <a:tc vMerge="1">
                  <a:txBody>
                    <a:bodyPr/>
                    <a:lstStyle/>
                    <a:p>
                      <a:endParaRPr/>
                    </a:p>
                  </a:txBody>
                  <a:tcPr marL="38170" marR="38170" marT="19085" marB="19085" anchor="ctr"/>
                </a:tc>
                <a:extLst>
                  <a:ext uri="{0D108BD9-81ED-4DB2-BD59-A6C34878D82A}">
                    <a16:rowId xmlns:a16="http://schemas.microsoft.com/office/drawing/2014/main" val="1777478942"/>
                  </a:ext>
                </a:extLst>
              </a:tr>
              <a:tr h="315538">
                <a:tc vMerge="1">
                  <a:txBody>
                    <a:bodyPr/>
                    <a:lstStyle/>
                    <a:p>
                      <a:endParaRPr lang="ja-JP" altLang="en-US" sz="1400" dirty="0"/>
                    </a:p>
                  </a:txBody>
                  <a:tcPr marL="38170" marR="38170" marT="19085" marB="19085" anchor="ctr"/>
                </a:tc>
                <a:tc>
                  <a:txBody>
                    <a:bodyPr/>
                    <a:lstStyle/>
                    <a:p>
                      <a:r>
                        <a:rPr lang="zh-TW" altLang="en-US" sz="2000" dirty="0"/>
                        <a:t>児童扶養手当証書</a:t>
                      </a:r>
                    </a:p>
                  </a:txBody>
                  <a:tcPr marL="38170" marR="38170" marT="19085" marB="19085" anchor="ctr"/>
                </a:tc>
                <a:tc vMerge="1">
                  <a:txBody>
                    <a:bodyPr/>
                    <a:lstStyle/>
                    <a:p>
                      <a:endParaRPr/>
                    </a:p>
                  </a:txBody>
                  <a:tcPr marL="38170" marR="38170" marT="19085" marB="19085" anchor="ctr"/>
                </a:tc>
                <a:extLst>
                  <a:ext uri="{0D108BD9-81ED-4DB2-BD59-A6C34878D82A}">
                    <a16:rowId xmlns:a16="http://schemas.microsoft.com/office/drawing/2014/main" val="1540123313"/>
                  </a:ext>
                </a:extLst>
              </a:tr>
              <a:tr h="315538">
                <a:tc vMerge="1">
                  <a:txBody>
                    <a:bodyPr/>
                    <a:lstStyle/>
                    <a:p>
                      <a:endParaRPr lang="ja-JP" altLang="en-US" sz="1400" dirty="0"/>
                    </a:p>
                  </a:txBody>
                  <a:tcPr marL="38170" marR="38170" marT="19085" marB="19085" anchor="ctr"/>
                </a:tc>
                <a:tc>
                  <a:txBody>
                    <a:bodyPr/>
                    <a:lstStyle/>
                    <a:p>
                      <a:r>
                        <a:rPr lang="zh-TW" altLang="en-US" sz="2000" dirty="0"/>
                        <a:t>母子健康手帳</a:t>
                      </a:r>
                    </a:p>
                  </a:txBody>
                  <a:tcPr marL="38170" marR="38170" marT="19085" marB="19085" anchor="ctr"/>
                </a:tc>
                <a:tc vMerge="1">
                  <a:txBody>
                    <a:bodyPr/>
                    <a:lstStyle/>
                    <a:p>
                      <a:endParaRPr dirty="0"/>
                    </a:p>
                  </a:txBody>
                  <a:tcPr marL="38170" marR="38170" marT="19085" marB="19085" anchor="ctr"/>
                </a:tc>
                <a:extLst>
                  <a:ext uri="{0D108BD9-81ED-4DB2-BD59-A6C34878D82A}">
                    <a16:rowId xmlns:a16="http://schemas.microsoft.com/office/drawing/2014/main" val="425365989"/>
                  </a:ext>
                </a:extLst>
              </a:tr>
              <a:tr h="588367">
                <a:tc rowSpan="2">
                  <a:txBody>
                    <a:bodyPr/>
                    <a:lstStyle/>
                    <a:p>
                      <a:r>
                        <a:rPr lang="zh-TW" altLang="en-US" sz="2000" b="0" dirty="0"/>
                        <a:t>印鑑登録証明書</a:t>
                      </a:r>
                    </a:p>
                  </a:txBody>
                  <a:tcPr marL="38170" marR="38170" marT="19085" marB="19085" anchor="ctr"/>
                </a:tc>
                <a:tc>
                  <a:txBody>
                    <a:bodyPr/>
                    <a:lstStyle/>
                    <a:p>
                      <a:r>
                        <a:rPr lang="ja-JP" altLang="en-US" sz="2000" dirty="0"/>
                        <a:t>印鑑登録証明書（当座・融資等、実印を特定取引を行うための当行への提出書類に押印している場合）</a:t>
                      </a:r>
                    </a:p>
                  </a:txBody>
                  <a:tcPr marL="38170" marR="38170" marT="19085" marB="19085" anchor="ctr"/>
                </a:tc>
                <a:tc>
                  <a:txBody>
                    <a:bodyPr/>
                    <a:lstStyle/>
                    <a:p>
                      <a:r>
                        <a:rPr lang="en-US" altLang="ja-JP" sz="2000" dirty="0"/>
                        <a:t>6</a:t>
                      </a:r>
                      <a:r>
                        <a:rPr lang="ja-JP" altLang="en-US" sz="2000" dirty="0"/>
                        <a:t>ヶ月</a:t>
                      </a:r>
                    </a:p>
                  </a:txBody>
                  <a:tcPr marL="38170" marR="38170" marT="19085" marB="19085" anchor="ctr"/>
                </a:tc>
                <a:extLst>
                  <a:ext uri="{0D108BD9-81ED-4DB2-BD59-A6C34878D82A}">
                    <a16:rowId xmlns:a16="http://schemas.microsoft.com/office/drawing/2014/main" val="626992539"/>
                  </a:ext>
                </a:extLst>
              </a:tr>
              <a:tr h="315538">
                <a:tc vMerge="1">
                  <a:txBody>
                    <a:bodyPr/>
                    <a:lstStyle/>
                    <a:p>
                      <a:endParaRPr lang="ja-JP" altLang="en-US" sz="1400" dirty="0"/>
                    </a:p>
                  </a:txBody>
                  <a:tcPr marL="38170" marR="38170" marT="19085" marB="19085" anchor="ctr"/>
                </a:tc>
                <a:tc>
                  <a:txBody>
                    <a:bodyPr/>
                    <a:lstStyle/>
                    <a:p>
                      <a:r>
                        <a:rPr lang="ja-JP" altLang="en-US" sz="2000" dirty="0"/>
                        <a:t>印鑑登録証明書（上記の場合を除く）</a:t>
                      </a:r>
                    </a:p>
                  </a:txBody>
                  <a:tcPr marL="38170" marR="38170" marT="19085" marB="19085" anchor="ctr"/>
                </a:tc>
                <a:tc>
                  <a:txBody>
                    <a:bodyPr/>
                    <a:lstStyle/>
                    <a:p>
                      <a:r>
                        <a:rPr lang="en-US" altLang="ja-JP" sz="2000" dirty="0"/>
                        <a:t>6</a:t>
                      </a:r>
                      <a:r>
                        <a:rPr lang="ja-JP" altLang="en-US" sz="2000" dirty="0"/>
                        <a:t>ヶ月</a:t>
                      </a:r>
                    </a:p>
                  </a:txBody>
                  <a:tcPr marL="38170" marR="38170" marT="19085" marB="19085" anchor="ctr"/>
                </a:tc>
                <a:extLst>
                  <a:ext uri="{0D108BD9-81ED-4DB2-BD59-A6C34878D82A}">
                    <a16:rowId xmlns:a16="http://schemas.microsoft.com/office/drawing/2014/main" val="3729192570"/>
                  </a:ext>
                </a:extLst>
              </a:tr>
            </a:tbl>
          </a:graphicData>
        </a:graphic>
      </p:graphicFrame>
      <p:sp>
        <p:nvSpPr>
          <p:cNvPr id="2" name="テキスト ボックス 1">
            <a:extLst>
              <a:ext uri="{FF2B5EF4-FFF2-40B4-BE49-F238E27FC236}">
                <a16:creationId xmlns:a16="http://schemas.microsoft.com/office/drawing/2014/main" id="{8EB56FAC-B0C8-E0B7-A569-F1D66ADBACE5}"/>
              </a:ext>
            </a:extLst>
          </p:cNvPr>
          <p:cNvSpPr txBox="1"/>
          <p:nvPr/>
        </p:nvSpPr>
        <p:spPr>
          <a:xfrm>
            <a:off x="120000" y="5923132"/>
            <a:ext cx="11664000" cy="584775"/>
          </a:xfrm>
          <a:prstGeom prst="rect">
            <a:avLst/>
          </a:prstGeom>
          <a:noFill/>
        </p:spPr>
        <p:txBody>
          <a:bodyPr wrap="square">
            <a:spAutoFit/>
          </a:bodyPr>
          <a:lstStyle/>
          <a:p>
            <a:pPr marL="628650" indent="-628650">
              <a:spcAft>
                <a:spcPts val="600"/>
              </a:spcAft>
            </a:pPr>
            <a:r>
              <a:rPr lang="en-US" altLang="ja-JP" sz="1600" dirty="0"/>
              <a:t>※</a:t>
            </a:r>
            <a:r>
              <a:rPr lang="ja-JP" altLang="en-US" sz="1600" dirty="0"/>
              <a:t>同じ種類の確認書類</a:t>
            </a:r>
            <a:r>
              <a:rPr lang="en-US" altLang="ja-JP" sz="1600" dirty="0"/>
              <a:t>2</a:t>
            </a:r>
            <a:r>
              <a:rPr lang="ja-JP" altLang="en-US" sz="1600" dirty="0"/>
              <a:t>つでも</a:t>
            </a:r>
            <a:r>
              <a:rPr lang="en-US" altLang="ja-JP" sz="1600" dirty="0"/>
              <a:t>B</a:t>
            </a:r>
            <a:r>
              <a:rPr lang="ja-JP" altLang="en-US" sz="1600" dirty="0"/>
              <a:t>群＋</a:t>
            </a:r>
            <a:r>
              <a:rPr lang="en-US" altLang="ja-JP" sz="1600" dirty="0"/>
              <a:t>B</a:t>
            </a:r>
            <a:r>
              <a:rPr lang="ja-JP" altLang="en-US" sz="1600" dirty="0"/>
              <a:t>群として対応可能です。（郵送不要）</a:t>
            </a:r>
            <a:br>
              <a:rPr lang="en-US" altLang="ja-JP" sz="1600" dirty="0"/>
            </a:br>
            <a:r>
              <a:rPr lang="ja-JP" altLang="en-US" sz="1600" dirty="0"/>
              <a:t>例：</a:t>
            </a:r>
            <a:r>
              <a:rPr lang="zh-TW" altLang="en-US" sz="1600" dirty="0"/>
              <a:t>介護保険被保険者証</a:t>
            </a:r>
            <a:r>
              <a:rPr lang="ja-JP" altLang="en-US" sz="1600" dirty="0"/>
              <a:t>　＋　</a:t>
            </a:r>
            <a:r>
              <a:rPr lang="zh-TW" altLang="en-US" sz="1600" dirty="0"/>
              <a:t>後期高齢者医療</a:t>
            </a:r>
            <a:r>
              <a:rPr lang="ja-JP" altLang="en-US" sz="1600" dirty="0"/>
              <a:t>の資格確認書　等</a:t>
            </a:r>
            <a:endParaRPr lang="en-US" altLang="ja-JP" sz="1600" dirty="0"/>
          </a:p>
        </p:txBody>
      </p:sp>
    </p:spTree>
    <p:extLst>
      <p:ext uri="{BB962C8B-B14F-4D97-AF65-F5344CB8AC3E}">
        <p14:creationId xmlns:p14="http://schemas.microsoft.com/office/powerpoint/2010/main" val="573335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899C8052-5D49-A57C-66F7-DA2CEB18DF5C}"/>
              </a:ext>
            </a:extLst>
          </p:cNvPr>
          <p:cNvGraphicFramePr>
            <a:graphicFrameLocks noGrp="1"/>
          </p:cNvGraphicFramePr>
          <p:nvPr>
            <p:extLst>
              <p:ext uri="{D42A27DB-BD31-4B8C-83A1-F6EECF244321}">
                <p14:modId xmlns:p14="http://schemas.microsoft.com/office/powerpoint/2010/main" val="3831779332"/>
              </p:ext>
            </p:extLst>
          </p:nvPr>
        </p:nvGraphicFramePr>
        <p:xfrm>
          <a:off x="264000" y="224998"/>
          <a:ext cx="11664000" cy="5220002"/>
        </p:xfrm>
        <a:graphic>
          <a:graphicData uri="http://schemas.openxmlformats.org/drawingml/2006/table">
            <a:tbl>
              <a:tblPr>
                <a:tableStyleId>{616DA210-FB5B-4158-B5E0-FEB733F419BA}</a:tableStyleId>
              </a:tblPr>
              <a:tblGrid>
                <a:gridCol w="2160000">
                  <a:extLst>
                    <a:ext uri="{9D8B030D-6E8A-4147-A177-3AD203B41FA5}">
                      <a16:colId xmlns:a16="http://schemas.microsoft.com/office/drawing/2014/main" val="2881071634"/>
                    </a:ext>
                  </a:extLst>
                </a:gridCol>
                <a:gridCol w="7025400">
                  <a:extLst>
                    <a:ext uri="{9D8B030D-6E8A-4147-A177-3AD203B41FA5}">
                      <a16:colId xmlns:a16="http://schemas.microsoft.com/office/drawing/2014/main" val="3825768170"/>
                    </a:ext>
                  </a:extLst>
                </a:gridCol>
                <a:gridCol w="2478600">
                  <a:extLst>
                    <a:ext uri="{9D8B030D-6E8A-4147-A177-3AD203B41FA5}">
                      <a16:colId xmlns:a16="http://schemas.microsoft.com/office/drawing/2014/main" val="597508327"/>
                    </a:ext>
                  </a:extLst>
                </a:gridCol>
              </a:tblGrid>
              <a:tr h="328275">
                <a:tc>
                  <a:txBody>
                    <a:bodyPr/>
                    <a:lstStyle/>
                    <a:p>
                      <a:r>
                        <a:rPr lang="ja-JP" altLang="en-US" sz="1800" b="1" dirty="0">
                          <a:solidFill>
                            <a:schemeClr val="bg1"/>
                          </a:solidFill>
                        </a:rPr>
                        <a:t>種類</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ja-JP" altLang="en-US" sz="1800" b="1" dirty="0">
                          <a:solidFill>
                            <a:schemeClr val="bg1"/>
                          </a:solidFill>
                        </a:rPr>
                        <a:t>個別書類名</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ja-JP" altLang="en-US" sz="1800" b="1" dirty="0">
                          <a:solidFill>
                            <a:schemeClr val="bg1"/>
                          </a:solidFill>
                        </a:rPr>
                        <a:t>有効期限</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80899659"/>
                  </a:ext>
                </a:extLst>
              </a:tr>
              <a:tr h="504394">
                <a:tc rowSpan="3">
                  <a:txBody>
                    <a:bodyPr/>
                    <a:lstStyle/>
                    <a:p>
                      <a:r>
                        <a:rPr lang="ja-JP" altLang="en-US" sz="1600" b="0" dirty="0"/>
                        <a:t>住民票関連</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1600" dirty="0"/>
                        <a:t>印鑑登録証明書・戸籍の附票の写し</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sz="1600"/>
                        <a:t>6</a:t>
                      </a:r>
                      <a:r>
                        <a:rPr lang="ja-JP" altLang="en-US" sz="1600"/>
                        <a:t>ヶ月</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6233755"/>
                  </a:ext>
                </a:extLst>
              </a:tr>
              <a:tr h="297019">
                <a:tc vMerge="1">
                  <a:txBody>
                    <a:bodyPr/>
                    <a:lstStyle/>
                    <a:p>
                      <a:endParaRPr lang="ja-JP" altLang="en-US" sz="1400" dirty="0"/>
                    </a:p>
                  </a:txBody>
                  <a:tcPr marL="45804" marR="45804" marT="22902" marB="22902" anchor="ctr"/>
                </a:tc>
                <a:tc>
                  <a:txBody>
                    <a:bodyPr/>
                    <a:lstStyle/>
                    <a:p>
                      <a:r>
                        <a:rPr lang="ja-JP" altLang="en-US" sz="1600" dirty="0"/>
                        <a:t>住民票の写し </a:t>
                      </a:r>
                      <a:r>
                        <a:rPr lang="en-US" altLang="ja-JP" sz="1600" dirty="0"/>
                        <a:t>(※1)</a:t>
                      </a:r>
                      <a:endParaRPr lang="ja-JP" altLang="en-US" sz="1600" dirty="0"/>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sz="1600"/>
                        <a:t>6</a:t>
                      </a:r>
                      <a:r>
                        <a:rPr lang="ja-JP" altLang="en-US" sz="1600"/>
                        <a:t>ヶ月</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4167499"/>
                  </a:ext>
                </a:extLst>
              </a:tr>
              <a:tr h="353077">
                <a:tc vMerge="1">
                  <a:txBody>
                    <a:bodyPr/>
                    <a:lstStyle/>
                    <a:p>
                      <a:endParaRPr lang="ja-JP" altLang="en-US" sz="1400" dirty="0"/>
                    </a:p>
                  </a:txBody>
                  <a:tcPr marL="45804" marR="45804" marT="22902" marB="22902" anchor="ctr"/>
                </a:tc>
                <a:tc>
                  <a:txBody>
                    <a:bodyPr/>
                    <a:lstStyle/>
                    <a:p>
                      <a:r>
                        <a:rPr lang="ja-JP" altLang="en-US" sz="1600" dirty="0"/>
                        <a:t>住民票の記載事項証明書</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sz="1600"/>
                        <a:t>6</a:t>
                      </a:r>
                      <a:r>
                        <a:rPr lang="ja-JP" altLang="en-US" sz="1600"/>
                        <a:t>ヶ月</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4995181"/>
                  </a:ext>
                </a:extLst>
              </a:tr>
              <a:tr h="297019">
                <a:tc>
                  <a:txBody>
                    <a:bodyPr/>
                    <a:lstStyle/>
                    <a:p>
                      <a:r>
                        <a:rPr lang="zh-TW" altLang="en-US" sz="1600" b="0" dirty="0"/>
                        <a:t>生活保護関連</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600" dirty="0"/>
                        <a:t>生活保護受給証明書</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sz="1600" dirty="0"/>
                        <a:t>6</a:t>
                      </a:r>
                      <a:r>
                        <a:rPr lang="ja-JP" altLang="en-US" sz="1600" dirty="0"/>
                        <a:t>ヶ月</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1335464"/>
                  </a:ext>
                </a:extLst>
              </a:tr>
              <a:tr h="807031">
                <a:tc>
                  <a:txBody>
                    <a:bodyPr/>
                    <a:lstStyle/>
                    <a:p>
                      <a:r>
                        <a:rPr lang="zh-TW" altLang="en-US" sz="1600" b="0" dirty="0"/>
                        <a:t>届出避難場所関連</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1600" dirty="0"/>
                        <a:t>届出避難場所証明書 </a:t>
                      </a:r>
                      <a:r>
                        <a:rPr lang="en-US" altLang="ja-JP" sz="1600" dirty="0"/>
                        <a:t>(※2)</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sz="1600" dirty="0"/>
                        <a:t>6</a:t>
                      </a:r>
                      <a:r>
                        <a:rPr lang="ja-JP" altLang="en-US" sz="1600" dirty="0"/>
                        <a:t>ヶ月</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7517742"/>
                  </a:ext>
                </a:extLst>
              </a:tr>
              <a:tr h="520350">
                <a:tc rowSpan="3">
                  <a:txBody>
                    <a:bodyPr/>
                    <a:lstStyle/>
                    <a:p>
                      <a:r>
                        <a:rPr lang="ja-JP" altLang="en-US" sz="1600" b="0" dirty="0"/>
                        <a:t>その他官公庁発行書類</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1600" dirty="0"/>
                        <a:t>公立学校の顔写真付き学生証</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sz="1600" dirty="0"/>
                        <a:t>6</a:t>
                      </a:r>
                      <a:r>
                        <a:rPr lang="ja-JP" altLang="en-US" sz="1600" dirty="0"/>
                        <a:t>ヶ月 </a:t>
                      </a:r>
                      <a:r>
                        <a:rPr lang="en-US" altLang="ja-JP" sz="1600" dirty="0"/>
                        <a:t>(※3)</a:t>
                      </a:r>
                      <a:endParaRPr lang="ja-JP" altLang="en-US" sz="1600" dirty="0"/>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3308945"/>
                  </a:ext>
                </a:extLst>
              </a:tr>
              <a:tr h="353077">
                <a:tc vMerge="1">
                  <a:txBody>
                    <a:bodyPr/>
                    <a:lstStyle/>
                    <a:p>
                      <a:endParaRPr lang="ja-JP" altLang="en-US" sz="1400" dirty="0"/>
                    </a:p>
                  </a:txBody>
                  <a:tcPr marL="45804" marR="45804" marT="22902" marB="22902" anchor="ctr"/>
                </a:tc>
                <a:tc>
                  <a:txBody>
                    <a:bodyPr/>
                    <a:lstStyle/>
                    <a:p>
                      <a:r>
                        <a:rPr lang="ja-JP" altLang="en-US" sz="1600"/>
                        <a:t>外交官等を対象とする「住居証明書」</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1600" dirty="0"/>
                        <a:t>証明日から</a:t>
                      </a:r>
                      <a:r>
                        <a:rPr lang="en-US" altLang="ja-JP" sz="1600" dirty="0"/>
                        <a:t>6</a:t>
                      </a:r>
                      <a:r>
                        <a:rPr lang="ja-JP" altLang="en-US" sz="1600" dirty="0"/>
                        <a:t>ヶ月間のみ有効</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4542867"/>
                  </a:ext>
                </a:extLst>
              </a:tr>
              <a:tr h="1109664">
                <a:tc vMerge="1">
                  <a:txBody>
                    <a:bodyPr/>
                    <a:lstStyle/>
                    <a:p>
                      <a:endParaRPr lang="ja-JP" altLang="en-US" sz="1400" dirty="0"/>
                    </a:p>
                  </a:txBody>
                  <a:tcPr marL="45804" marR="45804" marT="22902" marB="22902" anchor="ctr"/>
                </a:tc>
                <a:tc>
                  <a:txBody>
                    <a:bodyPr/>
                    <a:lstStyle/>
                    <a:p>
                      <a:r>
                        <a:rPr lang="ja-JP" altLang="en-US" sz="1600" dirty="0"/>
                        <a:t>その他官公庁から発行・発給された書類等で本人特定事項の記載があるもの</a:t>
                      </a:r>
                      <a:endParaRPr lang="en-US" altLang="ja-JP" sz="1600" dirty="0"/>
                    </a:p>
                    <a:p>
                      <a:pPr marL="628650" indent="-628650"/>
                      <a:r>
                        <a:rPr lang="ja-JP" altLang="en-US" sz="1600" dirty="0"/>
                        <a:t>（例）児童福祉施設入所者等に対して発行される在籍証明書、受診券、</a:t>
                      </a:r>
                      <a:br>
                        <a:rPr lang="en-US" altLang="ja-JP" sz="1600" dirty="0"/>
                      </a:br>
                      <a:r>
                        <a:rPr lang="zh-TW" altLang="en-US" sz="1600" dirty="0"/>
                        <a:t>介護保険負担割合証</a:t>
                      </a:r>
                      <a:r>
                        <a:rPr lang="ja-JP" altLang="en-US" sz="1600" dirty="0"/>
                        <a:t>　等</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sz="1600" dirty="0"/>
                        <a:t>6</a:t>
                      </a:r>
                      <a:r>
                        <a:rPr lang="ja-JP" altLang="en-US" sz="1600" dirty="0"/>
                        <a:t>ヶ月 </a:t>
                      </a:r>
                      <a:r>
                        <a:rPr lang="en-US" altLang="ja-JP" sz="1600" dirty="0"/>
                        <a:t>(※3)(※4)</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8031622"/>
                  </a:ext>
                </a:extLst>
              </a:tr>
              <a:tr h="353077">
                <a:tc rowSpan="2">
                  <a:txBody>
                    <a:bodyPr/>
                    <a:lstStyle/>
                    <a:p>
                      <a:r>
                        <a:rPr lang="ja-JP" altLang="en-US" sz="1600" b="0" dirty="0"/>
                        <a:t>法人関連</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600"/>
                        <a:t>登記事項証明書</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sz="1600"/>
                        <a:t>6</a:t>
                      </a:r>
                      <a:r>
                        <a:rPr lang="ja-JP" altLang="en-US" sz="1600"/>
                        <a:t>ヶ月</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6235753"/>
                  </a:ext>
                </a:extLst>
              </a:tr>
              <a:tr h="297019">
                <a:tc vMerge="1">
                  <a:txBody>
                    <a:bodyPr/>
                    <a:lstStyle/>
                    <a:p>
                      <a:endParaRPr lang="ja-JP" altLang="en-US" sz="1400" dirty="0"/>
                    </a:p>
                  </a:txBody>
                  <a:tcPr marL="45804" marR="45804" marT="22902" marB="22902" anchor="ctr"/>
                </a:tc>
                <a:tc>
                  <a:txBody>
                    <a:bodyPr/>
                    <a:lstStyle/>
                    <a:p>
                      <a:r>
                        <a:rPr lang="zh-TW" altLang="en-US" sz="1600"/>
                        <a:t>印鑑登録証明書（法人）</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sz="1600" dirty="0"/>
                        <a:t>6</a:t>
                      </a:r>
                      <a:r>
                        <a:rPr lang="ja-JP" altLang="en-US" sz="1600" dirty="0"/>
                        <a:t>ヶ月</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2148397"/>
                  </a:ext>
                </a:extLst>
              </a:tr>
            </a:tbl>
          </a:graphicData>
        </a:graphic>
      </p:graphicFrame>
      <p:sp>
        <p:nvSpPr>
          <p:cNvPr id="3" name="テキスト ボックス 2">
            <a:extLst>
              <a:ext uri="{FF2B5EF4-FFF2-40B4-BE49-F238E27FC236}">
                <a16:creationId xmlns:a16="http://schemas.microsoft.com/office/drawing/2014/main" id="{73BC5A80-E26E-B620-412A-98F1F58A2FB0}"/>
              </a:ext>
            </a:extLst>
          </p:cNvPr>
          <p:cNvSpPr txBox="1"/>
          <p:nvPr/>
        </p:nvSpPr>
        <p:spPr>
          <a:xfrm>
            <a:off x="264000" y="5538250"/>
            <a:ext cx="11664000" cy="1308050"/>
          </a:xfrm>
          <a:prstGeom prst="rect">
            <a:avLst/>
          </a:prstGeom>
          <a:noFill/>
        </p:spPr>
        <p:txBody>
          <a:bodyPr wrap="square">
            <a:spAutoFit/>
          </a:bodyPr>
          <a:lstStyle/>
          <a:p>
            <a:pPr>
              <a:spcAft>
                <a:spcPts val="600"/>
              </a:spcAft>
            </a:pPr>
            <a:r>
              <a:rPr lang="ja-JP" altLang="en-US" sz="1600" dirty="0"/>
              <a:t>（</a:t>
            </a:r>
            <a:r>
              <a:rPr lang="en-US" altLang="ja-JP" sz="1600" dirty="0"/>
              <a:t>※1</a:t>
            </a:r>
            <a:r>
              <a:rPr lang="ja-JP" altLang="en-US" sz="1600" dirty="0"/>
              <a:t>）住民票コードの記載がある住民票は使用不可です。</a:t>
            </a:r>
          </a:p>
          <a:p>
            <a:pPr>
              <a:spcAft>
                <a:spcPts val="600"/>
              </a:spcAft>
            </a:pPr>
            <a:r>
              <a:rPr lang="ja-JP" altLang="en-US" sz="1600" dirty="0"/>
              <a:t>（</a:t>
            </a:r>
            <a:r>
              <a:rPr lang="en-US" altLang="ja-JP" sz="1600" dirty="0"/>
              <a:t>※2</a:t>
            </a:r>
            <a:r>
              <a:rPr lang="ja-JP" altLang="en-US" sz="1600" dirty="0"/>
              <a:t>）東日本大震災の原発事故により避難している住民に対して発行されるもの</a:t>
            </a:r>
            <a:endParaRPr lang="en-US" altLang="ja-JP" sz="1600" dirty="0"/>
          </a:p>
          <a:p>
            <a:pPr>
              <a:spcAft>
                <a:spcPts val="600"/>
              </a:spcAft>
            </a:pPr>
            <a:r>
              <a:rPr lang="ja-JP" altLang="en-US" sz="1600" dirty="0"/>
              <a:t>（</a:t>
            </a:r>
            <a:r>
              <a:rPr lang="en-US" altLang="ja-JP" sz="1600" dirty="0"/>
              <a:t>※3</a:t>
            </a:r>
            <a:r>
              <a:rPr lang="ja-JP" altLang="en-US" sz="1600" dirty="0"/>
              <a:t>）ただし、有効期限があるものは、当該書類の有効期限内</a:t>
            </a:r>
            <a:endParaRPr lang="en-US" altLang="ja-JP" sz="1600" dirty="0"/>
          </a:p>
          <a:p>
            <a:pPr>
              <a:spcAft>
                <a:spcPts val="600"/>
              </a:spcAft>
            </a:pPr>
            <a:r>
              <a:rPr lang="ja-JP" altLang="en-US" sz="1600" dirty="0"/>
              <a:t>（</a:t>
            </a:r>
            <a:r>
              <a:rPr lang="en-US" altLang="ja-JP" sz="1600" dirty="0"/>
              <a:t>※4</a:t>
            </a:r>
            <a:r>
              <a:rPr lang="ja-JP" altLang="en-US" sz="1600" dirty="0"/>
              <a:t>）受診券は発行後</a:t>
            </a:r>
            <a:r>
              <a:rPr lang="en-US" altLang="ja-JP" sz="1600" dirty="0"/>
              <a:t>6</a:t>
            </a:r>
            <a:r>
              <a:rPr lang="ja-JP" altLang="en-US" sz="1600" dirty="0"/>
              <a:t>か月超経過でも可</a:t>
            </a:r>
            <a:endParaRPr lang="en-US" altLang="ja-JP" sz="1600" dirty="0"/>
          </a:p>
        </p:txBody>
      </p:sp>
    </p:spTree>
    <p:extLst>
      <p:ext uri="{BB962C8B-B14F-4D97-AF65-F5344CB8AC3E}">
        <p14:creationId xmlns:p14="http://schemas.microsoft.com/office/powerpoint/2010/main" val="2692953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73093600-2321-6CBF-C5BD-97DEA19D2FD7}"/>
              </a:ext>
            </a:extLst>
          </p:cNvPr>
          <p:cNvGraphicFramePr>
            <a:graphicFrameLocks noGrp="1"/>
          </p:cNvGraphicFramePr>
          <p:nvPr>
            <p:extLst>
              <p:ext uri="{D42A27DB-BD31-4B8C-83A1-F6EECF244321}">
                <p14:modId xmlns:p14="http://schemas.microsoft.com/office/powerpoint/2010/main" val="4241869513"/>
              </p:ext>
            </p:extLst>
          </p:nvPr>
        </p:nvGraphicFramePr>
        <p:xfrm>
          <a:off x="264000" y="431390"/>
          <a:ext cx="11664000" cy="5190409"/>
        </p:xfrm>
        <a:graphic>
          <a:graphicData uri="http://schemas.openxmlformats.org/drawingml/2006/table">
            <a:tbl>
              <a:tblPr/>
              <a:tblGrid>
                <a:gridCol w="2808000">
                  <a:extLst>
                    <a:ext uri="{9D8B030D-6E8A-4147-A177-3AD203B41FA5}">
                      <a16:colId xmlns:a16="http://schemas.microsoft.com/office/drawing/2014/main" val="1910830438"/>
                    </a:ext>
                  </a:extLst>
                </a:gridCol>
                <a:gridCol w="6192000">
                  <a:extLst>
                    <a:ext uri="{9D8B030D-6E8A-4147-A177-3AD203B41FA5}">
                      <a16:colId xmlns:a16="http://schemas.microsoft.com/office/drawing/2014/main" val="2300037624"/>
                    </a:ext>
                  </a:extLst>
                </a:gridCol>
                <a:gridCol w="2664000">
                  <a:extLst>
                    <a:ext uri="{9D8B030D-6E8A-4147-A177-3AD203B41FA5}">
                      <a16:colId xmlns:a16="http://schemas.microsoft.com/office/drawing/2014/main" val="3224826043"/>
                    </a:ext>
                  </a:extLst>
                </a:gridCol>
              </a:tblGrid>
              <a:tr h="741487">
                <a:tc>
                  <a:txBody>
                    <a:bodyPr/>
                    <a:lstStyle/>
                    <a:p>
                      <a:r>
                        <a:rPr lang="ja-JP" altLang="en-US" sz="3200" b="1" dirty="0">
                          <a:solidFill>
                            <a:schemeClr val="bg1"/>
                          </a:solidFill>
                        </a:rPr>
                        <a:t>種類</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ja-JP" altLang="en-US" sz="3200" b="1" dirty="0">
                          <a:solidFill>
                            <a:schemeClr val="bg1"/>
                          </a:solidFill>
                        </a:rPr>
                        <a:t>個別書類名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ja-JP" altLang="en-US" sz="3200" b="1" dirty="0">
                          <a:solidFill>
                            <a:schemeClr val="bg1"/>
                          </a:solidFill>
                        </a:rPr>
                        <a:t>有効期限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959444543"/>
                  </a:ext>
                </a:extLst>
              </a:tr>
              <a:tr h="741487">
                <a:tc rowSpan="2">
                  <a:txBody>
                    <a:bodyPr/>
                    <a:lstStyle/>
                    <a:p>
                      <a:r>
                        <a:rPr lang="ja-JP" altLang="en-US" sz="3200" b="0" dirty="0"/>
                        <a:t>税関連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3200" dirty="0"/>
                        <a:t>国税・地方税の領収証書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a:txBody>
                    <a:bodyPr/>
                    <a:lstStyle/>
                    <a:p>
                      <a:r>
                        <a:rPr lang="en-US" altLang="ja-JP" sz="3200" dirty="0"/>
                        <a:t>6</a:t>
                      </a:r>
                      <a:r>
                        <a:rPr lang="ja-JP" altLang="en-US" sz="3200" dirty="0"/>
                        <a:t>ヶ月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6279221"/>
                  </a:ext>
                </a:extLst>
              </a:tr>
              <a:tr h="741487">
                <a:tc vMerge="1">
                  <a:txBody>
                    <a:bodyPr/>
                    <a:lstStyle/>
                    <a:p>
                      <a:endParaRPr lang="ja-JP" altLang="en-US"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3200" dirty="0"/>
                        <a:t>国税・地方税の納税証明書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ja-JP" altLang="en-US" sz="3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4646375"/>
                  </a:ext>
                </a:extLst>
              </a:tr>
              <a:tr h="741487">
                <a:tc>
                  <a:txBody>
                    <a:bodyPr/>
                    <a:lstStyle/>
                    <a:p>
                      <a:r>
                        <a:rPr lang="ja-JP" altLang="en-US" sz="3200" b="0" dirty="0"/>
                        <a:t>社会保険関連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3200" dirty="0"/>
                        <a:t>社会保険料の領収証書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ja-JP" altLang="en-US" sz="3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31380376"/>
                  </a:ext>
                </a:extLst>
              </a:tr>
              <a:tr h="741487">
                <a:tc rowSpan="3">
                  <a:txBody>
                    <a:bodyPr/>
                    <a:lstStyle/>
                    <a:p>
                      <a:r>
                        <a:rPr lang="zh-TW" altLang="en-US" sz="3200" b="0" dirty="0"/>
                        <a:t>公共料金関連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3200" dirty="0"/>
                        <a:t>電気・ガス・水道の領収証書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ja-JP" altLang="en-US" sz="3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3160352"/>
                  </a:ext>
                </a:extLst>
              </a:tr>
              <a:tr h="741487">
                <a:tc vMerge="1">
                  <a:txBody>
                    <a:bodyPr/>
                    <a:lstStyle/>
                    <a:p>
                      <a:endParaRPr lang="zh-TW" altLang="en-US" sz="3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3200" dirty="0"/>
                        <a:t>固定電話の領収証書（</a:t>
                      </a:r>
                      <a:r>
                        <a:rPr lang="en-US" altLang="ja-JP" sz="3200" dirty="0"/>
                        <a:t>※</a:t>
                      </a:r>
                      <a:r>
                        <a:rPr lang="ja-JP" altLang="en-US" sz="32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ja-JP" altLang="en-US" sz="3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7324328"/>
                  </a:ext>
                </a:extLst>
              </a:tr>
              <a:tr h="741487">
                <a:tc vMerge="1">
                  <a:txBody>
                    <a:bodyPr/>
                    <a:lstStyle/>
                    <a:p>
                      <a:endParaRPr lang="zh-TW" altLang="en-US" sz="3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ja-JP" sz="3200" dirty="0"/>
                        <a:t>NHK</a:t>
                      </a:r>
                      <a:r>
                        <a:rPr lang="ja-JP" altLang="en-US" sz="3200" dirty="0"/>
                        <a:t>受信料の領収証書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ja-JP" altLang="en-US" sz="3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1159505"/>
                  </a:ext>
                </a:extLst>
              </a:tr>
            </a:tbl>
          </a:graphicData>
        </a:graphic>
      </p:graphicFrame>
      <p:sp>
        <p:nvSpPr>
          <p:cNvPr id="3" name="テキスト ボックス 2">
            <a:extLst>
              <a:ext uri="{FF2B5EF4-FFF2-40B4-BE49-F238E27FC236}">
                <a16:creationId xmlns:a16="http://schemas.microsoft.com/office/drawing/2014/main" id="{074229DB-2980-2120-4DE2-1487BC399963}"/>
              </a:ext>
            </a:extLst>
          </p:cNvPr>
          <p:cNvSpPr txBox="1"/>
          <p:nvPr/>
        </p:nvSpPr>
        <p:spPr>
          <a:xfrm>
            <a:off x="264000" y="5818582"/>
            <a:ext cx="11664000" cy="523220"/>
          </a:xfrm>
          <a:prstGeom prst="rect">
            <a:avLst/>
          </a:prstGeom>
          <a:noFill/>
        </p:spPr>
        <p:txBody>
          <a:bodyPr wrap="square">
            <a:spAutoFit/>
          </a:bodyPr>
          <a:lstStyle/>
          <a:p>
            <a:pPr>
              <a:spcAft>
                <a:spcPts val="600"/>
              </a:spcAft>
            </a:pPr>
            <a:r>
              <a:rPr lang="en-US" altLang="ja-JP" sz="2800" dirty="0"/>
              <a:t>※</a:t>
            </a:r>
            <a:r>
              <a:rPr lang="ja-JP" altLang="en-US" sz="2800" dirty="0"/>
              <a:t>携帯電話料金の領収証書は含まない</a:t>
            </a:r>
            <a:endParaRPr lang="en-US" altLang="ja-JP" sz="2800" dirty="0"/>
          </a:p>
        </p:txBody>
      </p:sp>
    </p:spTree>
    <p:extLst>
      <p:ext uri="{BB962C8B-B14F-4D97-AF65-F5344CB8AC3E}">
        <p14:creationId xmlns:p14="http://schemas.microsoft.com/office/powerpoint/2010/main" val="2582955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40182F3B-DC4E-C48F-F0DC-E19F6AD16E6C}"/>
              </a:ext>
            </a:extLst>
          </p:cNvPr>
          <p:cNvGraphicFramePr>
            <a:graphicFrameLocks noGrp="1"/>
          </p:cNvGraphicFramePr>
          <p:nvPr>
            <p:extLst>
              <p:ext uri="{D42A27DB-BD31-4B8C-83A1-F6EECF244321}">
                <p14:modId xmlns:p14="http://schemas.microsoft.com/office/powerpoint/2010/main" val="4182013067"/>
              </p:ext>
            </p:extLst>
          </p:nvPr>
        </p:nvGraphicFramePr>
        <p:xfrm>
          <a:off x="408000" y="1197001"/>
          <a:ext cx="11448000" cy="5053654"/>
        </p:xfrm>
        <a:graphic>
          <a:graphicData uri="http://schemas.openxmlformats.org/drawingml/2006/table">
            <a:tbl>
              <a:tblPr/>
              <a:tblGrid>
                <a:gridCol w="2448000">
                  <a:extLst>
                    <a:ext uri="{9D8B030D-6E8A-4147-A177-3AD203B41FA5}">
                      <a16:colId xmlns:a16="http://schemas.microsoft.com/office/drawing/2014/main" val="1292417275"/>
                    </a:ext>
                  </a:extLst>
                </a:gridCol>
                <a:gridCol w="4680000">
                  <a:extLst>
                    <a:ext uri="{9D8B030D-6E8A-4147-A177-3AD203B41FA5}">
                      <a16:colId xmlns:a16="http://schemas.microsoft.com/office/drawing/2014/main" val="2926369150"/>
                    </a:ext>
                  </a:extLst>
                </a:gridCol>
                <a:gridCol w="4320000">
                  <a:extLst>
                    <a:ext uri="{9D8B030D-6E8A-4147-A177-3AD203B41FA5}">
                      <a16:colId xmlns:a16="http://schemas.microsoft.com/office/drawing/2014/main" val="3396993972"/>
                    </a:ext>
                  </a:extLst>
                </a:gridCol>
              </a:tblGrid>
              <a:tr h="305911">
                <a:tc>
                  <a:txBody>
                    <a:bodyPr/>
                    <a:lstStyle/>
                    <a:p>
                      <a:r>
                        <a:rPr lang="ja-JP" altLang="en-US" sz="1800" b="1" dirty="0">
                          <a:solidFill>
                            <a:schemeClr val="bg1"/>
                          </a:solidFill>
                        </a:rPr>
                        <a:t>書類名</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ja-JP" altLang="en-US" sz="1800" b="1" dirty="0">
                          <a:solidFill>
                            <a:schemeClr val="bg1"/>
                          </a:solidFill>
                        </a:rPr>
                        <a:t>確認書類（写し）の保管方法</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ja-JP" altLang="en-US" sz="1800" b="1" dirty="0">
                          <a:solidFill>
                            <a:schemeClr val="bg1"/>
                          </a:solidFill>
                        </a:rPr>
                        <a:t>確認記録票への記載方法</a:t>
                      </a:r>
                      <a:r>
                        <a:rPr lang="en-US" altLang="ja-JP" sz="1800" b="1" dirty="0">
                          <a:solidFill>
                            <a:schemeClr val="bg1"/>
                          </a:solidFill>
                        </a:rPr>
                        <a:t>(※)</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557219326"/>
                  </a:ext>
                </a:extLst>
              </a:tr>
              <a:tr h="965930">
                <a:tc>
                  <a:txBody>
                    <a:bodyPr/>
                    <a:lstStyle/>
                    <a:p>
                      <a:r>
                        <a:rPr lang="ja-JP" altLang="en-US" sz="1600"/>
                        <a:t>個人番号カード</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2563" indent="-182563">
                        <a:buFont typeface="Arial" panose="020B0604020202020204" pitchFamily="34" charset="0"/>
                        <a:buChar char="•"/>
                      </a:pPr>
                      <a:r>
                        <a:rPr lang="ja-JP" altLang="en-US" sz="1600" dirty="0"/>
                        <a:t>個人番号カードを本人確認書類として写しを取得する場合、表面のみをコピー</a:t>
                      </a:r>
                      <a:endParaRPr lang="en-US" altLang="ja-JP" sz="1600" dirty="0"/>
                    </a:p>
                    <a:p>
                      <a:pPr marL="182563" indent="-182563">
                        <a:buFont typeface="Arial" panose="020B0604020202020204" pitchFamily="34" charset="0"/>
                        <a:buChar char="•"/>
                      </a:pPr>
                      <a:r>
                        <a:rPr lang="ja-JP" altLang="en-US" sz="1600" dirty="0"/>
                        <a:t>裏面には、個人番号が記載されていることから、決して裏面の写しを取得しないこと</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2563" indent="-182563">
                        <a:buFont typeface="Arial" panose="020B0604020202020204" pitchFamily="34" charset="0"/>
                        <a:buChar char="•"/>
                      </a:pPr>
                      <a:r>
                        <a:rPr lang="ja-JP" altLang="en-US" sz="1600" dirty="0"/>
                        <a:t>個人番号（マイナンバー）の記録は不可</a:t>
                      </a:r>
                      <a:endParaRPr lang="en-US" altLang="ja-JP" sz="1600" dirty="0"/>
                    </a:p>
                    <a:p>
                      <a:pPr marL="182563" indent="-182563">
                        <a:buFont typeface="Arial" panose="020B0604020202020204" pitchFamily="34" charset="0"/>
                        <a:buChar char="•"/>
                      </a:pPr>
                      <a:r>
                        <a:rPr lang="ja-JP" altLang="en-US" sz="1600" dirty="0"/>
                        <a:t>有効期限を記載</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1875762"/>
                  </a:ext>
                </a:extLst>
              </a:tr>
              <a:tr h="778081">
                <a:tc>
                  <a:txBody>
                    <a:bodyPr/>
                    <a:lstStyle/>
                    <a:p>
                      <a:r>
                        <a:rPr lang="ja-JP" altLang="en-US" sz="1600" dirty="0"/>
                        <a:t>国民年金手帳</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2563" indent="-182563">
                        <a:buFont typeface="Arial" panose="020B0604020202020204" pitchFamily="34" charset="0"/>
                        <a:buChar char="•"/>
                      </a:pPr>
                      <a:r>
                        <a:rPr lang="ja-JP" altLang="en-US" sz="1600" dirty="0"/>
                        <a:t>基礎年金番号を黒塗り（①国民年金欄の記号・番号、②厚生年金保険・船員保険の欄の記号・番号も基礎年金番号に含む）</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2563" indent="-182563">
                        <a:buFont typeface="Arial" panose="020B0604020202020204" pitchFamily="34" charset="0"/>
                        <a:buChar char="•"/>
                      </a:pPr>
                      <a:r>
                        <a:rPr lang="ja-JP" altLang="en-US" sz="1600" dirty="0"/>
                        <a:t>基礎年金番号の記録は不可</a:t>
                      </a:r>
                      <a:endParaRPr lang="en-US" altLang="ja-JP" sz="1600" dirty="0"/>
                    </a:p>
                    <a:p>
                      <a:pPr marL="182563" indent="-182563">
                        <a:buFont typeface="Arial" panose="020B0604020202020204" pitchFamily="34" charset="0"/>
                        <a:buChar char="•"/>
                      </a:pPr>
                      <a:r>
                        <a:rPr lang="ja-JP" altLang="en-US" sz="1600" dirty="0"/>
                        <a:t>交付年月日を記載</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91255804"/>
                  </a:ext>
                </a:extLst>
              </a:tr>
              <a:tr h="778081">
                <a:tc>
                  <a:txBody>
                    <a:bodyPr/>
                    <a:lstStyle/>
                    <a:p>
                      <a:r>
                        <a:rPr lang="ja-JP" altLang="en-US" sz="1600" dirty="0">
                          <a:solidFill>
                            <a:schemeClr val="tx1"/>
                          </a:solidFill>
                        </a:rPr>
                        <a:t>資格確認書</a:t>
                      </a:r>
                      <a:r>
                        <a:rPr lang="ja-JP" altLang="en-US" sz="1600" dirty="0"/>
                        <a:t>等</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2563" indent="-182563">
                        <a:buFont typeface="Arial" panose="020B0604020202020204" pitchFamily="34" charset="0"/>
                        <a:buChar char="•"/>
                      </a:pPr>
                      <a:r>
                        <a:rPr lang="ja-JP" altLang="en-US" sz="1600" dirty="0">
                          <a:solidFill>
                            <a:schemeClr val="tx1"/>
                          </a:solidFill>
                        </a:rPr>
                        <a:t>保険者番号及び被保険者等記号・番号・枝番を黒塗り</a:t>
                      </a:r>
                      <a:endParaRPr lang="en-US" altLang="ja-JP" sz="1600" dirty="0">
                        <a:solidFill>
                          <a:schemeClr val="tx1"/>
                        </a:solidFill>
                      </a:endParaRPr>
                    </a:p>
                    <a:p>
                      <a:pPr marL="182563" indent="-182563">
                        <a:buFont typeface="Arial" panose="020B0604020202020204" pitchFamily="34" charset="0"/>
                        <a:buChar char="•"/>
                      </a:pPr>
                      <a:r>
                        <a:rPr lang="en-US" altLang="ja-JP" sz="1600" dirty="0"/>
                        <a:t>QR</a:t>
                      </a:r>
                      <a:r>
                        <a:rPr lang="ja-JP" altLang="en-US" sz="1600" dirty="0"/>
                        <a:t>コードのある</a:t>
                      </a:r>
                      <a:r>
                        <a:rPr lang="ja-JP" altLang="en-US" sz="1600" dirty="0">
                          <a:solidFill>
                            <a:schemeClr val="tx1"/>
                          </a:solidFill>
                        </a:rPr>
                        <a:t>資格確認書</a:t>
                      </a:r>
                      <a:r>
                        <a:rPr lang="ja-JP" altLang="en-US" sz="1600" dirty="0"/>
                        <a:t>等は</a:t>
                      </a:r>
                      <a:r>
                        <a:rPr lang="en-US" altLang="ja-JP" sz="1600" dirty="0"/>
                        <a:t>QR</a:t>
                      </a:r>
                      <a:r>
                        <a:rPr lang="ja-JP" altLang="en-US" sz="1600" dirty="0"/>
                        <a:t>コードも黒塗り</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2563" indent="-182563">
                        <a:buFont typeface="Arial" panose="020B0604020202020204" pitchFamily="34" charset="0"/>
                        <a:buChar char="•"/>
                      </a:pPr>
                      <a:r>
                        <a:rPr lang="ja-JP" altLang="en-US" sz="1600" dirty="0">
                          <a:solidFill>
                            <a:schemeClr val="tx1"/>
                          </a:solidFill>
                        </a:rPr>
                        <a:t>保険者番号及び被保険者等記号・番号・枝番の記録は不可</a:t>
                      </a:r>
                      <a:endParaRPr lang="en-US" altLang="ja-JP" sz="1600" dirty="0">
                        <a:solidFill>
                          <a:schemeClr val="tx1"/>
                        </a:solidFill>
                      </a:endParaRPr>
                    </a:p>
                    <a:p>
                      <a:pPr marL="182563" indent="-182563">
                        <a:buFont typeface="Arial" panose="020B0604020202020204" pitchFamily="34" charset="0"/>
                        <a:buChar char="•"/>
                      </a:pPr>
                      <a:r>
                        <a:rPr lang="ja-JP" altLang="en-US" sz="1600" dirty="0"/>
                        <a:t>「名称」、「発行主体」、「交付年月日」を記録</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1376308"/>
                  </a:ext>
                </a:extLst>
              </a:tr>
              <a:tr h="592972">
                <a:tc>
                  <a:txBody>
                    <a:bodyPr/>
                    <a:lstStyle/>
                    <a:p>
                      <a:r>
                        <a:rPr lang="ja-JP" altLang="en-US" sz="1600"/>
                        <a:t>生活保護受給者の医療券・調剤券・介護券</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2563" indent="-182563">
                        <a:buFont typeface="Arial" panose="020B0604020202020204" pitchFamily="34" charset="0"/>
                        <a:buChar char="•"/>
                      </a:pPr>
                      <a:r>
                        <a:rPr lang="ja-JP" altLang="en-US" sz="1600" dirty="0"/>
                        <a:t>公費負担者番号及び受給者番号を黒塗り</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2563" indent="-182563">
                        <a:buFont typeface="Arial" panose="020B0604020202020204" pitchFamily="34" charset="0"/>
                        <a:buChar char="•"/>
                      </a:pPr>
                      <a:r>
                        <a:rPr lang="ja-JP" altLang="en-US" sz="1600" dirty="0"/>
                        <a:t>公費負担者番号及び受給者番号の記録は不可</a:t>
                      </a:r>
                      <a:endParaRPr lang="en-US" altLang="ja-JP" sz="1600" dirty="0"/>
                    </a:p>
                    <a:p>
                      <a:pPr marL="182563" indent="-182563">
                        <a:buFont typeface="Arial" panose="020B0604020202020204" pitchFamily="34" charset="0"/>
                        <a:buChar char="•"/>
                      </a:pPr>
                      <a:r>
                        <a:rPr lang="ja-JP" altLang="en-US" sz="1600" dirty="0"/>
                        <a:t>「名称」、「発行主体」、「交付年月日」を記録</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9962114"/>
                  </a:ext>
                </a:extLst>
              </a:tr>
              <a:tr h="737512">
                <a:tc>
                  <a:txBody>
                    <a:bodyPr/>
                    <a:lstStyle/>
                    <a:p>
                      <a:r>
                        <a:rPr lang="zh-TW" altLang="en-US" sz="1600"/>
                        <a:t>自衛官診療証</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2563" indent="-182563">
                        <a:buFont typeface="Arial" panose="020B0604020202020204" pitchFamily="34" charset="0"/>
                        <a:buChar char="•"/>
                      </a:pPr>
                      <a:r>
                        <a:rPr lang="ja-JP" altLang="en-US" sz="1600" dirty="0"/>
                        <a:t>発行者符号及び自衛官診療証記号・番号を黒塗り</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2563" indent="-182563">
                        <a:buFont typeface="Arial" panose="020B0604020202020204" pitchFamily="34" charset="0"/>
                        <a:buChar char="•"/>
                      </a:pPr>
                      <a:r>
                        <a:rPr lang="ja-JP" altLang="en-US" sz="1600" dirty="0"/>
                        <a:t>発行者符号及び自衛官診療証記号・番号の記録は不可</a:t>
                      </a:r>
                      <a:endParaRPr lang="en-US" altLang="ja-JP" sz="1600" dirty="0"/>
                    </a:p>
                    <a:p>
                      <a:pPr marL="182563" indent="-182563">
                        <a:buFont typeface="Arial" panose="020B0604020202020204" pitchFamily="34" charset="0"/>
                        <a:buChar char="•"/>
                      </a:pPr>
                      <a:r>
                        <a:rPr lang="ja-JP" altLang="en-US" sz="1600" dirty="0"/>
                        <a:t>「名称」、「発行主体」、「交付年月日」を記録</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3360568"/>
                  </a:ext>
                </a:extLst>
              </a:tr>
              <a:tr h="737512">
                <a:tc>
                  <a:txBody>
                    <a:bodyPr/>
                    <a:lstStyle/>
                    <a:p>
                      <a:r>
                        <a:rPr lang="ja-JP" altLang="en-US" sz="1600" dirty="0"/>
                        <a:t>療育手帳</a:t>
                      </a:r>
                      <a:endParaRPr lang="zh-TW" altLang="en-US" sz="1600" dirty="0"/>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2563" indent="-182563">
                        <a:buFont typeface="Arial" panose="020B0604020202020204" pitchFamily="34" charset="0"/>
                        <a:buChar char="•"/>
                      </a:pPr>
                      <a:r>
                        <a:rPr lang="ja-JP" altLang="en-US" sz="1600" dirty="0"/>
                        <a:t>障がい者等級を黒塗り</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2563" indent="-182563">
                        <a:buFont typeface="Arial" panose="020B0604020202020204" pitchFamily="34" charset="0"/>
                        <a:buChar char="•"/>
                      </a:pPr>
                      <a:endParaRPr lang="ja-JP" altLang="en-US" sz="1600" dirty="0"/>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2406409"/>
                  </a:ext>
                </a:extLst>
              </a:tr>
            </a:tbl>
          </a:graphicData>
        </a:graphic>
      </p:graphicFrame>
      <p:sp>
        <p:nvSpPr>
          <p:cNvPr id="3" name="正方形/長方形 2">
            <a:extLst>
              <a:ext uri="{FF2B5EF4-FFF2-40B4-BE49-F238E27FC236}">
                <a16:creationId xmlns:a16="http://schemas.microsoft.com/office/drawing/2014/main" id="{3D7F1B44-D463-C8DC-1BE9-436B9E557A30}"/>
              </a:ext>
            </a:extLst>
          </p:cNvPr>
          <p:cNvSpPr/>
          <p:nvPr/>
        </p:nvSpPr>
        <p:spPr>
          <a:xfrm>
            <a:off x="264000" y="239658"/>
            <a:ext cx="11664000" cy="680400"/>
          </a:xfrm>
          <a:prstGeom prst="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t>黒塗りすべき書類一覧</a:t>
            </a:r>
          </a:p>
        </p:txBody>
      </p:sp>
      <p:sp>
        <p:nvSpPr>
          <p:cNvPr id="4" name="テキスト ボックス 3">
            <a:extLst>
              <a:ext uri="{FF2B5EF4-FFF2-40B4-BE49-F238E27FC236}">
                <a16:creationId xmlns:a16="http://schemas.microsoft.com/office/drawing/2014/main" id="{F916EF5D-ABB7-CD33-8101-F6B66E1CA71B}"/>
              </a:ext>
            </a:extLst>
          </p:cNvPr>
          <p:cNvSpPr txBox="1"/>
          <p:nvPr/>
        </p:nvSpPr>
        <p:spPr>
          <a:xfrm>
            <a:off x="384810" y="6358321"/>
            <a:ext cx="11664000" cy="338554"/>
          </a:xfrm>
          <a:prstGeom prst="rect">
            <a:avLst/>
          </a:prstGeom>
          <a:noFill/>
        </p:spPr>
        <p:txBody>
          <a:bodyPr wrap="square">
            <a:spAutoFit/>
          </a:bodyPr>
          <a:lstStyle/>
          <a:p>
            <a:pPr>
              <a:spcAft>
                <a:spcPts val="600"/>
              </a:spcAft>
            </a:pPr>
            <a:r>
              <a:rPr lang="en-US" altLang="ja-JP" sz="1600" dirty="0"/>
              <a:t>(※)</a:t>
            </a:r>
            <a:r>
              <a:rPr lang="ja-JP" altLang="en-US" sz="1600" dirty="0"/>
              <a:t>写しがある場合、記載は不要です。</a:t>
            </a:r>
            <a:endParaRPr lang="en-US" altLang="ja-JP" sz="1600" dirty="0"/>
          </a:p>
        </p:txBody>
      </p:sp>
    </p:spTree>
    <p:extLst>
      <p:ext uri="{BB962C8B-B14F-4D97-AF65-F5344CB8AC3E}">
        <p14:creationId xmlns:p14="http://schemas.microsoft.com/office/powerpoint/2010/main" val="3613419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0486CEED-8FBA-8D53-47EA-ED8C6A8C0AFA}"/>
              </a:ext>
            </a:extLst>
          </p:cNvPr>
          <p:cNvGraphicFramePr>
            <a:graphicFrameLocks noGrp="1"/>
          </p:cNvGraphicFramePr>
          <p:nvPr>
            <p:extLst>
              <p:ext uri="{D42A27DB-BD31-4B8C-83A1-F6EECF244321}">
                <p14:modId xmlns:p14="http://schemas.microsoft.com/office/powerpoint/2010/main" val="2228137959"/>
              </p:ext>
            </p:extLst>
          </p:nvPr>
        </p:nvGraphicFramePr>
        <p:xfrm>
          <a:off x="263998" y="1105112"/>
          <a:ext cx="11664002" cy="5272648"/>
        </p:xfrm>
        <a:graphic>
          <a:graphicData uri="http://schemas.openxmlformats.org/drawingml/2006/table">
            <a:tbl>
              <a:tblPr/>
              <a:tblGrid>
                <a:gridCol w="1998694">
                  <a:extLst>
                    <a:ext uri="{9D8B030D-6E8A-4147-A177-3AD203B41FA5}">
                      <a16:colId xmlns:a16="http://schemas.microsoft.com/office/drawing/2014/main" val="2518075419"/>
                    </a:ext>
                  </a:extLst>
                </a:gridCol>
                <a:gridCol w="3569098">
                  <a:extLst>
                    <a:ext uri="{9D8B030D-6E8A-4147-A177-3AD203B41FA5}">
                      <a16:colId xmlns:a16="http://schemas.microsoft.com/office/drawing/2014/main" val="2213247180"/>
                    </a:ext>
                  </a:extLst>
                </a:gridCol>
                <a:gridCol w="6096210">
                  <a:extLst>
                    <a:ext uri="{9D8B030D-6E8A-4147-A177-3AD203B41FA5}">
                      <a16:colId xmlns:a16="http://schemas.microsoft.com/office/drawing/2014/main" val="1714303370"/>
                    </a:ext>
                  </a:extLst>
                </a:gridCol>
              </a:tblGrid>
              <a:tr h="369429">
                <a:tc>
                  <a:txBody>
                    <a:bodyPr/>
                    <a:lstStyle/>
                    <a:p>
                      <a:r>
                        <a:rPr lang="ja-JP" altLang="en-US" sz="2000" b="1" dirty="0">
                          <a:solidFill>
                            <a:schemeClr val="bg1"/>
                          </a:solidFill>
                        </a:rPr>
                        <a:t>確認書類の種類</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r>
                        <a:rPr lang="ja-JP" altLang="en-US" sz="2000" b="1" dirty="0">
                          <a:solidFill>
                            <a:schemeClr val="bg1"/>
                          </a:solidFill>
                        </a:rPr>
                        <a:t>具体的な書類</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r>
                        <a:rPr lang="ja-JP" altLang="en-US" sz="2000" b="1" dirty="0">
                          <a:solidFill>
                            <a:schemeClr val="bg1"/>
                          </a:solidFill>
                        </a:rPr>
                        <a:t>特記事項</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68415140"/>
                  </a:ext>
                </a:extLst>
              </a:tr>
              <a:tr h="1200554">
                <a:tc>
                  <a:txBody>
                    <a:bodyPr/>
                    <a:lstStyle/>
                    <a:p>
                      <a:r>
                        <a:rPr lang="ja-JP" altLang="en-US" sz="1800" dirty="0"/>
                        <a:t>定款</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800" dirty="0"/>
                        <a:t>・定款</a:t>
                      </a:r>
                      <a:endParaRPr lang="en-US" altLang="ja-JP" sz="1800" dirty="0"/>
                    </a:p>
                    <a:p>
                      <a:r>
                        <a:rPr lang="ja-JP" altLang="en-US" sz="1800" dirty="0"/>
                        <a:t>・定款に相当する書類</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182563" indent="-182563">
                        <a:spcAft>
                          <a:spcPts val="400"/>
                        </a:spcAft>
                        <a:buFont typeface="Arial" panose="020B0604020202020204" pitchFamily="34" charset="0"/>
                        <a:buChar char="•"/>
                      </a:pPr>
                      <a:r>
                        <a:rPr lang="ja-JP" altLang="en-US" sz="1800" dirty="0"/>
                        <a:t>原本の写しの場合、代表者等の証明印がなくても可 </a:t>
                      </a:r>
                      <a:endParaRPr lang="en-US" altLang="ja-JP" sz="1800" dirty="0"/>
                    </a:p>
                    <a:p>
                      <a:pPr marL="182563" indent="-182563">
                        <a:spcAft>
                          <a:spcPts val="400"/>
                        </a:spcAft>
                        <a:buFont typeface="Arial" panose="020B0604020202020204" pitchFamily="34" charset="0"/>
                        <a:buChar char="•"/>
                      </a:pPr>
                      <a:r>
                        <a:rPr lang="ja-JP" altLang="en-US" sz="1800" dirty="0"/>
                        <a:t>ただし、原本と同一内容であることの確認が必要 </a:t>
                      </a:r>
                      <a:endParaRPr lang="en-US" altLang="ja-JP" sz="1800" dirty="0"/>
                    </a:p>
                    <a:p>
                      <a:pPr marL="182563" indent="-182563">
                        <a:spcAft>
                          <a:spcPts val="400"/>
                        </a:spcAft>
                        <a:buFont typeface="Arial" panose="020B0604020202020204" pitchFamily="34" charset="0"/>
                        <a:buChar char="•"/>
                      </a:pPr>
                      <a:r>
                        <a:rPr lang="ja-JP" altLang="en-US" sz="1800" dirty="0"/>
                        <a:t>過去に受理した定款を使用する場合は、現時点での有効性を確認する必要あり</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21887199"/>
                  </a:ext>
                </a:extLst>
              </a:tr>
              <a:tr h="1200554">
                <a:tc>
                  <a:txBody>
                    <a:bodyPr/>
                    <a:lstStyle/>
                    <a:p>
                      <a:r>
                        <a:rPr lang="ja-JP" altLang="en-US" sz="1800" dirty="0"/>
                        <a:t>法定書類</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800" dirty="0"/>
                        <a:t>・有価証券報告書</a:t>
                      </a:r>
                      <a:endParaRPr lang="en-US" altLang="ja-JP" sz="1800" dirty="0"/>
                    </a:p>
                    <a:p>
                      <a:r>
                        <a:rPr lang="ja-JP" altLang="en-US" sz="1800" dirty="0"/>
                        <a:t>・法人税確定申告書</a:t>
                      </a:r>
                      <a:br>
                        <a:rPr lang="en-US" altLang="ja-JP" sz="1800" dirty="0"/>
                      </a:br>
                      <a:r>
                        <a:rPr lang="ja-JP" altLang="en-US" sz="1800" dirty="0"/>
                        <a:t>（融資取引先の場合）</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indent="0">
                        <a:spcAft>
                          <a:spcPts val="400"/>
                        </a:spcAft>
                        <a:buFont typeface="Arial" panose="020B0604020202020204" pitchFamily="34" charset="0"/>
                        <a:buNone/>
                      </a:pPr>
                      <a:r>
                        <a:rPr lang="en-US" altLang="ja-JP" sz="1800" dirty="0"/>
                        <a:t>【</a:t>
                      </a:r>
                      <a:r>
                        <a:rPr lang="ja-JP" altLang="en-US" sz="1800" dirty="0"/>
                        <a:t>法人税確定申告書の場合</a:t>
                      </a:r>
                      <a:r>
                        <a:rPr lang="en-US" altLang="ja-JP" sz="1800" dirty="0"/>
                        <a:t>】</a:t>
                      </a:r>
                    </a:p>
                    <a:p>
                      <a:pPr marL="182563" indent="-182563">
                        <a:spcAft>
                          <a:spcPts val="400"/>
                        </a:spcAft>
                        <a:buFont typeface="Arial" panose="020B0604020202020204" pitchFamily="34" charset="0"/>
                        <a:buChar char="•"/>
                      </a:pPr>
                      <a:r>
                        <a:rPr lang="ja-JP" altLang="en-US" sz="1800" dirty="0">
                          <a:solidFill>
                            <a:schemeClr val="tx1"/>
                          </a:solidFill>
                        </a:rPr>
                        <a:t>所轄税務署の受付印（または電子申告の日付・受付番号の印刷があるもの等）が必要</a:t>
                      </a:r>
                      <a:endParaRPr lang="en-US" altLang="ja-JP" sz="1800" dirty="0">
                        <a:solidFill>
                          <a:schemeClr val="tx1"/>
                        </a:solidFill>
                      </a:endParaRPr>
                    </a:p>
                    <a:p>
                      <a:pPr marL="182563" indent="-182563">
                        <a:spcAft>
                          <a:spcPts val="400"/>
                        </a:spcAft>
                        <a:buFont typeface="Arial" panose="020B0604020202020204" pitchFamily="34" charset="0"/>
                        <a:buChar char="•"/>
                      </a:pPr>
                      <a:r>
                        <a:rPr lang="ja-JP" altLang="en-US" sz="1800" dirty="0"/>
                        <a:t>法人事業概況説明書の添付が必要</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35477997"/>
                  </a:ext>
                </a:extLst>
              </a:tr>
              <a:tr h="944795">
                <a:tc>
                  <a:txBody>
                    <a:bodyPr/>
                    <a:lstStyle/>
                    <a:p>
                      <a:r>
                        <a:rPr lang="zh-TW" altLang="en-US" sz="1800" dirty="0"/>
                        <a:t>登記事項証明書</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800" dirty="0"/>
                        <a:t>・設立登記に係る登記事項証明書</a:t>
                      </a:r>
                      <a:endParaRPr lang="en-US" altLang="ja-JP" sz="1800" dirty="0"/>
                    </a:p>
                    <a:p>
                      <a:r>
                        <a:rPr lang="ja-JP" altLang="en-US" sz="1800" dirty="0"/>
                        <a:t>・インターネット登記情報提供サービス</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182563" indent="-182563">
                        <a:spcAft>
                          <a:spcPts val="400"/>
                        </a:spcAft>
                        <a:buFont typeface="Arial" panose="020B0604020202020204" pitchFamily="34" charset="0"/>
                        <a:buChar char="•"/>
                      </a:pPr>
                      <a:r>
                        <a:rPr lang="ja-JP" altLang="en-US" sz="1800" dirty="0"/>
                        <a:t>確認日前</a:t>
                      </a:r>
                      <a:r>
                        <a:rPr lang="en-US" altLang="ja-JP" sz="1800" dirty="0"/>
                        <a:t>6</a:t>
                      </a:r>
                      <a:r>
                        <a:rPr lang="ja-JP" altLang="en-US" sz="1800" dirty="0"/>
                        <a:t>ヶ月以内に作成されたものに限る </a:t>
                      </a:r>
                      <a:endParaRPr lang="en-US" altLang="ja-JP" sz="1800" dirty="0"/>
                    </a:p>
                    <a:p>
                      <a:pPr marL="182563" indent="-182563">
                        <a:spcAft>
                          <a:spcPts val="400"/>
                        </a:spcAft>
                        <a:buFont typeface="Arial" panose="020B0604020202020204" pitchFamily="34" charset="0"/>
                        <a:buChar char="•"/>
                      </a:pPr>
                      <a:r>
                        <a:rPr lang="ja-JP" altLang="en-US" sz="1800" dirty="0"/>
                        <a:t>インターネット登記情報提供サービスの情報による確認も可能</a:t>
                      </a:r>
                      <a:endParaRPr lang="en-US" altLang="ja-JP" sz="1800" dirty="0"/>
                    </a:p>
                    <a:p>
                      <a:pPr marL="182563" indent="-182563">
                        <a:spcAft>
                          <a:spcPts val="400"/>
                        </a:spcAft>
                        <a:buFont typeface="Arial" panose="020B0604020202020204" pitchFamily="34" charset="0"/>
                        <a:buChar char="•"/>
                      </a:pPr>
                      <a:r>
                        <a:rPr lang="ja-JP" altLang="en-US" sz="1800" dirty="0"/>
                        <a:t>ただし、法人の本人特定事項の確認には使用不可</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755412319"/>
                  </a:ext>
                </a:extLst>
              </a:tr>
              <a:tr h="1200554">
                <a:tc>
                  <a:txBody>
                    <a:bodyPr/>
                    <a:lstStyle/>
                    <a:p>
                      <a:r>
                        <a:rPr lang="zh-TW" altLang="en-US" sz="1800" dirty="0"/>
                        <a:t>官公庁発行書類</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800" dirty="0"/>
                        <a:t>・官公庁から発行・発給された書類</a:t>
                      </a:r>
                      <a:endParaRPr lang="en-US" altLang="ja-JP" sz="1800" dirty="0"/>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182563" indent="-182563">
                        <a:spcAft>
                          <a:spcPts val="400"/>
                        </a:spcAft>
                        <a:buFont typeface="Arial" panose="020B0604020202020204" pitchFamily="34" charset="0"/>
                        <a:buChar char="•"/>
                      </a:pPr>
                      <a:r>
                        <a:rPr lang="ja-JP" altLang="en-US" sz="1800" dirty="0"/>
                        <a:t>有効期限のある書類：確認日現在で有効なもの</a:t>
                      </a:r>
                      <a:endParaRPr lang="en-US" altLang="ja-JP" sz="1800" dirty="0"/>
                    </a:p>
                    <a:p>
                      <a:pPr marL="182563" indent="-182563">
                        <a:spcAft>
                          <a:spcPts val="400"/>
                        </a:spcAft>
                        <a:buFont typeface="Arial" panose="020B0604020202020204" pitchFamily="34" charset="0"/>
                        <a:buChar char="•"/>
                      </a:pPr>
                      <a:r>
                        <a:rPr lang="ja-JP" altLang="en-US" sz="1800" dirty="0"/>
                        <a:t>有効期限のない書類：確認日前</a:t>
                      </a:r>
                      <a:r>
                        <a:rPr lang="en-US" altLang="ja-JP" sz="1800" dirty="0"/>
                        <a:t>6</a:t>
                      </a:r>
                      <a:r>
                        <a:rPr lang="ja-JP" altLang="en-US" sz="1800" dirty="0"/>
                        <a:t>ヶ月以内作成のもの</a:t>
                      </a:r>
                      <a:endParaRPr lang="en-US" altLang="ja-JP" sz="1800" dirty="0"/>
                    </a:p>
                    <a:p>
                      <a:pPr marL="182563" indent="-182563">
                        <a:spcAft>
                          <a:spcPts val="400"/>
                        </a:spcAft>
                        <a:buFont typeface="Arial" panose="020B0604020202020204" pitchFamily="34" charset="0"/>
                        <a:buChar char="•"/>
                      </a:pPr>
                      <a:r>
                        <a:rPr lang="ja-JP" altLang="en-US" sz="1800" dirty="0"/>
                        <a:t>官公庁の印がない書類でも、発行・発給された書類と認められれば可</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825941329"/>
                  </a:ext>
                </a:extLst>
              </a:tr>
            </a:tbl>
          </a:graphicData>
        </a:graphic>
      </p:graphicFrame>
      <p:sp>
        <p:nvSpPr>
          <p:cNvPr id="3" name="正方形/長方形 2">
            <a:extLst>
              <a:ext uri="{FF2B5EF4-FFF2-40B4-BE49-F238E27FC236}">
                <a16:creationId xmlns:a16="http://schemas.microsoft.com/office/drawing/2014/main" id="{342221E3-E3B6-BC97-2306-494F734B76BB}"/>
              </a:ext>
            </a:extLst>
          </p:cNvPr>
          <p:cNvSpPr/>
          <p:nvPr/>
        </p:nvSpPr>
        <p:spPr>
          <a:xfrm>
            <a:off x="264000" y="239658"/>
            <a:ext cx="11664000" cy="680400"/>
          </a:xfrm>
          <a:prstGeom prst="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t>法人の事業内容の確認方法</a:t>
            </a:r>
          </a:p>
        </p:txBody>
      </p:sp>
      <p:sp>
        <p:nvSpPr>
          <p:cNvPr id="5" name="テキスト ボックス 4">
            <a:extLst>
              <a:ext uri="{FF2B5EF4-FFF2-40B4-BE49-F238E27FC236}">
                <a16:creationId xmlns:a16="http://schemas.microsoft.com/office/drawing/2014/main" id="{E3712F79-CAC4-2786-C3B6-EF3D6178D2ED}"/>
              </a:ext>
            </a:extLst>
          </p:cNvPr>
          <p:cNvSpPr txBox="1"/>
          <p:nvPr/>
        </p:nvSpPr>
        <p:spPr>
          <a:xfrm>
            <a:off x="263998" y="6433676"/>
            <a:ext cx="11664002" cy="369332"/>
          </a:xfrm>
          <a:prstGeom prst="rect">
            <a:avLst/>
          </a:prstGeom>
          <a:noFill/>
        </p:spPr>
        <p:txBody>
          <a:bodyPr wrap="square">
            <a:spAutoFit/>
          </a:bodyPr>
          <a:lstStyle/>
          <a:p>
            <a:pPr algn="l"/>
            <a:r>
              <a:rPr lang="en-US" altLang="ja-JP" b="0" i="0" u="none" strike="noStrike" baseline="0" dirty="0">
                <a:latin typeface="MS-Mincho"/>
              </a:rPr>
              <a:t>※</a:t>
            </a:r>
            <a:r>
              <a:rPr lang="ja-JP" altLang="en-US" sz="1800" b="0" i="0" u="none" strike="noStrike" baseline="0" dirty="0">
                <a:latin typeface="MS-Mincho"/>
              </a:rPr>
              <a:t>会社のウェブサイトや会社案内は、確認書類に含まれません。（一定以上の信用性があることが必要であるため）</a:t>
            </a:r>
            <a:endParaRPr lang="ja-JP" altLang="en-US" b="0" i="0" u="none" strike="noStrike" baseline="0" dirty="0">
              <a:latin typeface="MS-Mincho"/>
            </a:endParaRPr>
          </a:p>
        </p:txBody>
      </p:sp>
    </p:spTree>
    <p:extLst>
      <p:ext uri="{BB962C8B-B14F-4D97-AF65-F5344CB8AC3E}">
        <p14:creationId xmlns:p14="http://schemas.microsoft.com/office/powerpoint/2010/main" val="2377271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正方形/長方形 185">
            <a:extLst>
              <a:ext uri="{FF2B5EF4-FFF2-40B4-BE49-F238E27FC236}">
                <a16:creationId xmlns:a16="http://schemas.microsoft.com/office/drawing/2014/main" id="{B8E9034E-1F62-E54C-55C7-AEE069BECAE7}"/>
              </a:ext>
            </a:extLst>
          </p:cNvPr>
          <p:cNvSpPr/>
          <p:nvPr/>
        </p:nvSpPr>
        <p:spPr>
          <a:xfrm>
            <a:off x="264000" y="56716"/>
            <a:ext cx="11664000" cy="680400"/>
          </a:xfrm>
          <a:prstGeom prst="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t>大株主基準（第一順位）による実質的支配者の判定フロー</a:t>
            </a:r>
          </a:p>
        </p:txBody>
      </p:sp>
      <p:sp>
        <p:nvSpPr>
          <p:cNvPr id="3" name="正方形/長方形 2">
            <a:extLst>
              <a:ext uri="{FF2B5EF4-FFF2-40B4-BE49-F238E27FC236}">
                <a16:creationId xmlns:a16="http://schemas.microsoft.com/office/drawing/2014/main" id="{C0EA19E1-4155-F14E-9849-D05689B63777}"/>
              </a:ext>
            </a:extLst>
          </p:cNvPr>
          <p:cNvSpPr/>
          <p:nvPr/>
        </p:nvSpPr>
        <p:spPr>
          <a:xfrm>
            <a:off x="264000" y="997819"/>
            <a:ext cx="1876177" cy="568436"/>
          </a:xfrm>
          <a:prstGeom prst="rect">
            <a:avLst/>
          </a:prstGeom>
          <a:solidFill>
            <a:schemeClr val="bg1"/>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法人</a:t>
            </a:r>
            <a:r>
              <a:rPr kumimoji="1" lang="en-US" altLang="ja-JP" sz="1200" dirty="0">
                <a:solidFill>
                  <a:schemeClr val="tx1"/>
                </a:solidFill>
              </a:rPr>
              <a:t>A</a:t>
            </a:r>
            <a:r>
              <a:rPr kumimoji="1" lang="ja-JP" altLang="en-US" sz="1200" dirty="0">
                <a:solidFill>
                  <a:schemeClr val="tx1"/>
                </a:solidFill>
              </a:rPr>
              <a:t>の議決権を保有する率</a:t>
            </a:r>
            <a:br>
              <a:rPr kumimoji="1" lang="en-US" altLang="ja-JP" sz="1200" dirty="0">
                <a:solidFill>
                  <a:schemeClr val="tx1"/>
                </a:solidFill>
              </a:rPr>
            </a:br>
            <a:r>
              <a:rPr kumimoji="1" lang="ja-JP" altLang="en-US" sz="1200" dirty="0">
                <a:solidFill>
                  <a:schemeClr val="tx1"/>
                </a:solidFill>
              </a:rPr>
              <a:t>に応じて実質的支配者を判定</a:t>
            </a:r>
          </a:p>
        </p:txBody>
      </p:sp>
      <p:sp>
        <p:nvSpPr>
          <p:cNvPr id="4" name="フローチャート: 判断 3">
            <a:extLst>
              <a:ext uri="{FF2B5EF4-FFF2-40B4-BE49-F238E27FC236}">
                <a16:creationId xmlns:a16="http://schemas.microsoft.com/office/drawing/2014/main" id="{7C4A312A-2F12-CB51-60B7-F647535C893A}"/>
              </a:ext>
            </a:extLst>
          </p:cNvPr>
          <p:cNvSpPr/>
          <p:nvPr/>
        </p:nvSpPr>
        <p:spPr>
          <a:xfrm>
            <a:off x="2370708" y="909000"/>
            <a:ext cx="1667713" cy="746072"/>
          </a:xfrm>
          <a:prstGeom prst="flowChartDecision">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dirty="0">
                <a:solidFill>
                  <a:schemeClr val="tx1"/>
                </a:solidFill>
              </a:rPr>
              <a:t>25%</a:t>
            </a:r>
            <a:r>
              <a:rPr kumimoji="1" lang="ja-JP" altLang="en-US" sz="1000" dirty="0">
                <a:solidFill>
                  <a:schemeClr val="tx1"/>
                </a:solidFill>
              </a:rPr>
              <a:t>超を保有する個人</a:t>
            </a:r>
            <a:br>
              <a:rPr kumimoji="1" lang="en-US" altLang="ja-JP" sz="1000" dirty="0">
                <a:solidFill>
                  <a:schemeClr val="tx1"/>
                </a:solidFill>
              </a:rPr>
            </a:br>
            <a:r>
              <a:rPr kumimoji="1" lang="ja-JP" altLang="en-US" sz="1000" dirty="0">
                <a:solidFill>
                  <a:schemeClr val="tx1"/>
                </a:solidFill>
              </a:rPr>
              <a:t>が複数いるか？</a:t>
            </a:r>
          </a:p>
        </p:txBody>
      </p:sp>
      <p:sp>
        <p:nvSpPr>
          <p:cNvPr id="5" name="フローチャート: 判断 4">
            <a:extLst>
              <a:ext uri="{FF2B5EF4-FFF2-40B4-BE49-F238E27FC236}">
                <a16:creationId xmlns:a16="http://schemas.microsoft.com/office/drawing/2014/main" id="{1AEA2454-D613-6DF5-AA4C-26A87FD883F3}"/>
              </a:ext>
            </a:extLst>
          </p:cNvPr>
          <p:cNvSpPr/>
          <p:nvPr/>
        </p:nvSpPr>
        <p:spPr>
          <a:xfrm>
            <a:off x="4669757" y="909000"/>
            <a:ext cx="1667713" cy="746072"/>
          </a:xfrm>
          <a:prstGeom prst="flowChartDecision">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dirty="0">
                <a:solidFill>
                  <a:schemeClr val="tx1"/>
                </a:solidFill>
              </a:rPr>
              <a:t>50%</a:t>
            </a:r>
            <a:r>
              <a:rPr kumimoji="1" lang="ja-JP" altLang="en-US" sz="1000" dirty="0">
                <a:solidFill>
                  <a:schemeClr val="tx1"/>
                </a:solidFill>
              </a:rPr>
              <a:t>超を保有する個人</a:t>
            </a:r>
            <a:br>
              <a:rPr kumimoji="1" lang="en-US" altLang="ja-JP" sz="1000" dirty="0">
                <a:solidFill>
                  <a:schemeClr val="tx1"/>
                </a:solidFill>
              </a:rPr>
            </a:br>
            <a:r>
              <a:rPr kumimoji="1" lang="ja-JP" altLang="en-US" sz="1000" dirty="0">
                <a:solidFill>
                  <a:schemeClr val="tx1"/>
                </a:solidFill>
              </a:rPr>
              <a:t>がいるか？</a:t>
            </a:r>
          </a:p>
        </p:txBody>
      </p:sp>
      <p:sp>
        <p:nvSpPr>
          <p:cNvPr id="6" name="フローチャート: 判断 5">
            <a:extLst>
              <a:ext uri="{FF2B5EF4-FFF2-40B4-BE49-F238E27FC236}">
                <a16:creationId xmlns:a16="http://schemas.microsoft.com/office/drawing/2014/main" id="{A2A2F931-04F2-B0CF-9C46-1BCFA56B5DAA}"/>
              </a:ext>
            </a:extLst>
          </p:cNvPr>
          <p:cNvSpPr/>
          <p:nvPr/>
        </p:nvSpPr>
        <p:spPr>
          <a:xfrm>
            <a:off x="3520232" y="2585996"/>
            <a:ext cx="1667713" cy="746072"/>
          </a:xfrm>
          <a:prstGeom prst="flowChartDecision">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dirty="0">
                <a:solidFill>
                  <a:schemeClr val="tx1"/>
                </a:solidFill>
              </a:rPr>
              <a:t>25%</a:t>
            </a:r>
            <a:r>
              <a:rPr kumimoji="1" lang="ja-JP" altLang="en-US" sz="1000" dirty="0">
                <a:solidFill>
                  <a:schemeClr val="tx1"/>
                </a:solidFill>
              </a:rPr>
              <a:t>超を保有する</a:t>
            </a:r>
            <a:br>
              <a:rPr kumimoji="1" lang="en-US" altLang="ja-JP" sz="1000" dirty="0">
                <a:solidFill>
                  <a:schemeClr val="tx1"/>
                </a:solidFill>
              </a:rPr>
            </a:br>
            <a:r>
              <a:rPr kumimoji="1" lang="ja-JP" altLang="en-US" sz="1000" dirty="0">
                <a:solidFill>
                  <a:schemeClr val="tx1"/>
                </a:solidFill>
              </a:rPr>
              <a:t>個人がいるか？</a:t>
            </a:r>
          </a:p>
        </p:txBody>
      </p:sp>
      <p:sp>
        <p:nvSpPr>
          <p:cNvPr id="7" name="フローチャート: 判断 6">
            <a:extLst>
              <a:ext uri="{FF2B5EF4-FFF2-40B4-BE49-F238E27FC236}">
                <a16:creationId xmlns:a16="http://schemas.microsoft.com/office/drawing/2014/main" id="{A5D874A9-6DDC-B3EB-8746-96F7EEF463D3}"/>
              </a:ext>
            </a:extLst>
          </p:cNvPr>
          <p:cNvSpPr/>
          <p:nvPr/>
        </p:nvSpPr>
        <p:spPr>
          <a:xfrm>
            <a:off x="4669757" y="3424419"/>
            <a:ext cx="1667713" cy="746072"/>
          </a:xfrm>
          <a:prstGeom prst="flowChartDecision">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000" dirty="0">
                <a:solidFill>
                  <a:schemeClr val="tx1"/>
                </a:solidFill>
              </a:rPr>
              <a:t>保有者に法人</a:t>
            </a:r>
            <a:r>
              <a:rPr kumimoji="1" lang="en-US" altLang="ja-JP" sz="1000" dirty="0">
                <a:solidFill>
                  <a:schemeClr val="tx1"/>
                </a:solidFill>
              </a:rPr>
              <a:t>(</a:t>
            </a:r>
            <a:r>
              <a:rPr kumimoji="1" lang="ja-JP" altLang="en-US" sz="1000" dirty="0">
                <a:solidFill>
                  <a:schemeClr val="tx1"/>
                </a:solidFill>
              </a:rPr>
              <a:t>法人</a:t>
            </a:r>
            <a:r>
              <a:rPr kumimoji="1" lang="en-US" altLang="ja-JP" sz="1000" dirty="0">
                <a:solidFill>
                  <a:schemeClr val="tx1"/>
                </a:solidFill>
              </a:rPr>
              <a:t>B)</a:t>
            </a:r>
            <a:br>
              <a:rPr kumimoji="1" lang="en-US" altLang="ja-JP" sz="1000" dirty="0">
                <a:solidFill>
                  <a:schemeClr val="tx1"/>
                </a:solidFill>
              </a:rPr>
            </a:br>
            <a:r>
              <a:rPr kumimoji="1" lang="ja-JP" altLang="en-US" sz="1000" dirty="0">
                <a:solidFill>
                  <a:schemeClr val="tx1"/>
                </a:solidFill>
              </a:rPr>
              <a:t>がいるか？</a:t>
            </a:r>
            <a:r>
              <a:rPr kumimoji="1" lang="en-US" altLang="ja-JP" sz="1000" dirty="0">
                <a:solidFill>
                  <a:schemeClr val="tx1"/>
                </a:solidFill>
              </a:rPr>
              <a:t>※1</a:t>
            </a:r>
            <a:endParaRPr kumimoji="1" lang="ja-JP" altLang="en-US" sz="1000" dirty="0">
              <a:solidFill>
                <a:schemeClr val="tx1"/>
              </a:solidFill>
            </a:endParaRPr>
          </a:p>
        </p:txBody>
      </p:sp>
      <p:sp>
        <p:nvSpPr>
          <p:cNvPr id="8" name="フローチャート: 判断 7">
            <a:extLst>
              <a:ext uri="{FF2B5EF4-FFF2-40B4-BE49-F238E27FC236}">
                <a16:creationId xmlns:a16="http://schemas.microsoft.com/office/drawing/2014/main" id="{BE6667DE-6C9C-EDD7-EAEA-17DA4878893E}"/>
              </a:ext>
            </a:extLst>
          </p:cNvPr>
          <p:cNvSpPr/>
          <p:nvPr/>
        </p:nvSpPr>
        <p:spPr>
          <a:xfrm>
            <a:off x="5819281" y="4262844"/>
            <a:ext cx="1667713" cy="746072"/>
          </a:xfrm>
          <a:prstGeom prst="flowChartDecision">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000" dirty="0">
                <a:solidFill>
                  <a:schemeClr val="tx1"/>
                </a:solidFill>
              </a:rPr>
              <a:t>法人</a:t>
            </a:r>
            <a:r>
              <a:rPr kumimoji="1" lang="en-US" altLang="ja-JP" sz="1000" dirty="0">
                <a:solidFill>
                  <a:schemeClr val="tx1"/>
                </a:solidFill>
              </a:rPr>
              <a:t>B</a:t>
            </a:r>
            <a:r>
              <a:rPr kumimoji="1" lang="ja-JP" altLang="en-US" sz="1000" dirty="0">
                <a:solidFill>
                  <a:schemeClr val="tx1"/>
                </a:solidFill>
              </a:rPr>
              <a:t>の議決権</a:t>
            </a:r>
            <a:br>
              <a:rPr kumimoji="1" lang="en-US" altLang="ja-JP" sz="1000" dirty="0">
                <a:solidFill>
                  <a:schemeClr val="tx1"/>
                </a:solidFill>
              </a:rPr>
            </a:br>
            <a:r>
              <a:rPr kumimoji="1" lang="en-US" altLang="ja-JP" sz="1000" dirty="0">
                <a:solidFill>
                  <a:schemeClr val="tx1"/>
                </a:solidFill>
              </a:rPr>
              <a:t>50</a:t>
            </a:r>
            <a:r>
              <a:rPr kumimoji="1" lang="ja-JP" altLang="en-US" sz="1000" dirty="0">
                <a:solidFill>
                  <a:schemeClr val="tx1"/>
                </a:solidFill>
              </a:rPr>
              <a:t>％超を保有する個人</a:t>
            </a:r>
            <a:br>
              <a:rPr kumimoji="1" lang="en-US" altLang="ja-JP" sz="1000" dirty="0">
                <a:solidFill>
                  <a:schemeClr val="tx1"/>
                </a:solidFill>
              </a:rPr>
            </a:br>
            <a:r>
              <a:rPr kumimoji="1" lang="ja-JP" altLang="en-US" sz="1000" dirty="0">
                <a:solidFill>
                  <a:schemeClr val="tx1"/>
                </a:solidFill>
              </a:rPr>
              <a:t>がいるか？</a:t>
            </a:r>
            <a:r>
              <a:rPr kumimoji="1" lang="en-US" altLang="ja-JP" sz="1000" dirty="0">
                <a:solidFill>
                  <a:schemeClr val="tx1"/>
                </a:solidFill>
              </a:rPr>
              <a:t>※2</a:t>
            </a:r>
            <a:endParaRPr kumimoji="1" lang="ja-JP" altLang="en-US" sz="1000" dirty="0">
              <a:solidFill>
                <a:schemeClr val="tx1"/>
              </a:solidFill>
            </a:endParaRPr>
          </a:p>
        </p:txBody>
      </p:sp>
      <p:sp>
        <p:nvSpPr>
          <p:cNvPr id="9" name="フローチャート: 判断 8">
            <a:extLst>
              <a:ext uri="{FF2B5EF4-FFF2-40B4-BE49-F238E27FC236}">
                <a16:creationId xmlns:a16="http://schemas.microsoft.com/office/drawing/2014/main" id="{39F811CA-1407-1C23-238A-2D88E8ED7B43}"/>
              </a:ext>
            </a:extLst>
          </p:cNvPr>
          <p:cNvSpPr/>
          <p:nvPr/>
        </p:nvSpPr>
        <p:spPr>
          <a:xfrm>
            <a:off x="6968806" y="5101301"/>
            <a:ext cx="1667713" cy="746072"/>
          </a:xfrm>
          <a:prstGeom prst="flowChartDecision">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000" dirty="0">
                <a:solidFill>
                  <a:schemeClr val="tx1"/>
                </a:solidFill>
              </a:rPr>
              <a:t>足し合わせた</a:t>
            </a:r>
            <a:br>
              <a:rPr kumimoji="1" lang="en-US" altLang="ja-JP" sz="1000" dirty="0">
                <a:solidFill>
                  <a:schemeClr val="tx1"/>
                </a:solidFill>
              </a:rPr>
            </a:br>
            <a:r>
              <a:rPr kumimoji="1" lang="ja-JP" altLang="en-US" sz="1000" dirty="0">
                <a:solidFill>
                  <a:schemeClr val="tx1"/>
                </a:solidFill>
              </a:rPr>
              <a:t>保有率</a:t>
            </a:r>
            <a:r>
              <a:rPr kumimoji="1" lang="en-US" altLang="ja-JP" sz="1000" dirty="0">
                <a:solidFill>
                  <a:schemeClr val="tx1"/>
                </a:solidFill>
              </a:rPr>
              <a:t>(※)</a:t>
            </a:r>
            <a:r>
              <a:rPr kumimoji="1" lang="ja-JP" altLang="en-US" sz="1000" dirty="0">
                <a:solidFill>
                  <a:schemeClr val="tx1"/>
                </a:solidFill>
              </a:rPr>
              <a:t>は</a:t>
            </a:r>
            <a:r>
              <a:rPr kumimoji="1" lang="en-US" altLang="ja-JP" sz="1000" dirty="0">
                <a:solidFill>
                  <a:schemeClr val="tx1"/>
                </a:solidFill>
              </a:rPr>
              <a:t>25</a:t>
            </a:r>
            <a:r>
              <a:rPr kumimoji="1" lang="ja-JP" altLang="en-US" sz="1000" dirty="0">
                <a:solidFill>
                  <a:schemeClr val="tx1"/>
                </a:solidFill>
              </a:rPr>
              <a:t>％超</a:t>
            </a:r>
            <a:br>
              <a:rPr kumimoji="1" lang="en-US" altLang="ja-JP" sz="1000" dirty="0">
                <a:solidFill>
                  <a:schemeClr val="tx1"/>
                </a:solidFill>
              </a:rPr>
            </a:br>
            <a:r>
              <a:rPr kumimoji="1" lang="ja-JP" altLang="en-US" sz="1000" dirty="0">
                <a:solidFill>
                  <a:schemeClr val="tx1"/>
                </a:solidFill>
              </a:rPr>
              <a:t>になるか？</a:t>
            </a:r>
          </a:p>
        </p:txBody>
      </p:sp>
      <p:cxnSp>
        <p:nvCxnSpPr>
          <p:cNvPr id="15" name="コネクタ: カギ線 14">
            <a:extLst>
              <a:ext uri="{FF2B5EF4-FFF2-40B4-BE49-F238E27FC236}">
                <a16:creationId xmlns:a16="http://schemas.microsoft.com/office/drawing/2014/main" id="{BFA99BD8-3B2A-73DD-A4C5-BFD5E135F192}"/>
              </a:ext>
            </a:extLst>
          </p:cNvPr>
          <p:cNvCxnSpPr>
            <a:stCxn id="4" idx="2"/>
            <a:endCxn id="6" idx="1"/>
          </p:cNvCxnSpPr>
          <p:nvPr/>
        </p:nvCxnSpPr>
        <p:spPr>
          <a:xfrm rot="16200000" flipH="1">
            <a:off x="2710417" y="2149219"/>
            <a:ext cx="1303962" cy="315667"/>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9" name="コネクタ: カギ線 18">
            <a:extLst>
              <a:ext uri="{FF2B5EF4-FFF2-40B4-BE49-F238E27FC236}">
                <a16:creationId xmlns:a16="http://schemas.microsoft.com/office/drawing/2014/main" id="{FEF5A58F-D7E3-ACC9-2558-131DE137EECE}"/>
              </a:ext>
            </a:extLst>
          </p:cNvPr>
          <p:cNvCxnSpPr>
            <a:cxnSpLocks/>
            <a:stCxn id="5" idx="2"/>
          </p:cNvCxnSpPr>
          <p:nvPr/>
        </p:nvCxnSpPr>
        <p:spPr>
          <a:xfrm rot="16200000" flipH="1">
            <a:off x="7545008" y="-386323"/>
            <a:ext cx="465422" cy="4548209"/>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3" name="コネクタ: カギ線 22">
            <a:extLst>
              <a:ext uri="{FF2B5EF4-FFF2-40B4-BE49-F238E27FC236}">
                <a16:creationId xmlns:a16="http://schemas.microsoft.com/office/drawing/2014/main" id="{B4249ADD-B0DE-E314-437B-4C8CFC343791}"/>
              </a:ext>
            </a:extLst>
          </p:cNvPr>
          <p:cNvCxnSpPr>
            <a:stCxn id="6" idx="2"/>
            <a:endCxn id="7" idx="1"/>
          </p:cNvCxnSpPr>
          <p:nvPr/>
        </p:nvCxnSpPr>
        <p:spPr>
          <a:xfrm rot="16200000" flipH="1">
            <a:off x="4279229" y="3406928"/>
            <a:ext cx="465387" cy="31566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5" name="コネクタ: カギ線 24">
            <a:extLst>
              <a:ext uri="{FF2B5EF4-FFF2-40B4-BE49-F238E27FC236}">
                <a16:creationId xmlns:a16="http://schemas.microsoft.com/office/drawing/2014/main" id="{311D7589-C708-A5B5-9137-A50F0A2D7673}"/>
              </a:ext>
            </a:extLst>
          </p:cNvPr>
          <p:cNvCxnSpPr>
            <a:cxnSpLocks/>
            <a:stCxn id="6" idx="3"/>
          </p:cNvCxnSpPr>
          <p:nvPr/>
        </p:nvCxnSpPr>
        <p:spPr>
          <a:xfrm flipV="1">
            <a:off x="5187946" y="2958950"/>
            <a:ext cx="4863877" cy="81"/>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27" name="四角形: 角を丸くする 26">
            <a:extLst>
              <a:ext uri="{FF2B5EF4-FFF2-40B4-BE49-F238E27FC236}">
                <a16:creationId xmlns:a16="http://schemas.microsoft.com/office/drawing/2014/main" id="{D006F3B1-60B1-6907-2075-A0F0DE532B01}"/>
              </a:ext>
            </a:extLst>
          </p:cNvPr>
          <p:cNvSpPr>
            <a:spLocks/>
          </p:cNvSpPr>
          <p:nvPr/>
        </p:nvSpPr>
        <p:spPr>
          <a:xfrm>
            <a:off x="10051822" y="997819"/>
            <a:ext cx="1876177" cy="568436"/>
          </a:xfrm>
          <a:prstGeom prst="roundRect">
            <a:avLst>
              <a:gd name="adj" fmla="val 10167"/>
            </a:avLst>
          </a:prstGeom>
          <a:solidFill>
            <a:schemeClr val="bg1"/>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b="1" dirty="0">
                <a:solidFill>
                  <a:schemeClr val="accent1">
                    <a:lumMod val="75000"/>
                  </a:schemeClr>
                </a:solidFill>
              </a:rPr>
              <a:t>該当する個人のみ</a:t>
            </a:r>
          </a:p>
        </p:txBody>
      </p:sp>
      <p:sp>
        <p:nvSpPr>
          <p:cNvPr id="31" name="四角形: 角を丸くする 30">
            <a:extLst>
              <a:ext uri="{FF2B5EF4-FFF2-40B4-BE49-F238E27FC236}">
                <a16:creationId xmlns:a16="http://schemas.microsoft.com/office/drawing/2014/main" id="{731F51D0-8F62-5B90-D787-79929CB0492B}"/>
              </a:ext>
            </a:extLst>
          </p:cNvPr>
          <p:cNvSpPr>
            <a:spLocks/>
          </p:cNvSpPr>
          <p:nvPr/>
        </p:nvSpPr>
        <p:spPr>
          <a:xfrm>
            <a:off x="10051823" y="1836276"/>
            <a:ext cx="1876177" cy="568436"/>
          </a:xfrm>
          <a:prstGeom prst="roundRect">
            <a:avLst>
              <a:gd name="adj" fmla="val 10168"/>
            </a:avLst>
          </a:prstGeom>
          <a:solidFill>
            <a:schemeClr val="bg1"/>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b="1" dirty="0">
                <a:solidFill>
                  <a:schemeClr val="accent1">
                    <a:lumMod val="75000"/>
                  </a:schemeClr>
                </a:solidFill>
              </a:rPr>
              <a:t>全員（</a:t>
            </a:r>
            <a:r>
              <a:rPr kumimoji="1" lang="en-US" altLang="ja-JP" sz="1200" b="1" dirty="0">
                <a:solidFill>
                  <a:schemeClr val="accent1">
                    <a:lumMod val="75000"/>
                  </a:schemeClr>
                </a:solidFill>
              </a:rPr>
              <a:t>25</a:t>
            </a:r>
            <a:r>
              <a:rPr kumimoji="1" lang="ja-JP" altLang="en-US" sz="1200" b="1" dirty="0">
                <a:solidFill>
                  <a:schemeClr val="accent1">
                    <a:lumMod val="75000"/>
                  </a:schemeClr>
                </a:solidFill>
              </a:rPr>
              <a:t>％超の保有者）</a:t>
            </a:r>
          </a:p>
        </p:txBody>
      </p:sp>
      <p:sp>
        <p:nvSpPr>
          <p:cNvPr id="34" name="四角形: 角を丸くする 33">
            <a:extLst>
              <a:ext uri="{FF2B5EF4-FFF2-40B4-BE49-F238E27FC236}">
                <a16:creationId xmlns:a16="http://schemas.microsoft.com/office/drawing/2014/main" id="{D8510152-09B4-FC66-D324-2EBB0290D628}"/>
              </a:ext>
            </a:extLst>
          </p:cNvPr>
          <p:cNvSpPr>
            <a:spLocks/>
          </p:cNvSpPr>
          <p:nvPr/>
        </p:nvSpPr>
        <p:spPr>
          <a:xfrm>
            <a:off x="10051823" y="2674733"/>
            <a:ext cx="1876177" cy="568436"/>
          </a:xfrm>
          <a:prstGeom prst="roundRect">
            <a:avLst>
              <a:gd name="adj" fmla="val 11792"/>
            </a:avLst>
          </a:prstGeom>
          <a:solidFill>
            <a:schemeClr val="bg1"/>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b="1" dirty="0">
                <a:solidFill>
                  <a:schemeClr val="accent1">
                    <a:lumMod val="75000"/>
                  </a:schemeClr>
                </a:solidFill>
              </a:rPr>
              <a:t>該当する個人</a:t>
            </a:r>
          </a:p>
        </p:txBody>
      </p:sp>
      <p:sp>
        <p:nvSpPr>
          <p:cNvPr id="38" name="四角形: 角を丸くする 37">
            <a:extLst>
              <a:ext uri="{FF2B5EF4-FFF2-40B4-BE49-F238E27FC236}">
                <a16:creationId xmlns:a16="http://schemas.microsoft.com/office/drawing/2014/main" id="{C6345280-750F-E254-95A6-A9B1DD2865CC}"/>
              </a:ext>
            </a:extLst>
          </p:cNvPr>
          <p:cNvSpPr>
            <a:spLocks/>
          </p:cNvSpPr>
          <p:nvPr/>
        </p:nvSpPr>
        <p:spPr>
          <a:xfrm>
            <a:off x="10051823" y="3513191"/>
            <a:ext cx="1876177" cy="568436"/>
          </a:xfrm>
          <a:prstGeom prst="roundRect">
            <a:avLst>
              <a:gd name="adj" fmla="val 10167"/>
            </a:avLst>
          </a:prstGeom>
          <a:solidFill>
            <a:schemeClr val="bg1"/>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b="1" dirty="0">
                <a:solidFill>
                  <a:schemeClr val="accent1">
                    <a:lumMod val="75000"/>
                  </a:schemeClr>
                </a:solidFill>
              </a:rPr>
              <a:t>支配力基準（第二順位）</a:t>
            </a:r>
            <a:endParaRPr kumimoji="1" lang="en-US" altLang="ja-JP" sz="1200" b="1" dirty="0">
              <a:solidFill>
                <a:schemeClr val="accent1">
                  <a:lumMod val="75000"/>
                </a:schemeClr>
              </a:solidFill>
            </a:endParaRPr>
          </a:p>
          <a:p>
            <a:pPr algn="ctr"/>
            <a:r>
              <a:rPr kumimoji="1" lang="ja-JP" altLang="en-US" sz="1200" b="1" dirty="0">
                <a:solidFill>
                  <a:schemeClr val="accent1">
                    <a:lumMod val="75000"/>
                  </a:schemeClr>
                </a:solidFill>
              </a:rPr>
              <a:t>による判定へ</a:t>
            </a:r>
          </a:p>
        </p:txBody>
      </p:sp>
      <p:cxnSp>
        <p:nvCxnSpPr>
          <p:cNvPr id="44" name="コネクタ: カギ線 43">
            <a:extLst>
              <a:ext uri="{FF2B5EF4-FFF2-40B4-BE49-F238E27FC236}">
                <a16:creationId xmlns:a16="http://schemas.microsoft.com/office/drawing/2014/main" id="{6F8D23B9-0F75-A094-26C7-ED165C174F98}"/>
              </a:ext>
            </a:extLst>
          </p:cNvPr>
          <p:cNvCxnSpPr>
            <a:cxnSpLocks/>
            <a:stCxn id="7" idx="3"/>
          </p:cNvCxnSpPr>
          <p:nvPr/>
        </p:nvCxnSpPr>
        <p:spPr>
          <a:xfrm flipV="1">
            <a:off x="6337470" y="3797408"/>
            <a:ext cx="3714353" cy="4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47" name="コネクタ: カギ線 46">
            <a:extLst>
              <a:ext uri="{FF2B5EF4-FFF2-40B4-BE49-F238E27FC236}">
                <a16:creationId xmlns:a16="http://schemas.microsoft.com/office/drawing/2014/main" id="{7BE3C2E7-547E-E9E5-95B0-F1BCCF2B8644}"/>
              </a:ext>
            </a:extLst>
          </p:cNvPr>
          <p:cNvCxnSpPr>
            <a:cxnSpLocks/>
            <a:stCxn id="7" idx="2"/>
            <a:endCxn id="8" idx="1"/>
          </p:cNvCxnSpPr>
          <p:nvPr/>
        </p:nvCxnSpPr>
        <p:spPr>
          <a:xfrm rot="16200000" flipH="1">
            <a:off x="5428753" y="4245351"/>
            <a:ext cx="465387" cy="31566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54" name="四角形: 角を丸くする 53">
            <a:extLst>
              <a:ext uri="{FF2B5EF4-FFF2-40B4-BE49-F238E27FC236}">
                <a16:creationId xmlns:a16="http://schemas.microsoft.com/office/drawing/2014/main" id="{D37454D6-B9CE-DC41-5BDA-7611B7EAF321}"/>
              </a:ext>
            </a:extLst>
          </p:cNvPr>
          <p:cNvSpPr>
            <a:spLocks/>
          </p:cNvSpPr>
          <p:nvPr/>
        </p:nvSpPr>
        <p:spPr>
          <a:xfrm>
            <a:off x="10051823" y="4351648"/>
            <a:ext cx="1876177" cy="568436"/>
          </a:xfrm>
          <a:prstGeom prst="roundRect">
            <a:avLst>
              <a:gd name="adj" fmla="val 11792"/>
            </a:avLst>
          </a:prstGeom>
          <a:solidFill>
            <a:schemeClr val="bg1"/>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b="1" dirty="0">
                <a:solidFill>
                  <a:schemeClr val="accent1">
                    <a:lumMod val="75000"/>
                  </a:schemeClr>
                </a:solidFill>
              </a:rPr>
              <a:t>支配力基準（第二順位）</a:t>
            </a:r>
            <a:endParaRPr kumimoji="1" lang="en-US" altLang="ja-JP" sz="1200" b="1" dirty="0">
              <a:solidFill>
                <a:schemeClr val="accent1">
                  <a:lumMod val="75000"/>
                </a:schemeClr>
              </a:solidFill>
            </a:endParaRPr>
          </a:p>
          <a:p>
            <a:pPr algn="ctr"/>
            <a:r>
              <a:rPr kumimoji="1" lang="ja-JP" altLang="en-US" sz="1200" b="1" dirty="0">
                <a:solidFill>
                  <a:schemeClr val="accent1">
                    <a:lumMod val="75000"/>
                  </a:schemeClr>
                </a:solidFill>
              </a:rPr>
              <a:t>による判定へ</a:t>
            </a:r>
          </a:p>
        </p:txBody>
      </p:sp>
      <p:cxnSp>
        <p:nvCxnSpPr>
          <p:cNvPr id="55" name="コネクタ: カギ線 54">
            <a:extLst>
              <a:ext uri="{FF2B5EF4-FFF2-40B4-BE49-F238E27FC236}">
                <a16:creationId xmlns:a16="http://schemas.microsoft.com/office/drawing/2014/main" id="{76FCB43F-C4C6-8F24-A058-239FE05CDC50}"/>
              </a:ext>
            </a:extLst>
          </p:cNvPr>
          <p:cNvCxnSpPr>
            <a:cxnSpLocks/>
            <a:stCxn id="8" idx="3"/>
          </p:cNvCxnSpPr>
          <p:nvPr/>
        </p:nvCxnSpPr>
        <p:spPr>
          <a:xfrm flipV="1">
            <a:off x="7486994" y="4635865"/>
            <a:ext cx="2564828" cy="1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8" name="コネクタ: カギ線 57">
            <a:extLst>
              <a:ext uri="{FF2B5EF4-FFF2-40B4-BE49-F238E27FC236}">
                <a16:creationId xmlns:a16="http://schemas.microsoft.com/office/drawing/2014/main" id="{8005DF38-5E05-90BF-91EC-3EBC2612DD2E}"/>
              </a:ext>
            </a:extLst>
          </p:cNvPr>
          <p:cNvCxnSpPr>
            <a:cxnSpLocks/>
            <a:stCxn id="8" idx="2"/>
            <a:endCxn id="9" idx="1"/>
          </p:cNvCxnSpPr>
          <p:nvPr/>
        </p:nvCxnSpPr>
        <p:spPr>
          <a:xfrm rot="16200000" flipH="1">
            <a:off x="6578262" y="5083790"/>
            <a:ext cx="465421" cy="31566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65" name="四角形: 角を丸くする 64">
            <a:extLst>
              <a:ext uri="{FF2B5EF4-FFF2-40B4-BE49-F238E27FC236}">
                <a16:creationId xmlns:a16="http://schemas.microsoft.com/office/drawing/2014/main" id="{3E54836F-D2B5-203D-4EDC-B3C08D844E62}"/>
              </a:ext>
            </a:extLst>
          </p:cNvPr>
          <p:cNvSpPr>
            <a:spLocks/>
          </p:cNvSpPr>
          <p:nvPr/>
        </p:nvSpPr>
        <p:spPr>
          <a:xfrm>
            <a:off x="10051823" y="5190105"/>
            <a:ext cx="1876177" cy="568436"/>
          </a:xfrm>
          <a:prstGeom prst="roundRect">
            <a:avLst>
              <a:gd name="adj" fmla="val 10167"/>
            </a:avLst>
          </a:prstGeom>
          <a:solidFill>
            <a:schemeClr val="bg1"/>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b="1" dirty="0">
                <a:solidFill>
                  <a:schemeClr val="accent1">
                    <a:lumMod val="75000"/>
                  </a:schemeClr>
                </a:solidFill>
              </a:rPr>
              <a:t>支配力基準（第二順位）</a:t>
            </a:r>
            <a:endParaRPr kumimoji="1" lang="en-US" altLang="ja-JP" sz="1200" b="1" dirty="0">
              <a:solidFill>
                <a:schemeClr val="accent1">
                  <a:lumMod val="75000"/>
                </a:schemeClr>
              </a:solidFill>
            </a:endParaRPr>
          </a:p>
          <a:p>
            <a:pPr algn="ctr"/>
            <a:r>
              <a:rPr kumimoji="1" lang="ja-JP" altLang="en-US" sz="1200" b="1" dirty="0">
                <a:solidFill>
                  <a:schemeClr val="accent1">
                    <a:lumMod val="75000"/>
                  </a:schemeClr>
                </a:solidFill>
              </a:rPr>
              <a:t>による判定へ</a:t>
            </a:r>
          </a:p>
        </p:txBody>
      </p:sp>
      <p:sp>
        <p:nvSpPr>
          <p:cNvPr id="66" name="四角形: 角を丸くする 65">
            <a:extLst>
              <a:ext uri="{FF2B5EF4-FFF2-40B4-BE49-F238E27FC236}">
                <a16:creationId xmlns:a16="http://schemas.microsoft.com/office/drawing/2014/main" id="{712C4F24-F2B6-152F-9BD8-A465197934CF}"/>
              </a:ext>
            </a:extLst>
          </p:cNvPr>
          <p:cNvSpPr>
            <a:spLocks/>
          </p:cNvSpPr>
          <p:nvPr/>
        </p:nvSpPr>
        <p:spPr>
          <a:xfrm>
            <a:off x="10051823" y="6028563"/>
            <a:ext cx="1876177" cy="568436"/>
          </a:xfrm>
          <a:prstGeom prst="roundRect">
            <a:avLst>
              <a:gd name="adj" fmla="val 10168"/>
            </a:avLst>
          </a:prstGeom>
          <a:solidFill>
            <a:schemeClr val="bg1"/>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b="1" dirty="0">
                <a:solidFill>
                  <a:schemeClr val="accent1">
                    <a:lumMod val="75000"/>
                  </a:schemeClr>
                </a:solidFill>
              </a:rPr>
              <a:t>該当する個人</a:t>
            </a:r>
          </a:p>
        </p:txBody>
      </p:sp>
      <p:cxnSp>
        <p:nvCxnSpPr>
          <p:cNvPr id="67" name="コネクタ: カギ線 66">
            <a:extLst>
              <a:ext uri="{FF2B5EF4-FFF2-40B4-BE49-F238E27FC236}">
                <a16:creationId xmlns:a16="http://schemas.microsoft.com/office/drawing/2014/main" id="{FF4FCDDA-0741-8C50-0FCC-EF6A1AA2C1F0}"/>
              </a:ext>
            </a:extLst>
          </p:cNvPr>
          <p:cNvCxnSpPr>
            <a:cxnSpLocks/>
            <a:stCxn id="9" idx="3"/>
          </p:cNvCxnSpPr>
          <p:nvPr/>
        </p:nvCxnSpPr>
        <p:spPr>
          <a:xfrm flipV="1">
            <a:off x="8636519" y="5474322"/>
            <a:ext cx="1415304" cy="1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70" name="コネクタ: カギ線 69">
            <a:extLst>
              <a:ext uri="{FF2B5EF4-FFF2-40B4-BE49-F238E27FC236}">
                <a16:creationId xmlns:a16="http://schemas.microsoft.com/office/drawing/2014/main" id="{2EDABAFC-D025-40E6-0324-120F3FD77236}"/>
              </a:ext>
            </a:extLst>
          </p:cNvPr>
          <p:cNvCxnSpPr>
            <a:cxnSpLocks/>
            <a:stCxn id="9" idx="2"/>
          </p:cNvCxnSpPr>
          <p:nvPr/>
        </p:nvCxnSpPr>
        <p:spPr>
          <a:xfrm rot="16200000" flipH="1">
            <a:off x="8694538" y="4955497"/>
            <a:ext cx="465409" cy="224916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73" name="正方形/長方形 72">
            <a:extLst>
              <a:ext uri="{FF2B5EF4-FFF2-40B4-BE49-F238E27FC236}">
                <a16:creationId xmlns:a16="http://schemas.microsoft.com/office/drawing/2014/main" id="{99429FCC-24D6-7309-2E79-F28619D32187}"/>
              </a:ext>
            </a:extLst>
          </p:cNvPr>
          <p:cNvSpPr/>
          <p:nvPr/>
        </p:nvSpPr>
        <p:spPr>
          <a:xfrm>
            <a:off x="3458920" y="1003538"/>
            <a:ext cx="1494288" cy="293858"/>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はい</a:t>
            </a:r>
          </a:p>
        </p:txBody>
      </p:sp>
      <p:sp>
        <p:nvSpPr>
          <p:cNvPr id="74" name="正方形/長方形 73">
            <a:extLst>
              <a:ext uri="{FF2B5EF4-FFF2-40B4-BE49-F238E27FC236}">
                <a16:creationId xmlns:a16="http://schemas.microsoft.com/office/drawing/2014/main" id="{AC137E98-F7EB-216C-AB01-064F9733AAF1}"/>
              </a:ext>
            </a:extLst>
          </p:cNvPr>
          <p:cNvSpPr/>
          <p:nvPr/>
        </p:nvSpPr>
        <p:spPr>
          <a:xfrm>
            <a:off x="2711776" y="1628434"/>
            <a:ext cx="1494288" cy="293858"/>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いいえ</a:t>
            </a:r>
          </a:p>
        </p:txBody>
      </p:sp>
      <p:sp>
        <p:nvSpPr>
          <p:cNvPr id="75" name="正方形/長方形 74">
            <a:extLst>
              <a:ext uri="{FF2B5EF4-FFF2-40B4-BE49-F238E27FC236}">
                <a16:creationId xmlns:a16="http://schemas.microsoft.com/office/drawing/2014/main" id="{A01CBD67-B918-0DA4-0333-FD4BB5DF0DA3}"/>
              </a:ext>
            </a:extLst>
          </p:cNvPr>
          <p:cNvSpPr/>
          <p:nvPr/>
        </p:nvSpPr>
        <p:spPr>
          <a:xfrm>
            <a:off x="5694295" y="981529"/>
            <a:ext cx="1494288" cy="293858"/>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はい</a:t>
            </a:r>
          </a:p>
        </p:txBody>
      </p:sp>
      <p:sp>
        <p:nvSpPr>
          <p:cNvPr id="76" name="正方形/長方形 75">
            <a:extLst>
              <a:ext uri="{FF2B5EF4-FFF2-40B4-BE49-F238E27FC236}">
                <a16:creationId xmlns:a16="http://schemas.microsoft.com/office/drawing/2014/main" id="{542C9CAB-B4CA-7C41-9840-5695A8D351E9}"/>
              </a:ext>
            </a:extLst>
          </p:cNvPr>
          <p:cNvSpPr/>
          <p:nvPr/>
        </p:nvSpPr>
        <p:spPr>
          <a:xfrm>
            <a:off x="5005094" y="1579291"/>
            <a:ext cx="1494288" cy="293858"/>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いいえ</a:t>
            </a:r>
          </a:p>
        </p:txBody>
      </p:sp>
      <p:sp>
        <p:nvSpPr>
          <p:cNvPr id="83" name="正方形/長方形 82">
            <a:extLst>
              <a:ext uri="{FF2B5EF4-FFF2-40B4-BE49-F238E27FC236}">
                <a16:creationId xmlns:a16="http://schemas.microsoft.com/office/drawing/2014/main" id="{B62A0293-876F-B81D-9BB7-7FE936F92B7D}"/>
              </a:ext>
            </a:extLst>
          </p:cNvPr>
          <p:cNvSpPr/>
          <p:nvPr/>
        </p:nvSpPr>
        <p:spPr>
          <a:xfrm>
            <a:off x="5819281" y="3511777"/>
            <a:ext cx="1494288" cy="293858"/>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いいえ</a:t>
            </a:r>
          </a:p>
        </p:txBody>
      </p:sp>
      <p:sp>
        <p:nvSpPr>
          <p:cNvPr id="84" name="正方形/長方形 83">
            <a:extLst>
              <a:ext uri="{FF2B5EF4-FFF2-40B4-BE49-F238E27FC236}">
                <a16:creationId xmlns:a16="http://schemas.microsoft.com/office/drawing/2014/main" id="{B3973495-3E20-0704-00DB-465DA5101F22}"/>
              </a:ext>
            </a:extLst>
          </p:cNvPr>
          <p:cNvSpPr/>
          <p:nvPr/>
        </p:nvSpPr>
        <p:spPr>
          <a:xfrm>
            <a:off x="5014520" y="4114090"/>
            <a:ext cx="1494288" cy="293858"/>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はい</a:t>
            </a:r>
          </a:p>
        </p:txBody>
      </p:sp>
      <p:cxnSp>
        <p:nvCxnSpPr>
          <p:cNvPr id="148" name="直線矢印コネクタ 147">
            <a:extLst>
              <a:ext uri="{FF2B5EF4-FFF2-40B4-BE49-F238E27FC236}">
                <a16:creationId xmlns:a16="http://schemas.microsoft.com/office/drawing/2014/main" id="{D44328BF-B042-66E8-E234-E65F5D0C9DA2}"/>
              </a:ext>
            </a:extLst>
          </p:cNvPr>
          <p:cNvCxnSpPr>
            <a:stCxn id="3" idx="3"/>
            <a:endCxn id="4" idx="1"/>
          </p:cNvCxnSpPr>
          <p:nvPr/>
        </p:nvCxnSpPr>
        <p:spPr>
          <a:xfrm>
            <a:off x="2140177" y="1282036"/>
            <a:ext cx="23053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6" name="吹き出し: 折線 155">
            <a:extLst>
              <a:ext uri="{FF2B5EF4-FFF2-40B4-BE49-F238E27FC236}">
                <a16:creationId xmlns:a16="http://schemas.microsoft.com/office/drawing/2014/main" id="{BC1E137E-AB2E-2930-3D07-765027141822}"/>
              </a:ext>
            </a:extLst>
          </p:cNvPr>
          <p:cNvSpPr/>
          <p:nvPr/>
        </p:nvSpPr>
        <p:spPr>
          <a:xfrm flipH="1">
            <a:off x="4354087" y="5895827"/>
            <a:ext cx="2494149" cy="701173"/>
          </a:xfrm>
          <a:prstGeom prst="borderCallout2">
            <a:avLst>
              <a:gd name="adj1" fmla="val 44078"/>
              <a:gd name="adj2" fmla="val -40"/>
              <a:gd name="adj3" fmla="val 44078"/>
              <a:gd name="adj4" fmla="val -14179"/>
              <a:gd name="adj5" fmla="val -26544"/>
              <a:gd name="adj6" fmla="val -32009"/>
            </a:avLst>
          </a:prstGeom>
          <a:solidFill>
            <a:schemeClr val="bg1"/>
          </a:solidFill>
          <a:ln w="19050">
            <a:solidFill>
              <a:schemeClr val="accent1">
                <a:lumMod val="50000"/>
              </a:schemeClr>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dirty="0">
                <a:solidFill>
                  <a:schemeClr val="tx1"/>
                </a:solidFill>
              </a:rPr>
              <a:t>※</a:t>
            </a:r>
            <a:r>
              <a:rPr kumimoji="1" lang="ja-JP" altLang="en-US" sz="1200" dirty="0">
                <a:solidFill>
                  <a:schemeClr val="tx1"/>
                </a:solidFill>
              </a:rPr>
              <a:t>個人が保有する法人</a:t>
            </a:r>
            <a:r>
              <a:rPr kumimoji="1" lang="en-US" altLang="ja-JP" sz="1200" dirty="0">
                <a:solidFill>
                  <a:schemeClr val="tx1"/>
                </a:solidFill>
              </a:rPr>
              <a:t>A</a:t>
            </a:r>
            <a:r>
              <a:rPr kumimoji="1" lang="ja-JP" altLang="en-US" sz="1200" dirty="0">
                <a:solidFill>
                  <a:schemeClr val="tx1"/>
                </a:solidFill>
              </a:rPr>
              <a:t>の議決権＋法人</a:t>
            </a:r>
            <a:r>
              <a:rPr kumimoji="1" lang="en-US" altLang="ja-JP" sz="1200" dirty="0">
                <a:solidFill>
                  <a:schemeClr val="tx1"/>
                </a:solidFill>
              </a:rPr>
              <a:t>B</a:t>
            </a:r>
            <a:r>
              <a:rPr kumimoji="1" lang="ja-JP" altLang="en-US" sz="1200" dirty="0">
                <a:solidFill>
                  <a:schemeClr val="tx1"/>
                </a:solidFill>
              </a:rPr>
              <a:t>が保有する法人</a:t>
            </a:r>
            <a:r>
              <a:rPr kumimoji="1" lang="en-US" altLang="ja-JP" sz="1200" dirty="0">
                <a:solidFill>
                  <a:schemeClr val="tx1"/>
                </a:solidFill>
              </a:rPr>
              <a:t>A</a:t>
            </a:r>
            <a:r>
              <a:rPr kumimoji="1" lang="ja-JP" altLang="en-US" sz="1200" dirty="0">
                <a:solidFill>
                  <a:schemeClr val="tx1"/>
                </a:solidFill>
              </a:rPr>
              <a:t>の議決権</a:t>
            </a:r>
            <a:endParaRPr lang="ja-JP" altLang="en-US" sz="1200" dirty="0"/>
          </a:p>
        </p:txBody>
      </p:sp>
      <p:cxnSp>
        <p:nvCxnSpPr>
          <p:cNvPr id="176" name="直線矢印コネクタ 175">
            <a:extLst>
              <a:ext uri="{FF2B5EF4-FFF2-40B4-BE49-F238E27FC236}">
                <a16:creationId xmlns:a16="http://schemas.microsoft.com/office/drawing/2014/main" id="{DEB4B1ED-D567-3734-2F06-7CDD2E5F71B6}"/>
              </a:ext>
            </a:extLst>
          </p:cNvPr>
          <p:cNvCxnSpPr>
            <a:stCxn id="5" idx="3"/>
          </p:cNvCxnSpPr>
          <p:nvPr/>
        </p:nvCxnSpPr>
        <p:spPr>
          <a:xfrm>
            <a:off x="6337470" y="1282036"/>
            <a:ext cx="3714352"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7" name="正方形/長方形 176">
            <a:extLst>
              <a:ext uri="{FF2B5EF4-FFF2-40B4-BE49-F238E27FC236}">
                <a16:creationId xmlns:a16="http://schemas.microsoft.com/office/drawing/2014/main" id="{16F5E059-A4CB-4EF8-63C8-6D246AF1631E}"/>
              </a:ext>
            </a:extLst>
          </p:cNvPr>
          <p:cNvSpPr/>
          <p:nvPr/>
        </p:nvSpPr>
        <p:spPr>
          <a:xfrm>
            <a:off x="4585583" y="2656943"/>
            <a:ext cx="1494288" cy="293858"/>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はい</a:t>
            </a:r>
          </a:p>
        </p:txBody>
      </p:sp>
      <p:sp>
        <p:nvSpPr>
          <p:cNvPr id="178" name="正方形/長方形 177">
            <a:extLst>
              <a:ext uri="{FF2B5EF4-FFF2-40B4-BE49-F238E27FC236}">
                <a16:creationId xmlns:a16="http://schemas.microsoft.com/office/drawing/2014/main" id="{BB0353ED-B0F8-31EB-5938-57F9825918C8}"/>
              </a:ext>
            </a:extLst>
          </p:cNvPr>
          <p:cNvSpPr/>
          <p:nvPr/>
        </p:nvSpPr>
        <p:spPr>
          <a:xfrm>
            <a:off x="3896382" y="3254704"/>
            <a:ext cx="1494288" cy="293858"/>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いいえ</a:t>
            </a:r>
          </a:p>
        </p:txBody>
      </p:sp>
      <p:sp>
        <p:nvSpPr>
          <p:cNvPr id="179" name="正方形/長方形 178">
            <a:extLst>
              <a:ext uri="{FF2B5EF4-FFF2-40B4-BE49-F238E27FC236}">
                <a16:creationId xmlns:a16="http://schemas.microsoft.com/office/drawing/2014/main" id="{1A555C83-0152-74F0-45F5-13A7335CFE1A}"/>
              </a:ext>
            </a:extLst>
          </p:cNvPr>
          <p:cNvSpPr/>
          <p:nvPr/>
        </p:nvSpPr>
        <p:spPr>
          <a:xfrm>
            <a:off x="6952410" y="4336801"/>
            <a:ext cx="1494288" cy="293858"/>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いいえ</a:t>
            </a:r>
          </a:p>
        </p:txBody>
      </p:sp>
      <p:sp>
        <p:nvSpPr>
          <p:cNvPr id="180" name="正方形/長方形 179">
            <a:extLst>
              <a:ext uri="{FF2B5EF4-FFF2-40B4-BE49-F238E27FC236}">
                <a16:creationId xmlns:a16="http://schemas.microsoft.com/office/drawing/2014/main" id="{93C80B57-25BE-3014-D53D-D72C990A9BE0}"/>
              </a:ext>
            </a:extLst>
          </p:cNvPr>
          <p:cNvSpPr/>
          <p:nvPr/>
        </p:nvSpPr>
        <p:spPr>
          <a:xfrm>
            <a:off x="6147649" y="4939115"/>
            <a:ext cx="1494288" cy="293858"/>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はい</a:t>
            </a:r>
          </a:p>
        </p:txBody>
      </p:sp>
      <p:sp>
        <p:nvSpPr>
          <p:cNvPr id="181" name="正方形/長方形 180">
            <a:extLst>
              <a:ext uri="{FF2B5EF4-FFF2-40B4-BE49-F238E27FC236}">
                <a16:creationId xmlns:a16="http://schemas.microsoft.com/office/drawing/2014/main" id="{5042E054-50E3-1ED8-A854-449462941EB0}"/>
              </a:ext>
            </a:extLst>
          </p:cNvPr>
          <p:cNvSpPr/>
          <p:nvPr/>
        </p:nvSpPr>
        <p:spPr>
          <a:xfrm>
            <a:off x="8054444" y="5189908"/>
            <a:ext cx="1494288" cy="293858"/>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いいえ</a:t>
            </a:r>
          </a:p>
        </p:txBody>
      </p:sp>
      <p:sp>
        <p:nvSpPr>
          <p:cNvPr id="182" name="正方形/長方形 181">
            <a:extLst>
              <a:ext uri="{FF2B5EF4-FFF2-40B4-BE49-F238E27FC236}">
                <a16:creationId xmlns:a16="http://schemas.microsoft.com/office/drawing/2014/main" id="{09C8DEB9-8F64-9B78-0191-DEE655C31798}"/>
              </a:ext>
            </a:extLst>
          </p:cNvPr>
          <p:cNvSpPr/>
          <p:nvPr/>
        </p:nvSpPr>
        <p:spPr>
          <a:xfrm>
            <a:off x="7249682" y="5792220"/>
            <a:ext cx="1494288" cy="293858"/>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はい</a:t>
            </a:r>
          </a:p>
        </p:txBody>
      </p:sp>
      <p:cxnSp>
        <p:nvCxnSpPr>
          <p:cNvPr id="196" name="直線矢印コネクタ 195">
            <a:extLst>
              <a:ext uri="{FF2B5EF4-FFF2-40B4-BE49-F238E27FC236}">
                <a16:creationId xmlns:a16="http://schemas.microsoft.com/office/drawing/2014/main" id="{13C98EA5-54F2-F6FE-9DB2-842C711E64E0}"/>
              </a:ext>
            </a:extLst>
          </p:cNvPr>
          <p:cNvCxnSpPr>
            <a:stCxn id="4" idx="3"/>
            <a:endCxn id="5" idx="1"/>
          </p:cNvCxnSpPr>
          <p:nvPr/>
        </p:nvCxnSpPr>
        <p:spPr>
          <a:xfrm>
            <a:off x="4038421" y="1282036"/>
            <a:ext cx="6313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2" name="正方形/長方形 201">
            <a:extLst>
              <a:ext uri="{FF2B5EF4-FFF2-40B4-BE49-F238E27FC236}">
                <a16:creationId xmlns:a16="http://schemas.microsoft.com/office/drawing/2014/main" id="{DCAA8468-B7C5-36B8-3D2E-D157D18AB9B7}"/>
              </a:ext>
            </a:extLst>
          </p:cNvPr>
          <p:cNvSpPr/>
          <p:nvPr/>
        </p:nvSpPr>
        <p:spPr>
          <a:xfrm>
            <a:off x="264585" y="4247634"/>
            <a:ext cx="4467760" cy="1303963"/>
          </a:xfrm>
          <a:prstGeom prst="rect">
            <a:avLst/>
          </a:prstGeom>
          <a:solidFill>
            <a:schemeClr val="accent1">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600"/>
              </a:spcAft>
            </a:pPr>
            <a:r>
              <a:rPr kumimoji="1" lang="ja-JP" altLang="en-US" sz="1400" b="1" dirty="0">
                <a:solidFill>
                  <a:schemeClr val="tx1"/>
                </a:solidFill>
              </a:rPr>
              <a:t>以下のケースはこのフローでは判定できないため、申告表を使って検証してください。</a:t>
            </a:r>
            <a:endParaRPr kumimoji="1" lang="en-US" altLang="ja-JP" sz="1400" b="1" dirty="0">
              <a:solidFill>
                <a:schemeClr val="tx1"/>
              </a:solidFill>
            </a:endParaRPr>
          </a:p>
          <a:p>
            <a:pPr>
              <a:spcAft>
                <a:spcPts val="600"/>
              </a:spcAft>
            </a:pPr>
            <a:r>
              <a:rPr kumimoji="1" lang="en-US" altLang="ja-JP" sz="1400" dirty="0">
                <a:solidFill>
                  <a:schemeClr val="tx1"/>
                </a:solidFill>
              </a:rPr>
              <a:t>(※1)</a:t>
            </a:r>
            <a:r>
              <a:rPr kumimoji="1" lang="ja-JP" altLang="en-US" sz="1400" dirty="0">
                <a:solidFill>
                  <a:schemeClr val="tx1"/>
                </a:solidFill>
              </a:rPr>
              <a:t>保有者の法人が複数いる場合</a:t>
            </a:r>
            <a:br>
              <a:rPr kumimoji="1" lang="en-US" altLang="ja-JP" sz="1400" dirty="0">
                <a:solidFill>
                  <a:schemeClr val="tx1"/>
                </a:solidFill>
              </a:rPr>
            </a:br>
            <a:r>
              <a:rPr kumimoji="1" lang="en-US" altLang="ja-JP" sz="1400" dirty="0">
                <a:solidFill>
                  <a:schemeClr val="tx1"/>
                </a:solidFill>
              </a:rPr>
              <a:t>(※2)</a:t>
            </a:r>
            <a:r>
              <a:rPr kumimoji="1" lang="ja-JP" altLang="en-US" sz="1400" dirty="0">
                <a:solidFill>
                  <a:schemeClr val="tx1"/>
                </a:solidFill>
              </a:rPr>
              <a:t>法人</a:t>
            </a:r>
            <a:r>
              <a:rPr kumimoji="1" lang="en-US" altLang="ja-JP" sz="1400" dirty="0">
                <a:solidFill>
                  <a:schemeClr val="tx1"/>
                </a:solidFill>
              </a:rPr>
              <a:t>B</a:t>
            </a:r>
            <a:r>
              <a:rPr kumimoji="1" lang="ja-JP" altLang="en-US" sz="1400" dirty="0">
                <a:solidFill>
                  <a:schemeClr val="tx1"/>
                </a:solidFill>
              </a:rPr>
              <a:t>の議決権を</a:t>
            </a:r>
            <a:r>
              <a:rPr kumimoji="1" lang="en-US" altLang="ja-JP" sz="1400" dirty="0">
                <a:solidFill>
                  <a:schemeClr val="tx1"/>
                </a:solidFill>
              </a:rPr>
              <a:t>50</a:t>
            </a:r>
            <a:r>
              <a:rPr kumimoji="1" lang="ja-JP" altLang="en-US" sz="1400" dirty="0">
                <a:solidFill>
                  <a:schemeClr val="tx1"/>
                </a:solidFill>
              </a:rPr>
              <a:t>％超を保有する法人がいる場合</a:t>
            </a:r>
            <a:endParaRPr kumimoji="1" lang="ja-JP" altLang="en-US" sz="1400" strike="sngStrike" dirty="0">
              <a:solidFill>
                <a:schemeClr val="tx1"/>
              </a:solidFill>
            </a:endParaRPr>
          </a:p>
        </p:txBody>
      </p:sp>
    </p:spTree>
    <p:extLst>
      <p:ext uri="{BB962C8B-B14F-4D97-AF65-F5344CB8AC3E}">
        <p14:creationId xmlns:p14="http://schemas.microsoft.com/office/powerpoint/2010/main" val="33039609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CD54BEFC-633A-DC48-9F8A-447CDFA26D86}"/>
              </a:ext>
            </a:extLst>
          </p:cNvPr>
          <p:cNvGraphicFramePr>
            <a:graphicFrameLocks noGrp="1"/>
          </p:cNvGraphicFramePr>
          <p:nvPr>
            <p:extLst>
              <p:ext uri="{D42A27DB-BD31-4B8C-83A1-F6EECF244321}">
                <p14:modId xmlns:p14="http://schemas.microsoft.com/office/powerpoint/2010/main" val="1140459687"/>
              </p:ext>
            </p:extLst>
          </p:nvPr>
        </p:nvGraphicFramePr>
        <p:xfrm>
          <a:off x="264000" y="1269000"/>
          <a:ext cx="11664000" cy="5224501"/>
        </p:xfrm>
        <a:graphic>
          <a:graphicData uri="http://schemas.openxmlformats.org/drawingml/2006/table">
            <a:tbl>
              <a:tblPr>
                <a:tableStyleId>{7E9639D4-E3E2-4D34-9284-5A2195B3D0D7}</a:tableStyleId>
              </a:tblPr>
              <a:tblGrid>
                <a:gridCol w="4411384">
                  <a:extLst>
                    <a:ext uri="{9D8B030D-6E8A-4147-A177-3AD203B41FA5}">
                      <a16:colId xmlns:a16="http://schemas.microsoft.com/office/drawing/2014/main" val="2754311452"/>
                    </a:ext>
                  </a:extLst>
                </a:gridCol>
                <a:gridCol w="7252616">
                  <a:extLst>
                    <a:ext uri="{9D8B030D-6E8A-4147-A177-3AD203B41FA5}">
                      <a16:colId xmlns:a16="http://schemas.microsoft.com/office/drawing/2014/main" val="3352400917"/>
                    </a:ext>
                  </a:extLst>
                </a:gridCol>
              </a:tblGrid>
              <a:tr h="477659">
                <a:tc>
                  <a:txBody>
                    <a:bodyPr/>
                    <a:lstStyle/>
                    <a:p>
                      <a:r>
                        <a:rPr lang="ja-JP" altLang="en-US" sz="2800" b="1" dirty="0">
                          <a:solidFill>
                            <a:schemeClr val="bg1"/>
                          </a:solidFill>
                        </a:rPr>
                        <a:t>法人形態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ja-JP" altLang="en-US" sz="2800" b="1" dirty="0">
                          <a:solidFill>
                            <a:schemeClr val="bg1"/>
                          </a:solidFill>
                        </a:rPr>
                        <a:t>代表する個人の例</a:t>
                      </a:r>
                      <a:endParaRPr lang="zh-TW" altLang="en-US" sz="280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120846212"/>
                  </a:ext>
                </a:extLst>
              </a:tr>
              <a:tr h="1404878">
                <a:tc>
                  <a:txBody>
                    <a:bodyPr/>
                    <a:lstStyle/>
                    <a:p>
                      <a:pPr>
                        <a:spcAft>
                          <a:spcPts val="600"/>
                        </a:spcAft>
                      </a:pPr>
                      <a:r>
                        <a:rPr lang="ja-JP" altLang="en-US" sz="2400" dirty="0">
                          <a:solidFill>
                            <a:schemeClr val="tx1"/>
                          </a:solidFill>
                        </a:rPr>
                        <a:t>合同会社</a:t>
                      </a:r>
                      <a:endParaRPr lang="en-US" altLang="zh-CN" sz="2400" dirty="0">
                        <a:solidFill>
                          <a:schemeClr val="tx1"/>
                        </a:solidFill>
                      </a:endParaRPr>
                    </a:p>
                    <a:p>
                      <a:pPr>
                        <a:spcAft>
                          <a:spcPts val="600"/>
                        </a:spcAft>
                      </a:pPr>
                      <a:r>
                        <a:rPr lang="zh-CN" altLang="en-US" sz="2400" dirty="0"/>
                        <a:t>合資会社</a:t>
                      </a:r>
                      <a:endParaRPr lang="en-US" altLang="zh-CN" sz="2400" dirty="0"/>
                    </a:p>
                    <a:p>
                      <a:pPr>
                        <a:spcAft>
                          <a:spcPts val="600"/>
                        </a:spcAft>
                      </a:pPr>
                      <a:r>
                        <a:rPr lang="zh-CN" altLang="en-US" sz="2400" dirty="0"/>
                        <a:t>合名会社</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600"/>
                        </a:spcAft>
                      </a:pPr>
                      <a:r>
                        <a:rPr lang="ja-JP" altLang="en-US" sz="2400" dirty="0"/>
                        <a:t>・代表社員</a:t>
                      </a:r>
                      <a:endParaRPr lang="en-US" altLang="ja-JP" sz="2400" dirty="0"/>
                    </a:p>
                    <a:p>
                      <a:pPr>
                        <a:spcAft>
                          <a:spcPts val="600"/>
                        </a:spcAft>
                      </a:pPr>
                      <a:r>
                        <a:rPr lang="ja-JP" altLang="en-US" sz="2400" dirty="0"/>
                        <a:t>・代表社員不在時は業務執行社員全員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3794083"/>
                  </a:ext>
                </a:extLst>
              </a:tr>
              <a:tr h="941268">
                <a:tc>
                  <a:txBody>
                    <a:bodyPr/>
                    <a:lstStyle/>
                    <a:p>
                      <a:pPr>
                        <a:spcAft>
                          <a:spcPts val="600"/>
                        </a:spcAft>
                      </a:pPr>
                      <a:r>
                        <a:rPr lang="zh-TW" altLang="en-US" sz="2400" dirty="0"/>
                        <a:t>一般社団法人</a:t>
                      </a:r>
                      <a:endParaRPr lang="en-US" altLang="zh-TW" sz="2400" dirty="0"/>
                    </a:p>
                    <a:p>
                      <a:pPr>
                        <a:spcAft>
                          <a:spcPts val="600"/>
                        </a:spcAft>
                      </a:pPr>
                      <a:r>
                        <a:rPr lang="zh-TW" altLang="en-US" sz="2400" dirty="0"/>
                        <a:t>一般財団法人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600"/>
                        </a:spcAft>
                      </a:pPr>
                      <a:r>
                        <a:rPr lang="ja-JP" altLang="en-US" sz="2400" dirty="0"/>
                        <a:t>・代表理事</a:t>
                      </a:r>
                      <a:endParaRPr lang="en-US" altLang="ja-JP" sz="2400" dirty="0"/>
                    </a:p>
                    <a:p>
                      <a:pPr>
                        <a:spcAft>
                          <a:spcPts val="600"/>
                        </a:spcAft>
                      </a:pPr>
                      <a:r>
                        <a:rPr lang="ja-JP" altLang="en-US" sz="2400" dirty="0"/>
                        <a:t>・代表理事不在時は理事全員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226110"/>
                  </a:ext>
                </a:extLst>
              </a:tr>
              <a:tr h="941268">
                <a:tc>
                  <a:txBody>
                    <a:bodyPr/>
                    <a:lstStyle/>
                    <a:p>
                      <a:pPr>
                        <a:spcAft>
                          <a:spcPts val="600"/>
                        </a:spcAft>
                      </a:pPr>
                      <a:r>
                        <a:rPr lang="zh-CN" altLang="en-US" sz="2400" dirty="0"/>
                        <a:t>学校法人</a:t>
                      </a:r>
                      <a:endParaRPr lang="en-US" altLang="zh-CN" sz="2400" dirty="0"/>
                    </a:p>
                    <a:p>
                      <a:pPr>
                        <a:spcAft>
                          <a:spcPts val="600"/>
                        </a:spcAft>
                      </a:pPr>
                      <a:r>
                        <a:rPr lang="zh-CN" altLang="en-US" sz="2400" dirty="0"/>
                        <a:t>医療法人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600"/>
                        </a:spcAft>
                      </a:pPr>
                      <a:r>
                        <a:rPr lang="ja-JP" altLang="en-US" sz="2400" dirty="0"/>
                        <a:t>・理事長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4901847"/>
                  </a:ext>
                </a:extLst>
              </a:tr>
              <a:tr h="477659">
                <a:tc>
                  <a:txBody>
                    <a:bodyPr/>
                    <a:lstStyle/>
                    <a:p>
                      <a:pPr>
                        <a:spcAft>
                          <a:spcPts val="600"/>
                        </a:spcAft>
                      </a:pPr>
                      <a:r>
                        <a:rPr lang="ja-JP" altLang="en-US" sz="2400"/>
                        <a:t>宗教法人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600"/>
                        </a:spcAft>
                      </a:pPr>
                      <a:r>
                        <a:rPr lang="ja-JP" altLang="en-US" sz="2400" dirty="0"/>
                        <a:t>・代表役員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814054"/>
                  </a:ext>
                </a:extLst>
              </a:tr>
              <a:tr h="941268">
                <a:tc>
                  <a:txBody>
                    <a:bodyPr/>
                    <a:lstStyle/>
                    <a:p>
                      <a:pPr>
                        <a:spcAft>
                          <a:spcPts val="600"/>
                        </a:spcAft>
                      </a:pPr>
                      <a:r>
                        <a:rPr lang="ja-JP" altLang="en-US" sz="2400" dirty="0"/>
                        <a:t>社会福祉法人</a:t>
                      </a:r>
                      <a:endParaRPr lang="en-US" altLang="ja-JP" sz="2400" dirty="0"/>
                    </a:p>
                    <a:p>
                      <a:pPr>
                        <a:spcAft>
                          <a:spcPts val="600"/>
                        </a:spcAft>
                      </a:pPr>
                      <a:r>
                        <a:rPr lang="ja-JP" altLang="en-US" sz="2400" dirty="0"/>
                        <a:t>特定非営利活動法人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600"/>
                        </a:spcAft>
                      </a:pPr>
                      <a:r>
                        <a:rPr lang="ja-JP" altLang="en-US" sz="2400" dirty="0"/>
                        <a:t>・理事全員</a:t>
                      </a:r>
                      <a:endParaRPr lang="en-US" altLang="ja-JP" sz="2400" dirty="0"/>
                    </a:p>
                    <a:p>
                      <a:pPr>
                        <a:spcAft>
                          <a:spcPts val="600"/>
                        </a:spcAft>
                      </a:pPr>
                      <a:r>
                        <a:rPr lang="en-US" altLang="ja-JP" sz="2400" dirty="0"/>
                        <a:t>※</a:t>
                      </a:r>
                      <a:r>
                        <a:rPr lang="ja-JP" altLang="en-US" sz="2400" dirty="0"/>
                        <a:t>定款により代表権を制限された理事を除く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3269982"/>
                  </a:ext>
                </a:extLst>
              </a:tr>
            </a:tbl>
          </a:graphicData>
        </a:graphic>
      </p:graphicFrame>
      <p:sp>
        <p:nvSpPr>
          <p:cNvPr id="3" name="正方形/長方形 2">
            <a:extLst>
              <a:ext uri="{FF2B5EF4-FFF2-40B4-BE49-F238E27FC236}">
                <a16:creationId xmlns:a16="http://schemas.microsoft.com/office/drawing/2014/main" id="{B9690078-1434-36DE-4579-F5C509AFCE32}"/>
              </a:ext>
            </a:extLst>
          </p:cNvPr>
          <p:cNvSpPr/>
          <p:nvPr/>
        </p:nvSpPr>
        <p:spPr>
          <a:xfrm>
            <a:off x="264000" y="239658"/>
            <a:ext cx="11664000" cy="680400"/>
          </a:xfrm>
          <a:prstGeom prst="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t>資本多数決法人以外の法人を代表する個人の例</a:t>
            </a:r>
          </a:p>
        </p:txBody>
      </p:sp>
    </p:spTree>
    <p:extLst>
      <p:ext uri="{BB962C8B-B14F-4D97-AF65-F5344CB8AC3E}">
        <p14:creationId xmlns:p14="http://schemas.microsoft.com/office/powerpoint/2010/main" val="244081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AE25C80A-704B-77B8-B870-1E6763BB0308}"/>
              </a:ext>
            </a:extLst>
          </p:cNvPr>
          <p:cNvSpPr/>
          <p:nvPr/>
        </p:nvSpPr>
        <p:spPr>
          <a:xfrm>
            <a:off x="264000" y="239658"/>
            <a:ext cx="11664000" cy="680400"/>
          </a:xfrm>
          <a:prstGeom prst="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t>本人確認の特例対象となる外国人または取引</a:t>
            </a:r>
          </a:p>
        </p:txBody>
      </p:sp>
      <p:sp>
        <p:nvSpPr>
          <p:cNvPr id="7" name="テキスト ボックス 6">
            <a:extLst>
              <a:ext uri="{FF2B5EF4-FFF2-40B4-BE49-F238E27FC236}">
                <a16:creationId xmlns:a16="http://schemas.microsoft.com/office/drawing/2014/main" id="{A5E5B4D5-459D-B2A8-C659-B5903701D7A0}"/>
              </a:ext>
            </a:extLst>
          </p:cNvPr>
          <p:cNvSpPr txBox="1"/>
          <p:nvPr/>
        </p:nvSpPr>
        <p:spPr>
          <a:xfrm>
            <a:off x="191344" y="5947165"/>
            <a:ext cx="11664000" cy="584775"/>
          </a:xfrm>
          <a:prstGeom prst="rect">
            <a:avLst/>
          </a:prstGeom>
          <a:noFill/>
        </p:spPr>
        <p:txBody>
          <a:bodyPr wrap="square">
            <a:spAutoFit/>
          </a:bodyPr>
          <a:lstStyle/>
          <a:p>
            <a:pPr marL="268288" indent="-268288">
              <a:spcBef>
                <a:spcPts val="600"/>
              </a:spcBef>
            </a:pPr>
            <a:r>
              <a:rPr lang="ja-JP" altLang="en-US" sz="1600" dirty="0"/>
              <a:t>※上記の3つ目要件の「取引」には200万円超の現金等の受け払いが伴う、預金の入出金、金の販売等が含まれる。</a:t>
            </a:r>
            <a:br>
              <a:rPr lang="en-US" altLang="ja-JP" sz="1600" dirty="0"/>
            </a:br>
            <a:r>
              <a:rPr lang="ja-JP" altLang="en-US" sz="1600" dirty="0"/>
              <a:t>ただし、当行の場合、旅行小切手の現金化を含む外貨両替等である。</a:t>
            </a:r>
          </a:p>
        </p:txBody>
      </p:sp>
      <p:sp>
        <p:nvSpPr>
          <p:cNvPr id="5" name="正方形/長方形 4">
            <a:extLst>
              <a:ext uri="{FF2B5EF4-FFF2-40B4-BE49-F238E27FC236}">
                <a16:creationId xmlns:a16="http://schemas.microsoft.com/office/drawing/2014/main" id="{C9223254-2C8D-4FC6-A495-1A7CFD822D9C}"/>
              </a:ext>
            </a:extLst>
          </p:cNvPr>
          <p:cNvSpPr/>
          <p:nvPr/>
        </p:nvSpPr>
        <p:spPr>
          <a:xfrm>
            <a:off x="264000" y="1081958"/>
            <a:ext cx="6732748" cy="32403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以下の</a:t>
            </a:r>
            <a:r>
              <a:rPr kumimoji="1" lang="en-US" altLang="ja-JP" sz="2000" dirty="0">
                <a:solidFill>
                  <a:schemeClr val="tx1"/>
                </a:solidFill>
              </a:rPr>
              <a:t>3</a:t>
            </a:r>
            <a:r>
              <a:rPr kumimoji="1" lang="ja-JP" altLang="en-US" sz="2000" dirty="0">
                <a:solidFill>
                  <a:schemeClr val="tx1"/>
                </a:solidFill>
              </a:rPr>
              <a:t>要件を満たす外国人は本人確認の特例対象となります。</a:t>
            </a:r>
          </a:p>
        </p:txBody>
      </p:sp>
      <p:sp>
        <p:nvSpPr>
          <p:cNvPr id="8" name="正方形/長方形 7">
            <a:extLst>
              <a:ext uri="{FF2B5EF4-FFF2-40B4-BE49-F238E27FC236}">
                <a16:creationId xmlns:a16="http://schemas.microsoft.com/office/drawing/2014/main" id="{3C7F7D8D-EE87-4150-89B9-2C45EEC1F80A}"/>
              </a:ext>
            </a:extLst>
          </p:cNvPr>
          <p:cNvSpPr/>
          <p:nvPr/>
        </p:nvSpPr>
        <p:spPr>
          <a:xfrm>
            <a:off x="804648" y="1602161"/>
            <a:ext cx="11124000" cy="756000"/>
          </a:xfrm>
          <a:prstGeom prst="rect">
            <a:avLst/>
          </a:prstGeom>
          <a:solidFill>
            <a:schemeClr val="bg1"/>
          </a:solid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b="1" dirty="0">
                <a:solidFill>
                  <a:schemeClr val="accent1">
                    <a:lumMod val="75000"/>
                  </a:schemeClr>
                </a:solidFill>
              </a:rPr>
              <a:t>日本国内に住居を保有しないこと（出入国管理及び難民認定法の規定により認められた在留または上陸に係る旅券または許可書に記載された在留期間が</a:t>
            </a:r>
            <a:r>
              <a:rPr kumimoji="1" lang="en-US" altLang="ja-JP" b="1" dirty="0">
                <a:solidFill>
                  <a:schemeClr val="accent1">
                    <a:lumMod val="75000"/>
                  </a:schemeClr>
                </a:solidFill>
              </a:rPr>
              <a:t>90</a:t>
            </a:r>
            <a:r>
              <a:rPr kumimoji="1" lang="ja-JP" altLang="en-US" b="1" dirty="0">
                <a:solidFill>
                  <a:schemeClr val="accent1">
                    <a:lumMod val="75000"/>
                  </a:schemeClr>
                </a:solidFill>
              </a:rPr>
              <a:t>日を超えないと認められる場合）</a:t>
            </a:r>
          </a:p>
        </p:txBody>
      </p:sp>
      <p:sp>
        <p:nvSpPr>
          <p:cNvPr id="18" name="正方形/長方形 17">
            <a:extLst>
              <a:ext uri="{FF2B5EF4-FFF2-40B4-BE49-F238E27FC236}">
                <a16:creationId xmlns:a16="http://schemas.microsoft.com/office/drawing/2014/main" id="{164EE432-0431-4A54-A308-667564443835}"/>
              </a:ext>
            </a:extLst>
          </p:cNvPr>
          <p:cNvSpPr/>
          <p:nvPr/>
        </p:nvSpPr>
        <p:spPr>
          <a:xfrm>
            <a:off x="804648" y="2484083"/>
            <a:ext cx="11124000" cy="756000"/>
          </a:xfrm>
          <a:prstGeom prst="rect">
            <a:avLst/>
          </a:prstGeom>
          <a:solidFill>
            <a:schemeClr val="bg1"/>
          </a:solid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b="1" dirty="0">
                <a:solidFill>
                  <a:schemeClr val="accent1">
                    <a:lumMod val="75000"/>
                  </a:schemeClr>
                </a:solidFill>
              </a:rPr>
              <a:t>日本国内に在留すること</a:t>
            </a:r>
          </a:p>
        </p:txBody>
      </p:sp>
      <p:sp>
        <p:nvSpPr>
          <p:cNvPr id="20" name="正方形/長方形 19">
            <a:extLst>
              <a:ext uri="{FF2B5EF4-FFF2-40B4-BE49-F238E27FC236}">
                <a16:creationId xmlns:a16="http://schemas.microsoft.com/office/drawing/2014/main" id="{2891F82D-0ABF-48D5-B152-3C68C4D6A218}"/>
              </a:ext>
            </a:extLst>
          </p:cNvPr>
          <p:cNvSpPr/>
          <p:nvPr/>
        </p:nvSpPr>
        <p:spPr>
          <a:xfrm>
            <a:off x="804648" y="3348179"/>
            <a:ext cx="11124000" cy="756000"/>
          </a:xfrm>
          <a:prstGeom prst="rect">
            <a:avLst/>
          </a:prstGeom>
          <a:solidFill>
            <a:schemeClr val="bg1"/>
          </a:solid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b="1" dirty="0">
                <a:solidFill>
                  <a:schemeClr val="accent1">
                    <a:lumMod val="75000"/>
                  </a:schemeClr>
                </a:solidFill>
              </a:rPr>
              <a:t>所持している旅券または乗員手帳（氏名、生年月日の記載ありに限る）の記載により、その属する国における住居を確認することができないこと</a:t>
            </a:r>
          </a:p>
        </p:txBody>
      </p:sp>
      <p:sp>
        <p:nvSpPr>
          <p:cNvPr id="22" name="正方形/長方形 21">
            <a:extLst>
              <a:ext uri="{FF2B5EF4-FFF2-40B4-BE49-F238E27FC236}">
                <a16:creationId xmlns:a16="http://schemas.microsoft.com/office/drawing/2014/main" id="{CB6C038D-8186-4A70-A8E0-8CAEB9C0FBD2}"/>
              </a:ext>
            </a:extLst>
          </p:cNvPr>
          <p:cNvSpPr/>
          <p:nvPr/>
        </p:nvSpPr>
        <p:spPr>
          <a:xfrm>
            <a:off x="261481" y="1611058"/>
            <a:ext cx="432000" cy="756000"/>
          </a:xfrm>
          <a:prstGeom prst="rect">
            <a:avLst/>
          </a:prstGeom>
          <a:solidFill>
            <a:schemeClr val="accent1">
              <a:lumMod val="75000"/>
            </a:schemeClr>
          </a:solid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b="1" dirty="0">
                <a:solidFill>
                  <a:schemeClr val="bg1"/>
                </a:solidFill>
              </a:rPr>
              <a:t>1</a:t>
            </a:r>
            <a:endParaRPr kumimoji="1" lang="ja-JP" altLang="en-US" sz="2000" b="1" dirty="0">
              <a:solidFill>
                <a:schemeClr val="bg1"/>
              </a:solidFill>
            </a:endParaRPr>
          </a:p>
        </p:txBody>
      </p:sp>
      <p:sp>
        <p:nvSpPr>
          <p:cNvPr id="23" name="正方形/長方形 22">
            <a:extLst>
              <a:ext uri="{FF2B5EF4-FFF2-40B4-BE49-F238E27FC236}">
                <a16:creationId xmlns:a16="http://schemas.microsoft.com/office/drawing/2014/main" id="{55496E67-F99D-42A4-AECA-EB6FCCF7B3F2}"/>
              </a:ext>
            </a:extLst>
          </p:cNvPr>
          <p:cNvSpPr/>
          <p:nvPr/>
        </p:nvSpPr>
        <p:spPr>
          <a:xfrm>
            <a:off x="261481" y="2492980"/>
            <a:ext cx="432000" cy="756000"/>
          </a:xfrm>
          <a:prstGeom prst="rect">
            <a:avLst/>
          </a:prstGeom>
          <a:solidFill>
            <a:schemeClr val="accent1">
              <a:lumMod val="75000"/>
            </a:schemeClr>
          </a:solid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b="1" dirty="0">
                <a:solidFill>
                  <a:schemeClr val="bg1"/>
                </a:solidFill>
              </a:rPr>
              <a:t>2</a:t>
            </a:r>
            <a:endParaRPr kumimoji="1" lang="ja-JP" altLang="en-US" sz="2000" b="1" dirty="0">
              <a:solidFill>
                <a:schemeClr val="bg1"/>
              </a:solidFill>
            </a:endParaRPr>
          </a:p>
        </p:txBody>
      </p:sp>
      <p:sp>
        <p:nvSpPr>
          <p:cNvPr id="24" name="正方形/長方形 23">
            <a:extLst>
              <a:ext uri="{FF2B5EF4-FFF2-40B4-BE49-F238E27FC236}">
                <a16:creationId xmlns:a16="http://schemas.microsoft.com/office/drawing/2014/main" id="{23016051-265B-4CA6-8F35-6B75BAAF2B80}"/>
              </a:ext>
            </a:extLst>
          </p:cNvPr>
          <p:cNvSpPr/>
          <p:nvPr/>
        </p:nvSpPr>
        <p:spPr>
          <a:xfrm>
            <a:off x="261481" y="3357076"/>
            <a:ext cx="432000" cy="756000"/>
          </a:xfrm>
          <a:prstGeom prst="rect">
            <a:avLst/>
          </a:prstGeom>
          <a:solidFill>
            <a:schemeClr val="accent1">
              <a:lumMod val="75000"/>
            </a:schemeClr>
          </a:solid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b="1" dirty="0">
                <a:solidFill>
                  <a:schemeClr val="bg1"/>
                </a:solidFill>
              </a:rPr>
              <a:t>3</a:t>
            </a:r>
            <a:endParaRPr kumimoji="1" lang="ja-JP" altLang="en-US" sz="2000" b="1" dirty="0">
              <a:solidFill>
                <a:schemeClr val="bg1"/>
              </a:solidFill>
            </a:endParaRPr>
          </a:p>
        </p:txBody>
      </p:sp>
      <p:sp>
        <p:nvSpPr>
          <p:cNvPr id="25" name="正方形/長方形 24">
            <a:extLst>
              <a:ext uri="{FF2B5EF4-FFF2-40B4-BE49-F238E27FC236}">
                <a16:creationId xmlns:a16="http://schemas.microsoft.com/office/drawing/2014/main" id="{1F332FB3-4ABD-4D56-821A-5DDBB4EFC1D2}"/>
              </a:ext>
            </a:extLst>
          </p:cNvPr>
          <p:cNvSpPr/>
          <p:nvPr/>
        </p:nvSpPr>
        <p:spPr>
          <a:xfrm>
            <a:off x="261481" y="4365104"/>
            <a:ext cx="8892340" cy="32403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000" dirty="0">
                <a:solidFill>
                  <a:schemeClr val="tx1"/>
                </a:solidFill>
              </a:rPr>
              <a:t>上記の場合、当行で想定される本人確認の特例対象となる取引は以下の通りです。</a:t>
            </a:r>
          </a:p>
        </p:txBody>
      </p:sp>
      <p:sp>
        <p:nvSpPr>
          <p:cNvPr id="26" name="正方形/長方形 25">
            <a:extLst>
              <a:ext uri="{FF2B5EF4-FFF2-40B4-BE49-F238E27FC236}">
                <a16:creationId xmlns:a16="http://schemas.microsoft.com/office/drawing/2014/main" id="{6FFB1F08-D696-4572-90A2-28255BCD4AD7}"/>
              </a:ext>
            </a:extLst>
          </p:cNvPr>
          <p:cNvSpPr/>
          <p:nvPr/>
        </p:nvSpPr>
        <p:spPr>
          <a:xfrm>
            <a:off x="261481" y="4762518"/>
            <a:ext cx="4733988" cy="951158"/>
          </a:xfrm>
          <a:prstGeom prst="rect">
            <a:avLst/>
          </a:prstGeom>
        </p:spPr>
        <p:txBody>
          <a:bodyPr wrap="none">
            <a:spAutoFit/>
          </a:bodyPr>
          <a:lstStyle/>
          <a:p>
            <a:pPr marL="285750" indent="-285750">
              <a:lnSpc>
                <a:spcPct val="150000"/>
              </a:lnSpc>
              <a:buFont typeface="Arial" panose="020B0604020202020204" pitchFamily="34" charset="0"/>
              <a:buChar char="•"/>
            </a:pPr>
            <a:r>
              <a:rPr lang="ja-JP" altLang="en-US" sz="2000" b="1" dirty="0"/>
              <a:t>200万円超の外国通貨との両替</a:t>
            </a:r>
            <a:endParaRPr lang="en-US" altLang="ja-JP" sz="2000" b="1" dirty="0"/>
          </a:p>
          <a:p>
            <a:pPr marL="285750" indent="-285750">
              <a:lnSpc>
                <a:spcPct val="150000"/>
              </a:lnSpc>
              <a:buFont typeface="Arial" panose="020B0604020202020204" pitchFamily="34" charset="0"/>
              <a:buChar char="•"/>
            </a:pPr>
            <a:r>
              <a:rPr lang="ja-JP" altLang="en-US" sz="2000" b="1" dirty="0"/>
              <a:t>現金</a:t>
            </a:r>
            <a:r>
              <a:rPr lang="en-US" altLang="ja-JP" sz="2000" b="1" dirty="0"/>
              <a:t>10</a:t>
            </a:r>
            <a:r>
              <a:rPr lang="ja-JP" altLang="en-US" sz="2000" b="1" dirty="0"/>
              <a:t>万円超の受払いをする為替取引</a:t>
            </a:r>
            <a:endParaRPr lang="ja-JP" altLang="en-US" sz="2000" b="1" dirty="0">
              <a:solidFill>
                <a:srgbClr val="FF0000"/>
              </a:solidFill>
            </a:endParaRPr>
          </a:p>
        </p:txBody>
      </p:sp>
    </p:spTree>
    <p:extLst>
      <p:ext uri="{BB962C8B-B14F-4D97-AF65-F5344CB8AC3E}">
        <p14:creationId xmlns:p14="http://schemas.microsoft.com/office/powerpoint/2010/main" val="22570776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F8A6BAF9-7D3F-1027-7E3F-5E679341B53E}"/>
              </a:ext>
            </a:extLst>
          </p:cNvPr>
          <p:cNvGraphicFramePr>
            <a:graphicFrameLocks noGrp="1"/>
          </p:cNvGraphicFramePr>
          <p:nvPr>
            <p:extLst>
              <p:ext uri="{D42A27DB-BD31-4B8C-83A1-F6EECF244321}">
                <p14:modId xmlns:p14="http://schemas.microsoft.com/office/powerpoint/2010/main" val="3318471142"/>
              </p:ext>
            </p:extLst>
          </p:nvPr>
        </p:nvGraphicFramePr>
        <p:xfrm>
          <a:off x="264000" y="1197000"/>
          <a:ext cx="11664000" cy="4535998"/>
        </p:xfrm>
        <a:graphic>
          <a:graphicData uri="http://schemas.openxmlformats.org/drawingml/2006/table">
            <a:tbl>
              <a:tblPr/>
              <a:tblGrid>
                <a:gridCol w="6264000">
                  <a:extLst>
                    <a:ext uri="{9D8B030D-6E8A-4147-A177-3AD203B41FA5}">
                      <a16:colId xmlns:a16="http://schemas.microsoft.com/office/drawing/2014/main" val="2518075419"/>
                    </a:ext>
                  </a:extLst>
                </a:gridCol>
                <a:gridCol w="2736000">
                  <a:extLst>
                    <a:ext uri="{9D8B030D-6E8A-4147-A177-3AD203B41FA5}">
                      <a16:colId xmlns:a16="http://schemas.microsoft.com/office/drawing/2014/main" val="2213247180"/>
                    </a:ext>
                  </a:extLst>
                </a:gridCol>
                <a:gridCol w="2664000">
                  <a:extLst>
                    <a:ext uri="{9D8B030D-6E8A-4147-A177-3AD203B41FA5}">
                      <a16:colId xmlns:a16="http://schemas.microsoft.com/office/drawing/2014/main" val="2629778867"/>
                    </a:ext>
                  </a:extLst>
                </a:gridCol>
              </a:tblGrid>
              <a:tr h="478015">
                <a:tc rowSpan="2">
                  <a:txBody>
                    <a:bodyPr/>
                    <a:lstStyle/>
                    <a:p>
                      <a:r>
                        <a:rPr lang="ja-JP" altLang="en-US" sz="2400" b="1" dirty="0">
                          <a:solidFill>
                            <a:schemeClr val="bg1"/>
                          </a:solidFill>
                        </a:rPr>
                        <a:t>取引名</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gridSpan="2">
                  <a:txBody>
                    <a:bodyPr/>
                    <a:lstStyle/>
                    <a:p>
                      <a:r>
                        <a:rPr lang="ja-JP" altLang="en-US" sz="2400" b="1" dirty="0">
                          <a:solidFill>
                            <a:schemeClr val="bg1"/>
                          </a:solidFill>
                        </a:rPr>
                        <a:t>確認手続き</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hMerge="1">
                  <a:txBody>
                    <a:bodyPr/>
                    <a:lstStyle/>
                    <a:p>
                      <a:endParaRPr kumimoji="1" lang="ja-JP" altLang="en-US"/>
                    </a:p>
                  </a:txBody>
                  <a:tcPr/>
                </a:tc>
                <a:extLst>
                  <a:ext uri="{0D108BD9-81ED-4DB2-BD59-A6C34878D82A}">
                    <a16:rowId xmlns:a16="http://schemas.microsoft.com/office/drawing/2014/main" val="468415140"/>
                  </a:ext>
                </a:extLst>
              </a:tr>
              <a:tr h="478015">
                <a:tc vMerge="1">
                  <a:txBody>
                    <a:bodyPr/>
                    <a:lstStyle/>
                    <a:p>
                      <a:endParaRPr lang="ja-JP" altLang="en-US" sz="2400" b="1" dirty="0">
                        <a:solidFill>
                          <a:schemeClr val="bg1"/>
                        </a:solidFill>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2400" b="1" dirty="0">
                          <a:solidFill>
                            <a:schemeClr val="bg1"/>
                          </a:solidFill>
                        </a:rPr>
                        <a:t>事務統括者の承認</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b="1" i="0" u="none" strike="noStrike" kern="1200" cap="none" spc="0" normalizeH="0" baseline="0" noProof="0" dirty="0">
                          <a:ln>
                            <a:noFill/>
                          </a:ln>
                          <a:solidFill>
                            <a:schemeClr val="bg1"/>
                          </a:solidFill>
                          <a:effectLst/>
                          <a:uLnTx/>
                          <a:uFillTx/>
                          <a:latin typeface="+mn-lt"/>
                          <a:ea typeface="+mn-ea"/>
                          <a:cs typeface="+mn-cs"/>
                        </a:rPr>
                        <a:t>厳格な取引時確認</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380170990"/>
                  </a:ext>
                </a:extLst>
              </a:tr>
              <a:tr h="511424">
                <a:tc>
                  <a:txBody>
                    <a:bodyPr/>
                    <a:lstStyle/>
                    <a:p>
                      <a:r>
                        <a:rPr lang="ja-JP" altLang="en-US" sz="2000" dirty="0"/>
                        <a:t>マネロン等の疑いのある取引</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0" i="0" u="none" strike="noStrike" kern="1200" cap="none" spc="0" normalizeH="0" baseline="0" noProof="0" dirty="0">
                        <a:ln>
                          <a:noFill/>
                        </a:ln>
                        <a:solidFill>
                          <a:prstClr val="black"/>
                        </a:solidFill>
                        <a:effectLst/>
                        <a:uLnTx/>
                        <a:uFillTx/>
                        <a:latin typeface="+mn-lt"/>
                        <a:ea typeface="+mn-ea"/>
                        <a:cs typeface="+mn-cs"/>
                      </a:endParaRP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ja-JP" altLang="en-US" sz="2000" b="1" dirty="0"/>
                        <a:t>ー</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21887199"/>
                  </a:ext>
                </a:extLst>
              </a:tr>
              <a:tr h="511424">
                <a:tc>
                  <a:txBody>
                    <a:bodyPr/>
                    <a:lstStyle/>
                    <a:p>
                      <a:r>
                        <a:rPr lang="ja-JP" altLang="en-US" sz="2000" dirty="0"/>
                        <a:t>通常とは著しく異なる態様の取引</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0" i="0" u="none" strike="noStrike" kern="1200" cap="none" spc="0" normalizeH="0" baseline="0" noProof="0" dirty="0">
                        <a:ln>
                          <a:noFill/>
                        </a:ln>
                        <a:solidFill>
                          <a:prstClr val="black"/>
                        </a:solidFill>
                        <a:effectLst/>
                        <a:uLnTx/>
                        <a:uFillTx/>
                        <a:latin typeface="Meiryo UI"/>
                        <a:ea typeface="Meiryo UI"/>
                        <a:cs typeface="+mn-cs"/>
                      </a:endParaRP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i="0" u="none" strike="noStrike" kern="1200" cap="none" spc="0" normalizeH="0" baseline="0" noProof="0" dirty="0" err="1">
                          <a:ln>
                            <a:noFill/>
                          </a:ln>
                          <a:solidFill>
                            <a:prstClr val="black"/>
                          </a:solidFill>
                          <a:effectLst/>
                          <a:uLnTx/>
                          <a:uFillTx/>
                          <a:latin typeface="Meiryo UI"/>
                          <a:ea typeface="Meiryo UI"/>
                          <a:cs typeface="+mn-cs"/>
                        </a:rPr>
                        <a:t>ー</a:t>
                      </a:r>
                      <a:endParaRPr kumimoji="1" lang="ja-JP" altLang="en-US" sz="2000" b="1" i="0" u="none" strike="noStrike" kern="1200" cap="none" spc="0" normalizeH="0" baseline="0" noProof="0" dirty="0">
                        <a:ln>
                          <a:noFill/>
                        </a:ln>
                        <a:solidFill>
                          <a:prstClr val="black"/>
                        </a:solidFill>
                        <a:effectLst/>
                        <a:uLnTx/>
                        <a:uFillTx/>
                        <a:latin typeface="Meiryo UI"/>
                        <a:ea typeface="Meiryo UI"/>
                        <a:cs typeface="+mn-cs"/>
                      </a:endParaRP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35477997"/>
                  </a:ext>
                </a:extLst>
              </a:tr>
              <a:tr h="511424">
                <a:tc>
                  <a:txBody>
                    <a:bodyPr/>
                    <a:lstStyle/>
                    <a:p>
                      <a:r>
                        <a:rPr lang="ja-JP" altLang="en-US" sz="2000" dirty="0"/>
                        <a:t>取引時確認を免れる目的で敷居値以下に分割された取引</a:t>
                      </a:r>
                      <a:endParaRPr lang="zh-TW" altLang="en-US" sz="2000" dirty="0"/>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i="0" u="none" strike="noStrike" kern="1200" cap="none" spc="0" normalizeH="0" baseline="0" noProof="0" dirty="0">
                        <a:ln>
                          <a:noFill/>
                        </a:ln>
                        <a:solidFill>
                          <a:prstClr val="black"/>
                        </a:solidFill>
                        <a:effectLst/>
                        <a:uLnTx/>
                        <a:uFillTx/>
                        <a:latin typeface="Meiryo UI"/>
                        <a:ea typeface="Meiryo UI"/>
                        <a:cs typeface="+mn-cs"/>
                      </a:endParaRP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i="0" u="none" strike="noStrike" kern="1200" cap="none" spc="0" normalizeH="0" baseline="0" noProof="0" dirty="0">
                          <a:ln>
                            <a:noFill/>
                          </a:ln>
                          <a:solidFill>
                            <a:prstClr val="black"/>
                          </a:solidFill>
                          <a:effectLst/>
                          <a:uLnTx/>
                          <a:uFillTx/>
                          <a:latin typeface="Meiryo UI"/>
                          <a:ea typeface="Meiryo UI"/>
                          <a:cs typeface="+mn-cs"/>
                        </a:rPr>
                        <a:t>ー</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755412319"/>
                  </a:ext>
                </a:extLst>
              </a:tr>
              <a:tr h="511424">
                <a:tc>
                  <a:txBody>
                    <a:bodyPr/>
                    <a:lstStyle/>
                    <a:p>
                      <a:r>
                        <a:rPr lang="ja-JP" altLang="en-US" sz="2000" dirty="0"/>
                        <a:t>「なりすまし」の疑いがある取引</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i="0" u="none" strike="noStrike" kern="1200" cap="none" spc="0" normalizeH="0" baseline="0" noProof="0" dirty="0">
                        <a:ln>
                          <a:noFill/>
                        </a:ln>
                        <a:solidFill>
                          <a:prstClr val="black"/>
                        </a:solidFill>
                        <a:effectLst/>
                        <a:uLnTx/>
                        <a:uFillTx/>
                        <a:latin typeface="Meiryo UI"/>
                        <a:ea typeface="Meiryo UI"/>
                        <a:cs typeface="+mn-cs"/>
                      </a:endParaRP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i="0" u="none" strike="noStrike" kern="1200" cap="none" spc="0" normalizeH="0" baseline="0" noProof="0" dirty="0">
                        <a:ln>
                          <a:noFill/>
                        </a:ln>
                        <a:solidFill>
                          <a:prstClr val="black"/>
                        </a:solidFill>
                        <a:effectLst/>
                        <a:uLnTx/>
                        <a:uFillTx/>
                        <a:latin typeface="Meiryo UI"/>
                        <a:ea typeface="Meiryo UI"/>
                        <a:cs typeface="+mn-cs"/>
                      </a:endParaRP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825941329"/>
                  </a:ext>
                </a:extLst>
              </a:tr>
              <a:tr h="511424">
                <a:tc>
                  <a:txBody>
                    <a:bodyPr/>
                    <a:lstStyle/>
                    <a:p>
                      <a:r>
                        <a:rPr lang="ja-JP" altLang="en-US" sz="2000" dirty="0"/>
                        <a:t>当初の取引時確認事項を偽った疑いがある取引</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i="0" u="none" strike="noStrike" kern="1200" cap="none" spc="0" normalizeH="0" baseline="0" noProof="0" dirty="0">
                        <a:ln>
                          <a:noFill/>
                        </a:ln>
                        <a:solidFill>
                          <a:prstClr val="black"/>
                        </a:solidFill>
                        <a:effectLst/>
                        <a:uLnTx/>
                        <a:uFillTx/>
                        <a:latin typeface="Meiryo UI"/>
                        <a:ea typeface="Meiryo UI"/>
                        <a:cs typeface="+mn-cs"/>
                      </a:endParaRP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i="0" u="none" strike="noStrike" kern="1200" cap="none" spc="0" normalizeH="0" baseline="0" noProof="0" dirty="0">
                        <a:ln>
                          <a:noFill/>
                        </a:ln>
                        <a:solidFill>
                          <a:prstClr val="black"/>
                        </a:solidFill>
                        <a:effectLst/>
                        <a:uLnTx/>
                        <a:uFillTx/>
                        <a:latin typeface="Meiryo UI"/>
                        <a:ea typeface="Meiryo UI"/>
                        <a:cs typeface="+mn-cs"/>
                      </a:endParaRP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939011825"/>
                  </a:ext>
                </a:extLst>
              </a:tr>
              <a:tr h="511424">
                <a:tc>
                  <a:txBody>
                    <a:bodyPr/>
                    <a:lstStyle/>
                    <a:p>
                      <a:r>
                        <a:rPr lang="ja-JP" altLang="en-US" sz="2000" dirty="0"/>
                        <a:t>イラン、北朝鮮に居住・所在する者との特定取引</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i="0" u="none" strike="noStrike" kern="1200" cap="none" spc="0" normalizeH="0" baseline="0" noProof="0" dirty="0">
                        <a:ln>
                          <a:noFill/>
                        </a:ln>
                        <a:solidFill>
                          <a:prstClr val="black"/>
                        </a:solidFill>
                        <a:effectLst/>
                        <a:uLnTx/>
                        <a:uFillTx/>
                        <a:latin typeface="Meiryo UI"/>
                        <a:ea typeface="Meiryo UI"/>
                        <a:cs typeface="+mn-cs"/>
                      </a:endParaRP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i="0" u="none" strike="noStrike" kern="1200" cap="none" spc="0" normalizeH="0" baseline="0" noProof="0" dirty="0">
                        <a:ln>
                          <a:noFill/>
                        </a:ln>
                        <a:solidFill>
                          <a:prstClr val="black"/>
                        </a:solidFill>
                        <a:effectLst/>
                        <a:uLnTx/>
                        <a:uFillTx/>
                        <a:latin typeface="Meiryo UI"/>
                        <a:ea typeface="Meiryo UI"/>
                        <a:cs typeface="+mn-cs"/>
                      </a:endParaRP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295382784"/>
                  </a:ext>
                </a:extLst>
              </a:tr>
              <a:tr h="5114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2000" dirty="0"/>
                        <a:t>外国</a:t>
                      </a:r>
                      <a:r>
                        <a:rPr lang="en-US" altLang="ja-JP" sz="2000" dirty="0"/>
                        <a:t>PEPs(※)</a:t>
                      </a:r>
                      <a:r>
                        <a:rPr lang="ja-JP" altLang="en-US" sz="2000" dirty="0"/>
                        <a:t>との特定取引</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i="0" u="none" strike="noStrike" kern="1200" cap="none" spc="0" normalizeH="0" baseline="0" noProof="0" dirty="0">
                        <a:ln>
                          <a:noFill/>
                        </a:ln>
                        <a:solidFill>
                          <a:prstClr val="black"/>
                        </a:solidFill>
                        <a:effectLst/>
                        <a:uLnTx/>
                        <a:uFillTx/>
                        <a:latin typeface="Meiryo UI"/>
                        <a:ea typeface="Meiryo UI"/>
                        <a:cs typeface="+mn-cs"/>
                      </a:endParaRP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i="0" u="none" strike="noStrike" kern="1200" cap="none" spc="0" normalizeH="0" baseline="0" noProof="0" dirty="0">
                        <a:ln>
                          <a:noFill/>
                        </a:ln>
                        <a:solidFill>
                          <a:prstClr val="black"/>
                        </a:solidFill>
                        <a:effectLst/>
                        <a:uLnTx/>
                        <a:uFillTx/>
                        <a:latin typeface="Meiryo UI"/>
                        <a:ea typeface="Meiryo UI"/>
                        <a:cs typeface="+mn-cs"/>
                      </a:endParaRP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4763990"/>
                  </a:ext>
                </a:extLst>
              </a:tr>
            </a:tbl>
          </a:graphicData>
        </a:graphic>
      </p:graphicFrame>
      <p:sp>
        <p:nvSpPr>
          <p:cNvPr id="3" name="正方形/長方形 2">
            <a:extLst>
              <a:ext uri="{FF2B5EF4-FFF2-40B4-BE49-F238E27FC236}">
                <a16:creationId xmlns:a16="http://schemas.microsoft.com/office/drawing/2014/main" id="{AC7D5180-78AC-A75C-CD58-052CC87396CB}"/>
              </a:ext>
            </a:extLst>
          </p:cNvPr>
          <p:cNvSpPr/>
          <p:nvPr/>
        </p:nvSpPr>
        <p:spPr>
          <a:xfrm>
            <a:off x="264000" y="239658"/>
            <a:ext cx="11664000" cy="680400"/>
          </a:xfrm>
          <a:prstGeom prst="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t>高リスク取引の確認手続き</a:t>
            </a:r>
          </a:p>
        </p:txBody>
      </p:sp>
      <p:sp>
        <p:nvSpPr>
          <p:cNvPr id="5" name="テキスト ボックス 4">
            <a:extLst>
              <a:ext uri="{FF2B5EF4-FFF2-40B4-BE49-F238E27FC236}">
                <a16:creationId xmlns:a16="http://schemas.microsoft.com/office/drawing/2014/main" id="{D5501F11-632B-C85D-B726-C713D5150AA8}"/>
              </a:ext>
            </a:extLst>
          </p:cNvPr>
          <p:cNvSpPr txBox="1"/>
          <p:nvPr/>
        </p:nvSpPr>
        <p:spPr>
          <a:xfrm>
            <a:off x="264000" y="5812422"/>
            <a:ext cx="11664000" cy="1000274"/>
          </a:xfrm>
          <a:prstGeom prst="rect">
            <a:avLst/>
          </a:prstGeom>
          <a:noFill/>
        </p:spPr>
        <p:txBody>
          <a:bodyPr wrap="square">
            <a:spAutoFit/>
          </a:bodyPr>
          <a:lstStyle/>
          <a:p>
            <a:pPr marL="263525" indent="-263525">
              <a:spcAft>
                <a:spcPts val="600"/>
              </a:spcAft>
            </a:pPr>
            <a:r>
              <a:rPr lang="ja-JP" altLang="en-US" dirty="0"/>
              <a:t>※外国人PEPsとは外国政府等において重要な公的地位にある者（過去にその地位にあった者も含む）及びその家族、並びにこれらの者が実質的支配者である法人のことです。</a:t>
            </a:r>
            <a:endParaRPr lang="en-US" altLang="ja-JP" dirty="0"/>
          </a:p>
          <a:p>
            <a:pPr>
              <a:spcAft>
                <a:spcPts val="600"/>
              </a:spcAft>
            </a:pPr>
            <a:r>
              <a:rPr lang="en-US" altLang="ja-JP" dirty="0"/>
              <a:t>※</a:t>
            </a:r>
            <a:r>
              <a:rPr lang="ja-JP" altLang="en-US" dirty="0"/>
              <a:t>取引時確認済の顧客でも、「取引時確認済の確認」で済ますことは不可です。</a:t>
            </a:r>
          </a:p>
        </p:txBody>
      </p:sp>
      <p:sp>
        <p:nvSpPr>
          <p:cNvPr id="4" name="楕円 3">
            <a:extLst>
              <a:ext uri="{FF2B5EF4-FFF2-40B4-BE49-F238E27FC236}">
                <a16:creationId xmlns:a16="http://schemas.microsoft.com/office/drawing/2014/main" id="{809C56CA-90A7-4CCB-A5E4-9119299B3782}"/>
              </a:ext>
            </a:extLst>
          </p:cNvPr>
          <p:cNvSpPr/>
          <p:nvPr/>
        </p:nvSpPr>
        <p:spPr>
          <a:xfrm>
            <a:off x="7752000" y="2277000"/>
            <a:ext cx="288000" cy="288000"/>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8" name="楕円 7">
            <a:extLst>
              <a:ext uri="{FF2B5EF4-FFF2-40B4-BE49-F238E27FC236}">
                <a16:creationId xmlns:a16="http://schemas.microsoft.com/office/drawing/2014/main" id="{EF99EE61-80DA-4E64-910E-652A698F0A46}"/>
              </a:ext>
            </a:extLst>
          </p:cNvPr>
          <p:cNvSpPr/>
          <p:nvPr/>
        </p:nvSpPr>
        <p:spPr>
          <a:xfrm>
            <a:off x="7752000" y="2787618"/>
            <a:ext cx="288000" cy="288000"/>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9" name="楕円 8">
            <a:extLst>
              <a:ext uri="{FF2B5EF4-FFF2-40B4-BE49-F238E27FC236}">
                <a16:creationId xmlns:a16="http://schemas.microsoft.com/office/drawing/2014/main" id="{5595B714-5B71-4513-9957-21AF936E32CB}"/>
              </a:ext>
            </a:extLst>
          </p:cNvPr>
          <p:cNvSpPr/>
          <p:nvPr/>
        </p:nvSpPr>
        <p:spPr>
          <a:xfrm>
            <a:off x="7752000" y="3298236"/>
            <a:ext cx="288000" cy="288000"/>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10" name="楕円 9">
            <a:extLst>
              <a:ext uri="{FF2B5EF4-FFF2-40B4-BE49-F238E27FC236}">
                <a16:creationId xmlns:a16="http://schemas.microsoft.com/office/drawing/2014/main" id="{8D5E89AC-33DF-4FB4-919A-1C8241A5A2C7}"/>
              </a:ext>
            </a:extLst>
          </p:cNvPr>
          <p:cNvSpPr/>
          <p:nvPr/>
        </p:nvSpPr>
        <p:spPr>
          <a:xfrm>
            <a:off x="7752000" y="3808854"/>
            <a:ext cx="288000" cy="288000"/>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11" name="楕円 10">
            <a:extLst>
              <a:ext uri="{FF2B5EF4-FFF2-40B4-BE49-F238E27FC236}">
                <a16:creationId xmlns:a16="http://schemas.microsoft.com/office/drawing/2014/main" id="{174F7516-6940-4680-B448-9019D9EA5365}"/>
              </a:ext>
            </a:extLst>
          </p:cNvPr>
          <p:cNvSpPr/>
          <p:nvPr/>
        </p:nvSpPr>
        <p:spPr>
          <a:xfrm>
            <a:off x="7752000" y="4319472"/>
            <a:ext cx="288000" cy="288000"/>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12" name="楕円 11">
            <a:extLst>
              <a:ext uri="{FF2B5EF4-FFF2-40B4-BE49-F238E27FC236}">
                <a16:creationId xmlns:a16="http://schemas.microsoft.com/office/drawing/2014/main" id="{CF7EDFF9-442E-4CFB-B00F-F90630692315}"/>
              </a:ext>
            </a:extLst>
          </p:cNvPr>
          <p:cNvSpPr/>
          <p:nvPr/>
        </p:nvSpPr>
        <p:spPr>
          <a:xfrm>
            <a:off x="7752000" y="4830090"/>
            <a:ext cx="288000" cy="288000"/>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13" name="楕円 12">
            <a:extLst>
              <a:ext uri="{FF2B5EF4-FFF2-40B4-BE49-F238E27FC236}">
                <a16:creationId xmlns:a16="http://schemas.microsoft.com/office/drawing/2014/main" id="{9C67F5D0-ECF7-4F3B-A182-EACFFB25E517}"/>
              </a:ext>
            </a:extLst>
          </p:cNvPr>
          <p:cNvSpPr/>
          <p:nvPr/>
        </p:nvSpPr>
        <p:spPr>
          <a:xfrm>
            <a:off x="7752000" y="5340710"/>
            <a:ext cx="288000" cy="288000"/>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14" name="楕円 13">
            <a:extLst>
              <a:ext uri="{FF2B5EF4-FFF2-40B4-BE49-F238E27FC236}">
                <a16:creationId xmlns:a16="http://schemas.microsoft.com/office/drawing/2014/main" id="{FCAD281F-EFB3-4853-89A1-EE43AA2FCE6B}"/>
              </a:ext>
            </a:extLst>
          </p:cNvPr>
          <p:cNvSpPr/>
          <p:nvPr/>
        </p:nvSpPr>
        <p:spPr>
          <a:xfrm>
            <a:off x="10452484" y="3813199"/>
            <a:ext cx="288000" cy="288000"/>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15" name="楕円 14">
            <a:extLst>
              <a:ext uri="{FF2B5EF4-FFF2-40B4-BE49-F238E27FC236}">
                <a16:creationId xmlns:a16="http://schemas.microsoft.com/office/drawing/2014/main" id="{5773E409-16F6-468E-ABB6-881DDA1A115D}"/>
              </a:ext>
            </a:extLst>
          </p:cNvPr>
          <p:cNvSpPr/>
          <p:nvPr/>
        </p:nvSpPr>
        <p:spPr>
          <a:xfrm>
            <a:off x="10452484" y="4323817"/>
            <a:ext cx="288000" cy="288000"/>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16" name="楕円 15">
            <a:extLst>
              <a:ext uri="{FF2B5EF4-FFF2-40B4-BE49-F238E27FC236}">
                <a16:creationId xmlns:a16="http://schemas.microsoft.com/office/drawing/2014/main" id="{905B3BD7-4883-4E81-BA93-38608BBF4B4A}"/>
              </a:ext>
            </a:extLst>
          </p:cNvPr>
          <p:cNvSpPr/>
          <p:nvPr/>
        </p:nvSpPr>
        <p:spPr>
          <a:xfrm>
            <a:off x="10452484" y="4834435"/>
            <a:ext cx="288000" cy="288000"/>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17" name="楕円 16">
            <a:extLst>
              <a:ext uri="{FF2B5EF4-FFF2-40B4-BE49-F238E27FC236}">
                <a16:creationId xmlns:a16="http://schemas.microsoft.com/office/drawing/2014/main" id="{D0C6B26C-9B29-482A-82DB-33B6D762E4F7}"/>
              </a:ext>
            </a:extLst>
          </p:cNvPr>
          <p:cNvSpPr/>
          <p:nvPr/>
        </p:nvSpPr>
        <p:spPr>
          <a:xfrm>
            <a:off x="10452484" y="5345055"/>
            <a:ext cx="288000" cy="288000"/>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Tree>
    <p:extLst>
      <p:ext uri="{BB962C8B-B14F-4D97-AF65-F5344CB8AC3E}">
        <p14:creationId xmlns:p14="http://schemas.microsoft.com/office/powerpoint/2010/main" val="1474000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19F64A77-5631-5ED7-CAC3-821D447A4BF8}"/>
              </a:ext>
            </a:extLst>
          </p:cNvPr>
          <p:cNvGraphicFramePr>
            <a:graphicFrameLocks noGrp="1"/>
          </p:cNvGraphicFramePr>
          <p:nvPr>
            <p:extLst>
              <p:ext uri="{D42A27DB-BD31-4B8C-83A1-F6EECF244321}">
                <p14:modId xmlns:p14="http://schemas.microsoft.com/office/powerpoint/2010/main" val="176182194"/>
              </p:ext>
            </p:extLst>
          </p:nvPr>
        </p:nvGraphicFramePr>
        <p:xfrm>
          <a:off x="264000" y="1269000"/>
          <a:ext cx="11664000" cy="4679999"/>
        </p:xfrm>
        <a:graphic>
          <a:graphicData uri="http://schemas.openxmlformats.org/drawingml/2006/table">
            <a:tbl>
              <a:tblPr>
                <a:tableStyleId>{7E9639D4-E3E2-4D34-9284-5A2195B3D0D7}</a:tableStyleId>
              </a:tblPr>
              <a:tblGrid>
                <a:gridCol w="648000">
                  <a:extLst>
                    <a:ext uri="{9D8B030D-6E8A-4147-A177-3AD203B41FA5}">
                      <a16:colId xmlns:a16="http://schemas.microsoft.com/office/drawing/2014/main" val="2754311452"/>
                    </a:ext>
                  </a:extLst>
                </a:gridCol>
                <a:gridCol w="11016000">
                  <a:extLst>
                    <a:ext uri="{9D8B030D-6E8A-4147-A177-3AD203B41FA5}">
                      <a16:colId xmlns:a16="http://schemas.microsoft.com/office/drawing/2014/main" val="3352400917"/>
                    </a:ext>
                  </a:extLst>
                </a:gridCol>
              </a:tblGrid>
              <a:tr h="488087">
                <a:tc>
                  <a:txBody>
                    <a:bodyPr/>
                    <a:lstStyle/>
                    <a:p>
                      <a:r>
                        <a:rPr lang="en-US" altLang="ja-JP" sz="2400" b="1" dirty="0">
                          <a:solidFill>
                            <a:schemeClr val="bg1"/>
                          </a:solidFill>
                        </a:rPr>
                        <a:t>No.</a:t>
                      </a:r>
                      <a:endParaRPr lang="ja-JP" altLang="en-US" sz="240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ja-JP" altLang="en-US" sz="2400" b="1" dirty="0">
                          <a:solidFill>
                            <a:schemeClr val="bg1"/>
                          </a:solidFill>
                        </a:rPr>
                        <a:t>取引名</a:t>
                      </a:r>
                      <a:endParaRPr lang="zh-TW" altLang="en-US" sz="240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120846212"/>
                  </a:ext>
                </a:extLst>
              </a:tr>
              <a:tr h="430439">
                <a:tc>
                  <a:txBody>
                    <a:bodyPr/>
                    <a:lstStyle/>
                    <a:p>
                      <a:pPr>
                        <a:spcAft>
                          <a:spcPts val="600"/>
                        </a:spcAft>
                      </a:pPr>
                      <a:r>
                        <a:rPr lang="en-US" altLang="zh-CN" sz="2000" dirty="0"/>
                        <a:t>1</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2000" dirty="0"/>
                        <a:t>人格なき社団・財団、任意団体の場合で、取引の任に当たる者について、変更があった場合</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3794083"/>
                  </a:ext>
                </a:extLst>
              </a:tr>
              <a:tr h="430439">
                <a:tc>
                  <a:txBody>
                    <a:bodyPr/>
                    <a:lstStyle/>
                    <a:p>
                      <a:pPr>
                        <a:spcAft>
                          <a:spcPts val="600"/>
                        </a:spcAft>
                      </a:pPr>
                      <a:r>
                        <a:rPr lang="en-US" altLang="zh-CN" sz="2000" dirty="0"/>
                        <a:t>2</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2000" dirty="0"/>
                        <a:t>睡眠預金口座の解約及び復活の場合</a:t>
                      </a:r>
                      <a:r>
                        <a:rPr lang="en-US" altLang="ja-JP" sz="2000" dirty="0"/>
                        <a:t>(※</a:t>
                      </a:r>
                      <a:r>
                        <a:rPr lang="ja-JP" altLang="en-US" sz="2000" dirty="0"/>
                        <a:t>一部例外あり</a:t>
                      </a:r>
                      <a:r>
                        <a:rPr lang="en-US" altLang="ja-JP" sz="2000" dirty="0"/>
                        <a:t>)</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6626119"/>
                  </a:ext>
                </a:extLst>
              </a:tr>
              <a:tr h="430439">
                <a:tc>
                  <a:txBody>
                    <a:bodyPr/>
                    <a:lstStyle/>
                    <a:p>
                      <a:pPr>
                        <a:spcAft>
                          <a:spcPts val="600"/>
                        </a:spcAft>
                      </a:pPr>
                      <a:r>
                        <a:rPr lang="en-US" altLang="zh-CN" sz="2000" dirty="0"/>
                        <a:t>3</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ja-JP" altLang="en-US" sz="2000" dirty="0"/>
                        <a:t>マネロン等の疑いのある取引</a:t>
                      </a:r>
                      <a:endParaRPr lang="ja-JP" altLang="en-US" sz="2000" b="0" i="0" u="none" strike="noStrike" dirty="0">
                        <a:solidFill>
                          <a:srgbClr val="000000"/>
                        </a:solidFill>
                        <a:effectLst/>
                        <a:latin typeface="Meiryo UI" panose="020B0604030504040204" pitchFamily="50" charset="-128"/>
                        <a:ea typeface="Meiryo UI" panose="020B0604030504040204" pitchFamily="50" charset="-128"/>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8016538"/>
                  </a:ext>
                </a:extLst>
              </a:tr>
              <a:tr h="430439">
                <a:tc>
                  <a:txBody>
                    <a:bodyPr/>
                    <a:lstStyle/>
                    <a:p>
                      <a:pPr>
                        <a:spcAft>
                          <a:spcPts val="600"/>
                        </a:spcAft>
                      </a:pPr>
                      <a:r>
                        <a:rPr lang="en-US" altLang="zh-CN" sz="2000" dirty="0"/>
                        <a:t>4</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2000" dirty="0"/>
                        <a:t>通常とは著しく異なる態様の取引</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1344155"/>
                  </a:ext>
                </a:extLst>
              </a:tr>
              <a:tr h="430439">
                <a:tc>
                  <a:txBody>
                    <a:bodyPr/>
                    <a:lstStyle/>
                    <a:p>
                      <a:pPr>
                        <a:spcAft>
                          <a:spcPts val="600"/>
                        </a:spcAft>
                      </a:pPr>
                      <a:r>
                        <a:rPr lang="en-US" altLang="zh-TW" sz="2000" dirty="0"/>
                        <a:t>5</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2000" dirty="0"/>
                        <a:t>取引時確認を免れる目的で敷居値以下に分割された取引</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226110"/>
                  </a:ext>
                </a:extLst>
              </a:tr>
              <a:tr h="748400">
                <a:tc>
                  <a:txBody>
                    <a:bodyPr/>
                    <a:lstStyle/>
                    <a:p>
                      <a:pPr>
                        <a:spcAft>
                          <a:spcPts val="600"/>
                        </a:spcAft>
                      </a:pPr>
                      <a:r>
                        <a:rPr lang="en-US" altLang="zh-CN" sz="2000" dirty="0"/>
                        <a:t>6</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ja-JP" altLang="en-US" sz="2000" dirty="0"/>
                        <a:t>なりすまし等が疑われる取引の場合（取引の相手方が取引の名義人になりすましている疑いがある場合や、顧客又は代表者等が本人特定事項・顧客管理事項を偽っていた疑いがある場合）</a:t>
                      </a:r>
                      <a:endParaRPr lang="ja-JP" altLang="en-US" sz="2000" b="0" i="0" u="none" strike="noStrike" dirty="0">
                        <a:solidFill>
                          <a:srgbClr val="000000"/>
                        </a:solidFill>
                        <a:effectLst/>
                        <a:latin typeface="Meiryo UI" panose="020B0604030504040204" pitchFamily="50" charset="-128"/>
                        <a:ea typeface="Meiryo UI" panose="020B0604030504040204" pitchFamily="50" charset="-128"/>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4901847"/>
                  </a:ext>
                </a:extLst>
              </a:tr>
              <a:tr h="430439">
                <a:tc>
                  <a:txBody>
                    <a:bodyPr/>
                    <a:lstStyle/>
                    <a:p>
                      <a:pPr>
                        <a:spcAft>
                          <a:spcPts val="600"/>
                        </a:spcAft>
                      </a:pPr>
                      <a:r>
                        <a:rPr lang="en-US" altLang="zh-CN" sz="2000" dirty="0"/>
                        <a:t>7</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2000" dirty="0"/>
                        <a:t>外国ＰＥＰｓによる特定取引の場合</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0890642"/>
                  </a:ext>
                </a:extLst>
              </a:tr>
              <a:tr h="430439">
                <a:tc>
                  <a:txBody>
                    <a:bodyPr/>
                    <a:lstStyle/>
                    <a:p>
                      <a:pPr>
                        <a:spcAft>
                          <a:spcPts val="600"/>
                        </a:spcAft>
                      </a:pPr>
                      <a:r>
                        <a:rPr lang="en-US" altLang="zh-CN" sz="2000" dirty="0"/>
                        <a:t>8</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ja-JP" altLang="en-US" sz="2000" dirty="0"/>
                        <a:t>「疑わしい取引」の報告を提出した取引先の場合</a:t>
                      </a:r>
                      <a:endParaRPr lang="ja-JP" altLang="en-US" sz="2000" b="0" i="0" u="none" strike="noStrike" dirty="0">
                        <a:solidFill>
                          <a:srgbClr val="000000"/>
                        </a:solidFill>
                        <a:effectLst/>
                        <a:latin typeface="Meiryo UI" panose="020B0604030504040204" pitchFamily="50" charset="-128"/>
                        <a:ea typeface="Meiryo UI" panose="020B0604030504040204" pitchFamily="50" charset="-128"/>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0577246"/>
                  </a:ext>
                </a:extLst>
              </a:tr>
              <a:tr h="430439">
                <a:tc>
                  <a:txBody>
                    <a:bodyPr/>
                    <a:lstStyle/>
                    <a:p>
                      <a:pPr>
                        <a:spcAft>
                          <a:spcPts val="600"/>
                        </a:spcAft>
                      </a:pPr>
                      <a:r>
                        <a:rPr lang="en-US" altLang="zh-CN" sz="2000" dirty="0"/>
                        <a:t>9</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2000" dirty="0"/>
                        <a:t>「取引時確認済の確認」、「本人確認済の確認」が不可能な場合</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1634322"/>
                  </a:ext>
                </a:extLst>
              </a:tr>
            </a:tbl>
          </a:graphicData>
        </a:graphic>
      </p:graphicFrame>
      <p:sp>
        <p:nvSpPr>
          <p:cNvPr id="3" name="正方形/長方形 2">
            <a:extLst>
              <a:ext uri="{FF2B5EF4-FFF2-40B4-BE49-F238E27FC236}">
                <a16:creationId xmlns:a16="http://schemas.microsoft.com/office/drawing/2014/main" id="{B46C4C7E-5896-3C14-8489-3F72DA4ECE51}"/>
              </a:ext>
            </a:extLst>
          </p:cNvPr>
          <p:cNvSpPr/>
          <p:nvPr/>
        </p:nvSpPr>
        <p:spPr>
          <a:xfrm>
            <a:off x="264000" y="239658"/>
            <a:ext cx="11664000" cy="680400"/>
          </a:xfrm>
          <a:prstGeom prst="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t>「取引時確認済みの確認」の対象外取引</a:t>
            </a:r>
          </a:p>
        </p:txBody>
      </p:sp>
      <p:sp>
        <p:nvSpPr>
          <p:cNvPr id="7" name="テキスト ボックス 6">
            <a:extLst>
              <a:ext uri="{FF2B5EF4-FFF2-40B4-BE49-F238E27FC236}">
                <a16:creationId xmlns:a16="http://schemas.microsoft.com/office/drawing/2014/main" id="{61F0D2A5-D62B-F464-FCDF-69331C28790E}"/>
              </a:ext>
            </a:extLst>
          </p:cNvPr>
          <p:cNvSpPr txBox="1"/>
          <p:nvPr/>
        </p:nvSpPr>
        <p:spPr>
          <a:xfrm>
            <a:off x="264000" y="6275610"/>
            <a:ext cx="7642960" cy="369332"/>
          </a:xfrm>
          <a:prstGeom prst="rect">
            <a:avLst/>
          </a:prstGeom>
          <a:noFill/>
        </p:spPr>
        <p:txBody>
          <a:bodyPr wrap="square">
            <a:spAutoFit/>
          </a:bodyPr>
          <a:lstStyle/>
          <a:p>
            <a:r>
              <a:rPr lang="en-US" altLang="ja-JP" dirty="0"/>
              <a:t>※</a:t>
            </a:r>
            <a:r>
              <a:rPr lang="ja-JP" altLang="en-US" sz="1800" dirty="0"/>
              <a:t>普通預金・貯蓄預金で解約元利金が１万円未満は省略可　</a:t>
            </a:r>
            <a:r>
              <a:rPr lang="ja-JP" altLang="en-US" dirty="0"/>
              <a:t>等</a:t>
            </a:r>
          </a:p>
        </p:txBody>
      </p:sp>
    </p:spTree>
    <p:extLst>
      <p:ext uri="{BB962C8B-B14F-4D97-AF65-F5344CB8AC3E}">
        <p14:creationId xmlns:p14="http://schemas.microsoft.com/office/powerpoint/2010/main" val="10929799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8A5A9493-EBE9-DA8C-C341-C8BE088A36EC}"/>
              </a:ext>
            </a:extLst>
          </p:cNvPr>
          <p:cNvGraphicFramePr>
            <a:graphicFrameLocks noGrp="1"/>
          </p:cNvGraphicFramePr>
          <p:nvPr>
            <p:extLst>
              <p:ext uri="{D42A27DB-BD31-4B8C-83A1-F6EECF244321}">
                <p14:modId xmlns:p14="http://schemas.microsoft.com/office/powerpoint/2010/main" val="3993065902"/>
              </p:ext>
            </p:extLst>
          </p:nvPr>
        </p:nvGraphicFramePr>
        <p:xfrm>
          <a:off x="264000" y="1269000"/>
          <a:ext cx="11664000" cy="4392003"/>
        </p:xfrm>
        <a:graphic>
          <a:graphicData uri="http://schemas.openxmlformats.org/drawingml/2006/table">
            <a:tbl>
              <a:tblPr>
                <a:tableStyleId>{7E9639D4-E3E2-4D34-9284-5A2195B3D0D7}</a:tableStyleId>
              </a:tblPr>
              <a:tblGrid>
                <a:gridCol w="864000">
                  <a:extLst>
                    <a:ext uri="{9D8B030D-6E8A-4147-A177-3AD203B41FA5}">
                      <a16:colId xmlns:a16="http://schemas.microsoft.com/office/drawing/2014/main" val="2754311452"/>
                    </a:ext>
                  </a:extLst>
                </a:gridCol>
                <a:gridCol w="10800000">
                  <a:extLst>
                    <a:ext uri="{9D8B030D-6E8A-4147-A177-3AD203B41FA5}">
                      <a16:colId xmlns:a16="http://schemas.microsoft.com/office/drawing/2014/main" val="3352400917"/>
                    </a:ext>
                  </a:extLst>
                </a:gridCol>
              </a:tblGrid>
              <a:tr h="627429">
                <a:tc>
                  <a:txBody>
                    <a:bodyPr/>
                    <a:lstStyle/>
                    <a:p>
                      <a:r>
                        <a:rPr lang="en-US" altLang="ja-JP" sz="2800" b="1" dirty="0">
                          <a:solidFill>
                            <a:schemeClr val="bg1"/>
                          </a:solidFill>
                        </a:rPr>
                        <a:t>No.</a:t>
                      </a:r>
                      <a:endParaRPr lang="ja-JP" altLang="en-US" sz="280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ja-JP" altLang="en-US" sz="2800" b="1" dirty="0">
                          <a:solidFill>
                            <a:schemeClr val="bg1"/>
                          </a:solidFill>
                        </a:rPr>
                        <a:t>取引名</a:t>
                      </a:r>
                      <a:endParaRPr lang="zh-TW" altLang="en-US" sz="280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120846212"/>
                  </a:ext>
                </a:extLst>
              </a:tr>
              <a:tr h="627429">
                <a:tc>
                  <a:txBody>
                    <a:bodyPr/>
                    <a:lstStyle/>
                    <a:p>
                      <a:pPr>
                        <a:spcAft>
                          <a:spcPts val="600"/>
                        </a:spcAft>
                      </a:pPr>
                      <a:r>
                        <a:rPr lang="en-US" altLang="zh-CN" sz="2800" dirty="0"/>
                        <a:t>1</a:t>
                      </a:r>
                      <a:endParaRPr lang="zh-CN" altLang="en-US"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ja-JP" altLang="en-US" sz="2400" b="0" i="0" u="none" strike="noStrike" dirty="0">
                          <a:solidFill>
                            <a:schemeClr val="tx1"/>
                          </a:solidFill>
                          <a:effectLst/>
                          <a:latin typeface="Meiryo UI" panose="020B0604030504040204" pitchFamily="50" charset="-128"/>
                          <a:ea typeface="Meiryo UI" panose="020B0604030504040204" pitchFamily="50" charset="-128"/>
                        </a:rPr>
                        <a:t>流動性預金での</a:t>
                      </a:r>
                      <a:r>
                        <a:rPr lang="en-US" altLang="ja-JP" sz="2400" b="0" i="0" u="none" strike="noStrike" dirty="0">
                          <a:solidFill>
                            <a:schemeClr val="tx1"/>
                          </a:solidFill>
                          <a:effectLst/>
                          <a:latin typeface="Meiryo UI" panose="020B0604030504040204" pitchFamily="50" charset="-128"/>
                          <a:ea typeface="Meiryo UI" panose="020B0604030504040204" pitchFamily="50" charset="-128"/>
                        </a:rPr>
                        <a:t>200</a:t>
                      </a:r>
                      <a:r>
                        <a:rPr lang="ja-JP" altLang="en-US" sz="2400" b="0" i="0" u="none" strike="noStrike" dirty="0">
                          <a:solidFill>
                            <a:schemeClr val="tx1"/>
                          </a:solidFill>
                          <a:effectLst/>
                          <a:latin typeface="Meiryo UI" panose="020B0604030504040204" pitchFamily="50" charset="-128"/>
                          <a:ea typeface="Meiryo UI" panose="020B0604030504040204" pitchFamily="50" charset="-128"/>
                        </a:rPr>
                        <a:t>万円超の現金入出金（円貨・外貨を問わない。通知預金除く）</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3794083"/>
                  </a:ext>
                </a:extLst>
              </a:tr>
              <a:tr h="627429">
                <a:tc>
                  <a:txBody>
                    <a:bodyPr/>
                    <a:lstStyle/>
                    <a:p>
                      <a:pPr>
                        <a:spcAft>
                          <a:spcPts val="600"/>
                        </a:spcAft>
                      </a:pPr>
                      <a:r>
                        <a:rPr lang="en-US" altLang="zh-CN" sz="2800" dirty="0"/>
                        <a:t>2</a:t>
                      </a:r>
                      <a:endParaRPr lang="zh-CN" altLang="en-US"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ja-JP" altLang="en-US" sz="2400" b="0" i="0" u="none" strike="noStrike" dirty="0">
                          <a:solidFill>
                            <a:schemeClr val="tx1"/>
                          </a:solidFill>
                          <a:effectLst/>
                          <a:latin typeface="Meiryo UI" panose="020B0604030504040204" pitchFamily="50" charset="-128"/>
                          <a:ea typeface="Meiryo UI" panose="020B0604030504040204" pitchFamily="50" charset="-128"/>
                        </a:rPr>
                        <a:t>総合口座定期預金の預入</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6626119"/>
                  </a:ext>
                </a:extLst>
              </a:tr>
              <a:tr h="627429">
                <a:tc>
                  <a:txBody>
                    <a:bodyPr/>
                    <a:lstStyle/>
                    <a:p>
                      <a:pPr>
                        <a:spcAft>
                          <a:spcPts val="600"/>
                        </a:spcAft>
                      </a:pPr>
                      <a:r>
                        <a:rPr lang="en-US" altLang="zh-CN" sz="2800" dirty="0"/>
                        <a:t>3</a:t>
                      </a:r>
                      <a:endParaRPr lang="zh-CN" altLang="en-US"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ja-JP" altLang="en-US" sz="2400" b="0" i="0" u="none" strike="noStrike" dirty="0">
                          <a:solidFill>
                            <a:schemeClr val="tx1"/>
                          </a:solidFill>
                          <a:effectLst/>
                          <a:latin typeface="Meiryo UI" panose="020B0604030504040204" pitchFamily="50" charset="-128"/>
                          <a:ea typeface="Meiryo UI" panose="020B0604030504040204" pitchFamily="50" charset="-128"/>
                        </a:rPr>
                        <a:t>スーパー外貨定期預金の預入</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8016538"/>
                  </a:ext>
                </a:extLst>
              </a:tr>
              <a:tr h="627429">
                <a:tc>
                  <a:txBody>
                    <a:bodyPr/>
                    <a:lstStyle/>
                    <a:p>
                      <a:pPr>
                        <a:spcAft>
                          <a:spcPts val="600"/>
                        </a:spcAft>
                      </a:pPr>
                      <a:r>
                        <a:rPr lang="en-US" altLang="zh-CN" sz="2800" dirty="0"/>
                        <a:t>4</a:t>
                      </a:r>
                      <a:endParaRPr lang="zh-CN" altLang="en-US"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ja-JP" altLang="en-US" sz="2400" b="0" i="0" u="none" strike="noStrike" dirty="0">
                          <a:solidFill>
                            <a:schemeClr val="tx1"/>
                          </a:solidFill>
                          <a:effectLst/>
                          <a:latin typeface="Meiryo UI" panose="020B0604030504040204" pitchFamily="50" charset="-128"/>
                          <a:ea typeface="Meiryo UI" panose="020B0604030504040204" pitchFamily="50" charset="-128"/>
                        </a:rPr>
                        <a:t>同一口座の通帳式定期預金・通知預金の</a:t>
                      </a:r>
                      <a:r>
                        <a:rPr lang="en-US" altLang="ja-JP" sz="2400" b="0" i="0" u="none" strike="noStrike" dirty="0">
                          <a:solidFill>
                            <a:schemeClr val="tx1"/>
                          </a:solidFill>
                          <a:effectLst/>
                          <a:latin typeface="Meiryo UI" panose="020B0604030504040204" pitchFamily="50" charset="-128"/>
                          <a:ea typeface="Meiryo UI" panose="020B0604030504040204" pitchFamily="50" charset="-128"/>
                        </a:rPr>
                        <a:t>2</a:t>
                      </a:r>
                      <a:r>
                        <a:rPr lang="ja-JP" altLang="en-US" sz="2400" b="0" i="0" u="none" strike="noStrike" dirty="0">
                          <a:solidFill>
                            <a:schemeClr val="tx1"/>
                          </a:solidFill>
                          <a:effectLst/>
                          <a:latin typeface="Meiryo UI" panose="020B0604030504040204" pitchFamily="50" charset="-128"/>
                          <a:ea typeface="Meiryo UI" panose="020B0604030504040204" pitchFamily="50" charset="-128"/>
                        </a:rPr>
                        <a:t>回目以降の預入</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1344155"/>
                  </a:ext>
                </a:extLst>
              </a:tr>
              <a:tr h="627429">
                <a:tc>
                  <a:txBody>
                    <a:bodyPr/>
                    <a:lstStyle/>
                    <a:p>
                      <a:pPr>
                        <a:spcAft>
                          <a:spcPts val="600"/>
                        </a:spcAft>
                      </a:pPr>
                      <a:r>
                        <a:rPr lang="en-US" altLang="zh-TW" sz="2800" dirty="0"/>
                        <a:t>5</a:t>
                      </a:r>
                      <a:endParaRPr lang="zh-TW" altLang="en-US"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ja-JP" altLang="en-US" sz="2400" b="0" i="0" u="none" strike="noStrike" dirty="0">
                          <a:solidFill>
                            <a:srgbClr val="000000"/>
                          </a:solidFill>
                          <a:effectLst/>
                          <a:latin typeface="Meiryo UI" panose="020B0604030504040204" pitchFamily="50" charset="-128"/>
                          <a:ea typeface="Meiryo UI" panose="020B0604030504040204" pitchFamily="50" charset="-128"/>
                        </a:rPr>
                        <a:t>固定性預金の</a:t>
                      </a:r>
                      <a:r>
                        <a:rPr lang="en-US" altLang="ja-JP" sz="2400" b="0" i="0" u="none" strike="noStrike" dirty="0">
                          <a:solidFill>
                            <a:srgbClr val="000000"/>
                          </a:solidFill>
                          <a:effectLst/>
                          <a:latin typeface="Meiryo UI" panose="020B0604030504040204" pitchFamily="50" charset="-128"/>
                          <a:ea typeface="Meiryo UI" panose="020B0604030504040204" pitchFamily="50" charset="-128"/>
                        </a:rPr>
                        <a:t>200</a:t>
                      </a:r>
                      <a:r>
                        <a:rPr lang="ja-JP" altLang="en-US" sz="2400" b="0" i="0" u="none" strike="noStrike" dirty="0">
                          <a:solidFill>
                            <a:srgbClr val="000000"/>
                          </a:solidFill>
                          <a:effectLst/>
                          <a:latin typeface="Meiryo UI" panose="020B0604030504040204" pitchFamily="50" charset="-128"/>
                          <a:ea typeface="Meiryo UI" panose="020B0604030504040204" pitchFamily="50" charset="-128"/>
                        </a:rPr>
                        <a:t>万円超の現金払戻</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226110"/>
                  </a:ext>
                </a:extLst>
              </a:tr>
              <a:tr h="627429">
                <a:tc>
                  <a:txBody>
                    <a:bodyPr/>
                    <a:lstStyle/>
                    <a:p>
                      <a:pPr>
                        <a:spcAft>
                          <a:spcPts val="600"/>
                        </a:spcAft>
                      </a:pPr>
                      <a:r>
                        <a:rPr lang="en-US" altLang="zh-CN" sz="2800" dirty="0"/>
                        <a:t>6</a:t>
                      </a:r>
                      <a:endParaRPr lang="zh-CN" altLang="en-US"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ja-JP" altLang="en-US" sz="2400" b="0" i="0" u="none" strike="noStrike" dirty="0">
                          <a:solidFill>
                            <a:srgbClr val="000000"/>
                          </a:solidFill>
                          <a:effectLst/>
                          <a:latin typeface="Meiryo UI" panose="020B0604030504040204" pitchFamily="50" charset="-128"/>
                          <a:ea typeface="Meiryo UI" panose="020B0604030504040204" pitchFamily="50" charset="-128"/>
                        </a:rPr>
                        <a:t>投資信託・債券の購入</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4901847"/>
                  </a:ext>
                </a:extLst>
              </a:tr>
            </a:tbl>
          </a:graphicData>
        </a:graphic>
      </p:graphicFrame>
      <p:sp>
        <p:nvSpPr>
          <p:cNvPr id="3" name="正方形/長方形 2">
            <a:extLst>
              <a:ext uri="{FF2B5EF4-FFF2-40B4-BE49-F238E27FC236}">
                <a16:creationId xmlns:a16="http://schemas.microsoft.com/office/drawing/2014/main" id="{96932A92-9A4E-C058-A88D-974AE0737C7C}"/>
              </a:ext>
            </a:extLst>
          </p:cNvPr>
          <p:cNvSpPr/>
          <p:nvPr/>
        </p:nvSpPr>
        <p:spPr>
          <a:xfrm>
            <a:off x="264000" y="239658"/>
            <a:ext cx="11664000" cy="680400"/>
          </a:xfrm>
          <a:prstGeom prst="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t>関連取引の一覧</a:t>
            </a:r>
          </a:p>
        </p:txBody>
      </p:sp>
      <p:sp>
        <p:nvSpPr>
          <p:cNvPr id="8" name="テキスト ボックス 7">
            <a:extLst>
              <a:ext uri="{FF2B5EF4-FFF2-40B4-BE49-F238E27FC236}">
                <a16:creationId xmlns:a16="http://schemas.microsoft.com/office/drawing/2014/main" id="{8DCCB17D-F168-7E84-DE4B-024D60626325}"/>
              </a:ext>
            </a:extLst>
          </p:cNvPr>
          <p:cNvSpPr txBox="1"/>
          <p:nvPr/>
        </p:nvSpPr>
        <p:spPr>
          <a:xfrm>
            <a:off x="264000" y="5688449"/>
            <a:ext cx="10080000" cy="1077218"/>
          </a:xfrm>
          <a:prstGeom prst="rect">
            <a:avLst/>
          </a:prstGeom>
          <a:noFill/>
        </p:spPr>
        <p:txBody>
          <a:bodyPr wrap="square">
            <a:spAutoFit/>
          </a:bodyPr>
          <a:lstStyle/>
          <a:p>
            <a:pPr>
              <a:spcAft>
                <a:spcPts val="600"/>
              </a:spcAft>
            </a:pPr>
            <a:r>
              <a:rPr lang="ja-JP" altLang="en-US" dirty="0"/>
              <a:t>※以下の取引は関連取引として扱えないため注意してください。</a:t>
            </a:r>
          </a:p>
          <a:p>
            <a:pPr>
              <a:spcAft>
                <a:spcPts val="600"/>
              </a:spcAft>
            </a:pPr>
            <a:r>
              <a:rPr lang="ja-JP" altLang="en-US" dirty="0"/>
              <a:t>・証書式の定期預金・通知預金の作成</a:t>
            </a:r>
          </a:p>
          <a:p>
            <a:pPr>
              <a:spcAft>
                <a:spcPts val="600"/>
              </a:spcAft>
            </a:pPr>
            <a:r>
              <a:rPr lang="ja-JP" altLang="en-US" dirty="0"/>
              <a:t>・投信口座、債券口座の開設</a:t>
            </a:r>
          </a:p>
        </p:txBody>
      </p:sp>
    </p:spTree>
    <p:extLst>
      <p:ext uri="{BB962C8B-B14F-4D97-AF65-F5344CB8AC3E}">
        <p14:creationId xmlns:p14="http://schemas.microsoft.com/office/powerpoint/2010/main" val="1661924809"/>
      </p:ext>
    </p:extLst>
  </p:cSld>
  <p:clrMapOvr>
    <a:masterClrMapping/>
  </p:clrMapOvr>
</p:sld>
</file>

<file path=ppt/theme/theme1.xml><?xml version="1.0" encoding="utf-8"?>
<a:theme xmlns:a="http://schemas.openxmlformats.org/drawingml/2006/main" name="Office 2013 - 2022 テーマ">
  <a:themeElements>
    <a:clrScheme name="Office 2013 - 2022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ユーザー定義 1">
      <a:majorFont>
        <a:latin typeface="Meiryo UI"/>
        <a:ea typeface="Meiryo UI"/>
        <a:cs typeface=""/>
      </a:majorFont>
      <a:minorFont>
        <a:latin typeface="Meiryo UI"/>
        <a:ea typeface="Meiryo UI"/>
        <a:cs typeface=""/>
      </a:minorFont>
    </a:fontScheme>
    <a:fmtScheme name="Office 2013 - 2022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40000"/>
            <a:lumOff val="60000"/>
          </a:schemeClr>
        </a:solidFill>
        <a:ln w="19050">
          <a:solidFill>
            <a:schemeClr val="accent1">
              <a:lumMod val="50000"/>
            </a:schemeClr>
          </a:solidFill>
        </a:ln>
      </a:spPr>
      <a:bodyPr rtlCol="0" anchor="ctr"/>
      <a:lstStyle>
        <a:defPPr algn="ctr">
          <a:defRPr kumimoji="1" sz="1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1">
          <a:schemeClr val="dk1"/>
        </a:lnRef>
        <a:fillRef idx="0">
          <a:schemeClr val="dk1"/>
        </a:fillRef>
        <a:effectRef idx="0">
          <a:schemeClr val="dk1"/>
        </a:effectRef>
        <a:fontRef idx="minor">
          <a:schemeClr val="tx1"/>
        </a:fontRef>
      </a:style>
    </a:lnDef>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0DF57148844648448BFDEA4AEC3E9298" ma:contentTypeVersion="18" ma:contentTypeDescription="新しいドキュメントを作成します。" ma:contentTypeScope="" ma:versionID="f483aaa5e49d14a8bcaef700b5563e91">
  <xsd:schema xmlns:xsd="http://www.w3.org/2001/XMLSchema" xmlns:xs="http://www.w3.org/2001/XMLSchema" xmlns:p="http://schemas.microsoft.com/office/2006/metadata/properties" xmlns:ns2="a8ed82f9-5112-4963-8899-2dada29656c1" xmlns:ns3="c4f09e2a-8683-4e73-ab87-e69943665744" targetNamespace="http://schemas.microsoft.com/office/2006/metadata/properties" ma:root="true" ma:fieldsID="ec4e08bb10b9e6d979b886870600e5ab" ns2:_="" ns3:_="">
    <xsd:import namespace="a8ed82f9-5112-4963-8899-2dada29656c1"/>
    <xsd:import namespace="c4f09e2a-8683-4e73-ab87-e6994366574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ed82f9-5112-4963-8899-2dada29656c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画像タグ" ma:readOnly="false" ma:fieldId="{5cf76f15-5ced-4ddc-b409-7134ff3c332f}" ma:taxonomyMulti="true" ma:sspId="31f80f1b-8a8e-40b4-b5a5-8ba582b24d5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4f09e2a-8683-4e73-ab87-e69943665744" elementFormDefault="qualified">
    <xsd:import namespace="http://schemas.microsoft.com/office/2006/documentManagement/types"/>
    <xsd:import namespace="http://schemas.microsoft.com/office/infopath/2007/PartnerControls"/>
    <xsd:element name="SharedWithUsers" ma:index="18"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共有相手の詳細情報" ma:internalName="SharedWithDetails" ma:readOnly="true">
      <xsd:simpleType>
        <xsd:restriction base="dms:Note">
          <xsd:maxLength value="255"/>
        </xsd:restriction>
      </xsd:simpleType>
    </xsd:element>
    <xsd:element name="TaxCatchAll" ma:index="23" nillable="true" ma:displayName="Taxonomy Catch All Column" ma:hidden="true" ma:list="{db969330-cfa1-4e2f-b237-3ef30e29ee88}" ma:internalName="TaxCatchAll" ma:showField="CatchAllData" ma:web="c4f09e2a-8683-4e73-ab87-e6994366574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c4f09e2a-8683-4e73-ab87-e69943665744">
      <UserInfo>
        <DisplayName/>
        <AccountId xsi:nil="true"/>
        <AccountType/>
      </UserInfo>
    </SharedWithUsers>
    <lcf76f155ced4ddcb4097134ff3c332f xmlns="a8ed82f9-5112-4963-8899-2dada29656c1">
      <Terms xmlns="http://schemas.microsoft.com/office/infopath/2007/PartnerControls"/>
    </lcf76f155ced4ddcb4097134ff3c332f>
    <TaxCatchAll xmlns="c4f09e2a-8683-4e73-ab87-e69943665744" xsi:nil="true"/>
  </documentManagement>
</p:properties>
</file>

<file path=customXml/itemProps1.xml><?xml version="1.0" encoding="utf-8"?>
<ds:datastoreItem xmlns:ds="http://schemas.openxmlformats.org/officeDocument/2006/customXml" ds:itemID="{C2022378-2AF6-44F5-AAF9-0F96EEED485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8ed82f9-5112-4963-8899-2dada29656c1"/>
    <ds:schemaRef ds:uri="c4f09e2a-8683-4e73-ab87-e6994366574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3EF7FCC-D7C5-4681-899A-F6BBD947B370}">
  <ds:schemaRefs>
    <ds:schemaRef ds:uri="http://schemas.microsoft.com/sharepoint/v3/contenttype/forms"/>
  </ds:schemaRefs>
</ds:datastoreItem>
</file>

<file path=customXml/itemProps3.xml><?xml version="1.0" encoding="utf-8"?>
<ds:datastoreItem xmlns:ds="http://schemas.openxmlformats.org/officeDocument/2006/customXml" ds:itemID="{0BB5A783-D35C-4684-AE1E-811AEDCACAB0}">
  <ds:schemaRefs>
    <ds:schemaRef ds:uri="http://purl.org/dc/dcmitype/"/>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purl.org/dc/terms/"/>
    <ds:schemaRef ds:uri="http://schemas.openxmlformats.org/package/2006/metadata/core-properties"/>
    <ds:schemaRef ds:uri="c4f09e2a-8683-4e73-ab87-e69943665744"/>
    <ds:schemaRef ds:uri="a8ed82f9-5112-4963-8899-2dada29656c1"/>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21407</TotalTime>
  <Words>3537</Words>
  <Application>Microsoft Office PowerPoint</Application>
  <PresentationFormat>ワイド画面</PresentationFormat>
  <Paragraphs>474</Paragraphs>
  <Slides>19</Slides>
  <Notes>2</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19</vt:i4>
      </vt:variant>
    </vt:vector>
  </HeadingPairs>
  <TitlesOfParts>
    <vt:vector size="24" baseType="lpstr">
      <vt:lpstr>Meiryo UI</vt:lpstr>
      <vt:lpstr>MS-Mincho</vt:lpstr>
      <vt:lpstr>游ゴシック</vt:lpstr>
      <vt:lpstr>Arial</vt:lpstr>
      <vt:lpstr>Office 2013 - 2022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Sakuta, Junki (作田 隼樹)</dc:creator>
  <cp:lastModifiedBy>中村　恵</cp:lastModifiedBy>
  <cp:revision>33</cp:revision>
  <dcterms:created xsi:type="dcterms:W3CDTF">2024-11-14T04:21:33Z</dcterms:created>
  <dcterms:modified xsi:type="dcterms:W3CDTF">2025-11-14T05:42:19Z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0x0101000DF57148844648448BFDEA4AEC3E9298</vt:lpwstr>
  </property>
  <property fmtid="{D5CDD505-2E9C-101B-9397-08002B2CF9AE}" pid="4" name="ComplianceAssetId">
    <vt:lpwstr/>
  </property>
  <property fmtid="{D5CDD505-2E9C-101B-9397-08002B2CF9AE}" pid="5" name="_ExtendedDescription">
    <vt:lpwstr/>
  </property>
  <property fmtid="{D5CDD505-2E9C-101B-9397-08002B2CF9AE}" pid="6" name="TriggerFlowInfo">
    <vt:lpwstr/>
  </property>
</Properties>
</file>