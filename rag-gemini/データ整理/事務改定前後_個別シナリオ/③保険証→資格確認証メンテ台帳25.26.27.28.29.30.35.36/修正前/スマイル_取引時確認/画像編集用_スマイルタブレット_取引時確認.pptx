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5" r:id="rId2"/>
    <p:sldId id="270" r:id="rId3"/>
    <p:sldId id="256" r:id="rId4"/>
    <p:sldId id="273" r:id="rId5"/>
    <p:sldId id="276" r:id="rId6"/>
    <p:sldId id="277" r:id="rId7"/>
    <p:sldId id="26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EAF5EAF-A8B5-4E00-9104-CE5D0948039D}">
          <p14:sldIdLst>
            <p14:sldId id="275"/>
            <p14:sldId id="270"/>
            <p14:sldId id="256"/>
            <p14:sldId id="273"/>
            <p14:sldId id="276"/>
            <p14:sldId id="277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野　央佳" initials="宇野　央佳" lastIdx="1" clrIdx="0">
    <p:extLst>
      <p:ext uri="{19B8F6BF-5375-455C-9EA6-DF929625EA0E}">
        <p15:presenceInfo xmlns:p15="http://schemas.microsoft.com/office/powerpoint/2012/main" userId="S-1-5-21-1957994488-527237240-1606980848-3209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ADB"/>
    <a:srgbClr val="CCE8F4"/>
    <a:srgbClr val="203864"/>
    <a:srgbClr val="FFE7E7"/>
    <a:srgbClr val="FF9999"/>
    <a:srgbClr val="FFCCCC"/>
    <a:srgbClr val="D1D1D1"/>
    <a:srgbClr val="E7E7E7"/>
    <a:srgbClr val="E7FFFF"/>
    <a:srgbClr val="FB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0387" autoAdjust="0"/>
  </p:normalViewPr>
  <p:slideViewPr>
    <p:cSldViewPr showGuides="1">
      <p:cViewPr varScale="1">
        <p:scale>
          <a:sx n="75" d="100"/>
          <a:sy n="75" d="100"/>
        </p:scale>
        <p:origin x="946" y="43"/>
      </p:cViewPr>
      <p:guideLst>
        <p:guide orient="horz" pos="799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D05CD8B-8866-4E21-A560-B83C05A581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FB4590-FAC1-495E-A284-41B8969195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7E39-6116-454A-85AB-9141B284831B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DD62E6-4238-435B-81EE-F3E0E81515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353732-A331-4035-A0CA-882B880730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A97EB-9DA7-47A5-BBF8-1AD063F0A6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27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F95ED-5459-4CB6-B438-A1004EF8C93C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35B0-586F-490C-BA39-D51ABB28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0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471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831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A2DD8-A486-45AF-99E9-845FD2F0C57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923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01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42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BD75F-2C67-4040-B637-705B49C3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1E7B2A-B7D4-46F1-AF82-85E41152B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042E8-ADFC-4F54-9D2A-BA45A884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1D1708-C7C5-40C4-BEA1-B952C9B5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EE3CE-E771-488E-9A8B-37294131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7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4EEC0-40E5-43B5-8474-FDFF6EA1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93" y="130631"/>
            <a:ext cx="3600000" cy="457200"/>
          </a:xfrm>
          <a:solidFill>
            <a:srgbClr val="203864"/>
          </a:solidFill>
        </p:spPr>
        <p:txBody>
          <a:bodyPr lIns="180000" tIns="0" rIns="180000" bIns="0">
            <a:noAutofit/>
          </a:bodyPr>
          <a:lstStyle>
            <a:lvl1pPr algn="l">
              <a:defRPr sz="1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DF5B1-44BA-42C8-9DC1-25D36B9F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DDAA0-1CD5-4784-98E9-6BED7D69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E95E8D-47C7-4FDB-8782-7C6E4328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0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4EEC0-40E5-43B5-8474-FDFF6EA1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54E2A8-47F6-4AF2-AE46-9926ACF26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DF5B1-44BA-42C8-9DC1-25D36B9F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DDAA0-1CD5-4784-98E9-6BED7D69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E95E8D-47C7-4FDB-8782-7C6E4328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47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13EDD-3ABB-4129-B099-93A2555C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2C8042-38DE-4EC4-AFAA-8727D222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17FE33-7FF7-4724-9CF1-97D58296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1CCD6B-E7E1-45AE-8F0F-C2FD81F4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90229F-C866-4255-895B-E9D100F2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06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93C2C-8289-4894-99D5-9AE6BD75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E0E102-42B0-44C2-B998-08920F414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B8FB0F-57B9-4F1B-925C-B5B82CEAD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960451-279B-4EEA-8F5F-C1770E2D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17F84E-882C-4020-B5EF-C4228215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C18B31-946F-487A-9FD8-A4A1EAF5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81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47E96-0452-45FB-B3C5-C0A50BCE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FB14D3-3CB7-402B-B7E0-654A9C4A0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F85861-69CC-4A79-ADB4-CB57B938D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8EB3C3-51F0-4FD1-A23A-0B7C1F202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371429-BA70-4B13-BA7D-1B49E27A2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C76252-DFC4-44AE-9B8E-6965F2AD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39293D-CE83-40A1-9966-E1E2D437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A97A11-C606-4EB7-8311-A0A12E7D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17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D3B711-E738-4CE1-9BBC-0D1D2EC1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277F3E-D747-43F8-80BD-846ECE75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03BA3C-2C3F-4465-8D63-B23DEF2A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FE608C5-3498-4AFB-AC7E-B0192303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48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02ECFE-5CEF-49AD-80DD-91424980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C73B03-6DCA-4C76-B804-E56359BF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F00535-21EA-4B93-B29E-65EDC002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30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05E43-909A-4791-B8D6-D8AD24B2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336CC9-1C2B-43D1-A233-C2145674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82DFE4-3618-43A2-BAD2-6B223670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3099B9-59D0-49C6-877F-D8F32E19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BE2643-11AB-4AF1-8874-03AC67DF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05D8FC-EAD6-4EA7-B056-D7BDAA93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19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49CEC-A14B-4147-A1DF-F69716F2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6181CB4-4057-4F7B-969C-03AAAB5A6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3D6F6B-5CE0-4181-BC23-7B67A5A73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13E20-82A8-4318-9E7A-A597BCA9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45E69A-2BA8-4772-8BA7-DCD0D771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3C9483-5AE7-43EF-9B13-1998F325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37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44628-A70D-4C07-BF48-08A6AA37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76C992-D4C6-471C-9C9B-54655C1E0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57EB37-9637-48D9-88E1-74609EE4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A6591-C224-48D1-A5F8-2E38E1E3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956418-06ED-4BCC-AD0F-CC4E96FB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132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72B373-A25F-4DBF-8A0B-205DA9010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47BEB2-C559-451C-B870-A32F34A8D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5BD468-D631-47BB-8D81-6DBA2327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CF0F0C-0784-4563-9237-93ADF7AC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E0293-7EB8-4DFD-BFC0-95A24E35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69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2C2184-5B1E-41C8-BB83-985BD914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015581-8863-4E3C-9862-D8232F0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5C31A5-AAE6-4124-9F48-CE83D88C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B44E7-93FF-4841-A0EB-B54F5BC6B093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EDF7EA-BC32-4AA1-9A52-2580548C4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5A7C97-9B41-49AB-A7FD-9A19E0DED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66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2E3D003-6058-4E89-9C57-DB6E96273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850"/>
          <a:stretch/>
        </p:blipFill>
        <p:spPr>
          <a:xfrm>
            <a:off x="2142930" y="1242197"/>
            <a:ext cx="7906140" cy="52110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70DD05-8569-4293-83E3-E5189B6BFE3C}"/>
              </a:ext>
            </a:extLst>
          </p:cNvPr>
          <p:cNvSpPr/>
          <p:nvPr/>
        </p:nvSpPr>
        <p:spPr>
          <a:xfrm>
            <a:off x="4798105" y="2687177"/>
            <a:ext cx="1305460" cy="16732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運転免許証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5C524-F358-4CB3-B145-CDC284FC90CA}"/>
              </a:ext>
            </a:extLst>
          </p:cNvPr>
          <p:cNvSpPr/>
          <p:nvPr/>
        </p:nvSpPr>
        <p:spPr>
          <a:xfrm>
            <a:off x="4803683" y="3355281"/>
            <a:ext cx="3257838" cy="21083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955F995-BF8A-4244-9BB1-831CB52E7174}"/>
              </a:ext>
            </a:extLst>
          </p:cNvPr>
          <p:cNvSpPr/>
          <p:nvPr/>
        </p:nvSpPr>
        <p:spPr>
          <a:xfrm>
            <a:off x="4804790" y="4155891"/>
            <a:ext cx="2052191" cy="18582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電気料金領収書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E059653F-243B-445C-9867-BB5B639E031B}"/>
              </a:ext>
            </a:extLst>
          </p:cNvPr>
          <p:cNvSpPr/>
          <p:nvPr/>
        </p:nvSpPr>
        <p:spPr>
          <a:xfrm>
            <a:off x="3709439" y="2619529"/>
            <a:ext cx="4646621" cy="1016875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2266B9F-2DE7-4323-9B3B-CF24E0412034}"/>
              </a:ext>
            </a:extLst>
          </p:cNvPr>
          <p:cNvSpPr/>
          <p:nvPr/>
        </p:nvSpPr>
        <p:spPr>
          <a:xfrm>
            <a:off x="3709439" y="4066894"/>
            <a:ext cx="5867813" cy="1244961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BA6A09E-A7BF-4019-91EC-D1B4AEFE85F8}"/>
              </a:ext>
            </a:extLst>
          </p:cNvPr>
          <p:cNvSpPr/>
          <p:nvPr/>
        </p:nvSpPr>
        <p:spPr>
          <a:xfrm>
            <a:off x="8591969" y="3870892"/>
            <a:ext cx="3257836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名称：補完資料の名称を入力</a:t>
            </a:r>
            <a:endParaRPr lang="en-US" altLang="ja-JP" sz="18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3C8C9E1-7FD7-4EA5-A7B4-F6E93143A0C6}"/>
              </a:ext>
            </a:extLst>
          </p:cNvPr>
          <p:cNvSpPr/>
          <p:nvPr/>
        </p:nvSpPr>
        <p:spPr>
          <a:xfrm>
            <a:off x="8357969" y="3649411"/>
            <a:ext cx="468000" cy="46800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52696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補完書類がある場合の入力方法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73733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</a:t>
            </a:r>
            <a:endParaRPr lang="en-US" altLang="ja-JP" sz="1800" b="1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0FEF127D-8B81-450E-8234-27C8C16D8401}"/>
              </a:ext>
            </a:extLst>
          </p:cNvPr>
          <p:cNvSpPr/>
          <p:nvPr/>
        </p:nvSpPr>
        <p:spPr>
          <a:xfrm>
            <a:off x="7358137" y="2448247"/>
            <a:ext cx="3257837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種類①：本人確認書類を選択</a:t>
            </a:r>
            <a:endParaRPr lang="en-US" altLang="ja-JP" sz="18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2BF5B980-A810-4F2D-A116-660F231A261C}"/>
              </a:ext>
            </a:extLst>
          </p:cNvPr>
          <p:cNvSpPr/>
          <p:nvPr/>
        </p:nvSpPr>
        <p:spPr>
          <a:xfrm>
            <a:off x="7124138" y="2188307"/>
            <a:ext cx="468000" cy="468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968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52696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公立学校の顔写真付き学生証を使用する場合の事務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170658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　</a:t>
            </a:r>
            <a:r>
              <a: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1/2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E3D003-6058-4E89-9C57-DB6E96273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850"/>
          <a:stretch/>
        </p:blipFill>
        <p:spPr>
          <a:xfrm>
            <a:off x="264000" y="2246053"/>
            <a:ext cx="5400000" cy="35592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07664C4-75F5-4DBC-AE7F-D9DB333219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8002" y="2246052"/>
            <a:ext cx="5400000" cy="35592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xtLst/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99C69C-7C1E-4E9F-9F34-276EEEF390E4}"/>
              </a:ext>
            </a:extLst>
          </p:cNvPr>
          <p:cNvSpPr/>
          <p:nvPr/>
        </p:nvSpPr>
        <p:spPr>
          <a:xfrm>
            <a:off x="1992523" y="3409367"/>
            <a:ext cx="2225147" cy="1440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学生証</a:t>
            </a:r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70DD05-8569-4293-83E3-E5189B6BFE3C}"/>
              </a:ext>
            </a:extLst>
          </p:cNvPr>
          <p:cNvSpPr/>
          <p:nvPr/>
        </p:nvSpPr>
        <p:spPr>
          <a:xfrm>
            <a:off x="1988713" y="3232994"/>
            <a:ext cx="891647" cy="11428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5C524-F358-4CB3-B145-CDC284FC90CA}"/>
              </a:ext>
            </a:extLst>
          </p:cNvPr>
          <p:cNvSpPr/>
          <p:nvPr/>
        </p:nvSpPr>
        <p:spPr>
          <a:xfrm>
            <a:off x="1992523" y="3689318"/>
            <a:ext cx="2225147" cy="1440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CD6395F-F27A-419A-AE1B-F43304787D21}"/>
              </a:ext>
            </a:extLst>
          </p:cNvPr>
          <p:cNvSpPr/>
          <p:nvPr/>
        </p:nvSpPr>
        <p:spPr>
          <a:xfrm>
            <a:off x="6659733" y="170658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 </a:t>
            </a:r>
            <a:r>
              <a: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2/2</a:t>
            </a:r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E9F248DF-64C2-4FC3-97AE-7B4C093E2638}"/>
              </a:ext>
            </a:extLst>
          </p:cNvPr>
          <p:cNvSpPr/>
          <p:nvPr/>
        </p:nvSpPr>
        <p:spPr>
          <a:xfrm rot="5400000">
            <a:off x="5771497" y="3859929"/>
            <a:ext cx="779757" cy="338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吹き出し: 折線 28">
            <a:extLst>
              <a:ext uri="{FF2B5EF4-FFF2-40B4-BE49-F238E27FC236}">
                <a16:creationId xmlns:a16="http://schemas.microsoft.com/office/drawing/2014/main" id="{EDA72C61-3438-491D-BF0F-2883CBE3055B}"/>
              </a:ext>
            </a:extLst>
          </p:cNvPr>
          <p:cNvSpPr/>
          <p:nvPr/>
        </p:nvSpPr>
        <p:spPr>
          <a:xfrm>
            <a:off x="7923841" y="2405730"/>
            <a:ext cx="2713351" cy="402141"/>
          </a:xfrm>
          <a:prstGeom prst="borderCallout2">
            <a:avLst>
              <a:gd name="adj1" fmla="val 52338"/>
              <a:gd name="adj2" fmla="val 500"/>
              <a:gd name="adj3" fmla="val 53728"/>
              <a:gd name="adj4" fmla="val -5402"/>
              <a:gd name="adj5" fmla="val 153961"/>
              <a:gd name="adj6" fmla="val -20699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「受付者へ」ボタンをクリック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吹き出し: 折線 14">
            <a:extLst>
              <a:ext uri="{FF2B5EF4-FFF2-40B4-BE49-F238E27FC236}">
                <a16:creationId xmlns:a16="http://schemas.microsoft.com/office/drawing/2014/main" id="{56F6F176-0BFD-4C48-8EAF-9BFF3F9CC18A}"/>
              </a:ext>
            </a:extLst>
          </p:cNvPr>
          <p:cNvSpPr/>
          <p:nvPr/>
        </p:nvSpPr>
        <p:spPr>
          <a:xfrm>
            <a:off x="3790413" y="3775120"/>
            <a:ext cx="1872208" cy="579226"/>
          </a:xfrm>
          <a:prstGeom prst="borderCallout2">
            <a:avLst>
              <a:gd name="adj1" fmla="val 18750"/>
              <a:gd name="adj2" fmla="val -539"/>
              <a:gd name="adj3" fmla="val 18750"/>
              <a:gd name="adj4" fmla="val -16667"/>
              <a:gd name="adj5" fmla="val -65519"/>
              <a:gd name="adj6" fmla="val -45628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種類①：その他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学生証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08ECE02-19A6-4A7D-A4B8-A3E749D237C1}"/>
              </a:ext>
            </a:extLst>
          </p:cNvPr>
          <p:cNvSpPr/>
          <p:nvPr/>
        </p:nvSpPr>
        <p:spPr>
          <a:xfrm>
            <a:off x="7792110" y="2246052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2" name="吹き出し: 折線 31">
            <a:extLst>
              <a:ext uri="{FF2B5EF4-FFF2-40B4-BE49-F238E27FC236}">
                <a16:creationId xmlns:a16="http://schemas.microsoft.com/office/drawing/2014/main" id="{B78E2941-79E7-49AF-A329-0B38F99F9BFA}"/>
              </a:ext>
            </a:extLst>
          </p:cNvPr>
          <p:cNvSpPr/>
          <p:nvPr/>
        </p:nvSpPr>
        <p:spPr>
          <a:xfrm>
            <a:off x="9690283" y="3715536"/>
            <a:ext cx="2233975" cy="402141"/>
          </a:xfrm>
          <a:prstGeom prst="borderCallout2">
            <a:avLst>
              <a:gd name="adj1" fmla="val 54757"/>
              <a:gd name="adj2" fmla="val 65"/>
              <a:gd name="adj3" fmla="val 53728"/>
              <a:gd name="adj4" fmla="val -5402"/>
              <a:gd name="adj5" fmla="val -15367"/>
              <a:gd name="adj6" fmla="val -13296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「郵送」ボタンをクリック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89A5F4D-6C76-438E-AFC0-8D1DFD407573}"/>
              </a:ext>
            </a:extLst>
          </p:cNvPr>
          <p:cNvSpPr/>
          <p:nvPr/>
        </p:nvSpPr>
        <p:spPr>
          <a:xfrm>
            <a:off x="9558552" y="3553536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281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618515-961E-4FC6-A3BE-F07BCD02AE97}"/>
              </a:ext>
            </a:extLst>
          </p:cNvPr>
          <p:cNvSpPr txBox="1"/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注意すべき書類一覧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764616FD-4FCF-4FBC-8777-95B0A2EF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40817"/>
              </p:ext>
            </p:extLst>
          </p:nvPr>
        </p:nvGraphicFramePr>
        <p:xfrm>
          <a:off x="1174773" y="1457138"/>
          <a:ext cx="9842455" cy="45539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21102">
                  <a:extLst>
                    <a:ext uri="{9D8B030D-6E8A-4147-A177-3AD203B41FA5}">
                      <a16:colId xmlns:a16="http://schemas.microsoft.com/office/drawing/2014/main" val="60940747"/>
                    </a:ext>
                  </a:extLst>
                </a:gridCol>
                <a:gridCol w="5121353">
                  <a:extLst>
                    <a:ext uri="{9D8B030D-6E8A-4147-A177-3AD203B41FA5}">
                      <a16:colId xmlns:a16="http://schemas.microsoft.com/office/drawing/2014/main" val="4153218013"/>
                    </a:ext>
                  </a:extLst>
                </a:gridCol>
              </a:tblGrid>
              <a:tr h="7356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確認書類名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マスキング箇所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884109"/>
                  </a:ext>
                </a:extLst>
              </a:tr>
              <a:tr h="7545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個人番号カード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表面のみを</a:t>
                      </a:r>
                      <a:r>
                        <a:rPr kumimoji="1" lang="ja-JP" altLang="en-US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スキャン</a:t>
                      </a:r>
                      <a:endParaRPr kumimoji="1" lang="en-US" altLang="ja-JP" sz="1800" b="1" kern="1200" dirty="0">
                        <a:solidFill>
                          <a:srgbClr val="FF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ja-JP" sz="1800" b="1" u="none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決して裏面の写しを取得しない</a:t>
                      </a:r>
                      <a:endParaRPr kumimoji="1" lang="ja-JP" altLang="en-US" b="1" u="none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301028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国民年金手帳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基礎年金番号</a:t>
                      </a:r>
                      <a:r>
                        <a:rPr kumimoji="1" lang="en-US" altLang="ja-JP" b="1" baseline="30000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endParaRPr kumimoji="1" lang="ja-JP" altLang="en-US" b="1" baseline="30000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826957"/>
                  </a:ext>
                </a:extLst>
              </a:tr>
              <a:tr h="7545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保険証等</a:t>
                      </a:r>
                      <a:endParaRPr kumimoji="1" lang="en-US" altLang="ja-JP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保険者番号及び被保険者等記号・番号・枝番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ＱＲコードのある保険証等はＱＲコード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495885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生活保護受給者の医療券・調剤券・介護券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公費負担者番号及び受給者番号</a:t>
                      </a:r>
                      <a:endParaRPr kumimoji="1" lang="ja-JP" altLang="en-US" b="1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15400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自衛官診療証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発行者符号及び自衛官診療証記号・番号</a:t>
                      </a:r>
                      <a:endParaRPr kumimoji="1" lang="ja-JP" altLang="en-US" b="1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187798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CFA07-1BDC-42D9-8C2B-D9148F19895E}"/>
              </a:ext>
            </a:extLst>
          </p:cNvPr>
          <p:cNvSpPr txBox="1"/>
          <p:nvPr/>
        </p:nvSpPr>
        <p:spPr>
          <a:xfrm>
            <a:off x="264000" y="6309320"/>
            <a:ext cx="11664000" cy="342203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国民年金欄の記号・番号のほか、厚生年金保険・船員保険の欄の記号・番号も「基礎年金番号」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となるためマスキングすること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D2BE7A-0840-41A6-B1FB-9F6C8BA79DC6}"/>
              </a:ext>
            </a:extLst>
          </p:cNvPr>
          <p:cNvSpPr txBox="1"/>
          <p:nvPr/>
        </p:nvSpPr>
        <p:spPr>
          <a:xfrm>
            <a:off x="2118852" y="908720"/>
            <a:ext cx="7954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機微（センシティブ）情報については、別途事務基準をご確認ください。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9208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30631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スマイルと確認記録票の違い（お取引目的・お取引の種類）</a:t>
            </a:r>
            <a:endParaRPr lang="ja-JP" altLang="ja-JP" sz="2800" dirty="0">
              <a:solidFill>
                <a:sysClr val="window" lastClr="FFFFFF"/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3903943"/>
            <a:ext cx="5481642" cy="415462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sz="1800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0050CED-A5E8-4403-AB96-25AD3C5ED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01" y="4283476"/>
            <a:ext cx="1620001" cy="23121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AEF2711-A679-4024-B16E-41758D70A4AB}"/>
              </a:ext>
            </a:extLst>
          </p:cNvPr>
          <p:cNvSpPr/>
          <p:nvPr/>
        </p:nvSpPr>
        <p:spPr>
          <a:xfrm>
            <a:off x="6437205" y="5098456"/>
            <a:ext cx="1584697" cy="522288"/>
          </a:xfrm>
          <a:prstGeom prst="roundRect">
            <a:avLst>
              <a:gd name="adj" fmla="val 3854"/>
            </a:avLst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C7EE8CC-ADF1-495C-897A-8489C6BF5404}"/>
              </a:ext>
            </a:extLst>
          </p:cNvPr>
          <p:cNvCxnSpPr>
            <a:cxnSpLocks/>
          </p:cNvCxnSpPr>
          <p:nvPr/>
        </p:nvCxnSpPr>
        <p:spPr>
          <a:xfrm flipH="1" flipV="1">
            <a:off x="5561466" y="4901104"/>
            <a:ext cx="859440" cy="163047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2B7BA763-B6E1-42FB-B442-9D3149C460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7" t="34798" r="1688" b="43967"/>
          <a:stretch/>
        </p:blipFill>
        <p:spPr>
          <a:xfrm>
            <a:off x="370212" y="4896551"/>
            <a:ext cx="5238764" cy="1677835"/>
          </a:xfrm>
          <a:prstGeom prst="rect">
            <a:avLst/>
          </a:prstGeom>
        </p:spPr>
      </p:pic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787C71C-DAA0-4FDF-9263-B3842DC4689C}"/>
              </a:ext>
            </a:extLst>
          </p:cNvPr>
          <p:cNvSpPr/>
          <p:nvPr/>
        </p:nvSpPr>
        <p:spPr>
          <a:xfrm>
            <a:off x="350850" y="4849955"/>
            <a:ext cx="1944000" cy="172800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69E7853-C4E4-4662-BF93-7CF946ADEF91}"/>
              </a:ext>
            </a:extLst>
          </p:cNvPr>
          <p:cNvSpPr/>
          <p:nvPr/>
        </p:nvSpPr>
        <p:spPr>
          <a:xfrm>
            <a:off x="2349972" y="4849955"/>
            <a:ext cx="3240000" cy="172800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26F7B8C-1D42-4853-9795-3836BE234EB3}"/>
              </a:ext>
            </a:extLst>
          </p:cNvPr>
          <p:cNvSpPr/>
          <p:nvPr/>
        </p:nvSpPr>
        <p:spPr>
          <a:xfrm>
            <a:off x="6382897" y="3908496"/>
            <a:ext cx="1620001" cy="415462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確認記録票全体</a:t>
            </a:r>
            <a:endParaRPr lang="en-US" altLang="ja-JP" sz="1600" b="1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A047671-20EE-4A26-835D-0A13F3364F43}"/>
              </a:ext>
            </a:extLst>
          </p:cNvPr>
          <p:cNvCxnSpPr>
            <a:cxnSpLocks/>
          </p:cNvCxnSpPr>
          <p:nvPr/>
        </p:nvCxnSpPr>
        <p:spPr>
          <a:xfrm flipH="1">
            <a:off x="5561466" y="5648833"/>
            <a:ext cx="859441" cy="925553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>
            <a:extLst>
              <a:ext uri="{FF2B5EF4-FFF2-40B4-BE49-F238E27FC236}">
                <a16:creationId xmlns:a16="http://schemas.microsoft.com/office/drawing/2014/main" id="{DC3E591D-741E-43F7-98DA-FA0A8BD0EF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0" t="612" r="1161" b="31304"/>
          <a:stretch/>
        </p:blipFill>
        <p:spPr>
          <a:xfrm>
            <a:off x="308414" y="1124791"/>
            <a:ext cx="5301048" cy="257989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17851FC-8BFE-4F3D-9DAD-54DA9D4EA505}"/>
              </a:ext>
            </a:extLst>
          </p:cNvPr>
          <p:cNvSpPr/>
          <p:nvPr/>
        </p:nvSpPr>
        <p:spPr>
          <a:xfrm>
            <a:off x="690522" y="1526923"/>
            <a:ext cx="1380087" cy="31802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36BC98D1-AED6-4A8B-AF43-F069A090951D}"/>
              </a:ext>
            </a:extLst>
          </p:cNvPr>
          <p:cNvSpPr/>
          <p:nvPr/>
        </p:nvSpPr>
        <p:spPr>
          <a:xfrm>
            <a:off x="538479" y="1383556"/>
            <a:ext cx="324000" cy="324000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521C7E47-4297-4C5F-9D70-03869B0FC935}"/>
              </a:ext>
            </a:extLst>
          </p:cNvPr>
          <p:cNvSpPr/>
          <p:nvPr/>
        </p:nvSpPr>
        <p:spPr>
          <a:xfrm>
            <a:off x="2428604" y="1534134"/>
            <a:ext cx="1542783" cy="30411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3423A0C1-46D2-4D99-B6D3-654D837378A2}"/>
              </a:ext>
            </a:extLst>
          </p:cNvPr>
          <p:cNvSpPr/>
          <p:nvPr/>
        </p:nvSpPr>
        <p:spPr>
          <a:xfrm>
            <a:off x="2254933" y="1389570"/>
            <a:ext cx="324000" cy="324000"/>
          </a:xfrm>
          <a:prstGeom prst="ellipse">
            <a:avLst/>
          </a:prstGeom>
          <a:solidFill>
            <a:srgbClr val="20386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A136987-516D-4541-84DC-B56DE1BB3908}"/>
              </a:ext>
            </a:extLst>
          </p:cNvPr>
          <p:cNvSpPr/>
          <p:nvPr/>
        </p:nvSpPr>
        <p:spPr>
          <a:xfrm>
            <a:off x="600662" y="2024959"/>
            <a:ext cx="1496060" cy="1019693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47DF5BB-C99B-4B37-9BD3-C8EB28710FF1}"/>
              </a:ext>
            </a:extLst>
          </p:cNvPr>
          <p:cNvSpPr/>
          <p:nvPr/>
        </p:nvSpPr>
        <p:spPr>
          <a:xfrm>
            <a:off x="2157870" y="2024959"/>
            <a:ext cx="3259706" cy="1019693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F797AE0-3FCD-4AF0-90B3-88D4AF4E2A34}"/>
              </a:ext>
            </a:extLst>
          </p:cNvPr>
          <p:cNvSpPr/>
          <p:nvPr/>
        </p:nvSpPr>
        <p:spPr>
          <a:xfrm>
            <a:off x="6096000" y="1015257"/>
            <a:ext cx="5692111" cy="2647426"/>
          </a:xfrm>
          <a:prstGeom prst="roundRect">
            <a:avLst>
              <a:gd name="adj" fmla="val 1789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紙の確認記録票とスマイルは、「取引の種類」「お取引の目的」が異なる表現で記載されています。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 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」「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今回のお取引の目的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対応関係を本画像から確認してください。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紙の確認記録票では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で「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99: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その他」を選択した　場合、詳細を記入しますが、スマイルでは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の詳細を入力する必要はありません。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E7669CE-94B6-43C6-B968-FEEC58E5F074}"/>
              </a:ext>
            </a:extLst>
          </p:cNvPr>
          <p:cNvSpPr/>
          <p:nvPr/>
        </p:nvSpPr>
        <p:spPr>
          <a:xfrm>
            <a:off x="639951" y="2087273"/>
            <a:ext cx="116152" cy="765692"/>
          </a:xfrm>
          <a:prstGeom prst="roundRect">
            <a:avLst>
              <a:gd name="adj" fmla="val 5128"/>
            </a:avLst>
          </a:prstGeom>
          <a:solidFill>
            <a:srgbClr val="DCDAD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36000" rIns="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7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今回のお取引の目的</a:t>
            </a:r>
            <a:endParaRPr lang="en-US" altLang="ja-JP" sz="700" b="1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FFF2AC3-0A4B-418C-8994-7DE5576014C9}"/>
              </a:ext>
            </a:extLst>
          </p:cNvPr>
          <p:cNvSpPr/>
          <p:nvPr/>
        </p:nvSpPr>
        <p:spPr>
          <a:xfrm>
            <a:off x="487403" y="4472132"/>
            <a:ext cx="1380087" cy="31802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6E743BCB-B946-449E-B1CD-8A4B97668781}"/>
              </a:ext>
            </a:extLst>
          </p:cNvPr>
          <p:cNvSpPr/>
          <p:nvPr/>
        </p:nvSpPr>
        <p:spPr>
          <a:xfrm>
            <a:off x="335360" y="4328765"/>
            <a:ext cx="324000" cy="324000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EB89C144-30F3-442D-8450-F15E1EA48E6C}"/>
              </a:ext>
            </a:extLst>
          </p:cNvPr>
          <p:cNvSpPr/>
          <p:nvPr/>
        </p:nvSpPr>
        <p:spPr>
          <a:xfrm>
            <a:off x="2455351" y="4478210"/>
            <a:ext cx="1542783" cy="30411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9515952C-6CC6-4845-93AA-AC3C76514846}"/>
              </a:ext>
            </a:extLst>
          </p:cNvPr>
          <p:cNvSpPr/>
          <p:nvPr/>
        </p:nvSpPr>
        <p:spPr>
          <a:xfrm>
            <a:off x="2281680" y="4333646"/>
            <a:ext cx="324000" cy="324000"/>
          </a:xfrm>
          <a:prstGeom prst="ellipse">
            <a:avLst/>
          </a:prstGeom>
          <a:solidFill>
            <a:srgbClr val="20386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7EBA3E-65E7-4AC8-80C0-D740C8823898}"/>
              </a:ext>
            </a:extLst>
          </p:cNvPr>
          <p:cNvSpPr/>
          <p:nvPr/>
        </p:nvSpPr>
        <p:spPr>
          <a:xfrm>
            <a:off x="309540" y="706805"/>
            <a:ext cx="3672408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　</a:t>
            </a:r>
            <a:r>
              <a:rPr lang="ja-JP" altLang="en-US" b="1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「お取引の目的</a:t>
            </a:r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・ご職業</a:t>
            </a:r>
            <a:r>
              <a:rPr lang="ja-JP" altLang="en-US" b="1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</a:t>
            </a:r>
            <a:endParaRPr lang="en-US" altLang="ja-JP" spc="-1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5D65C7C-EE79-487D-A6CD-BAFE6BAAAE2A}"/>
              </a:ext>
            </a:extLst>
          </p:cNvPr>
          <p:cNvSpPr/>
          <p:nvPr/>
        </p:nvSpPr>
        <p:spPr>
          <a:xfrm>
            <a:off x="309540" y="3896483"/>
            <a:ext cx="5570436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　</a:t>
            </a:r>
            <a:r>
              <a:rPr lang="ja-JP" altLang="en-US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「取引の種類」・「今回のお取引の目的」</a:t>
            </a:r>
            <a:r>
              <a:rPr lang="ja-JP" altLang="en-US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欄</a:t>
            </a:r>
            <a:endParaRPr lang="en-US" altLang="ja-JP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784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30631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お取引目的・お取引の種類の入力方法</a:t>
            </a:r>
            <a:endParaRPr lang="ja-JP" altLang="ja-JP" sz="2800" dirty="0">
              <a:solidFill>
                <a:sysClr val="window" lastClr="FFFFFF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219C105-0531-4A7B-8288-0529FACCB16C}"/>
              </a:ext>
            </a:extLst>
          </p:cNvPr>
          <p:cNvSpPr/>
          <p:nvPr/>
        </p:nvSpPr>
        <p:spPr>
          <a:xfrm>
            <a:off x="189583" y="856622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　</a:t>
            </a:r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「お取引の目的」</a:t>
            </a:r>
            <a:r>
              <a:rPr lang="ja-JP" altLang="en-US" sz="18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入力画面</a:t>
            </a:r>
            <a:endParaRPr lang="en-US" altLang="ja-JP" sz="1800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DC3E591D-741E-43F7-98DA-FA0A8BD0EFF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0" t="612" r="1161" b="31304"/>
          <a:stretch/>
        </p:blipFill>
        <p:spPr>
          <a:xfrm>
            <a:off x="1314822" y="1515668"/>
            <a:ext cx="9562356" cy="46537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A136987-516D-4541-84DC-B56DE1BB3908}"/>
              </a:ext>
            </a:extLst>
          </p:cNvPr>
          <p:cNvSpPr/>
          <p:nvPr/>
        </p:nvSpPr>
        <p:spPr>
          <a:xfrm>
            <a:off x="2177319" y="3194050"/>
            <a:ext cx="2358557" cy="177888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C00000"/>
              </a:solidFill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47DF5BB-C99B-4B37-9BD3-C8EB28710FF1}"/>
              </a:ext>
            </a:extLst>
          </p:cNvPr>
          <p:cNvSpPr/>
          <p:nvPr/>
        </p:nvSpPr>
        <p:spPr>
          <a:xfrm>
            <a:off x="4594245" y="3194050"/>
            <a:ext cx="5854755" cy="177888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D6E06E-1964-4FC6-904F-D9CA4201B41A}"/>
              </a:ext>
            </a:extLst>
          </p:cNvPr>
          <p:cNvSpPr txBox="1"/>
          <p:nvPr/>
        </p:nvSpPr>
        <p:spPr>
          <a:xfrm>
            <a:off x="4702648" y="4568715"/>
            <a:ext cx="356735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ja-JP" altLang="en-US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CB2D82-2014-45C9-9ED3-990581F70FDA}"/>
              </a:ext>
            </a:extLst>
          </p:cNvPr>
          <p:cNvSpPr/>
          <p:nvPr/>
        </p:nvSpPr>
        <p:spPr>
          <a:xfrm>
            <a:off x="4595556" y="4530962"/>
            <a:ext cx="2013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本人特定事項の確認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1CB3D02-63CD-4F0E-A49E-E9F9BE53DFCE}"/>
              </a:ext>
            </a:extLst>
          </p:cNvPr>
          <p:cNvSpPr/>
          <p:nvPr/>
        </p:nvSpPr>
        <p:spPr>
          <a:xfrm>
            <a:off x="2580883" y="5039657"/>
            <a:ext cx="1348318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92417421-2674-4129-BEB5-0820D89DFC02}"/>
              </a:ext>
            </a:extLst>
          </p:cNvPr>
          <p:cNvSpPr/>
          <p:nvPr/>
        </p:nvSpPr>
        <p:spPr>
          <a:xfrm>
            <a:off x="2381485" y="4841657"/>
            <a:ext cx="396000" cy="39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22602CEA-2727-49EA-A171-7D322DA1C329}"/>
              </a:ext>
            </a:extLst>
          </p:cNvPr>
          <p:cNvSpPr/>
          <p:nvPr/>
        </p:nvSpPr>
        <p:spPr>
          <a:xfrm>
            <a:off x="4846427" y="5038443"/>
            <a:ext cx="1537605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35F1EEC6-E61A-4295-A838-500C55A0145D}"/>
              </a:ext>
            </a:extLst>
          </p:cNvPr>
          <p:cNvSpPr/>
          <p:nvPr/>
        </p:nvSpPr>
        <p:spPr>
          <a:xfrm>
            <a:off x="4647029" y="4840443"/>
            <a:ext cx="396000" cy="39600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吹き出し: 折線 26">
            <a:extLst>
              <a:ext uri="{FF2B5EF4-FFF2-40B4-BE49-F238E27FC236}">
                <a16:creationId xmlns:a16="http://schemas.microsoft.com/office/drawing/2014/main" id="{2E2D73B6-0133-4F85-8737-D1D9E4B88901}"/>
              </a:ext>
            </a:extLst>
          </p:cNvPr>
          <p:cNvSpPr/>
          <p:nvPr/>
        </p:nvSpPr>
        <p:spPr>
          <a:xfrm>
            <a:off x="5037771" y="2388690"/>
            <a:ext cx="4321811" cy="462224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298566"/>
              <a:gd name="adj6" fmla="val -20643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本日予定している取引をプルダウンより選択する。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65906A2F-0530-4170-AFE7-C7A537E87E36}"/>
              </a:ext>
            </a:extLst>
          </p:cNvPr>
          <p:cNvSpPr/>
          <p:nvPr/>
        </p:nvSpPr>
        <p:spPr>
          <a:xfrm>
            <a:off x="4895448" y="2148657"/>
            <a:ext cx="396000" cy="39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0" name="吹き出し: 折線 29">
            <a:extLst>
              <a:ext uri="{FF2B5EF4-FFF2-40B4-BE49-F238E27FC236}">
                <a16:creationId xmlns:a16="http://schemas.microsoft.com/office/drawing/2014/main" id="{81B73013-7FA1-4CC4-8EB8-B4623C8316F2}"/>
              </a:ext>
            </a:extLst>
          </p:cNvPr>
          <p:cNvSpPr/>
          <p:nvPr/>
        </p:nvSpPr>
        <p:spPr>
          <a:xfrm>
            <a:off x="7767604" y="4710552"/>
            <a:ext cx="3399224" cy="709811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2547"/>
              <a:gd name="adj6" fmla="val -25222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本日予定している取引がない場合は</a:t>
            </a: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「本人特定事項の確認」と入力する。</a:t>
            </a: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7455FC42-C3F2-4B00-B12E-97269694E78E}"/>
              </a:ext>
            </a:extLst>
          </p:cNvPr>
          <p:cNvSpPr/>
          <p:nvPr/>
        </p:nvSpPr>
        <p:spPr>
          <a:xfrm>
            <a:off x="7596821" y="4552773"/>
            <a:ext cx="396000" cy="39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２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90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67D316A-1E25-4629-B781-A73E8A1D6EB7}"/>
              </a:ext>
            </a:extLst>
          </p:cNvPr>
          <p:cNvSpPr/>
          <p:nvPr/>
        </p:nvSpPr>
        <p:spPr>
          <a:xfrm>
            <a:off x="271496" y="486175"/>
            <a:ext cx="115472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4ED5AB-6753-4DC8-BA5B-0E20E55F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" y="1061055"/>
            <a:ext cx="5884716" cy="51491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A5167B2-DABC-4413-8EEB-61D7DB167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423" y="2899320"/>
            <a:ext cx="4734977" cy="283393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1D6809E-C92B-45A6-8A7A-9623D5967638}"/>
              </a:ext>
            </a:extLst>
          </p:cNvPr>
          <p:cNvCxnSpPr>
            <a:cxnSpLocks/>
          </p:cNvCxnSpPr>
          <p:nvPr/>
        </p:nvCxnSpPr>
        <p:spPr>
          <a:xfrm flipV="1">
            <a:off x="5565685" y="2878027"/>
            <a:ext cx="1310738" cy="17708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C030BF1-16FD-44CD-8E48-AC6BE12AB1DB}"/>
              </a:ext>
            </a:extLst>
          </p:cNvPr>
          <p:cNvCxnSpPr>
            <a:cxnSpLocks/>
          </p:cNvCxnSpPr>
          <p:nvPr/>
        </p:nvCxnSpPr>
        <p:spPr>
          <a:xfrm>
            <a:off x="5565685" y="5546838"/>
            <a:ext cx="1310738" cy="17257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ACC7AE-5B36-4FA5-9A9E-156402E69A7F}"/>
              </a:ext>
            </a:extLst>
          </p:cNvPr>
          <p:cNvSpPr txBox="1"/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在留期限の更新手続きについて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69B11B7-554B-4C1C-843D-B20E76805C87}"/>
              </a:ext>
            </a:extLst>
          </p:cNvPr>
          <p:cNvSpPr/>
          <p:nvPr/>
        </p:nvSpPr>
        <p:spPr>
          <a:xfrm>
            <a:off x="7639064" y="3927640"/>
            <a:ext cx="3461678" cy="79779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折線 18">
            <a:extLst>
              <a:ext uri="{FF2B5EF4-FFF2-40B4-BE49-F238E27FC236}">
                <a16:creationId xmlns:a16="http://schemas.microsoft.com/office/drawing/2014/main" id="{C52DED98-1259-4D34-9B94-BBE8AE9D3CD3}"/>
              </a:ext>
            </a:extLst>
          </p:cNvPr>
          <p:cNvSpPr/>
          <p:nvPr/>
        </p:nvSpPr>
        <p:spPr>
          <a:xfrm>
            <a:off x="5488074" y="4751206"/>
            <a:ext cx="1767500" cy="462224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127584"/>
              <a:gd name="adj6" fmla="val -15161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入力ボタンを押す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3CEF63F-77BA-4AB1-8DCE-68CBC4984B47}"/>
              </a:ext>
            </a:extLst>
          </p:cNvPr>
          <p:cNvSpPr/>
          <p:nvPr/>
        </p:nvSpPr>
        <p:spPr>
          <a:xfrm>
            <a:off x="5388782" y="4550084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24" name="吹き出し: 折線 23">
            <a:extLst>
              <a:ext uri="{FF2B5EF4-FFF2-40B4-BE49-F238E27FC236}">
                <a16:creationId xmlns:a16="http://schemas.microsoft.com/office/drawing/2014/main" id="{1B862010-227F-4391-B52E-D2F8940B5E7B}"/>
              </a:ext>
            </a:extLst>
          </p:cNvPr>
          <p:cNvSpPr/>
          <p:nvPr/>
        </p:nvSpPr>
        <p:spPr>
          <a:xfrm>
            <a:off x="8576128" y="1094473"/>
            <a:ext cx="3035272" cy="1713040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162535"/>
              <a:gd name="adj6" fmla="val -24395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・国籍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・国籍確認資料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・在留資格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・在留期限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・アルファベット氏名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を入力して帳票作成を押す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E92E5F2-3DBD-4308-B2FE-2CA72D29A7C0}"/>
              </a:ext>
            </a:extLst>
          </p:cNvPr>
          <p:cNvSpPr/>
          <p:nvPr/>
        </p:nvSpPr>
        <p:spPr>
          <a:xfrm>
            <a:off x="8466907" y="972226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782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BB01C6-13DD-43F5-8314-417D63E4C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99" y="825632"/>
            <a:ext cx="3994642" cy="562613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24CCF9-7661-447B-B564-09874EEDD157}"/>
              </a:ext>
            </a:extLst>
          </p:cNvPr>
          <p:cNvSpPr/>
          <p:nvPr/>
        </p:nvSpPr>
        <p:spPr>
          <a:xfrm>
            <a:off x="884354" y="4226768"/>
            <a:ext cx="3528230" cy="699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A07715-92F8-47E0-9A4B-40BA78DA2EAE}"/>
              </a:ext>
            </a:extLst>
          </p:cNvPr>
          <p:cNvSpPr/>
          <p:nvPr/>
        </p:nvSpPr>
        <p:spPr>
          <a:xfrm>
            <a:off x="264000" y="19162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800" b="1" dirty="0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郵送確認が必要な場合の確認記録票の記入箇所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91EE8E-F60D-4B15-A3D4-9020F66198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3" t="60902" r="4326" b="27043"/>
          <a:stretch/>
        </p:blipFill>
        <p:spPr>
          <a:xfrm>
            <a:off x="4876802" y="3694579"/>
            <a:ext cx="7019996" cy="135157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4F5C4C-832A-4361-A74B-291DA8033654}"/>
              </a:ext>
            </a:extLst>
          </p:cNvPr>
          <p:cNvSpPr/>
          <p:nvPr/>
        </p:nvSpPr>
        <p:spPr>
          <a:xfrm>
            <a:off x="8364890" y="4028276"/>
            <a:ext cx="3531908" cy="958082"/>
          </a:xfrm>
          <a:prstGeom prst="rect">
            <a:avLst/>
          </a:prstGeom>
          <a:solidFill>
            <a:srgbClr val="A5A5A5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246FD6-A26C-4F5F-94ED-D2F7B370AA62}"/>
              </a:ext>
            </a:extLst>
          </p:cNvPr>
          <p:cNvSpPr txBox="1"/>
          <p:nvPr/>
        </p:nvSpPr>
        <p:spPr>
          <a:xfrm>
            <a:off x="9560796" y="4353372"/>
            <a:ext cx="120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記入不要</a:t>
            </a:r>
            <a:endParaRPr kumimoji="1" lang="en-US" altLang="ja-JP" b="1" dirty="0">
              <a:solidFill>
                <a:schemeClr val="bg2">
                  <a:lumMod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101A742-AAE2-4092-8F9D-E21261856386}"/>
              </a:ext>
            </a:extLst>
          </p:cNvPr>
          <p:cNvCxnSpPr>
            <a:cxnSpLocks/>
          </p:cNvCxnSpPr>
          <p:nvPr/>
        </p:nvCxnSpPr>
        <p:spPr>
          <a:xfrm flipV="1">
            <a:off x="4412584" y="3694579"/>
            <a:ext cx="464218" cy="5321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454B45-2102-4C88-9CCE-3533CF3F22B3}"/>
              </a:ext>
            </a:extLst>
          </p:cNvPr>
          <p:cNvCxnSpPr>
            <a:cxnSpLocks/>
          </p:cNvCxnSpPr>
          <p:nvPr/>
        </p:nvCxnSpPr>
        <p:spPr>
          <a:xfrm>
            <a:off x="4412584" y="4926563"/>
            <a:ext cx="464218" cy="1195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74D26D3-795C-4534-832C-FD05B234A95E}"/>
              </a:ext>
            </a:extLst>
          </p:cNvPr>
          <p:cNvSpPr/>
          <p:nvPr/>
        </p:nvSpPr>
        <p:spPr>
          <a:xfrm>
            <a:off x="5434613" y="4028275"/>
            <a:ext cx="2930277" cy="958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044D6F7-0F94-4215-BC9A-A652E4D0B1FD}"/>
              </a:ext>
            </a:extLst>
          </p:cNvPr>
          <p:cNvSpPr txBox="1"/>
          <p:nvPr/>
        </p:nvSpPr>
        <p:spPr>
          <a:xfrm>
            <a:off x="4943745" y="3272063"/>
            <a:ext cx="339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ここを必ず記入してください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631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518</Words>
  <Application>Microsoft Office PowerPoint</Application>
  <PresentationFormat>ワイド画面</PresentationFormat>
  <Paragraphs>85</Paragraphs>
  <Slides>7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Meiryo UI</vt:lpstr>
      <vt:lpstr>游ゴシック</vt:lpstr>
      <vt:lpstr>游ゴシック Light</vt:lpstr>
      <vt:lpstr>Arial</vt:lpstr>
      <vt:lpstr>Office テーマ</vt:lpstr>
      <vt:lpstr>補完書類がある場合の入力方法</vt:lpstr>
      <vt:lpstr>公立学校の顔写真付き学生証を使用する場合の事務</vt:lpstr>
      <vt:lpstr>PowerPoint プレゼンテーション</vt:lpstr>
      <vt:lpstr>スマイルと確認記録票の違い（お取引目的・お取引の種類）</vt:lpstr>
      <vt:lpstr>お取引目的・お取引の種類の入力方法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宇野　央佳</dc:creator>
  <cp:lastModifiedBy>作田　隼樹</cp:lastModifiedBy>
  <cp:revision>115</cp:revision>
  <dcterms:created xsi:type="dcterms:W3CDTF">2024-08-01T00:45:44Z</dcterms:created>
  <dcterms:modified xsi:type="dcterms:W3CDTF">2025-07-22T02:35:12Z</dcterms:modified>
</cp:coreProperties>
</file>