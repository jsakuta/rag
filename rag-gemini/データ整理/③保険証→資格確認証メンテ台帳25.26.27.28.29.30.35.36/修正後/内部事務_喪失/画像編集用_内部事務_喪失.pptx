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5" r:id="rId3"/>
    <p:sldId id="276" r:id="rId4"/>
    <p:sldId id="273" r:id="rId5"/>
    <p:sldId id="274"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42" autoAdjust="0"/>
  </p:normalViewPr>
  <p:slideViewPr>
    <p:cSldViewPr snapToGrid="0">
      <p:cViewPr varScale="1">
        <p:scale>
          <a:sx n="83" d="100"/>
          <a:sy n="83" d="100"/>
        </p:scale>
        <p:origin x="5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239029-7A43-4F83-950C-0DD354426D9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803C7E-32ED-4F69-8967-B0AF477F2D58}"/>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D704F65-68BB-4747-A3D9-490B1CDB5EA9}"/>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75DF396D-E304-487E-B628-CD6DB25611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A2794B-C6C3-4F83-9B4F-C0500808633C}"/>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645056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C48CE0-DA69-41C8-ACB2-11DBEAEBFA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6C9C82-BEAC-4628-A281-3F527183FB0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2D4BD99-A796-4613-A86D-5C1D09624FD8}"/>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0F63A242-BF45-42BF-AAD9-6EBEA91560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9E31CD-4AF1-4570-AE28-B3F8347A63F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170071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EA0A1D-AF06-4BE4-B491-6B84A9CEBD23}"/>
              </a:ext>
            </a:extLst>
          </p:cNvPr>
          <p:cNvSpPr>
            <a:spLocks noGrp="1"/>
          </p:cNvSpPr>
          <p:nvPr>
            <p:ph type="title"/>
          </p:nvPr>
        </p:nvSpPr>
        <p:spPr>
          <a:xfrm>
            <a:off x="831852"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97EE5F-948E-4013-8D4E-8585FA6BB46E}"/>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186DAE8-0760-4834-8C79-274C9C33B6B8}"/>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66A580C7-2F70-4AE1-92A9-5C787ABD61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7EC099C-5D94-4F0E-93B0-01FC6F7272E0}"/>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672379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C30DEE-6AD4-42F2-8E1E-F93994D8904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A4E3911-AB99-433D-BBAF-785E89F29276}"/>
              </a:ext>
            </a:extLst>
          </p:cNvPr>
          <p:cNvSpPr>
            <a:spLocks noGrp="1"/>
          </p:cNvSpPr>
          <p:nvPr>
            <p:ph sz="half" idx="1"/>
          </p:nvPr>
        </p:nvSpPr>
        <p:spPr>
          <a:xfrm>
            <a:off x="838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EE7DC1A-0200-47CE-ADA7-235E458B2CB0}"/>
              </a:ext>
            </a:extLst>
          </p:cNvPr>
          <p:cNvSpPr>
            <a:spLocks noGrp="1"/>
          </p:cNvSpPr>
          <p:nvPr>
            <p:ph sz="half" idx="2"/>
          </p:nvPr>
        </p:nvSpPr>
        <p:spPr>
          <a:xfrm>
            <a:off x="6172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116DBE9-5C5A-4A25-9156-4972A9E29ECD}"/>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6" name="フッター プレースホルダー 5">
            <a:extLst>
              <a:ext uri="{FF2B5EF4-FFF2-40B4-BE49-F238E27FC236}">
                <a16:creationId xmlns:a16="http://schemas.microsoft.com/office/drawing/2014/main" id="{278E6C0A-A390-45B4-B145-1383ED26AF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EC715F-AF1B-4CAF-9E14-8C6A4AF38611}"/>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14792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045927-CB23-471D-B0FD-D7C38146DE74}"/>
              </a:ext>
            </a:extLst>
          </p:cNvPr>
          <p:cNvSpPr>
            <a:spLocks noGrp="1"/>
          </p:cNvSpPr>
          <p:nvPr>
            <p:ph type="title"/>
          </p:nvPr>
        </p:nvSpPr>
        <p:spPr>
          <a:xfrm>
            <a:off x="839789"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73F77E-3440-4647-A507-88E0C410AA59}"/>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F48B35C-818A-4742-9737-819A59A7DDC0}"/>
              </a:ext>
            </a:extLst>
          </p:cNvPr>
          <p:cNvSpPr>
            <a:spLocks noGrp="1"/>
          </p:cNvSpPr>
          <p:nvPr>
            <p:ph sz="half" idx="2"/>
          </p:nvPr>
        </p:nvSpPr>
        <p:spPr>
          <a:xfrm>
            <a:off x="839789" y="2505076"/>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18EDBEA-C329-4EA2-8410-DF11DAAF1A19}"/>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D761705-E763-4D52-A9A2-11CDB51D6C94}"/>
              </a:ext>
            </a:extLst>
          </p:cNvPr>
          <p:cNvSpPr>
            <a:spLocks noGrp="1"/>
          </p:cNvSpPr>
          <p:nvPr>
            <p:ph sz="quarter" idx="4"/>
          </p:nvPr>
        </p:nvSpPr>
        <p:spPr>
          <a:xfrm>
            <a:off x="6172202" y="2505076"/>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FD4AAFB-8E92-4E6C-B800-2C89D98AB6F5}"/>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8" name="フッター プレースホルダー 7">
            <a:extLst>
              <a:ext uri="{FF2B5EF4-FFF2-40B4-BE49-F238E27FC236}">
                <a16:creationId xmlns:a16="http://schemas.microsoft.com/office/drawing/2014/main" id="{327D7F92-2ED1-4A29-896D-4FA6F0DDEB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CFF37F4-27CA-446A-BABA-2DBAFE736CB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21039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B6B31-8309-4343-B2DE-483F5254EF8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DD757E8-14D3-40C6-B7DB-0E06EDE1F0C8}"/>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4" name="フッター プレースホルダー 3">
            <a:extLst>
              <a:ext uri="{FF2B5EF4-FFF2-40B4-BE49-F238E27FC236}">
                <a16:creationId xmlns:a16="http://schemas.microsoft.com/office/drawing/2014/main" id="{60CAB477-485E-4C5A-9E69-91516891D60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612823-9D92-4CF5-867A-70F34D3F9C4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691979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A48064-74A5-440C-BA09-01F6CD0FBFCA}"/>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3" name="フッター プレースホルダー 2">
            <a:extLst>
              <a:ext uri="{FF2B5EF4-FFF2-40B4-BE49-F238E27FC236}">
                <a16:creationId xmlns:a16="http://schemas.microsoft.com/office/drawing/2014/main" id="{CBE9056D-C319-4B16-BB27-56BCD6C4677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3285A2-0E25-427C-A2D9-4FC908D3FF2A}"/>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97577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D84EDF-14B3-4A1E-A6EE-D96F4933EF63}"/>
              </a:ext>
            </a:extLst>
          </p:cNvPr>
          <p:cNvSpPr>
            <a:spLocks noGrp="1"/>
          </p:cNvSpPr>
          <p:nvPr>
            <p:ph type="title"/>
          </p:nvPr>
        </p:nvSpPr>
        <p:spPr>
          <a:xfrm>
            <a:off x="839790" y="457200"/>
            <a:ext cx="3932236"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05791A-4284-424D-9C21-6E1F178A4FA2}"/>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0FF7D8F-E05E-4F4E-B79E-B17F1DA204B3}"/>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E6E109B-7E23-44C1-84E4-C5F55923240D}"/>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6" name="フッター プレースホルダー 5">
            <a:extLst>
              <a:ext uri="{FF2B5EF4-FFF2-40B4-BE49-F238E27FC236}">
                <a16:creationId xmlns:a16="http://schemas.microsoft.com/office/drawing/2014/main" id="{092EFF43-1D7D-4F38-8CD6-FF384748AD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84DEBE-188E-4292-940B-491500E44372}"/>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36073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99293C-DD54-46F2-BC43-06909A125FF1}"/>
              </a:ext>
            </a:extLst>
          </p:cNvPr>
          <p:cNvSpPr>
            <a:spLocks noGrp="1"/>
          </p:cNvSpPr>
          <p:nvPr>
            <p:ph type="title"/>
          </p:nvPr>
        </p:nvSpPr>
        <p:spPr>
          <a:xfrm>
            <a:off x="839790" y="457200"/>
            <a:ext cx="3932236"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1204151-9BB3-4A18-BCD4-C614CA868C9A}"/>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85FB7C0-27A5-4919-91DE-991943A8932A}"/>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E0C585F-C7F2-466F-BBF3-6EEE23312297}"/>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6" name="フッター プレースホルダー 5">
            <a:extLst>
              <a:ext uri="{FF2B5EF4-FFF2-40B4-BE49-F238E27FC236}">
                <a16:creationId xmlns:a16="http://schemas.microsoft.com/office/drawing/2014/main" id="{99E9AFA4-4961-492D-BA71-BC1E1649D09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5D6269-7C4F-494A-B14F-AF82567D5370}"/>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257952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36871D-5988-4DBF-8AB0-016F775FD24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27BAFB-50D6-42AA-BCA1-13050551FB7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853C74-DD0B-4806-B760-4A4E1477448F}"/>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02347E30-9094-4FF6-956D-7A85199669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A5367FB-7CFC-41C6-91B2-2774AED523EF}"/>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300508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FCF77E4-C232-4355-9DA6-E1291CBC4760}"/>
              </a:ext>
            </a:extLst>
          </p:cNvPr>
          <p:cNvSpPr>
            <a:spLocks noGrp="1"/>
          </p:cNvSpPr>
          <p:nvPr>
            <p:ph type="title" orient="vert"/>
          </p:nvPr>
        </p:nvSpPr>
        <p:spPr>
          <a:xfrm>
            <a:off x="8724899"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573EEFC-FDC9-4520-AEAE-C662920C75CC}"/>
              </a:ext>
            </a:extLst>
          </p:cNvPr>
          <p:cNvSpPr>
            <a:spLocks noGrp="1"/>
          </p:cNvSpPr>
          <p:nvPr>
            <p:ph type="body" orient="vert" idx="1"/>
          </p:nvPr>
        </p:nvSpPr>
        <p:spPr>
          <a:xfrm>
            <a:off x="838199"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617E1A-3C36-4729-93F8-EC3DC0436413}"/>
              </a:ext>
            </a:extLst>
          </p:cNvPr>
          <p:cNvSpPr>
            <a:spLocks noGrp="1"/>
          </p:cNvSpPr>
          <p:nvPr>
            <p:ph type="dt" sz="half" idx="10"/>
          </p:nvPr>
        </p:nvSpPr>
        <p:spPr/>
        <p:txBody>
          <a:body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0E0A324B-F0D1-4828-ACE0-66211CEFA0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9CDC9E-080E-493F-87AD-A77085C20F49}"/>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374936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89D8EA1-7A99-4DF6-BD5D-EBCE5F90B67B}"/>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930AFB1-6BDD-4AFB-87C6-2B0C0FEBC2E1}"/>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F66C9B-13A0-4F5E-8386-65AE8043CF9B}"/>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59575-8EE3-4015-9567-4E258D1C1D67}" type="datetimeFigureOut">
              <a:rPr kumimoji="1" lang="ja-JP" altLang="en-US" smtClean="0"/>
              <a:t>2025/11/17</a:t>
            </a:fld>
            <a:endParaRPr kumimoji="1" lang="ja-JP" altLang="en-US"/>
          </a:p>
        </p:txBody>
      </p:sp>
      <p:sp>
        <p:nvSpPr>
          <p:cNvPr id="5" name="フッター プレースホルダー 4">
            <a:extLst>
              <a:ext uri="{FF2B5EF4-FFF2-40B4-BE49-F238E27FC236}">
                <a16:creationId xmlns:a16="http://schemas.microsoft.com/office/drawing/2014/main" id="{FBB558AA-6BBF-4DFF-96BE-82072924A479}"/>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3660F85-74CC-42A8-867E-96202B60A407}"/>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761350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1"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kumimoji="1"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9pPr>
    </p:bodyStyle>
    <p:otherStyle>
      <a:defPPr>
        <a:defRPr lang="ja-JP"/>
      </a:defPPr>
      <a:lvl1pPr marL="0" algn="l" defTabSz="914411" rtl="0" eaLnBrk="1" latinLnBrk="0" hangingPunct="1">
        <a:defRPr kumimoji="1" sz="1801" kern="1200">
          <a:solidFill>
            <a:schemeClr val="tx1"/>
          </a:solidFill>
          <a:latin typeface="+mn-lt"/>
          <a:ea typeface="+mn-ea"/>
          <a:cs typeface="+mn-cs"/>
        </a:defRPr>
      </a:lvl1pPr>
      <a:lvl2pPr marL="457206" algn="l" defTabSz="914411" rtl="0" eaLnBrk="1" latinLnBrk="0" hangingPunct="1">
        <a:defRPr kumimoji="1" sz="1801" kern="1200">
          <a:solidFill>
            <a:schemeClr val="tx1"/>
          </a:solidFill>
          <a:latin typeface="+mn-lt"/>
          <a:ea typeface="+mn-ea"/>
          <a:cs typeface="+mn-cs"/>
        </a:defRPr>
      </a:lvl2pPr>
      <a:lvl3pPr marL="914411" algn="l" defTabSz="914411" rtl="0" eaLnBrk="1" latinLnBrk="0" hangingPunct="1">
        <a:defRPr kumimoji="1" sz="1801" kern="1200">
          <a:solidFill>
            <a:schemeClr val="tx1"/>
          </a:solidFill>
          <a:latin typeface="+mn-lt"/>
          <a:ea typeface="+mn-ea"/>
          <a:cs typeface="+mn-cs"/>
        </a:defRPr>
      </a:lvl3pPr>
      <a:lvl4pPr marL="1371617" algn="l" defTabSz="914411" rtl="0" eaLnBrk="1" latinLnBrk="0" hangingPunct="1">
        <a:defRPr kumimoji="1" sz="1801" kern="1200">
          <a:solidFill>
            <a:schemeClr val="tx1"/>
          </a:solidFill>
          <a:latin typeface="+mn-lt"/>
          <a:ea typeface="+mn-ea"/>
          <a:cs typeface="+mn-cs"/>
        </a:defRPr>
      </a:lvl4pPr>
      <a:lvl5pPr marL="1828823" algn="l" defTabSz="914411" rtl="0" eaLnBrk="1" latinLnBrk="0" hangingPunct="1">
        <a:defRPr kumimoji="1" sz="1801" kern="1200">
          <a:solidFill>
            <a:schemeClr val="tx1"/>
          </a:solidFill>
          <a:latin typeface="+mn-lt"/>
          <a:ea typeface="+mn-ea"/>
          <a:cs typeface="+mn-cs"/>
        </a:defRPr>
      </a:lvl5pPr>
      <a:lvl6pPr marL="2286029" algn="l" defTabSz="914411" rtl="0" eaLnBrk="1" latinLnBrk="0" hangingPunct="1">
        <a:defRPr kumimoji="1" sz="1801" kern="1200">
          <a:solidFill>
            <a:schemeClr val="tx1"/>
          </a:solidFill>
          <a:latin typeface="+mn-lt"/>
          <a:ea typeface="+mn-ea"/>
          <a:cs typeface="+mn-cs"/>
        </a:defRPr>
      </a:lvl6pPr>
      <a:lvl7pPr marL="2743234" algn="l" defTabSz="914411" rtl="0" eaLnBrk="1" latinLnBrk="0" hangingPunct="1">
        <a:defRPr kumimoji="1" sz="1801" kern="1200">
          <a:solidFill>
            <a:schemeClr val="tx1"/>
          </a:solidFill>
          <a:latin typeface="+mn-lt"/>
          <a:ea typeface="+mn-ea"/>
          <a:cs typeface="+mn-cs"/>
        </a:defRPr>
      </a:lvl7pPr>
      <a:lvl8pPr marL="3200440" algn="l" defTabSz="914411" rtl="0" eaLnBrk="1" latinLnBrk="0" hangingPunct="1">
        <a:defRPr kumimoji="1" sz="1801" kern="1200">
          <a:solidFill>
            <a:schemeClr val="tx1"/>
          </a:solidFill>
          <a:latin typeface="+mn-lt"/>
          <a:ea typeface="+mn-ea"/>
          <a:cs typeface="+mn-cs"/>
        </a:defRPr>
      </a:lvl8pPr>
      <a:lvl9pPr marL="3657646" algn="l" defTabSz="914411" rtl="0" eaLnBrk="1" latinLnBrk="0" hangingPunct="1">
        <a:defRPr kumimoji="1"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4208E0-B3AC-4B2E-8812-83B99C003516}"/>
              </a:ext>
            </a:extLst>
          </p:cNvPr>
          <p:cNvSpPr>
            <a:spLocks noGrp="1"/>
          </p:cNvSpPr>
          <p:nvPr>
            <p:ph type="title"/>
          </p:nvPr>
        </p:nvSpPr>
        <p:spPr>
          <a:xfrm>
            <a:off x="312422" y="365125"/>
            <a:ext cx="11567160" cy="1325563"/>
          </a:xfrm>
        </p:spPr>
        <p:txBody>
          <a:bodyPr>
            <a:normAutofit/>
          </a:bodyPr>
          <a:lstStyle/>
          <a:p>
            <a:r>
              <a:rPr lang="ja-JP" altLang="en-US" sz="3600" b="1" dirty="0">
                <a:latin typeface="Meiryo UI" panose="020B0604030504040204" pitchFamily="50" charset="-128"/>
                <a:ea typeface="Meiryo UI" panose="020B0604030504040204" pitchFamily="50" charset="-128"/>
              </a:rPr>
              <a:t>喪失時の本人確認フロー</a:t>
            </a:r>
            <a:endParaRPr kumimoji="1" lang="ja-JP" altLang="en-US" sz="3600" b="1"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66C8E065-69E7-45EC-8CC9-FFB24C65B347}"/>
              </a:ext>
            </a:extLst>
          </p:cNvPr>
          <p:cNvSpPr/>
          <p:nvPr/>
        </p:nvSpPr>
        <p:spPr>
          <a:xfrm>
            <a:off x="343926" y="1981378"/>
            <a:ext cx="11504148" cy="36218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ü"/>
            </a:pPr>
            <a:r>
              <a:rPr lang="ja-JP" altLang="en-US" sz="2800" dirty="0">
                <a:solidFill>
                  <a:schemeClr val="tx1"/>
                </a:solidFill>
                <a:latin typeface="Meiryo UI" panose="020B0604030504040204" pitchFamily="50" charset="-128"/>
                <a:ea typeface="Meiryo UI" panose="020B0604030504040204" pitchFamily="50" charset="-128"/>
              </a:rPr>
              <a:t>パターンごとに本人確認の手続きが異なります。</a:t>
            </a:r>
            <a:endParaRPr lang="en-US" altLang="ja-JP" sz="2800" dirty="0">
              <a:solidFill>
                <a:schemeClr val="tx1"/>
              </a:solidFill>
              <a:latin typeface="Meiryo UI" panose="020B0604030504040204" pitchFamily="50" charset="-128"/>
              <a:ea typeface="Meiryo UI" panose="020B0604030504040204" pitchFamily="50" charset="-128"/>
            </a:endParaRPr>
          </a:p>
          <a:p>
            <a:pPr marL="457200" indent="-457200">
              <a:buFont typeface="Wingdings" panose="05000000000000000000" pitchFamily="2" charset="2"/>
              <a:buChar char="ü"/>
            </a:pPr>
            <a:r>
              <a:rPr lang="ja-JP" altLang="en-US" sz="2800" dirty="0">
                <a:solidFill>
                  <a:schemeClr val="tx1"/>
                </a:solidFill>
                <a:latin typeface="Meiryo UI" panose="020B0604030504040204" pitchFamily="50" charset="-128"/>
                <a:ea typeface="Meiryo UI" panose="020B0604030504040204" pitchFamily="50" charset="-128"/>
              </a:rPr>
              <a:t>対応するフローをご確認ください。</a:t>
            </a:r>
            <a:endParaRPr lang="en-US" altLang="ja-JP" sz="2800" dirty="0">
              <a:solidFill>
                <a:schemeClr val="tx1"/>
              </a:solidFill>
              <a:latin typeface="Meiryo UI" panose="020B0604030504040204" pitchFamily="50" charset="-128"/>
              <a:ea typeface="Meiryo UI" panose="020B0604030504040204" pitchFamily="50" charset="-128"/>
            </a:endParaRPr>
          </a:p>
          <a:p>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本人来店の場合</a:t>
            </a:r>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本人来店で回答書を持参している場合</a:t>
            </a:r>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本人来店で行員が来店者を熟知している場合</a:t>
            </a:r>
            <a:endParaRPr lang="en-US" altLang="ja-JP" sz="2800" dirty="0">
              <a:solidFill>
                <a:schemeClr val="tx1"/>
              </a:solidFill>
              <a:latin typeface="Meiryo UI" panose="020B0604030504040204" pitchFamily="50" charset="-128"/>
              <a:ea typeface="Meiryo UI" panose="020B0604030504040204" pitchFamily="50" charset="-128"/>
            </a:endParaRPr>
          </a:p>
          <a:p>
            <a:pPr marL="457205" lvl="1"/>
            <a:endParaRPr lang="en-US" altLang="ja-JP" sz="2800" dirty="0">
              <a:solidFill>
                <a:schemeClr val="tx1"/>
              </a:solidFill>
              <a:latin typeface="Meiryo UI" panose="020B0604030504040204" pitchFamily="50" charset="-128"/>
              <a:ea typeface="Meiryo UI" panose="020B0604030504040204" pitchFamily="50" charset="-128"/>
            </a:endParaRPr>
          </a:p>
          <a:p>
            <a:pPr marL="457205" lvl="1"/>
            <a:r>
              <a:rPr lang="en-US" altLang="ja-JP" sz="2800" dirty="0">
                <a:solidFill>
                  <a:schemeClr val="tx1"/>
                </a:solidFill>
                <a:latin typeface="Meiryo UI" panose="020B0604030504040204" pitchFamily="50" charset="-128"/>
                <a:ea typeface="Meiryo UI" panose="020B0604030504040204" pitchFamily="50" charset="-128"/>
              </a:rPr>
              <a:t>※</a:t>
            </a:r>
            <a:r>
              <a:rPr lang="ja-JP" altLang="en-US" sz="2800" dirty="0">
                <a:solidFill>
                  <a:schemeClr val="tx1"/>
                </a:solidFill>
                <a:latin typeface="Meiryo UI" panose="020B0604030504040204" pitchFamily="50" charset="-128"/>
                <a:ea typeface="Meiryo UI" panose="020B0604030504040204" pitchFamily="50" charset="-128"/>
              </a:rPr>
              <a:t>代理人が来店した場合は回答書を送付してください。</a:t>
            </a:r>
            <a:endParaRPr lang="en-US" altLang="ja-JP" sz="28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8845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喪失受付時の対応（①本人来店の場合）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51438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884525"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C1D5409D-26F5-4A64-A277-C07A801F1994}"/>
              </a:ext>
            </a:extLst>
          </p:cNvPr>
          <p:cNvSpPr/>
          <p:nvPr/>
        </p:nvSpPr>
        <p:spPr>
          <a:xfrm>
            <a:off x="4506250" y="1465987"/>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9125886" y="2257864"/>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338872"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lang="en-US" altLang="ja-JP" sz="1200" strike="sngStrike" dirty="0">
              <a:solidFill>
                <a:schemeClr val="tx1"/>
              </a:solidFill>
              <a:highlight>
                <a:srgbClr val="FFFF00"/>
              </a:highlight>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受理</a:t>
            </a:r>
          </a:p>
        </p:txBody>
      </p:sp>
      <p:sp>
        <p:nvSpPr>
          <p:cNvPr id="21" name="正方形/長方形 20">
            <a:extLst>
              <a:ext uri="{FF2B5EF4-FFF2-40B4-BE49-F238E27FC236}">
                <a16:creationId xmlns:a16="http://schemas.microsoft.com/office/drawing/2014/main" id="{2EBB5170-2F5D-413A-A85F-D891A5C0791C}"/>
              </a:ext>
            </a:extLst>
          </p:cNvPr>
          <p:cNvSpPr/>
          <p:nvPr/>
        </p:nvSpPr>
        <p:spPr>
          <a:xfrm>
            <a:off x="10338871" y="5123668"/>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回答書の発送</a:t>
            </a:r>
          </a:p>
        </p:txBody>
      </p:sp>
      <p:sp>
        <p:nvSpPr>
          <p:cNvPr id="22" name="正方形/長方形 21">
            <a:extLst>
              <a:ext uri="{FF2B5EF4-FFF2-40B4-BE49-F238E27FC236}">
                <a16:creationId xmlns:a16="http://schemas.microsoft.com/office/drawing/2014/main" id="{551DA84D-B343-48C7-965E-BC4432E05AA8}"/>
              </a:ext>
            </a:extLst>
          </p:cNvPr>
          <p:cNvSpPr/>
          <p:nvPr/>
        </p:nvSpPr>
        <p:spPr>
          <a:xfrm>
            <a:off x="450625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（本人確認チェック表確認）</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21" idx="1"/>
          </p:cNvCxnSpPr>
          <p:nvPr/>
        </p:nvCxnSpPr>
        <p:spPr>
          <a:xfrm rot="16200000" flipH="1">
            <a:off x="5417090" y="482972"/>
            <a:ext cx="2804852" cy="703870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715798" y="2426989"/>
            <a:ext cx="79045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BB14B159-FDC5-40D4-8BCC-1D4E3C5FC55D}"/>
              </a:ext>
            </a:extLst>
          </p:cNvPr>
          <p:cNvCxnSpPr>
            <a:cxnSpLocks/>
            <a:stCxn id="17" idx="0"/>
            <a:endCxn id="18" idx="1"/>
          </p:cNvCxnSpPr>
          <p:nvPr/>
        </p:nvCxnSpPr>
        <p:spPr>
          <a:xfrm rot="5400000" flipH="1" flipV="1">
            <a:off x="3649704" y="1397531"/>
            <a:ext cx="507005" cy="12060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123E007A-A37A-443F-82F1-56025040B24C}"/>
              </a:ext>
            </a:extLst>
          </p:cNvPr>
          <p:cNvCxnSpPr>
            <a:cxnSpLocks/>
            <a:stCxn id="22" idx="3"/>
            <a:endCxn id="50" idx="1"/>
          </p:cNvCxnSpPr>
          <p:nvPr/>
        </p:nvCxnSpPr>
        <p:spPr>
          <a:xfrm flipV="1">
            <a:off x="5932902" y="2426989"/>
            <a:ext cx="32619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コネクタ: カギ線 33">
            <a:extLst>
              <a:ext uri="{FF2B5EF4-FFF2-40B4-BE49-F238E27FC236}">
                <a16:creationId xmlns:a16="http://schemas.microsoft.com/office/drawing/2014/main" id="{76A35761-E45B-4BBC-9F4F-C0311A2D4784}"/>
              </a:ext>
            </a:extLst>
          </p:cNvPr>
          <p:cNvCxnSpPr>
            <a:cxnSpLocks/>
            <a:stCxn id="18" idx="3"/>
            <a:endCxn id="50" idx="1"/>
          </p:cNvCxnSpPr>
          <p:nvPr/>
        </p:nvCxnSpPr>
        <p:spPr>
          <a:xfrm>
            <a:off x="5932902" y="1747072"/>
            <a:ext cx="326198" cy="679917"/>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21" idx="1"/>
          </p:cNvCxnSpPr>
          <p:nvPr/>
        </p:nvCxnSpPr>
        <p:spPr>
          <a:xfrm rot="16200000" flipH="1">
            <a:off x="8539665" y="3605546"/>
            <a:ext cx="2801065" cy="79734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flipV="1">
            <a:off x="9957159" y="2426990"/>
            <a:ext cx="381713" cy="37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941032" y="2426989"/>
            <a:ext cx="94349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513942" y="2936102"/>
            <a:ext cx="2666755" cy="2934018"/>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以下の①②両方で本人確認を行ってください。</a:t>
            </a: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確認はいずれか一つで構いません</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① 顔写真付き本人確認書類</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運転免許証</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個人番号カード</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パスポート</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zh-TW" altLang="ja-JP" sz="1000" dirty="0">
                <a:solidFill>
                  <a:srgbClr val="000000"/>
                </a:solidFill>
                <a:latin typeface="Meiryo UI" panose="020B0604030504040204" pitchFamily="50" charset="-128"/>
                <a:ea typeface="Meiryo UI" panose="020B0604030504040204" pitchFamily="50" charset="-128"/>
              </a:rPr>
              <a:t>身体障害者手帳</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顔写真入り勤務先証明書</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顔写真入り学生証</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印鑑証明書（発行</a:t>
            </a:r>
            <a:r>
              <a:rPr lang="en-US" altLang="ja-JP" sz="1000" dirty="0">
                <a:solidFill>
                  <a:srgbClr val="000000"/>
                </a:solidFill>
                <a:latin typeface="Meiryo UI" panose="020B0604030504040204" pitchFamily="50" charset="-128"/>
                <a:ea typeface="Meiryo UI" panose="020B0604030504040204" pitchFamily="50" charset="-128"/>
              </a:rPr>
              <a:t>3</a:t>
            </a:r>
            <a:r>
              <a:rPr lang="ja-JP" altLang="ja-JP" sz="1000" dirty="0">
                <a:solidFill>
                  <a:srgbClr val="000000"/>
                </a:solidFill>
                <a:latin typeface="Meiryo UI" panose="020B0604030504040204" pitchFamily="50" charset="-128"/>
                <a:ea typeface="Meiryo UI" panose="020B0604030504040204" pitchFamily="50" charset="-128"/>
              </a:rPr>
              <a:t>か月以内）</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→実印の押印を受け、一致を確認</a:t>
            </a:r>
            <a:endParaRPr lang="en-US" altLang="ja-JP" sz="1000" dirty="0">
              <a:solidFill>
                <a:srgbClr val="000000"/>
              </a:solidFill>
              <a:latin typeface="Meiryo UI" panose="020B0604030504040204" pitchFamily="50" charset="-128"/>
              <a:ea typeface="Meiryo UI" panose="020B0604030504040204" pitchFamily="50" charset="-128"/>
            </a:endParaRPr>
          </a:p>
          <a:p>
            <a:pPr fontAlgn="b"/>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② 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の帳票・カード・通帳による確認</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en-US" altLang="ja-JP" sz="3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6CD974C4-5003-48A6-B622-6231CD043953}"/>
              </a:ext>
            </a:extLst>
          </p:cNvPr>
          <p:cNvSpPr/>
          <p:nvPr/>
        </p:nvSpPr>
        <p:spPr>
          <a:xfrm>
            <a:off x="3359848" y="1415350"/>
            <a:ext cx="107246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①②ともに</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3359848" y="2084421"/>
            <a:ext cx="107246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①②どちらか</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3359848" y="4897049"/>
            <a:ext cx="1197717"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①②どちらも</a:t>
            </a:r>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9640767"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888405"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6684035E-0F0F-4E37-B746-0C2FD3562633}"/>
              </a:ext>
            </a:extLst>
          </p:cNvPr>
          <p:cNvSpPr/>
          <p:nvPr/>
        </p:nvSpPr>
        <p:spPr>
          <a:xfrm>
            <a:off x="4116753" y="2879908"/>
            <a:ext cx="2498252" cy="1237908"/>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本人確認チェック表の確認事項</a:t>
            </a:r>
            <a:r>
              <a:rPr lang="en-US" altLang="ja-JP" sz="1000" dirty="0">
                <a:solidFill>
                  <a:srgbClr val="000000"/>
                </a:solidFill>
                <a:latin typeface="Meiryo UI" panose="020B0604030504040204" pitchFamily="50" charset="-128"/>
                <a:ea typeface="Meiryo UI" panose="020B0604030504040204" pitchFamily="50" charset="-128"/>
              </a:rPr>
              <a:t>】</a:t>
            </a: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通帳紛失時の状況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申込書・印鑑届等の特徴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印章の大きさ、形状、字体の特徴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当該預金の預入原資及び受払状況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預金受入時（口座開設）の担当者確認</a:t>
            </a:r>
            <a:endParaRPr lang="ja-JP" altLang="ja-JP" sz="1400" dirty="0">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ja-JP" sz="1000" dirty="0">
                <a:solidFill>
                  <a:srgbClr val="000000"/>
                </a:solidFill>
                <a:latin typeface="Meiryo UI" panose="020B0604030504040204" pitchFamily="50" charset="-128"/>
                <a:ea typeface="Meiryo UI" panose="020B0604030504040204" pitchFamily="50" charset="-128"/>
              </a:rPr>
              <a:t>疑義があれば架電・訪問確認</a:t>
            </a:r>
            <a:r>
              <a:rPr lang="ja-JP" altLang="en-US" sz="1000" dirty="0">
                <a:solidFill>
                  <a:srgbClr val="000000"/>
                </a:solidFill>
                <a:latin typeface="Meiryo UI" panose="020B0604030504040204" pitchFamily="50" charset="-128"/>
                <a:ea typeface="Meiryo UI" panose="020B0604030504040204" pitchFamily="50" charset="-128"/>
              </a:rPr>
              <a:t>すること</a:t>
            </a:r>
            <a:endParaRPr lang="ja-JP" altLang="ja-JP" sz="1400" dirty="0">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1941032" y="6087469"/>
            <a:ext cx="9702253"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lvl="0"/>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法人の</a:t>
            </a:r>
            <a:r>
              <a:rPr lang="ja-JP" altLang="en-US" sz="1200" dirty="0">
                <a:solidFill>
                  <a:prstClr val="black"/>
                </a:solidFill>
                <a:latin typeface="Meiryo UI" panose="020B0604030504040204" pitchFamily="50" charset="-128"/>
                <a:ea typeface="Meiryo UI" panose="020B0604030504040204" pitchFamily="50" charset="-128"/>
              </a:rPr>
              <a:t>代表者来店時は代表者の住所と法人の住所が一致している場合代表者の免許証で本人確認ができます。（不一致の場合は印鑑証明書のみ）</a:t>
            </a:r>
          </a:p>
          <a:p>
            <a:pPr fontAlgn="b"/>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1944AF73-8A71-4EE4-8178-63266A5441A6}"/>
              </a:ext>
            </a:extLst>
          </p:cNvPr>
          <p:cNvSpPr/>
          <p:nvPr/>
        </p:nvSpPr>
        <p:spPr>
          <a:xfrm>
            <a:off x="7391256"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sp>
        <p:nvSpPr>
          <p:cNvPr id="50" name="フローチャート: 判断 49">
            <a:extLst>
              <a:ext uri="{FF2B5EF4-FFF2-40B4-BE49-F238E27FC236}">
                <a16:creationId xmlns:a16="http://schemas.microsoft.com/office/drawing/2014/main" id="{012A5C01-33EB-42DE-9AAC-047B52A8E058}"/>
              </a:ext>
            </a:extLst>
          </p:cNvPr>
          <p:cNvSpPr/>
          <p:nvPr/>
        </p:nvSpPr>
        <p:spPr>
          <a:xfrm>
            <a:off x="6259100"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cxnSp>
        <p:nvCxnSpPr>
          <p:cNvPr id="66" name="直線矢印コネクタ 65">
            <a:extLst>
              <a:ext uri="{FF2B5EF4-FFF2-40B4-BE49-F238E27FC236}">
                <a16:creationId xmlns:a16="http://schemas.microsoft.com/office/drawing/2014/main" id="{7907038F-CA1E-4626-AD05-C9B602357312}"/>
              </a:ext>
            </a:extLst>
          </p:cNvPr>
          <p:cNvCxnSpPr>
            <a:cxnSpLocks/>
            <a:stCxn id="30" idx="3"/>
            <a:endCxn id="19" idx="1"/>
          </p:cNvCxnSpPr>
          <p:nvPr/>
        </p:nvCxnSpPr>
        <p:spPr>
          <a:xfrm>
            <a:off x="8817908" y="2426990"/>
            <a:ext cx="307978" cy="37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3734235C-3FC6-413F-BB63-086AD46C2780}"/>
              </a:ext>
            </a:extLst>
          </p:cNvPr>
          <p:cNvCxnSpPr>
            <a:cxnSpLocks/>
            <a:stCxn id="50" idx="3"/>
            <a:endCxn id="30" idx="1"/>
          </p:cNvCxnSpPr>
          <p:nvPr/>
        </p:nvCxnSpPr>
        <p:spPr>
          <a:xfrm>
            <a:off x="7090373" y="2426989"/>
            <a:ext cx="30088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コネクタ: カギ線 88">
            <a:extLst>
              <a:ext uri="{FF2B5EF4-FFF2-40B4-BE49-F238E27FC236}">
                <a16:creationId xmlns:a16="http://schemas.microsoft.com/office/drawing/2014/main" id="{51BC465A-B74D-48E4-83E7-ACFCB732E37D}"/>
              </a:ext>
            </a:extLst>
          </p:cNvPr>
          <p:cNvCxnSpPr>
            <a:cxnSpLocks/>
            <a:stCxn id="50" idx="2"/>
            <a:endCxn id="21" idx="1"/>
          </p:cNvCxnSpPr>
          <p:nvPr/>
        </p:nvCxnSpPr>
        <p:spPr>
          <a:xfrm rot="16200000" flipH="1">
            <a:off x="7104378" y="2170260"/>
            <a:ext cx="2804852" cy="366413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3" name="正方形/長方形 92">
            <a:extLst>
              <a:ext uri="{FF2B5EF4-FFF2-40B4-BE49-F238E27FC236}">
                <a16:creationId xmlns:a16="http://schemas.microsoft.com/office/drawing/2014/main" id="{4B89D8C9-8718-45AC-A507-0A894C9CB82E}"/>
              </a:ext>
            </a:extLst>
          </p:cNvPr>
          <p:cNvSpPr/>
          <p:nvPr/>
        </p:nvSpPr>
        <p:spPr>
          <a:xfrm>
            <a:off x="6698748"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64E5486F-658F-4C3B-AAFC-44DDCA817135}"/>
              </a:ext>
            </a:extLst>
          </p:cNvPr>
          <p:cNvSpPr/>
          <p:nvPr/>
        </p:nvSpPr>
        <p:spPr>
          <a:xfrm>
            <a:off x="6946386"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4303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喪失受付時の対応（②本人来店で回答書を持参している場合）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269453"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710045"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8963283"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640949"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受理</a:t>
            </a:r>
          </a:p>
        </p:txBody>
      </p:sp>
      <p:sp>
        <p:nvSpPr>
          <p:cNvPr id="22" name="正方形/長方形 21">
            <a:extLst>
              <a:ext uri="{FF2B5EF4-FFF2-40B4-BE49-F238E27FC236}">
                <a16:creationId xmlns:a16="http://schemas.microsoft.com/office/drawing/2014/main" id="{551DA84D-B343-48C7-965E-BC4432E05AA8}"/>
              </a:ext>
            </a:extLst>
          </p:cNvPr>
          <p:cNvSpPr/>
          <p:nvPr/>
        </p:nvSpPr>
        <p:spPr>
          <a:xfrm>
            <a:off x="4432180"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（本人確認チェック表含）</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43" idx="2"/>
          </p:cNvCxnSpPr>
          <p:nvPr/>
        </p:nvCxnSpPr>
        <p:spPr>
          <a:xfrm rot="16200000" flipH="1">
            <a:off x="6722515" y="-905432"/>
            <a:ext cx="1034927" cy="8228593"/>
          </a:xfrm>
          <a:prstGeom prst="bentConnector3">
            <a:avLst>
              <a:gd name="adj1" fmla="val 23694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541318" y="2518490"/>
            <a:ext cx="89086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コネクタ: カギ線 33">
            <a:extLst>
              <a:ext uri="{FF2B5EF4-FFF2-40B4-BE49-F238E27FC236}">
                <a16:creationId xmlns:a16="http://schemas.microsoft.com/office/drawing/2014/main" id="{76A35761-E45B-4BBC-9F4F-C0311A2D4784}"/>
              </a:ext>
            </a:extLst>
          </p:cNvPr>
          <p:cNvCxnSpPr>
            <a:cxnSpLocks/>
            <a:stCxn id="17" idx="0"/>
            <a:endCxn id="104" idx="1"/>
          </p:cNvCxnSpPr>
          <p:nvPr/>
        </p:nvCxnSpPr>
        <p:spPr>
          <a:xfrm rot="5400000" flipH="1" flipV="1">
            <a:off x="3514226" y="1427624"/>
            <a:ext cx="529411" cy="130649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43" idx="1"/>
          </p:cNvCxnSpPr>
          <p:nvPr/>
        </p:nvCxnSpPr>
        <p:spPr>
          <a:xfrm rot="16200000" flipH="1">
            <a:off x="9633013" y="2437308"/>
            <a:ext cx="753843" cy="126202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a:off x="9794556" y="2518490"/>
            <a:ext cx="84639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696105" y="2518490"/>
            <a:ext cx="1013940"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269015" y="2838133"/>
            <a:ext cx="2666755" cy="3995372"/>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以下の①②両方で本人確認を行ってください。</a:t>
            </a: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確認はいずれか一つで構いません</a:t>
            </a:r>
            <a:br>
              <a:rPr lang="en-US" altLang="ja-JP" sz="1000" dirty="0">
                <a:solidFill>
                  <a:srgbClr val="000000"/>
                </a:solidFill>
                <a:latin typeface="Meiryo UI" panose="020B0604030504040204" pitchFamily="50" charset="-128"/>
                <a:ea typeface="Meiryo UI" panose="020B0604030504040204" pitchFamily="50" charset="-128"/>
              </a:rPr>
            </a:b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① 本人確認書類</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運転免許証</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個人番号カード</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パスポート</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zh-TW" altLang="ja-JP" sz="1000" dirty="0">
                <a:solidFill>
                  <a:srgbClr val="000000"/>
                </a:solidFill>
                <a:latin typeface="Meiryo UI" panose="020B0604030504040204" pitchFamily="50" charset="-128"/>
                <a:ea typeface="Meiryo UI" panose="020B0604030504040204" pitchFamily="50" charset="-128"/>
              </a:rPr>
              <a:t>身体障害者手帳</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顔写真入り勤務先証明書</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顔写真入り学生証</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資格確認書</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厚生年金手帳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母子健康手帳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身体障害者手帳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印鑑証明書（発行</a:t>
            </a:r>
            <a:r>
              <a:rPr lang="en-US" altLang="ja-JP" sz="1000" dirty="0">
                <a:solidFill>
                  <a:srgbClr val="000000"/>
                </a:solidFill>
                <a:latin typeface="Meiryo UI" panose="020B0604030504040204" pitchFamily="50" charset="-128"/>
                <a:ea typeface="Meiryo UI" panose="020B0604030504040204" pitchFamily="50" charset="-128"/>
              </a:rPr>
              <a:t>3</a:t>
            </a:r>
            <a:r>
              <a:rPr lang="ja-JP" altLang="ja-JP" sz="1000" dirty="0">
                <a:solidFill>
                  <a:srgbClr val="000000"/>
                </a:solidFill>
                <a:latin typeface="Meiryo UI" panose="020B0604030504040204" pitchFamily="50" charset="-128"/>
                <a:ea typeface="Meiryo UI" panose="020B0604030504040204" pitchFamily="50" charset="-128"/>
              </a:rPr>
              <a:t>か月以内）</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→実印の押印を受け、一致を確認</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公共機関が発行したもので、上記と同種類と</a:t>
            </a:r>
            <a:r>
              <a:rPr lang="en-US" altLang="ja-JP" sz="1000" dirty="0">
                <a:solidFill>
                  <a:srgbClr val="000000"/>
                </a:solidFill>
                <a:latin typeface="Meiryo UI" panose="020B0604030504040204" pitchFamily="50" charset="-128"/>
                <a:ea typeface="Meiryo UI" panose="020B0604030504040204" pitchFamily="50" charset="-128"/>
              </a:rPr>
              <a:t>S</a:t>
            </a:r>
            <a:r>
              <a:rPr lang="ja-JP" altLang="en-US" sz="1000" dirty="0">
                <a:solidFill>
                  <a:srgbClr val="000000"/>
                </a:solidFill>
                <a:latin typeface="Meiryo UI" panose="020B0604030504040204" pitchFamily="50" charset="-128"/>
                <a:ea typeface="Meiryo UI" panose="020B0604030504040204" pitchFamily="50" charset="-128"/>
              </a:rPr>
              <a:t>照査者が判断した書類（生活保護受給証明書など）</a:t>
            </a:r>
            <a:endParaRPr lang="en-US" altLang="ja-JP" sz="1000" dirty="0">
              <a:solidFill>
                <a:srgbClr val="000000"/>
              </a:solidFill>
              <a:latin typeface="Meiryo UI" panose="020B0604030504040204" pitchFamily="50" charset="-128"/>
              <a:ea typeface="Meiryo UI" panose="020B0604030504040204" pitchFamily="50" charset="-128"/>
            </a:endParaRPr>
          </a:p>
          <a:p>
            <a:pPr fontAlgn="b"/>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② 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帳票</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ja-JP" altLang="en-US" sz="1000" dirty="0">
              <a:solidFill>
                <a:srgbClr val="000000"/>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6CD974C4-5003-48A6-B622-6231CD043953}"/>
              </a:ext>
            </a:extLst>
          </p:cNvPr>
          <p:cNvSpPr/>
          <p:nvPr/>
        </p:nvSpPr>
        <p:spPr>
          <a:xfrm>
            <a:off x="3168321" y="1513326"/>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①②ともに</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3168321" y="2182397"/>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①②どちらか</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3168321" y="4755881"/>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①②どちらも</a:t>
            </a:r>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9495126" y="2834719"/>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745519" y="2207812"/>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6684035E-0F0F-4E37-B746-0C2FD3562633}"/>
              </a:ext>
            </a:extLst>
          </p:cNvPr>
          <p:cNvSpPr/>
          <p:nvPr/>
        </p:nvSpPr>
        <p:spPr>
          <a:xfrm>
            <a:off x="4207737" y="2845514"/>
            <a:ext cx="2246206" cy="1721524"/>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本人確認チェック表の観点</a:t>
            </a:r>
            <a:r>
              <a:rPr lang="en-US" altLang="ja-JP" sz="1000" dirty="0">
                <a:solidFill>
                  <a:srgbClr val="000000"/>
                </a:solidFill>
                <a:latin typeface="Meiryo UI" panose="020B0604030504040204" pitchFamily="50" charset="-128"/>
                <a:ea typeface="Meiryo UI" panose="020B0604030504040204" pitchFamily="50" charset="-128"/>
              </a:rPr>
              <a:t>】</a:t>
            </a: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通帳紛失時の状況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申込書・印鑑届等の特徴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印章の大きさ、形状、字体の特徴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当該預金の預入原資及び受払状況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預金受入時（口座開設）の担当者確認</a:t>
            </a:r>
            <a:endParaRPr lang="ja-JP" altLang="ja-JP" sz="1400" dirty="0">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ja-JP" sz="1000" dirty="0">
                <a:solidFill>
                  <a:srgbClr val="000000"/>
                </a:solidFill>
                <a:latin typeface="Meiryo UI" panose="020B0604030504040204" pitchFamily="50" charset="-128"/>
                <a:ea typeface="Meiryo UI" panose="020B0604030504040204" pitchFamily="50" charset="-128"/>
              </a:rPr>
              <a:t>疑義があれば架電・訪問確認</a:t>
            </a:r>
            <a:r>
              <a:rPr lang="ja-JP" altLang="en-US" sz="1000" dirty="0">
                <a:solidFill>
                  <a:srgbClr val="000000"/>
                </a:solidFill>
                <a:latin typeface="Meiryo UI" panose="020B0604030504040204" pitchFamily="50" charset="-128"/>
                <a:ea typeface="Meiryo UI" panose="020B0604030504040204" pitchFamily="50" charset="-128"/>
              </a:rPr>
              <a:t>すること</a:t>
            </a:r>
            <a:endParaRPr lang="ja-JP" altLang="ja-JP" sz="1400" dirty="0">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5453742" y="6067614"/>
            <a:ext cx="6257199"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代理人が回答書を持参して来店した場合は、代理人本人の本人確認を行ってください。</a:t>
            </a:r>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DE6E369C-D7F7-49A2-9CB1-340ACD082827}"/>
              </a:ext>
            </a:extLst>
          </p:cNvPr>
          <p:cNvSpPr/>
          <p:nvPr/>
        </p:nvSpPr>
        <p:spPr>
          <a:xfrm>
            <a:off x="10640949" y="3164160"/>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再来店を案内</a:t>
            </a:r>
          </a:p>
        </p:txBody>
      </p:sp>
      <p:sp>
        <p:nvSpPr>
          <p:cNvPr id="104" name="正方形/長方形 103">
            <a:extLst>
              <a:ext uri="{FF2B5EF4-FFF2-40B4-BE49-F238E27FC236}">
                <a16:creationId xmlns:a16="http://schemas.microsoft.com/office/drawing/2014/main" id="{816DA0AB-2CAE-4EA4-BAB8-B38E4939B885}"/>
              </a:ext>
            </a:extLst>
          </p:cNvPr>
          <p:cNvSpPr/>
          <p:nvPr/>
        </p:nvSpPr>
        <p:spPr>
          <a:xfrm>
            <a:off x="4432180" y="1535082"/>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回答書の内容確認</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sp>
        <p:nvSpPr>
          <p:cNvPr id="113" name="フローチャート: 判断 112">
            <a:extLst>
              <a:ext uri="{FF2B5EF4-FFF2-40B4-BE49-F238E27FC236}">
                <a16:creationId xmlns:a16="http://schemas.microsoft.com/office/drawing/2014/main" id="{67FE6D1B-014C-49EC-B419-493D66C480AF}"/>
              </a:ext>
            </a:extLst>
          </p:cNvPr>
          <p:cNvSpPr/>
          <p:nvPr/>
        </p:nvSpPr>
        <p:spPr>
          <a:xfrm>
            <a:off x="8963283" y="1642673"/>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cxnSp>
        <p:nvCxnSpPr>
          <p:cNvPr id="114" name="コネクタ: カギ線 113">
            <a:extLst>
              <a:ext uri="{FF2B5EF4-FFF2-40B4-BE49-F238E27FC236}">
                <a16:creationId xmlns:a16="http://schemas.microsoft.com/office/drawing/2014/main" id="{AFA1178F-4142-4F8D-BCB0-474083B74DFD}"/>
              </a:ext>
            </a:extLst>
          </p:cNvPr>
          <p:cNvCxnSpPr>
            <a:cxnSpLocks/>
            <a:stCxn id="113" idx="3"/>
            <a:endCxn id="20" idx="1"/>
          </p:cNvCxnSpPr>
          <p:nvPr/>
        </p:nvCxnSpPr>
        <p:spPr>
          <a:xfrm>
            <a:off x="9794556" y="1815585"/>
            <a:ext cx="846393" cy="702906"/>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8" name="正方形/長方形 117">
            <a:extLst>
              <a:ext uri="{FF2B5EF4-FFF2-40B4-BE49-F238E27FC236}">
                <a16:creationId xmlns:a16="http://schemas.microsoft.com/office/drawing/2014/main" id="{90F53E7E-DB94-436E-A25E-98FBBD4F313A}"/>
              </a:ext>
            </a:extLst>
          </p:cNvPr>
          <p:cNvSpPr/>
          <p:nvPr/>
        </p:nvSpPr>
        <p:spPr>
          <a:xfrm>
            <a:off x="9745519" y="1488287"/>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9ED3AE16-BF06-4EF2-94E4-845CEB284B39}"/>
              </a:ext>
            </a:extLst>
          </p:cNvPr>
          <p:cNvSpPr/>
          <p:nvPr/>
        </p:nvSpPr>
        <p:spPr>
          <a:xfrm>
            <a:off x="4432180" y="730243"/>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回答書の修正</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121" name="コネクタ: カギ線 120">
            <a:extLst>
              <a:ext uri="{FF2B5EF4-FFF2-40B4-BE49-F238E27FC236}">
                <a16:creationId xmlns:a16="http://schemas.microsoft.com/office/drawing/2014/main" id="{911754B4-FE26-4D10-BAC3-E07C8B35D06B}"/>
              </a:ext>
            </a:extLst>
          </p:cNvPr>
          <p:cNvCxnSpPr>
            <a:cxnSpLocks/>
            <a:stCxn id="113" idx="0"/>
            <a:endCxn id="120" idx="3"/>
          </p:cNvCxnSpPr>
          <p:nvPr/>
        </p:nvCxnSpPr>
        <p:spPr>
          <a:xfrm rot="16200000" flipV="1">
            <a:off x="7303204" y="-433043"/>
            <a:ext cx="631345" cy="35200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直線矢印コネクタ 124">
            <a:extLst>
              <a:ext uri="{FF2B5EF4-FFF2-40B4-BE49-F238E27FC236}">
                <a16:creationId xmlns:a16="http://schemas.microsoft.com/office/drawing/2014/main" id="{273F260C-F38D-4DAB-BCC3-319AA1BB8DF9}"/>
              </a:ext>
            </a:extLst>
          </p:cNvPr>
          <p:cNvCxnSpPr>
            <a:cxnSpLocks/>
            <a:stCxn id="120" idx="2"/>
            <a:endCxn id="104" idx="0"/>
          </p:cNvCxnSpPr>
          <p:nvPr/>
        </p:nvCxnSpPr>
        <p:spPr>
          <a:xfrm>
            <a:off x="5145506" y="1292412"/>
            <a:ext cx="0" cy="24267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直線矢印コネクタ 129">
            <a:extLst>
              <a:ext uri="{FF2B5EF4-FFF2-40B4-BE49-F238E27FC236}">
                <a16:creationId xmlns:a16="http://schemas.microsoft.com/office/drawing/2014/main" id="{F13F4C2D-E391-405C-8E5A-5E465BA87BFB}"/>
              </a:ext>
            </a:extLst>
          </p:cNvPr>
          <p:cNvCxnSpPr>
            <a:cxnSpLocks/>
            <a:stCxn id="104" idx="3"/>
            <a:endCxn id="113" idx="1"/>
          </p:cNvCxnSpPr>
          <p:nvPr/>
        </p:nvCxnSpPr>
        <p:spPr>
          <a:xfrm flipV="1">
            <a:off x="5858832" y="1815585"/>
            <a:ext cx="3104451" cy="58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8" name="フローチャート: 判断 147">
            <a:extLst>
              <a:ext uri="{FF2B5EF4-FFF2-40B4-BE49-F238E27FC236}">
                <a16:creationId xmlns:a16="http://schemas.microsoft.com/office/drawing/2014/main" id="{1E3EC71C-7471-43D7-BCFE-E3079122C41A}"/>
              </a:ext>
            </a:extLst>
          </p:cNvPr>
          <p:cNvSpPr/>
          <p:nvPr/>
        </p:nvSpPr>
        <p:spPr>
          <a:xfrm>
            <a:off x="6210112"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60" name="正方形/長方形 159">
            <a:extLst>
              <a:ext uri="{FF2B5EF4-FFF2-40B4-BE49-F238E27FC236}">
                <a16:creationId xmlns:a16="http://schemas.microsoft.com/office/drawing/2014/main" id="{CDF92094-3396-450E-A319-40CED428FFD2}"/>
              </a:ext>
            </a:extLst>
          </p:cNvPr>
          <p:cNvSpPr/>
          <p:nvPr/>
        </p:nvSpPr>
        <p:spPr>
          <a:xfrm>
            <a:off x="7359094"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161" name="直線矢印コネクタ 160">
            <a:extLst>
              <a:ext uri="{FF2B5EF4-FFF2-40B4-BE49-F238E27FC236}">
                <a16:creationId xmlns:a16="http://schemas.microsoft.com/office/drawing/2014/main" id="{6F5A3D94-44D1-4F44-86A7-F41E9CAB687E}"/>
              </a:ext>
            </a:extLst>
          </p:cNvPr>
          <p:cNvCxnSpPr>
            <a:cxnSpLocks/>
            <a:stCxn id="22" idx="3"/>
            <a:endCxn id="148" idx="1"/>
          </p:cNvCxnSpPr>
          <p:nvPr/>
        </p:nvCxnSpPr>
        <p:spPr>
          <a:xfrm flipV="1">
            <a:off x="5858832" y="2518490"/>
            <a:ext cx="351280"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4" name="コネクタ: カギ線 163">
            <a:extLst>
              <a:ext uri="{FF2B5EF4-FFF2-40B4-BE49-F238E27FC236}">
                <a16:creationId xmlns:a16="http://schemas.microsoft.com/office/drawing/2014/main" id="{D5995F03-3D57-4596-96C0-AD1B253DC3B2}"/>
              </a:ext>
            </a:extLst>
          </p:cNvPr>
          <p:cNvCxnSpPr>
            <a:cxnSpLocks/>
            <a:stCxn id="148" idx="2"/>
            <a:endCxn id="43" idx="1"/>
          </p:cNvCxnSpPr>
          <p:nvPr/>
        </p:nvCxnSpPr>
        <p:spPr>
          <a:xfrm rot="16200000" flipH="1">
            <a:off x="8256428" y="1060723"/>
            <a:ext cx="753843" cy="401520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7" name="正方形/長方形 166">
            <a:extLst>
              <a:ext uri="{FF2B5EF4-FFF2-40B4-BE49-F238E27FC236}">
                <a16:creationId xmlns:a16="http://schemas.microsoft.com/office/drawing/2014/main" id="{0A8297E0-B4EE-4D30-B5A7-D1BE26ADB928}"/>
              </a:ext>
            </a:extLst>
          </p:cNvPr>
          <p:cNvSpPr/>
          <p:nvPr/>
        </p:nvSpPr>
        <p:spPr>
          <a:xfrm>
            <a:off x="6845361" y="2834719"/>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68" name="正方形/長方形 167">
            <a:extLst>
              <a:ext uri="{FF2B5EF4-FFF2-40B4-BE49-F238E27FC236}">
                <a16:creationId xmlns:a16="http://schemas.microsoft.com/office/drawing/2014/main" id="{ACA075D6-B233-4B91-909B-2F84A44A25C2}"/>
              </a:ext>
            </a:extLst>
          </p:cNvPr>
          <p:cNvSpPr/>
          <p:nvPr/>
        </p:nvSpPr>
        <p:spPr>
          <a:xfrm>
            <a:off x="6920284" y="2207812"/>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169" name="直線矢印コネクタ 168">
            <a:extLst>
              <a:ext uri="{FF2B5EF4-FFF2-40B4-BE49-F238E27FC236}">
                <a16:creationId xmlns:a16="http://schemas.microsoft.com/office/drawing/2014/main" id="{45114F24-9102-4548-807A-745AE23DE3E1}"/>
              </a:ext>
            </a:extLst>
          </p:cNvPr>
          <p:cNvCxnSpPr>
            <a:cxnSpLocks/>
            <a:stCxn id="148" idx="3"/>
            <a:endCxn id="160" idx="1"/>
          </p:cNvCxnSpPr>
          <p:nvPr/>
        </p:nvCxnSpPr>
        <p:spPr>
          <a:xfrm>
            <a:off x="7041385" y="2518490"/>
            <a:ext cx="31770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2" name="直線矢印コネクタ 171">
            <a:extLst>
              <a:ext uri="{FF2B5EF4-FFF2-40B4-BE49-F238E27FC236}">
                <a16:creationId xmlns:a16="http://schemas.microsoft.com/office/drawing/2014/main" id="{FFDF7661-755B-48F5-B72C-AE626BE69419}"/>
              </a:ext>
            </a:extLst>
          </p:cNvPr>
          <p:cNvCxnSpPr>
            <a:cxnSpLocks/>
            <a:stCxn id="160" idx="3"/>
            <a:endCxn id="19" idx="1"/>
          </p:cNvCxnSpPr>
          <p:nvPr/>
        </p:nvCxnSpPr>
        <p:spPr>
          <a:xfrm flipV="1">
            <a:off x="8785746" y="2518490"/>
            <a:ext cx="177537"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2" name="正方形/長方形 181">
            <a:extLst>
              <a:ext uri="{FF2B5EF4-FFF2-40B4-BE49-F238E27FC236}">
                <a16:creationId xmlns:a16="http://schemas.microsoft.com/office/drawing/2014/main" id="{DCA74C66-425E-450B-8378-3332EA42E0B4}"/>
              </a:ext>
            </a:extLst>
          </p:cNvPr>
          <p:cNvSpPr/>
          <p:nvPr/>
        </p:nvSpPr>
        <p:spPr>
          <a:xfrm>
            <a:off x="8808011" y="658800"/>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67342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喪失受付時の対応（③本人来店で行員が来店者を熟知している場合）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51438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392763"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8072234"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338872" y="2132954"/>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受理</a:t>
            </a:r>
          </a:p>
        </p:txBody>
      </p:sp>
      <p:sp>
        <p:nvSpPr>
          <p:cNvPr id="21" name="正方形/長方形 20">
            <a:extLst>
              <a:ext uri="{FF2B5EF4-FFF2-40B4-BE49-F238E27FC236}">
                <a16:creationId xmlns:a16="http://schemas.microsoft.com/office/drawing/2014/main" id="{2EBB5170-2F5D-413A-A85F-D891A5C0791C}"/>
              </a:ext>
            </a:extLst>
          </p:cNvPr>
          <p:cNvSpPr/>
          <p:nvPr/>
        </p:nvSpPr>
        <p:spPr>
          <a:xfrm>
            <a:off x="10338871" y="5123668"/>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回答書の発送</a:t>
            </a:r>
            <a:endParaRPr kumimoji="1" lang="en-US" altLang="ja-JP" sz="1400" dirty="0">
              <a:solidFill>
                <a:schemeClr val="tx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551DA84D-B343-48C7-965E-BC4432E05AA8}"/>
              </a:ext>
            </a:extLst>
          </p:cNvPr>
          <p:cNvSpPr/>
          <p:nvPr/>
        </p:nvSpPr>
        <p:spPr>
          <a:xfrm>
            <a:off x="3523207"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21" idx="1"/>
          </p:cNvCxnSpPr>
          <p:nvPr/>
        </p:nvCxnSpPr>
        <p:spPr>
          <a:xfrm rot="16200000" flipH="1">
            <a:off x="5171209" y="237091"/>
            <a:ext cx="2804852" cy="753047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224036" y="2426989"/>
            <a:ext cx="29917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123E007A-A37A-443F-82F1-56025040B24C}"/>
              </a:ext>
            </a:extLst>
          </p:cNvPr>
          <p:cNvCxnSpPr>
            <a:cxnSpLocks/>
            <a:stCxn id="22" idx="3"/>
            <a:endCxn id="34" idx="1"/>
          </p:cNvCxnSpPr>
          <p:nvPr/>
        </p:nvCxnSpPr>
        <p:spPr>
          <a:xfrm flipV="1">
            <a:off x="4949859" y="2426989"/>
            <a:ext cx="32206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21" idx="1"/>
          </p:cNvCxnSpPr>
          <p:nvPr/>
        </p:nvCxnSpPr>
        <p:spPr>
          <a:xfrm rot="16200000" flipH="1">
            <a:off x="8010945" y="3076827"/>
            <a:ext cx="2804852" cy="185100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flipV="1">
            <a:off x="8903507" y="2414039"/>
            <a:ext cx="1435365" cy="129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941032" y="2426989"/>
            <a:ext cx="45173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513942" y="2936104"/>
            <a:ext cx="2188437" cy="1375692"/>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帳票</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en-US" altLang="ja-JP" sz="2000" dirty="0">
              <a:solidFill>
                <a:prstClr val="white"/>
              </a:solidFill>
              <a:latin typeface="Arial" panose="020B0604020202020204" pitchFamily="34" charset="0"/>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2981666" y="2084421"/>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2981666" y="4897049"/>
            <a:ext cx="1197717"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8604077"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090293"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4694464" y="5992586"/>
            <a:ext cx="7016477"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fontAlgn="b"/>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通帳（証書）と印章の喪失届が同時または相前後して提出された場合は、本人熟知による取扱を行わない</a:t>
            </a:r>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34" name="フローチャート: 判断 33">
            <a:extLst>
              <a:ext uri="{FF2B5EF4-FFF2-40B4-BE49-F238E27FC236}">
                <a16:creationId xmlns:a16="http://schemas.microsoft.com/office/drawing/2014/main" id="{E1A4885D-5B33-4211-9F17-A20CA0417B61}"/>
              </a:ext>
            </a:extLst>
          </p:cNvPr>
          <p:cNvSpPr/>
          <p:nvPr/>
        </p:nvSpPr>
        <p:spPr>
          <a:xfrm>
            <a:off x="5271920"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lang="ja-JP" altLang="en-US" sz="1000" dirty="0">
                <a:solidFill>
                  <a:schemeClr val="tx1"/>
                </a:solidFill>
                <a:latin typeface="Meiryo UI" panose="020B0604030504040204" pitchFamily="50" charset="-128"/>
                <a:ea typeface="Meiryo UI" panose="020B0604030504040204" pitchFamily="50" charset="-128"/>
              </a:rPr>
              <a:t>？</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36" name="コネクタ: カギ線 35">
            <a:extLst>
              <a:ext uri="{FF2B5EF4-FFF2-40B4-BE49-F238E27FC236}">
                <a16:creationId xmlns:a16="http://schemas.microsoft.com/office/drawing/2014/main" id="{DA8D5BCF-CF5F-4611-8E02-3C6354B8B6F0}"/>
              </a:ext>
            </a:extLst>
          </p:cNvPr>
          <p:cNvCxnSpPr>
            <a:cxnSpLocks/>
            <a:stCxn id="34" idx="2"/>
            <a:endCxn id="21" idx="1"/>
          </p:cNvCxnSpPr>
          <p:nvPr/>
        </p:nvCxnSpPr>
        <p:spPr>
          <a:xfrm rot="16200000" flipH="1">
            <a:off x="6610788" y="1676670"/>
            <a:ext cx="2804852" cy="465131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DA5D537E-D086-4F49-AADD-4CDAE05EC023}"/>
              </a:ext>
            </a:extLst>
          </p:cNvPr>
          <p:cNvSpPr/>
          <p:nvPr/>
        </p:nvSpPr>
        <p:spPr>
          <a:xfrm>
            <a:off x="6433075"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a:t>
            </a:r>
            <a:endParaRPr kumimoji="1" lang="en-US" altLang="ja-JP" sz="1400" dirty="0">
              <a:solidFill>
                <a:schemeClr val="tx1"/>
              </a:solidFill>
              <a:latin typeface="Meiryo UI" panose="020B0604030504040204" pitchFamily="50" charset="-128"/>
              <a:ea typeface="Meiryo UI" panose="020B0604030504040204" pitchFamily="50" charset="-128"/>
            </a:endParaRPr>
          </a:p>
          <a:p>
            <a:pPr algn="ctr"/>
            <a:r>
              <a:rPr kumimoji="1" lang="ja-JP" altLang="en-US" sz="1400" dirty="0">
                <a:solidFill>
                  <a:schemeClr val="tx1"/>
                </a:solidFill>
                <a:latin typeface="Meiryo UI" panose="020B0604030504040204" pitchFamily="50" charset="-128"/>
                <a:ea typeface="Meiryo UI" panose="020B0604030504040204" pitchFamily="50" charset="-128"/>
              </a:rPr>
              <a:t>回答書省略承認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p:txBody>
      </p:sp>
      <p:cxnSp>
        <p:nvCxnSpPr>
          <p:cNvPr id="44" name="直線矢印コネクタ 43">
            <a:extLst>
              <a:ext uri="{FF2B5EF4-FFF2-40B4-BE49-F238E27FC236}">
                <a16:creationId xmlns:a16="http://schemas.microsoft.com/office/drawing/2014/main" id="{DA3A1FB3-8857-436D-8385-FBF6D8E42180}"/>
              </a:ext>
            </a:extLst>
          </p:cNvPr>
          <p:cNvCxnSpPr>
            <a:cxnSpLocks/>
            <a:stCxn id="34" idx="3"/>
            <a:endCxn id="43" idx="1"/>
          </p:cNvCxnSpPr>
          <p:nvPr/>
        </p:nvCxnSpPr>
        <p:spPr>
          <a:xfrm>
            <a:off x="6103193" y="2426989"/>
            <a:ext cx="32988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2CE9D77E-B0B8-4546-B80D-C2DF28428A88}"/>
              </a:ext>
            </a:extLst>
          </p:cNvPr>
          <p:cNvCxnSpPr>
            <a:cxnSpLocks/>
            <a:stCxn id="43" idx="3"/>
            <a:endCxn id="19" idx="1"/>
          </p:cNvCxnSpPr>
          <p:nvPr/>
        </p:nvCxnSpPr>
        <p:spPr>
          <a:xfrm flipV="1">
            <a:off x="7859727" y="2426989"/>
            <a:ext cx="212507"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B0028465-F896-4D91-85B0-AD4BCA89F81D}"/>
              </a:ext>
            </a:extLst>
          </p:cNvPr>
          <p:cNvSpPr/>
          <p:nvPr/>
        </p:nvSpPr>
        <p:spPr>
          <a:xfrm>
            <a:off x="5709410"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DA8EF038-5366-4E57-A109-5FA53888E51E}"/>
              </a:ext>
            </a:extLst>
          </p:cNvPr>
          <p:cNvSpPr/>
          <p:nvPr/>
        </p:nvSpPr>
        <p:spPr>
          <a:xfrm>
            <a:off x="6008839" y="212555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4672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5D1D4E93-7E78-4963-909D-009BED480296}"/>
              </a:ext>
            </a:extLst>
          </p:cNvPr>
          <p:cNvGraphicFramePr>
            <a:graphicFrameLocks noGrp="1"/>
          </p:cNvGraphicFramePr>
          <p:nvPr>
            <p:extLst>
              <p:ext uri="{D42A27DB-BD31-4B8C-83A1-F6EECF244321}">
                <p14:modId xmlns:p14="http://schemas.microsoft.com/office/powerpoint/2010/main" val="2332694195"/>
              </p:ext>
            </p:extLst>
          </p:nvPr>
        </p:nvGraphicFramePr>
        <p:xfrm>
          <a:off x="720847" y="855738"/>
          <a:ext cx="10755806" cy="5661786"/>
        </p:xfrm>
        <a:graphic>
          <a:graphicData uri="http://schemas.openxmlformats.org/drawingml/2006/table">
            <a:tbl>
              <a:tblPr/>
              <a:tblGrid>
                <a:gridCol w="3767689">
                  <a:extLst>
                    <a:ext uri="{9D8B030D-6E8A-4147-A177-3AD203B41FA5}">
                      <a16:colId xmlns:a16="http://schemas.microsoft.com/office/drawing/2014/main" val="987294809"/>
                    </a:ext>
                  </a:extLst>
                </a:gridCol>
                <a:gridCol w="6988117">
                  <a:extLst>
                    <a:ext uri="{9D8B030D-6E8A-4147-A177-3AD203B41FA5}">
                      <a16:colId xmlns:a16="http://schemas.microsoft.com/office/drawing/2014/main" val="1204759385"/>
                    </a:ext>
                  </a:extLst>
                </a:gridCol>
              </a:tblGrid>
              <a:tr h="439252">
                <a:tc>
                  <a:txBody>
                    <a:bodyPr/>
                    <a:lstStyle/>
                    <a:p>
                      <a:pPr algn="l" fontAlgn="ctr"/>
                      <a:r>
                        <a:rPr lang="ja-JP" altLang="en-US" sz="2200" b="0" i="0" u="none" strike="noStrike" dirty="0">
                          <a:solidFill>
                            <a:srgbClr val="000000"/>
                          </a:solidFill>
                          <a:effectLst/>
                          <a:latin typeface="Meiryo UI" panose="020B0604030504040204" pitchFamily="50" charset="-128"/>
                          <a:ea typeface="Meiryo UI" panose="020B0604030504040204" pitchFamily="50" charset="-128"/>
                        </a:rPr>
                        <a:t>カード種類</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ja-JP" altLang="en-US" sz="2200" b="0" i="0" u="none" strike="noStrike" dirty="0">
                          <a:solidFill>
                            <a:srgbClr val="000000"/>
                          </a:solidFill>
                          <a:effectLst/>
                          <a:latin typeface="Meiryo UI" panose="020B0604030504040204" pitchFamily="50" charset="-128"/>
                          <a:ea typeface="Meiryo UI" panose="020B0604030504040204" pitchFamily="50" charset="-128"/>
                        </a:rPr>
                        <a:t>後続対応</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913840730"/>
                  </a:ext>
                </a:extLst>
              </a:tr>
              <a:tr h="2024894">
                <a:tc>
                  <a:txBody>
                    <a:bodyPr/>
                    <a:lstStyle/>
                    <a:p>
                      <a:pPr algn="l" fontAlgn="ct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キャッシュカード</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喪失届なし</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11</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喪失届あり</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12</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・お客様に来店いただき、発見の手続を進める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2150497"/>
                  </a:ext>
                </a:extLst>
              </a:tr>
              <a:tr h="1418040">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一体型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・コード</a:t>
                      </a:r>
                      <a:r>
                        <a:rPr lang="en-US" altLang="ja-JP" sz="1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を設定するとともにカードセンターへ停止依頼をする</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ja-JP" altLang="en-US" sz="1900" b="0" i="0" u="none" strike="noStrike">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a:solidFill>
                            <a:srgbClr val="000000"/>
                          </a:solidFill>
                          <a:effectLst/>
                          <a:latin typeface="Meiryo UI" panose="020B0604030504040204" pitchFamily="50" charset="-128"/>
                          <a:ea typeface="Meiryo UI" panose="020B0604030504040204" pitchFamily="50" charset="-128"/>
                        </a:rPr>
                        <a:t>13</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ja-JP" altLang="en-US" sz="1900" b="0" i="0" u="none" strike="noStrike">
                          <a:solidFill>
                            <a:srgbClr val="000000"/>
                          </a:solidFill>
                          <a:effectLst/>
                          <a:latin typeface="Meiryo UI" panose="020B0604030504040204" pitchFamily="50" charset="-128"/>
                          <a:ea typeface="Meiryo UI" panose="020B0604030504040204" pitchFamily="50" charset="-128"/>
                        </a:rPr>
                        <a:t>・お客様に来店いただき、再発行依頼書とキャッシュカード暗証届を作成</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en-US" altLang="ja-JP" sz="1900" b="0" i="0" u="none" strike="noStrike">
                          <a:solidFill>
                            <a:srgbClr val="000000"/>
                          </a:solidFill>
                          <a:effectLst/>
                          <a:latin typeface="Meiryo UI" panose="020B0604030504040204" pitchFamily="50" charset="-128"/>
                          <a:ea typeface="Meiryo UI" panose="020B0604030504040204" pitchFamily="50" charset="-128"/>
                        </a:rPr>
                        <a:t>※Visa</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デビットの場合、再発行依頼書のみで</a:t>
                      </a:r>
                      <a:r>
                        <a:rPr lang="en-US" altLang="ja-JP" sz="1900" b="0" i="0" u="none" strike="noStrike">
                          <a:solidFill>
                            <a:srgbClr val="000000"/>
                          </a:solidFill>
                          <a:effectLst/>
                          <a:latin typeface="Meiryo UI" panose="020B0604030504040204" pitchFamily="50" charset="-128"/>
                          <a:ea typeface="Meiryo UI" panose="020B0604030504040204" pitchFamily="50" charset="-128"/>
                        </a:rPr>
                        <a:t>OK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6667602"/>
                  </a:ext>
                </a:extLst>
              </a:tr>
              <a:tr h="1418040">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単体型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時間内</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・カードセンターへの機能停止連絡を警察に依頼</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時間外</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JCB</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DC</a:t>
                      </a:r>
                      <a:r>
                        <a:rPr lang="ja-JP" altLang="en-US" sz="1900" b="0" i="0" u="none" strike="noStrike" dirty="0" err="1">
                          <a:solidFill>
                            <a:srgbClr val="000000"/>
                          </a:solidFill>
                          <a:effectLst/>
                          <a:latin typeface="Meiryo UI" panose="020B0604030504040204" pitchFamily="50" charset="-128"/>
                          <a:ea typeface="Meiryo UI" panose="020B0604030504040204" pitchFamily="50" charset="-128"/>
                        </a:rPr>
                        <a:t>への</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機能停止連絡を警察に依頼</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2621503"/>
                  </a:ext>
                </a:extLst>
              </a:tr>
              <a:tr h="337483">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解約・再発行済の無効なカード</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無効なカードであることを警察へ連絡</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965541"/>
                  </a:ext>
                </a:extLst>
              </a:tr>
            </a:tbl>
          </a:graphicData>
        </a:graphic>
      </p:graphicFrame>
      <p:sp>
        <p:nvSpPr>
          <p:cNvPr id="6" name="タイトル 1">
            <a:extLst>
              <a:ext uri="{FF2B5EF4-FFF2-40B4-BE49-F238E27FC236}">
                <a16:creationId xmlns:a16="http://schemas.microsoft.com/office/drawing/2014/main" id="{282FFE60-0594-4F0C-9E4D-17EF518E5B99}"/>
              </a:ext>
            </a:extLst>
          </p:cNvPr>
          <p:cNvSpPr txBox="1">
            <a:spLocks/>
          </p:cNvSpPr>
          <p:nvPr/>
        </p:nvSpPr>
        <p:spPr>
          <a:xfrm>
            <a:off x="624840" y="290480"/>
            <a:ext cx="11567160" cy="490613"/>
          </a:xfrm>
          <a:prstGeom prst="rect">
            <a:avLst/>
          </a:prstGeom>
        </p:spPr>
        <p:txBody>
          <a:bodyPr>
            <a:normAutofit/>
          </a:bodyPr>
          <a:lstStyle>
            <a:lvl1pPr algn="l" defTabSz="914411"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a:latin typeface="Meiryo UI" panose="020B0604030504040204" pitchFamily="50" charset="-128"/>
                <a:ea typeface="Meiryo UI" panose="020B0604030504040204" pitchFamily="50" charset="-128"/>
              </a:rPr>
              <a:t>カード種類ごとの後続対応</a:t>
            </a:r>
          </a:p>
        </p:txBody>
      </p:sp>
    </p:spTree>
    <p:extLst>
      <p:ext uri="{BB962C8B-B14F-4D97-AF65-F5344CB8AC3E}">
        <p14:creationId xmlns:p14="http://schemas.microsoft.com/office/powerpoint/2010/main" val="355968738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1651</TotalTime>
  <Words>656</Words>
  <Application>Microsoft Office PowerPoint</Application>
  <PresentationFormat>ワイド画面</PresentationFormat>
  <Paragraphs>142</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Meiryo UI</vt:lpstr>
      <vt:lpstr>游ゴシック</vt:lpstr>
      <vt:lpstr>游ゴシック Light</vt:lpstr>
      <vt:lpstr>Arial</vt:lpstr>
      <vt:lpstr>Wingdings</vt:lpstr>
      <vt:lpstr>Office テーマ</vt:lpstr>
      <vt:lpstr>喪失時の本人確認フロー</vt:lpstr>
      <vt:lpstr>喪失受付時の対応（①本人来店の場合）</vt:lpstr>
      <vt:lpstr>喪失受付時の対応（②本人来店で回答書を持参している場合）</vt:lpstr>
      <vt:lpstr>喪失受付時の対応（③本人来店で行員が来店者を熟知している場合）</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増田　勇</dc:creator>
  <cp:lastModifiedBy>中村　恵</cp:lastModifiedBy>
  <cp:revision>68</cp:revision>
  <dcterms:created xsi:type="dcterms:W3CDTF">2024-04-17T01:31:21Z</dcterms:created>
  <dcterms:modified xsi:type="dcterms:W3CDTF">2025-11-17T04:18:36Z</dcterms:modified>
</cp:coreProperties>
</file>