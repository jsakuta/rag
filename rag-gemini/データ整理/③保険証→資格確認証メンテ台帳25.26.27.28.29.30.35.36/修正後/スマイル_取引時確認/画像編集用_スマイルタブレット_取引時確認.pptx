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275" r:id="rId2"/>
    <p:sldId id="270" r:id="rId3"/>
    <p:sldId id="256" r:id="rId4"/>
    <p:sldId id="273" r:id="rId5"/>
    <p:sldId id="276" r:id="rId6"/>
    <p:sldId id="277" r:id="rId7"/>
    <p:sldId id="266" r:id="rId8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タイトルなしのセクション" id="{9EAF5EAF-A8B5-4E00-9104-CE5D0948039D}">
          <p14:sldIdLst>
            <p14:sldId id="275"/>
            <p14:sldId id="270"/>
            <p14:sldId id="256"/>
            <p14:sldId id="273"/>
            <p14:sldId id="276"/>
            <p14:sldId id="277"/>
            <p14:sldId id="26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79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宇野　央佳" initials="宇野　央佳" lastIdx="1" clrIdx="0">
    <p:extLst>
      <p:ext uri="{19B8F6BF-5375-455C-9EA6-DF929625EA0E}">
        <p15:presenceInfo xmlns:p15="http://schemas.microsoft.com/office/powerpoint/2012/main" userId="S-1-5-21-1957994488-527237240-1606980848-320963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CDADB"/>
    <a:srgbClr val="CCE8F4"/>
    <a:srgbClr val="203864"/>
    <a:srgbClr val="FFE7E7"/>
    <a:srgbClr val="FF9999"/>
    <a:srgbClr val="FFCCCC"/>
    <a:srgbClr val="D1D1D1"/>
    <a:srgbClr val="E7E7E7"/>
    <a:srgbClr val="E7FFFF"/>
    <a:srgbClr val="FB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間スタイル 2 - アクセント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9012ECD-51FC-41F1-AA8D-1B2483CD663E}" styleName="淡色スタイル 2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02" autoAdjust="0"/>
    <p:restoredTop sz="90387" autoAdjust="0"/>
  </p:normalViewPr>
  <p:slideViewPr>
    <p:cSldViewPr showGuides="1">
      <p:cViewPr varScale="1">
        <p:scale>
          <a:sx n="103" d="100"/>
          <a:sy n="103" d="100"/>
        </p:scale>
        <p:origin x="966" y="114"/>
      </p:cViewPr>
      <p:guideLst>
        <p:guide orient="horz" pos="799"/>
        <p:guide pos="3840"/>
      </p:guideLst>
    </p:cSldViewPr>
  </p:slideViewPr>
  <p:outlineViewPr>
    <p:cViewPr>
      <p:scale>
        <a:sx n="25" d="100"/>
        <a:sy n="25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63" d="100"/>
          <a:sy n="63" d="100"/>
        </p:scale>
        <p:origin x="3134" y="6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>
            <a:extLst>
              <a:ext uri="{FF2B5EF4-FFF2-40B4-BE49-F238E27FC236}">
                <a16:creationId xmlns:a16="http://schemas.microsoft.com/office/drawing/2014/main" id="{7D05CD8B-8866-4E21-A560-B83C05A5811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53FB4590-FAC1-495E-A284-41B89691950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527E39-6116-454A-85AB-9141B284831B}" type="datetimeFigureOut">
              <a:rPr kumimoji="1" lang="ja-JP" altLang="en-US" smtClean="0"/>
              <a:t>2025/11/17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E6DD62E6-4238-435B-81EE-F3E0E815155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3353732-A331-4035-A0CA-882B880730A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5A97EB-9DA7-47A5-BBF8-1AD063F0A6C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015274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3F95ED-5459-4CB6-B438-A1004EF8C93C}" type="datetimeFigureOut">
              <a:rPr kumimoji="1" lang="ja-JP" altLang="en-US" smtClean="0"/>
              <a:t>2025/11/17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2035B0-586F-490C-BA39-D51ABB28809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12057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2035B0-586F-490C-BA39-D51ABB288094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144712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2035B0-586F-490C-BA39-D51ABB288094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718314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CA2DD8-A486-45AF-99E9-845FD2F0C577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239233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2035B0-586F-490C-BA39-D51ABB288094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070149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2035B0-586F-490C-BA39-D51ABB288094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114278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07BD75F-2C67-4040-B637-705B49C33D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DD1E7B2A-B7D4-46F1-AF82-85E41152BF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4B042E8-ADFC-4F54-9D2A-BA45A88403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B44E7-93FF-4841-A0EB-B54F5BC6B093}" type="datetimeFigureOut">
              <a:rPr kumimoji="1" lang="ja-JP" altLang="en-US" smtClean="0"/>
              <a:t>2025/11/17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F1D1708-C7C5-40C4-BEA1-B952C9B5E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3FEE3CE-E771-488E-9A8B-372941310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0179F-B868-40AC-87CE-0CBA62B688B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35723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54EEC0-40E5-43B5-8474-FDFF6EA176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193" y="130631"/>
            <a:ext cx="3600000" cy="457200"/>
          </a:xfrm>
          <a:solidFill>
            <a:srgbClr val="203864"/>
          </a:solidFill>
        </p:spPr>
        <p:txBody>
          <a:bodyPr lIns="180000" tIns="0" rIns="180000" bIns="0">
            <a:noAutofit/>
          </a:bodyPr>
          <a:lstStyle>
            <a:lvl1pPr algn="l">
              <a:defRPr sz="18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3FDF5B1-44BA-42C8-9DC1-25D36B9F1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B44E7-93FF-4841-A0EB-B54F5BC6B093}" type="datetimeFigureOut">
              <a:rPr kumimoji="1" lang="ja-JP" altLang="en-US" smtClean="0"/>
              <a:t>2025/11/17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02DDAA0-1CD5-4784-98E9-6BED7D698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3E95E8D-47C7-4FDB-8782-7C6E4328D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0179F-B868-40AC-87CE-0CBA62B688B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88045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54EEC0-40E5-43B5-8474-FDFF6EA176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E54E2A8-47F6-4AF2-AE46-9926ACF266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3FDF5B1-44BA-42C8-9DC1-25D36B9F1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B44E7-93FF-4841-A0EB-B54F5BC6B093}" type="datetimeFigureOut">
              <a:rPr kumimoji="1" lang="ja-JP" altLang="en-US" smtClean="0"/>
              <a:t>2025/11/17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02DDAA0-1CD5-4784-98E9-6BED7D698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3E95E8D-47C7-4FDB-8782-7C6E4328D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0179F-B868-40AC-87CE-0CBA62B688B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144776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C013EDD-3ABB-4129-B099-93A2555C3B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D2C8042-38DE-4EC4-AFAA-8727D2221B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517FE33-7FF7-4724-9CF1-97D582960D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B44E7-93FF-4841-A0EB-B54F5BC6B093}" type="datetimeFigureOut">
              <a:rPr kumimoji="1" lang="ja-JP" altLang="en-US" smtClean="0"/>
              <a:t>2025/11/17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01CCD6B-E7E1-45AE-8F0F-C2FD81F4A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D90229F-C866-4255-895B-E9D100F25D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0179F-B868-40AC-87CE-0CBA62B688B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830604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2893C2C-8289-4894-99D5-9AE6BD75FB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2E0E102-42B0-44C2-B998-08920F414E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AB8FB0F-57B9-4F1B-925C-B5B82CEAD3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D960451-279B-4EEA-8F5F-C1770E2D92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B44E7-93FF-4841-A0EB-B54F5BC6B093}" type="datetimeFigureOut">
              <a:rPr kumimoji="1" lang="ja-JP" altLang="en-US" smtClean="0"/>
              <a:t>2025/11/17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B17F84E-882C-4020-B5EF-C422821580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FC18B31-946F-487A-9FD8-A4A1EAF56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0179F-B868-40AC-87CE-0CBA62B688B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038175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A947E96-0452-45FB-B3C5-C0A50BCE7C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AFB14D3-3CB7-402B-B7E0-654A9C4A09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CF85861-69CC-4A79-ADB4-CB57B938D1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C8EB3C3-51F0-4FD1-A23A-0B7C1F202E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AB371429-BA70-4B13-BA7D-1B49E27A21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7DC76252-DFC4-44AE-9B8E-6965F2AD09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B44E7-93FF-4841-A0EB-B54F5BC6B093}" type="datetimeFigureOut">
              <a:rPr kumimoji="1" lang="ja-JP" altLang="en-US" smtClean="0"/>
              <a:t>2025/11/17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B039293D-CE83-40A1-9966-E1E2D4378A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49A97A11-C606-4EB7-8311-A0A12E7DB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0179F-B868-40AC-87CE-0CBA62B688B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451719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9D3B711-E738-4CE1-9BBC-0D1D2EC1D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0F277F3E-D747-43F8-80BD-846ECE75A4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B44E7-93FF-4841-A0EB-B54F5BC6B093}" type="datetimeFigureOut">
              <a:rPr kumimoji="1" lang="ja-JP" altLang="en-US" smtClean="0"/>
              <a:t>2025/11/17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AF03BA3C-2C3F-4465-8D63-B23DEF2A4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9FE608C5-3498-4AFB-AC7E-B01923039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0179F-B868-40AC-87CE-0CBA62B688B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894879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8802ECFE-5CEF-49AD-80DD-91424980E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B44E7-93FF-4841-A0EB-B54F5BC6B093}" type="datetimeFigureOut">
              <a:rPr kumimoji="1" lang="ja-JP" altLang="en-US" smtClean="0"/>
              <a:t>2025/11/17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83C73B03-6DCA-4C76-B804-E56359BF0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BF00535-21EA-4B93-B29E-65EDC00208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0179F-B868-40AC-87CE-0CBA62B688B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623045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7205E43-909A-4791-B8D6-D8AD24B2AE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E336CC9-1C2B-43D1-A233-C214567400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82DFE4-3618-43A2-BAD2-6B22367020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F3099B9-59D0-49C6-877F-D8F32E1938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B44E7-93FF-4841-A0EB-B54F5BC6B093}" type="datetimeFigureOut">
              <a:rPr kumimoji="1" lang="ja-JP" altLang="en-US" smtClean="0"/>
              <a:t>2025/11/17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BE2643-11AB-4AF1-8874-03AC67DFC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205D8FC-EAD6-4EA7-B056-D7BDAA9396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0179F-B868-40AC-87CE-0CBA62B688B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31919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7949CEC-A14B-4147-A1DF-F69716F2C8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86181CB4-4057-4F7B-969C-03AAAB5A6C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C3D6F6B-5CE0-4181-BC23-7B67A5A73B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9A13E20-82A8-4318-9E7A-A597BCA95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B44E7-93FF-4841-A0EB-B54F5BC6B093}" type="datetimeFigureOut">
              <a:rPr kumimoji="1" lang="ja-JP" altLang="en-US" smtClean="0"/>
              <a:t>2025/11/17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B45E69A-2BA8-4772-8BA7-DCD0D771F7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33C9483-5AE7-43EF-9B13-1998F325D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0179F-B868-40AC-87CE-0CBA62B688B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153787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AC44628-A70D-4C07-BF48-08A6AA3762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5876C992-D4C6-471C-9C9B-54655C1E07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E57EB37-9637-48D9-88E1-74609EE4F2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B44E7-93FF-4841-A0EB-B54F5BC6B093}" type="datetimeFigureOut">
              <a:rPr kumimoji="1" lang="ja-JP" altLang="en-US" smtClean="0"/>
              <a:t>2025/11/17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3EA6591-C224-48D1-A5F8-2E38E1E37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4956418-06ED-4BCC-AD0F-CC4E96FBEE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0179F-B868-40AC-87CE-0CBA62B688B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111325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3E72B373-A25F-4DBF-8A0B-205DA90100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4547BEB2-C559-451C-B870-A32F34A8D1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75BD468-D631-47BB-8D81-6DBA232736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B44E7-93FF-4841-A0EB-B54F5BC6B093}" type="datetimeFigureOut">
              <a:rPr kumimoji="1" lang="ja-JP" altLang="en-US" smtClean="0"/>
              <a:t>2025/11/17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BCF0F0C-0784-4563-9237-93ADF7ACF9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06E0293-7EB8-4DFD-BFC0-95A24E352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0179F-B868-40AC-87CE-0CBA62B688B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206949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1E2C2184-5B1E-41C8-BB83-985BD91416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D015581-8863-4E3C-9862-D8232F04C0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45C31A5-AAE6-4124-9F48-CE83D88CA6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9B44E7-93FF-4841-A0EB-B54F5BC6B093}" type="datetimeFigureOut">
              <a:rPr kumimoji="1" lang="ja-JP" altLang="en-US" smtClean="0"/>
              <a:t>2025/11/17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EEDF7EA-BC32-4AA1-9A52-2580548C47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B5A7C97-9B41-49AB-A7FD-9A19E0DED2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A0179F-B868-40AC-87CE-0CBA62B688B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366694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B2E3D003-6058-4E89-9C57-DB6E962733E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6850"/>
          <a:stretch/>
        </p:blipFill>
        <p:spPr>
          <a:xfrm>
            <a:off x="2142930" y="1242197"/>
            <a:ext cx="7906140" cy="5211041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BB70DD05-8569-4293-83E3-E5189B6BFE3C}"/>
              </a:ext>
            </a:extLst>
          </p:cNvPr>
          <p:cNvSpPr/>
          <p:nvPr/>
        </p:nvSpPr>
        <p:spPr>
          <a:xfrm>
            <a:off x="4798105" y="2687177"/>
            <a:ext cx="1305460" cy="167322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ja-JP" altLang="en-US" sz="9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運転免許証</a:t>
            </a:r>
            <a:endParaRPr lang="en-US" altLang="ja-JP" sz="9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9DD5C524-F358-4CB3-B145-CDC284FC90CA}"/>
              </a:ext>
            </a:extLst>
          </p:cNvPr>
          <p:cNvSpPr/>
          <p:nvPr/>
        </p:nvSpPr>
        <p:spPr>
          <a:xfrm>
            <a:off x="4803683" y="3355281"/>
            <a:ext cx="3257838" cy="210830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endParaRPr lang="en-US" altLang="ja-JP" sz="900" spc="-1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2955F995-BF8A-4244-9BB1-831CB52E7174}"/>
              </a:ext>
            </a:extLst>
          </p:cNvPr>
          <p:cNvSpPr/>
          <p:nvPr/>
        </p:nvSpPr>
        <p:spPr>
          <a:xfrm>
            <a:off x="4804790" y="4155891"/>
            <a:ext cx="2052191" cy="185821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ja-JP" altLang="en-US" sz="9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電気料金領収書</a:t>
            </a:r>
            <a:endParaRPr lang="en-US" altLang="ja-JP" sz="9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5" name="四角形: 角を丸くする 44">
            <a:extLst>
              <a:ext uri="{FF2B5EF4-FFF2-40B4-BE49-F238E27FC236}">
                <a16:creationId xmlns:a16="http://schemas.microsoft.com/office/drawing/2014/main" id="{E059653F-243B-445C-9867-BB5B639E031B}"/>
              </a:ext>
            </a:extLst>
          </p:cNvPr>
          <p:cNvSpPr/>
          <p:nvPr/>
        </p:nvSpPr>
        <p:spPr>
          <a:xfrm>
            <a:off x="3709439" y="2619529"/>
            <a:ext cx="4646621" cy="1016875"/>
          </a:xfrm>
          <a:prstGeom prst="roundRect">
            <a:avLst>
              <a:gd name="adj" fmla="val 0"/>
            </a:avLst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8" name="四角形: 角を丸くする 47">
            <a:extLst>
              <a:ext uri="{FF2B5EF4-FFF2-40B4-BE49-F238E27FC236}">
                <a16:creationId xmlns:a16="http://schemas.microsoft.com/office/drawing/2014/main" id="{82266B9F-2DE7-4323-9B3B-CF24E0412034}"/>
              </a:ext>
            </a:extLst>
          </p:cNvPr>
          <p:cNvSpPr/>
          <p:nvPr/>
        </p:nvSpPr>
        <p:spPr>
          <a:xfrm>
            <a:off x="3709439" y="4066894"/>
            <a:ext cx="5867813" cy="1244961"/>
          </a:xfrm>
          <a:prstGeom prst="roundRect">
            <a:avLst>
              <a:gd name="adj" fmla="val 0"/>
            </a:avLst>
          </a:prstGeom>
          <a:noFill/>
          <a:ln w="57150">
            <a:solidFill>
              <a:srgbClr val="20386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6" name="四角形: 角を丸くする 45">
            <a:extLst>
              <a:ext uri="{FF2B5EF4-FFF2-40B4-BE49-F238E27FC236}">
                <a16:creationId xmlns:a16="http://schemas.microsoft.com/office/drawing/2014/main" id="{8BA6A09E-A7BF-4019-91EC-D1B4AEFE85F8}"/>
              </a:ext>
            </a:extLst>
          </p:cNvPr>
          <p:cNvSpPr/>
          <p:nvPr/>
        </p:nvSpPr>
        <p:spPr>
          <a:xfrm>
            <a:off x="8591969" y="3870892"/>
            <a:ext cx="3257836" cy="450926"/>
          </a:xfrm>
          <a:prstGeom prst="roundRect">
            <a:avLst>
              <a:gd name="adj" fmla="val 3227"/>
            </a:avLst>
          </a:prstGeom>
          <a:solidFill>
            <a:schemeClr val="bg1"/>
          </a:solidFill>
          <a:ln w="28575">
            <a:solidFill>
              <a:srgbClr val="20386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0" rIns="108000" bIns="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 sz="1800" b="1" dirty="0">
                <a:solidFill>
                  <a:srgbClr val="203864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名称：補完資料の名称を入力</a:t>
            </a:r>
            <a:endParaRPr lang="en-US" altLang="ja-JP" sz="1800" b="1" dirty="0">
              <a:solidFill>
                <a:srgbClr val="203864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7" name="楕円 46">
            <a:extLst>
              <a:ext uri="{FF2B5EF4-FFF2-40B4-BE49-F238E27FC236}">
                <a16:creationId xmlns:a16="http://schemas.microsoft.com/office/drawing/2014/main" id="{63C8C9E1-7FD7-4EA5-A7B4-F6E93143A0C6}"/>
              </a:ext>
            </a:extLst>
          </p:cNvPr>
          <p:cNvSpPr/>
          <p:nvPr/>
        </p:nvSpPr>
        <p:spPr>
          <a:xfrm>
            <a:off x="8357969" y="3649411"/>
            <a:ext cx="468000" cy="468000"/>
          </a:xfrm>
          <a:prstGeom prst="ellipse">
            <a:avLst/>
          </a:prstGeom>
          <a:solidFill>
            <a:srgbClr val="2038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36000" rtlCol="0" anchor="ctr"/>
          <a:lstStyle/>
          <a:p>
            <a:pPr algn="ctr"/>
            <a:r>
              <a:rPr kumimoji="1" lang="en-US" altLang="ja-JP" sz="16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B</a:t>
            </a: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8E5AB920-65FA-41C2-97C1-E14FB1699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000" y="152696"/>
            <a:ext cx="11664000" cy="540000"/>
          </a:xfrm>
          <a:solidFill>
            <a:srgbClr val="203864"/>
          </a:solidFill>
        </p:spPr>
        <p:txBody>
          <a:bodyPr vert="horz" lIns="180000" tIns="0" rIns="180000" bIns="0" rtlCol="0" anchor="ctr">
            <a:noAutofit/>
          </a:bodyPr>
          <a:lstStyle/>
          <a:p>
            <a:pPr algn="ctr"/>
            <a:r>
              <a:rPr lang="ja-JP" altLang="en-US" sz="2800" dirty="0">
                <a:solidFill>
                  <a:sysClr val="window" lastClr="FFFFFF"/>
                </a:solidFill>
              </a:rPr>
              <a:t>補完書類がある場合の入力方法</a:t>
            </a:r>
          </a:p>
        </p:txBody>
      </p:sp>
      <p:sp>
        <p:nvSpPr>
          <p:cNvPr id="3" name="四角形: 角を丸くする 2">
            <a:extLst>
              <a:ext uri="{FF2B5EF4-FFF2-40B4-BE49-F238E27FC236}">
                <a16:creationId xmlns:a16="http://schemas.microsoft.com/office/drawing/2014/main" id="{41B71801-0A14-455B-ACC2-6B375EAD21D4}"/>
              </a:ext>
            </a:extLst>
          </p:cNvPr>
          <p:cNvSpPr/>
          <p:nvPr/>
        </p:nvSpPr>
        <p:spPr>
          <a:xfrm>
            <a:off x="218117" y="737330"/>
            <a:ext cx="5400000" cy="665480"/>
          </a:xfrm>
          <a:prstGeom prst="roundRect">
            <a:avLst>
              <a:gd name="adj" fmla="val 5128"/>
            </a:avLst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 sz="1800" b="1" spc="-100" dirty="0">
                <a:solidFill>
                  <a:srgbClr val="203864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ご本人さま確認書類画面</a:t>
            </a:r>
            <a:endParaRPr lang="en-US" altLang="ja-JP" sz="1800" b="1" spc="-100" dirty="0">
              <a:solidFill>
                <a:srgbClr val="203864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3" name="四角形: 角を丸くする 42">
            <a:extLst>
              <a:ext uri="{FF2B5EF4-FFF2-40B4-BE49-F238E27FC236}">
                <a16:creationId xmlns:a16="http://schemas.microsoft.com/office/drawing/2014/main" id="{0FEF127D-8B81-450E-8234-27C8C16D8401}"/>
              </a:ext>
            </a:extLst>
          </p:cNvPr>
          <p:cNvSpPr/>
          <p:nvPr/>
        </p:nvSpPr>
        <p:spPr>
          <a:xfrm>
            <a:off x="7358137" y="2448247"/>
            <a:ext cx="3257837" cy="450926"/>
          </a:xfrm>
          <a:prstGeom prst="roundRect">
            <a:avLst>
              <a:gd name="adj" fmla="val 3227"/>
            </a:avLst>
          </a:prstGeom>
          <a:solidFill>
            <a:schemeClr val="bg1"/>
          </a:solidFill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0" rIns="108000" bIns="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 sz="1800" b="1" dirty="0">
                <a:solidFill>
                  <a:srgbClr val="C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種類①：本人確認書類を選択</a:t>
            </a:r>
            <a:endParaRPr lang="en-US" altLang="ja-JP" sz="1800" b="1" dirty="0">
              <a:solidFill>
                <a:srgbClr val="C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4" name="楕円 43">
            <a:extLst>
              <a:ext uri="{FF2B5EF4-FFF2-40B4-BE49-F238E27FC236}">
                <a16:creationId xmlns:a16="http://schemas.microsoft.com/office/drawing/2014/main" id="{2BF5B980-A810-4F2D-A116-660F231A261C}"/>
              </a:ext>
            </a:extLst>
          </p:cNvPr>
          <p:cNvSpPr/>
          <p:nvPr/>
        </p:nvSpPr>
        <p:spPr>
          <a:xfrm>
            <a:off x="7124138" y="2188307"/>
            <a:ext cx="468000" cy="468000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36000" rtlCol="0" anchor="ctr"/>
          <a:lstStyle/>
          <a:p>
            <a:pPr algn="ctr"/>
            <a:r>
              <a:rPr lang="en-US" altLang="ja-JP" sz="16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A</a:t>
            </a:r>
            <a:endParaRPr kumimoji="1" lang="en-US" altLang="ja-JP" sz="16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796827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E5AB920-65FA-41C2-97C1-E14FB1699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000" y="152696"/>
            <a:ext cx="11664000" cy="540000"/>
          </a:xfrm>
          <a:solidFill>
            <a:srgbClr val="203864"/>
          </a:solidFill>
        </p:spPr>
        <p:txBody>
          <a:bodyPr vert="horz" lIns="180000" tIns="0" rIns="180000" bIns="0" rtlCol="0" anchor="ctr">
            <a:noAutofit/>
          </a:bodyPr>
          <a:lstStyle/>
          <a:p>
            <a:pPr algn="ctr"/>
            <a:r>
              <a:rPr lang="ja-JP" altLang="en-US" sz="2800" dirty="0">
                <a:solidFill>
                  <a:sysClr val="window" lastClr="FFFFFF"/>
                </a:solidFill>
              </a:rPr>
              <a:t>公立学校の顔写真付き学生証を使用する場合の事務</a:t>
            </a:r>
          </a:p>
        </p:txBody>
      </p:sp>
      <p:sp>
        <p:nvSpPr>
          <p:cNvPr id="3" name="四角形: 角を丸くする 2">
            <a:extLst>
              <a:ext uri="{FF2B5EF4-FFF2-40B4-BE49-F238E27FC236}">
                <a16:creationId xmlns:a16="http://schemas.microsoft.com/office/drawing/2014/main" id="{41B71801-0A14-455B-ACC2-6B375EAD21D4}"/>
              </a:ext>
            </a:extLst>
          </p:cNvPr>
          <p:cNvSpPr/>
          <p:nvPr/>
        </p:nvSpPr>
        <p:spPr>
          <a:xfrm>
            <a:off x="218117" y="1706580"/>
            <a:ext cx="5400000" cy="665480"/>
          </a:xfrm>
          <a:prstGeom prst="roundRect">
            <a:avLst>
              <a:gd name="adj" fmla="val 5128"/>
            </a:avLst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 sz="1800" b="1" spc="-100" dirty="0">
                <a:solidFill>
                  <a:srgbClr val="203864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ご本人さま確認書類画面　</a:t>
            </a:r>
            <a:r>
              <a:rPr lang="en-US" altLang="ja-JP" sz="1800" b="1" spc="-100" dirty="0">
                <a:solidFill>
                  <a:srgbClr val="203864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1/2</a:t>
            </a: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B2E3D003-6058-4E89-9C57-DB6E962733E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6850"/>
          <a:stretch/>
        </p:blipFill>
        <p:spPr>
          <a:xfrm>
            <a:off x="264000" y="2246053"/>
            <a:ext cx="5400000" cy="3559211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pic>
        <p:nvPicPr>
          <p:cNvPr id="5" name="Picture 7">
            <a:extLst>
              <a:ext uri="{FF2B5EF4-FFF2-40B4-BE49-F238E27FC236}">
                <a16:creationId xmlns:a16="http://schemas.microsoft.com/office/drawing/2014/main" id="{607664C4-75F5-4DBC-AE7F-D9DB333219B8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528002" y="2246052"/>
            <a:ext cx="5400000" cy="3559212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  <a:extLst/>
        </p:spPr>
      </p:pic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ED99C69C-7C1E-4E9F-9F34-276EEEF390E4}"/>
              </a:ext>
            </a:extLst>
          </p:cNvPr>
          <p:cNvSpPr/>
          <p:nvPr/>
        </p:nvSpPr>
        <p:spPr>
          <a:xfrm>
            <a:off x="1992523" y="3409367"/>
            <a:ext cx="2225147" cy="144000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ja-JP" altLang="en-US" sz="900" spc="-1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学生証</a:t>
            </a:r>
            <a:endParaRPr lang="en-US" altLang="ja-JP" sz="900" spc="-1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BB70DD05-8569-4293-83E3-E5189B6BFE3C}"/>
              </a:ext>
            </a:extLst>
          </p:cNvPr>
          <p:cNvSpPr/>
          <p:nvPr/>
        </p:nvSpPr>
        <p:spPr>
          <a:xfrm>
            <a:off x="1988713" y="3232994"/>
            <a:ext cx="891647" cy="114283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ja-JP" altLang="en-US" sz="900" spc="-1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その他</a:t>
            </a:r>
            <a:endParaRPr lang="en-US" altLang="ja-JP" sz="900" spc="-1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9DD5C524-F358-4CB3-B145-CDC284FC90CA}"/>
              </a:ext>
            </a:extLst>
          </p:cNvPr>
          <p:cNvSpPr/>
          <p:nvPr/>
        </p:nvSpPr>
        <p:spPr>
          <a:xfrm>
            <a:off x="1992523" y="3689318"/>
            <a:ext cx="2225147" cy="144000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endParaRPr lang="en-US" altLang="ja-JP" sz="900" spc="-1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CCD6395F-F27A-419A-AE1B-F43304787D21}"/>
              </a:ext>
            </a:extLst>
          </p:cNvPr>
          <p:cNvSpPr/>
          <p:nvPr/>
        </p:nvSpPr>
        <p:spPr>
          <a:xfrm>
            <a:off x="6659733" y="1706580"/>
            <a:ext cx="5400000" cy="665480"/>
          </a:xfrm>
          <a:prstGeom prst="roundRect">
            <a:avLst>
              <a:gd name="adj" fmla="val 5128"/>
            </a:avLst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 sz="1800" b="1" spc="-100" dirty="0">
                <a:solidFill>
                  <a:srgbClr val="203864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ご本人さま確認書類画面 </a:t>
            </a:r>
            <a:r>
              <a:rPr lang="en-US" altLang="ja-JP" sz="1800" b="1" spc="-100" dirty="0">
                <a:solidFill>
                  <a:srgbClr val="203864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2/2</a:t>
            </a:r>
          </a:p>
        </p:txBody>
      </p:sp>
      <p:sp>
        <p:nvSpPr>
          <p:cNvPr id="6" name="二等辺三角形 5">
            <a:extLst>
              <a:ext uri="{FF2B5EF4-FFF2-40B4-BE49-F238E27FC236}">
                <a16:creationId xmlns:a16="http://schemas.microsoft.com/office/drawing/2014/main" id="{E9F248DF-64C2-4FC3-97AE-7B4C093E2638}"/>
              </a:ext>
            </a:extLst>
          </p:cNvPr>
          <p:cNvSpPr/>
          <p:nvPr/>
        </p:nvSpPr>
        <p:spPr>
          <a:xfrm rot="5400000">
            <a:off x="5771497" y="3859929"/>
            <a:ext cx="779757" cy="338000"/>
          </a:xfrm>
          <a:prstGeom prst="triangl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吹き出し: 折線 28">
            <a:extLst>
              <a:ext uri="{FF2B5EF4-FFF2-40B4-BE49-F238E27FC236}">
                <a16:creationId xmlns:a16="http://schemas.microsoft.com/office/drawing/2014/main" id="{EDA72C61-3438-491D-BF0F-2883CBE3055B}"/>
              </a:ext>
            </a:extLst>
          </p:cNvPr>
          <p:cNvSpPr/>
          <p:nvPr/>
        </p:nvSpPr>
        <p:spPr>
          <a:xfrm>
            <a:off x="7923841" y="2405730"/>
            <a:ext cx="2713351" cy="402141"/>
          </a:xfrm>
          <a:prstGeom prst="borderCallout2">
            <a:avLst>
              <a:gd name="adj1" fmla="val 52338"/>
              <a:gd name="adj2" fmla="val 500"/>
              <a:gd name="adj3" fmla="val 53728"/>
              <a:gd name="adj4" fmla="val -5402"/>
              <a:gd name="adj5" fmla="val 153961"/>
              <a:gd name="adj6" fmla="val -20699"/>
            </a:avLst>
          </a:prstGeom>
          <a:solidFill>
            <a:schemeClr val="bg1"/>
          </a:solidFill>
          <a:ln w="28575">
            <a:solidFill>
              <a:srgbClr val="FF0000"/>
            </a:solidFill>
            <a:tailEnd type="oval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0" rIns="0" bIns="0" rtlCol="0" anchor="ctr"/>
          <a:lstStyle/>
          <a:p>
            <a:r>
              <a:rPr lang="ja-JP" altLang="en-US" sz="16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「受付者へ」ボタンをクリック</a:t>
            </a:r>
            <a:endParaRPr lang="en-US" altLang="ja-JP" sz="16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5" name="吹き出し: 折線 14">
            <a:extLst>
              <a:ext uri="{FF2B5EF4-FFF2-40B4-BE49-F238E27FC236}">
                <a16:creationId xmlns:a16="http://schemas.microsoft.com/office/drawing/2014/main" id="{56F6F176-0BFD-4C48-8EAF-9BFF3F9CC18A}"/>
              </a:ext>
            </a:extLst>
          </p:cNvPr>
          <p:cNvSpPr/>
          <p:nvPr/>
        </p:nvSpPr>
        <p:spPr>
          <a:xfrm>
            <a:off x="3790413" y="3775120"/>
            <a:ext cx="1872208" cy="579226"/>
          </a:xfrm>
          <a:prstGeom prst="borderCallout2">
            <a:avLst>
              <a:gd name="adj1" fmla="val 18750"/>
              <a:gd name="adj2" fmla="val -539"/>
              <a:gd name="adj3" fmla="val 18750"/>
              <a:gd name="adj4" fmla="val -16667"/>
              <a:gd name="adj5" fmla="val -65519"/>
              <a:gd name="adj6" fmla="val -45628"/>
            </a:avLst>
          </a:prstGeom>
          <a:solidFill>
            <a:schemeClr val="bg1"/>
          </a:solidFill>
          <a:ln w="28575">
            <a:solidFill>
              <a:srgbClr val="FF0000"/>
            </a:solidFill>
            <a:tailEnd type="oval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0" rIns="0" bIns="0" rtlCol="0" anchor="ctr"/>
          <a:lstStyle/>
          <a:p>
            <a:r>
              <a:rPr lang="ja-JP" altLang="en-US" sz="16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種類①：その他</a:t>
            </a:r>
            <a:endParaRPr lang="en-US" altLang="ja-JP" sz="16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ja-JP" altLang="en-US" sz="16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　　　　　　学生証</a:t>
            </a:r>
            <a:endParaRPr lang="en-US" altLang="ja-JP" sz="16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5" name="楕円 24">
            <a:extLst>
              <a:ext uri="{FF2B5EF4-FFF2-40B4-BE49-F238E27FC236}">
                <a16:creationId xmlns:a16="http://schemas.microsoft.com/office/drawing/2014/main" id="{308ECE02-19A6-4A7D-A4B8-A3E749D237C1}"/>
              </a:ext>
            </a:extLst>
          </p:cNvPr>
          <p:cNvSpPr/>
          <p:nvPr/>
        </p:nvSpPr>
        <p:spPr>
          <a:xfrm>
            <a:off x="7792110" y="2246052"/>
            <a:ext cx="324000" cy="324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36000" rtlCol="0" anchor="ctr"/>
          <a:lstStyle/>
          <a:p>
            <a:pPr algn="ctr"/>
            <a:r>
              <a:rPr kumimoji="1" lang="en-US" altLang="ja-JP" sz="16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1</a:t>
            </a:r>
          </a:p>
        </p:txBody>
      </p:sp>
      <p:sp>
        <p:nvSpPr>
          <p:cNvPr id="32" name="吹き出し: 折線 31">
            <a:extLst>
              <a:ext uri="{FF2B5EF4-FFF2-40B4-BE49-F238E27FC236}">
                <a16:creationId xmlns:a16="http://schemas.microsoft.com/office/drawing/2014/main" id="{B78E2941-79E7-49AF-A329-0B38F99F9BFA}"/>
              </a:ext>
            </a:extLst>
          </p:cNvPr>
          <p:cNvSpPr/>
          <p:nvPr/>
        </p:nvSpPr>
        <p:spPr>
          <a:xfrm>
            <a:off x="9690283" y="3715536"/>
            <a:ext cx="2233975" cy="402141"/>
          </a:xfrm>
          <a:prstGeom prst="borderCallout2">
            <a:avLst>
              <a:gd name="adj1" fmla="val 54757"/>
              <a:gd name="adj2" fmla="val 65"/>
              <a:gd name="adj3" fmla="val 53728"/>
              <a:gd name="adj4" fmla="val -5402"/>
              <a:gd name="adj5" fmla="val -15367"/>
              <a:gd name="adj6" fmla="val -13296"/>
            </a:avLst>
          </a:prstGeom>
          <a:solidFill>
            <a:schemeClr val="bg1"/>
          </a:solidFill>
          <a:ln w="28575">
            <a:solidFill>
              <a:srgbClr val="FF0000"/>
            </a:solidFill>
            <a:tailEnd type="oval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0" rIns="0" bIns="0" rtlCol="0" anchor="ctr"/>
          <a:lstStyle/>
          <a:p>
            <a:r>
              <a:rPr lang="ja-JP" altLang="en-US" sz="16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「郵送」ボタンをクリック</a:t>
            </a:r>
          </a:p>
        </p:txBody>
      </p:sp>
      <p:sp>
        <p:nvSpPr>
          <p:cNvPr id="30" name="楕円 29">
            <a:extLst>
              <a:ext uri="{FF2B5EF4-FFF2-40B4-BE49-F238E27FC236}">
                <a16:creationId xmlns:a16="http://schemas.microsoft.com/office/drawing/2014/main" id="{089A5F4D-6C76-438E-AFC0-8D1DFD407573}"/>
              </a:ext>
            </a:extLst>
          </p:cNvPr>
          <p:cNvSpPr/>
          <p:nvPr/>
        </p:nvSpPr>
        <p:spPr>
          <a:xfrm>
            <a:off x="9558552" y="3553536"/>
            <a:ext cx="324000" cy="324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36000" rtlCol="0" anchor="ctr"/>
          <a:lstStyle/>
          <a:p>
            <a:pPr algn="ctr"/>
            <a:r>
              <a:rPr lang="en-US" altLang="ja-JP" sz="16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2</a:t>
            </a:r>
            <a:endParaRPr kumimoji="1" lang="en-US" altLang="ja-JP" sz="16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8328146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B9618515-961E-4FC6-A3BE-F07BCD02AE97}"/>
              </a:ext>
            </a:extLst>
          </p:cNvPr>
          <p:cNvSpPr txBox="1"/>
          <p:nvPr/>
        </p:nvSpPr>
        <p:spPr>
          <a:xfrm>
            <a:off x="264000" y="152696"/>
            <a:ext cx="11664000" cy="540000"/>
          </a:xfrm>
          <a:prstGeom prst="rect">
            <a:avLst/>
          </a:prstGeom>
          <a:solidFill>
            <a:srgbClr val="203864"/>
          </a:solidFill>
        </p:spPr>
        <p:txBody>
          <a:bodyPr vert="horz" lIns="180000" tIns="0" rIns="180000" bIns="0" rtlCol="0" anchor="ctr">
            <a:noAutofit/>
          </a:bodyPr>
          <a:lstStyle>
            <a:lvl1pPr algn="ctr">
              <a:lnSpc>
                <a:spcPct val="90000"/>
              </a:lnSpc>
              <a:spcBef>
                <a:spcPct val="0"/>
              </a:spcBef>
              <a:buNone/>
              <a:defRPr sz="2800" b="1">
                <a:solidFill>
                  <a:sysClr val="window" lastClr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j-cs"/>
              </a:defRPr>
            </a:lvl1pPr>
          </a:lstStyle>
          <a:p>
            <a:r>
              <a:rPr lang="ja-JP" altLang="en-US" dirty="0"/>
              <a:t>注意すべき書類一覧</a:t>
            </a:r>
          </a:p>
        </p:txBody>
      </p:sp>
      <p:graphicFrame>
        <p:nvGraphicFramePr>
          <p:cNvPr id="2" name="表 1">
            <a:extLst>
              <a:ext uri="{FF2B5EF4-FFF2-40B4-BE49-F238E27FC236}">
                <a16:creationId xmlns:a16="http://schemas.microsoft.com/office/drawing/2014/main" id="{764616FD-4FCF-4FBC-8777-95B0A2EF46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8549678"/>
              </p:ext>
            </p:extLst>
          </p:nvPr>
        </p:nvGraphicFramePr>
        <p:xfrm>
          <a:off x="1174773" y="1457138"/>
          <a:ext cx="9842455" cy="4553964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4721102">
                  <a:extLst>
                    <a:ext uri="{9D8B030D-6E8A-4147-A177-3AD203B41FA5}">
                      <a16:colId xmlns:a16="http://schemas.microsoft.com/office/drawing/2014/main" val="60940747"/>
                    </a:ext>
                  </a:extLst>
                </a:gridCol>
                <a:gridCol w="5121353">
                  <a:extLst>
                    <a:ext uri="{9D8B030D-6E8A-4147-A177-3AD203B41FA5}">
                      <a16:colId xmlns:a16="http://schemas.microsoft.com/office/drawing/2014/main" val="4153218013"/>
                    </a:ext>
                  </a:extLst>
                </a:gridCol>
              </a:tblGrid>
              <a:tr h="73563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0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確認書類名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0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マスキング箇所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93884109"/>
                  </a:ext>
                </a:extLst>
              </a:tr>
              <a:tr h="754555"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b="1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個人番号カード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kumimoji="1" lang="ja-JP" altLang="ja-JP" sz="1800" b="1" kern="1200" dirty="0">
                          <a:solidFill>
                            <a:srgbClr val="FF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表面のみを</a:t>
                      </a:r>
                      <a:r>
                        <a:rPr kumimoji="1" lang="ja-JP" altLang="en-US" sz="1800" b="1" kern="1200" dirty="0">
                          <a:solidFill>
                            <a:srgbClr val="FF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スキャン</a:t>
                      </a:r>
                      <a:endParaRPr kumimoji="1" lang="en-US" altLang="ja-JP" sz="1800" b="1" kern="1200" dirty="0">
                        <a:solidFill>
                          <a:srgbClr val="FF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  <a:p>
                      <a:r>
                        <a:rPr kumimoji="1" lang="ja-JP" altLang="ja-JP" sz="1800" b="1" u="none" kern="1200" dirty="0">
                          <a:solidFill>
                            <a:srgbClr val="FF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決して裏面の写しを取得しない</a:t>
                      </a:r>
                      <a:endParaRPr kumimoji="1" lang="ja-JP" altLang="en-US" b="1" u="none" dirty="0">
                        <a:solidFill>
                          <a:srgbClr val="FF0000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70301028"/>
                  </a:ext>
                </a:extLst>
              </a:tr>
              <a:tr h="735635"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b="1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国民年金手帳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kumimoji="1" lang="ja-JP" altLang="en-US" b="1" dirty="0">
                          <a:solidFill>
                            <a:srgbClr val="FF0000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基礎年金番号</a:t>
                      </a:r>
                      <a:r>
                        <a:rPr kumimoji="1" lang="en-US" altLang="ja-JP" b="1" baseline="30000" dirty="0">
                          <a:solidFill>
                            <a:srgbClr val="FF0000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※</a:t>
                      </a:r>
                      <a:endParaRPr kumimoji="1" lang="ja-JP" altLang="en-US" b="1" baseline="30000" dirty="0">
                        <a:solidFill>
                          <a:srgbClr val="FF0000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88826957"/>
                  </a:ext>
                </a:extLst>
              </a:tr>
              <a:tr h="754555"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b="1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健康保険等の資格確認書</a:t>
                      </a:r>
                      <a:endParaRPr kumimoji="1" lang="en-US" altLang="ja-JP" b="1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kumimoji="1" lang="ja-JP" altLang="en-US" b="1" dirty="0">
                          <a:solidFill>
                            <a:srgbClr val="FF0000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保険者番号及び被保険者等記号・番号・枝番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kumimoji="1" lang="ja-JP" altLang="en-US" b="1" dirty="0">
                          <a:solidFill>
                            <a:srgbClr val="FF0000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ＱＲコードのある保険証等はＱＲコード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77495885"/>
                  </a:ext>
                </a:extLst>
              </a:tr>
              <a:tr h="735635"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b="1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生活保護受給者の医療券・調剤券・介護券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kumimoji="1" lang="ja-JP" altLang="ja-JP" sz="1800" b="1" kern="1200" dirty="0">
                          <a:solidFill>
                            <a:srgbClr val="FF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公費負担者番号及び受給者番号</a:t>
                      </a:r>
                      <a:endParaRPr kumimoji="1" lang="ja-JP" altLang="en-US" b="1" dirty="0">
                        <a:solidFill>
                          <a:srgbClr val="FF0000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4315400"/>
                  </a:ext>
                </a:extLst>
              </a:tr>
              <a:tr h="735635"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b="1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自衛官診療証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kumimoji="1" lang="ja-JP" altLang="ja-JP" sz="1800" b="1" kern="1200" dirty="0">
                          <a:solidFill>
                            <a:srgbClr val="FF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発行者符号及び自衛官診療証記号・番号</a:t>
                      </a:r>
                      <a:endParaRPr kumimoji="1" lang="ja-JP" altLang="en-US" b="1" dirty="0">
                        <a:solidFill>
                          <a:srgbClr val="FF0000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5187798"/>
                  </a:ext>
                </a:extLst>
              </a:tr>
            </a:tbl>
          </a:graphicData>
        </a:graphic>
      </p:graphicFrame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47CFA07-1BDC-42D9-8C2B-D9148F19895E}"/>
              </a:ext>
            </a:extLst>
          </p:cNvPr>
          <p:cNvSpPr txBox="1"/>
          <p:nvPr/>
        </p:nvSpPr>
        <p:spPr>
          <a:xfrm>
            <a:off x="264000" y="6309320"/>
            <a:ext cx="11664000" cy="342203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r>
              <a:rPr kumimoji="1" lang="en-US" altLang="ja-JP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※</a:t>
            </a:r>
            <a:r>
              <a:rPr lang="ja-JP" altLang="ja-JP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国民年金欄の記号・番号のほか、厚生年金保険・船員保険の欄の記号・番号も「基礎年金番号」</a:t>
            </a:r>
            <a:r>
              <a:rPr lang="ja-JP" altLang="en-US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となるためマスキングすること</a:t>
            </a:r>
            <a:endParaRPr kumimoji="1" lang="ja-JP" altLang="en-US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15D2BE7A-0840-41A6-B1FB-9F6C8BA79DC6}"/>
              </a:ext>
            </a:extLst>
          </p:cNvPr>
          <p:cNvSpPr txBox="1"/>
          <p:nvPr/>
        </p:nvSpPr>
        <p:spPr>
          <a:xfrm>
            <a:off x="2118852" y="908720"/>
            <a:ext cx="79542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>
                <a:latin typeface="Meiryo UI" panose="020B0604030504040204" pitchFamily="50" charset="-128"/>
                <a:ea typeface="Meiryo UI" panose="020B0604030504040204" pitchFamily="50" charset="-128"/>
              </a:rPr>
              <a:t>機微（センシティブ）情報については、別途事務基準をご確認ください。</a:t>
            </a:r>
          </a:p>
        </p:txBody>
      </p:sp>
    </p:spTree>
    <p:extLst>
      <p:ext uri="{BB962C8B-B14F-4D97-AF65-F5344CB8AC3E}">
        <p14:creationId xmlns:p14="http://schemas.microsoft.com/office/powerpoint/2010/main" val="17920886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E5AB920-65FA-41C2-97C1-E14FB1699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000" y="130631"/>
            <a:ext cx="11664000" cy="540000"/>
          </a:xfrm>
          <a:solidFill>
            <a:srgbClr val="203864"/>
          </a:solidFill>
        </p:spPr>
        <p:txBody>
          <a:bodyPr vert="horz" lIns="180000" tIns="0" rIns="180000" bIns="0" rtlCol="0" anchor="ctr">
            <a:noAutofit/>
          </a:bodyPr>
          <a:lstStyle/>
          <a:p>
            <a:pPr algn="ctr"/>
            <a:r>
              <a:rPr lang="ja-JP" altLang="en-US" sz="2800" dirty="0">
                <a:solidFill>
                  <a:sysClr val="window" lastClr="FFFFFF"/>
                </a:solidFill>
              </a:rPr>
              <a:t>スマイルと確認記録票の違い（お取引目的・お取引の種類）</a:t>
            </a:r>
            <a:endParaRPr lang="ja-JP" altLang="ja-JP" sz="2800" dirty="0">
              <a:solidFill>
                <a:sysClr val="window" lastClr="FFFFFF"/>
              </a:solidFill>
            </a:endParaRPr>
          </a:p>
        </p:txBody>
      </p:sp>
      <p:sp>
        <p:nvSpPr>
          <p:cNvPr id="3" name="四角形: 角を丸くする 2">
            <a:extLst>
              <a:ext uri="{FF2B5EF4-FFF2-40B4-BE49-F238E27FC236}">
                <a16:creationId xmlns:a16="http://schemas.microsoft.com/office/drawing/2014/main" id="{41B71801-0A14-455B-ACC2-6B375EAD21D4}"/>
              </a:ext>
            </a:extLst>
          </p:cNvPr>
          <p:cNvSpPr/>
          <p:nvPr/>
        </p:nvSpPr>
        <p:spPr>
          <a:xfrm>
            <a:off x="218117" y="3903943"/>
            <a:ext cx="5481642" cy="415462"/>
          </a:xfrm>
          <a:prstGeom prst="roundRect">
            <a:avLst>
              <a:gd name="adj" fmla="val 5128"/>
            </a:avLst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ja-JP" sz="1800" spc="-100" dirty="0">
              <a:solidFill>
                <a:srgbClr val="203864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13" name="図 12">
            <a:extLst>
              <a:ext uri="{FF2B5EF4-FFF2-40B4-BE49-F238E27FC236}">
                <a16:creationId xmlns:a16="http://schemas.microsoft.com/office/drawing/2014/main" id="{40050CED-A5E8-4403-AB96-25AD3C5EDA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901" y="4283476"/>
            <a:ext cx="1620001" cy="2312137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sp>
        <p:nvSpPr>
          <p:cNvPr id="14" name="四角形: 角を丸くする 13">
            <a:extLst>
              <a:ext uri="{FF2B5EF4-FFF2-40B4-BE49-F238E27FC236}">
                <a16:creationId xmlns:a16="http://schemas.microsoft.com/office/drawing/2014/main" id="{DAEF2711-A679-4024-B16E-41758D70A4AB}"/>
              </a:ext>
            </a:extLst>
          </p:cNvPr>
          <p:cNvSpPr/>
          <p:nvPr/>
        </p:nvSpPr>
        <p:spPr>
          <a:xfrm>
            <a:off x="6437205" y="5098456"/>
            <a:ext cx="1584697" cy="522288"/>
          </a:xfrm>
          <a:prstGeom prst="roundRect">
            <a:avLst>
              <a:gd name="adj" fmla="val 3854"/>
            </a:avLst>
          </a:prstGeom>
          <a:noFill/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8C7EE8CC-ADF1-495C-897A-8489C6BF5404}"/>
              </a:ext>
            </a:extLst>
          </p:cNvPr>
          <p:cNvCxnSpPr>
            <a:cxnSpLocks/>
          </p:cNvCxnSpPr>
          <p:nvPr/>
        </p:nvCxnSpPr>
        <p:spPr>
          <a:xfrm flipH="1" flipV="1">
            <a:off x="5561466" y="4901104"/>
            <a:ext cx="859440" cy="163047"/>
          </a:xfrm>
          <a:prstGeom prst="line">
            <a:avLst/>
          </a:prstGeom>
          <a:ln w="38100" cap="rnd">
            <a:solidFill>
              <a:schemeClr val="bg1">
                <a:lumMod val="50000"/>
              </a:schemeClr>
            </a:solidFill>
            <a:prstDash val="dash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図 14">
            <a:extLst>
              <a:ext uri="{FF2B5EF4-FFF2-40B4-BE49-F238E27FC236}">
                <a16:creationId xmlns:a16="http://schemas.microsoft.com/office/drawing/2014/main" id="{2B7BA763-B6E1-42FB-B442-9D3149C460B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687" t="34798" r="1688" b="43967"/>
          <a:stretch/>
        </p:blipFill>
        <p:spPr>
          <a:xfrm>
            <a:off x="370212" y="4896551"/>
            <a:ext cx="5238764" cy="1677835"/>
          </a:xfrm>
          <a:prstGeom prst="rect">
            <a:avLst/>
          </a:prstGeom>
        </p:spPr>
      </p:pic>
      <p:sp>
        <p:nvSpPr>
          <p:cNvPr id="23" name="四角形: 角を丸くする 22">
            <a:extLst>
              <a:ext uri="{FF2B5EF4-FFF2-40B4-BE49-F238E27FC236}">
                <a16:creationId xmlns:a16="http://schemas.microsoft.com/office/drawing/2014/main" id="{F787C71C-DAA0-4FDF-9263-B3842DC4689C}"/>
              </a:ext>
            </a:extLst>
          </p:cNvPr>
          <p:cNvSpPr/>
          <p:nvPr/>
        </p:nvSpPr>
        <p:spPr>
          <a:xfrm>
            <a:off x="350850" y="4849955"/>
            <a:ext cx="1944000" cy="1728000"/>
          </a:xfrm>
          <a:prstGeom prst="roundRect">
            <a:avLst>
              <a:gd name="adj" fmla="val 3854"/>
            </a:avLst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四角形: 角を丸くする 23">
            <a:extLst>
              <a:ext uri="{FF2B5EF4-FFF2-40B4-BE49-F238E27FC236}">
                <a16:creationId xmlns:a16="http://schemas.microsoft.com/office/drawing/2014/main" id="{A69E7853-C4E4-4662-BF93-7CF946ADEF91}"/>
              </a:ext>
            </a:extLst>
          </p:cNvPr>
          <p:cNvSpPr/>
          <p:nvPr/>
        </p:nvSpPr>
        <p:spPr>
          <a:xfrm>
            <a:off x="2349972" y="4849955"/>
            <a:ext cx="3240000" cy="1728000"/>
          </a:xfrm>
          <a:prstGeom prst="roundRect">
            <a:avLst>
              <a:gd name="adj" fmla="val 3854"/>
            </a:avLst>
          </a:prstGeom>
          <a:noFill/>
          <a:ln w="57150">
            <a:solidFill>
              <a:srgbClr val="20386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" name="四角形: 角を丸くする 31">
            <a:extLst>
              <a:ext uri="{FF2B5EF4-FFF2-40B4-BE49-F238E27FC236}">
                <a16:creationId xmlns:a16="http://schemas.microsoft.com/office/drawing/2014/main" id="{226F7B8C-1D42-4853-9795-3836BE234EB3}"/>
              </a:ext>
            </a:extLst>
          </p:cNvPr>
          <p:cNvSpPr/>
          <p:nvPr/>
        </p:nvSpPr>
        <p:spPr>
          <a:xfrm>
            <a:off x="6382897" y="3908496"/>
            <a:ext cx="1620001" cy="415462"/>
          </a:xfrm>
          <a:prstGeom prst="roundRect">
            <a:avLst>
              <a:gd name="adj" fmla="val 5128"/>
            </a:avLst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 sz="1600" spc="-100" dirty="0">
                <a:solidFill>
                  <a:srgbClr val="203864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確認記録票全体</a:t>
            </a:r>
            <a:endParaRPr lang="en-US" altLang="ja-JP" sz="1600" b="1" spc="-100" dirty="0">
              <a:solidFill>
                <a:srgbClr val="203864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34" name="直線コネクタ 33">
            <a:extLst>
              <a:ext uri="{FF2B5EF4-FFF2-40B4-BE49-F238E27FC236}">
                <a16:creationId xmlns:a16="http://schemas.microsoft.com/office/drawing/2014/main" id="{1A047671-20EE-4A26-835D-0A13F3364F43}"/>
              </a:ext>
            </a:extLst>
          </p:cNvPr>
          <p:cNvCxnSpPr>
            <a:cxnSpLocks/>
          </p:cNvCxnSpPr>
          <p:nvPr/>
        </p:nvCxnSpPr>
        <p:spPr>
          <a:xfrm flipH="1">
            <a:off x="5561466" y="5648833"/>
            <a:ext cx="859441" cy="925553"/>
          </a:xfrm>
          <a:prstGeom prst="line">
            <a:avLst/>
          </a:prstGeom>
          <a:ln w="38100" cap="rnd">
            <a:solidFill>
              <a:schemeClr val="bg1">
                <a:lumMod val="50000"/>
              </a:schemeClr>
            </a:solidFill>
            <a:prstDash val="dash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図 25">
            <a:extLst>
              <a:ext uri="{FF2B5EF4-FFF2-40B4-BE49-F238E27FC236}">
                <a16:creationId xmlns:a16="http://schemas.microsoft.com/office/drawing/2014/main" id="{DC3E591D-741E-43F7-98DA-FA0A8BD0EFF4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70" t="612" r="1161" b="31304"/>
          <a:stretch/>
        </p:blipFill>
        <p:spPr>
          <a:xfrm>
            <a:off x="308414" y="1124791"/>
            <a:ext cx="5301048" cy="257989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717851FC-8BFE-4F3D-9DAD-54DA9D4EA505}"/>
              </a:ext>
            </a:extLst>
          </p:cNvPr>
          <p:cNvSpPr/>
          <p:nvPr/>
        </p:nvSpPr>
        <p:spPr>
          <a:xfrm>
            <a:off x="690522" y="1526923"/>
            <a:ext cx="1380087" cy="318028"/>
          </a:xfrm>
          <a:prstGeom prst="roundRect">
            <a:avLst>
              <a:gd name="adj" fmla="val 3227"/>
            </a:avLst>
          </a:prstGeom>
          <a:solidFill>
            <a:schemeClr val="bg1"/>
          </a:solidFill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0" rIns="108000" bIns="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 sz="1600" b="1" dirty="0">
                <a:solidFill>
                  <a:srgbClr val="C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取引の種類</a:t>
            </a:r>
            <a:endParaRPr lang="en-US" altLang="ja-JP" sz="1600" b="1" dirty="0">
              <a:solidFill>
                <a:srgbClr val="C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3" name="楕円 32">
            <a:extLst>
              <a:ext uri="{FF2B5EF4-FFF2-40B4-BE49-F238E27FC236}">
                <a16:creationId xmlns:a16="http://schemas.microsoft.com/office/drawing/2014/main" id="{36BC98D1-AED6-4A8B-AF43-F069A090951D}"/>
              </a:ext>
            </a:extLst>
          </p:cNvPr>
          <p:cNvSpPr/>
          <p:nvPr/>
        </p:nvSpPr>
        <p:spPr>
          <a:xfrm>
            <a:off x="538479" y="1383556"/>
            <a:ext cx="324000" cy="324000"/>
          </a:xfrm>
          <a:prstGeom prst="ellipse">
            <a:avLst/>
          </a:prstGeom>
          <a:solidFill>
            <a:srgbClr val="C00000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36000" rtlCol="0" anchor="ctr"/>
          <a:lstStyle/>
          <a:p>
            <a:pPr algn="ctr"/>
            <a:r>
              <a:rPr lang="en-US" altLang="ja-JP" sz="16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A</a:t>
            </a:r>
            <a:endParaRPr kumimoji="1" lang="en-US" altLang="ja-JP" sz="16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5" name="四角形: 角を丸くする 34">
            <a:extLst>
              <a:ext uri="{FF2B5EF4-FFF2-40B4-BE49-F238E27FC236}">
                <a16:creationId xmlns:a16="http://schemas.microsoft.com/office/drawing/2014/main" id="{521C7E47-4297-4C5F-9D70-03869B0FC935}"/>
              </a:ext>
            </a:extLst>
          </p:cNvPr>
          <p:cNvSpPr/>
          <p:nvPr/>
        </p:nvSpPr>
        <p:spPr>
          <a:xfrm>
            <a:off x="2428604" y="1534134"/>
            <a:ext cx="1542783" cy="304113"/>
          </a:xfrm>
          <a:prstGeom prst="roundRect">
            <a:avLst>
              <a:gd name="adj" fmla="val 3227"/>
            </a:avLst>
          </a:prstGeom>
          <a:solidFill>
            <a:schemeClr val="bg1"/>
          </a:solidFill>
          <a:ln w="28575">
            <a:solidFill>
              <a:srgbClr val="20386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0" rIns="108000" bIns="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 sz="1600" b="1" dirty="0">
                <a:solidFill>
                  <a:srgbClr val="203864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お取引の目的</a:t>
            </a:r>
            <a:endParaRPr lang="en-US" altLang="ja-JP" sz="1600" b="1" dirty="0">
              <a:solidFill>
                <a:srgbClr val="203864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6" name="楕円 35">
            <a:extLst>
              <a:ext uri="{FF2B5EF4-FFF2-40B4-BE49-F238E27FC236}">
                <a16:creationId xmlns:a16="http://schemas.microsoft.com/office/drawing/2014/main" id="{3423A0C1-46D2-4D99-B6D3-654D837378A2}"/>
              </a:ext>
            </a:extLst>
          </p:cNvPr>
          <p:cNvSpPr/>
          <p:nvPr/>
        </p:nvSpPr>
        <p:spPr>
          <a:xfrm>
            <a:off x="2254933" y="1389570"/>
            <a:ext cx="324000" cy="324000"/>
          </a:xfrm>
          <a:prstGeom prst="ellipse">
            <a:avLst/>
          </a:prstGeom>
          <a:solidFill>
            <a:srgbClr val="203864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36000" rtlCol="0" anchor="ctr"/>
          <a:lstStyle/>
          <a:p>
            <a:pPr algn="ctr"/>
            <a:r>
              <a:rPr lang="en-US" altLang="ja-JP" sz="16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B</a:t>
            </a:r>
          </a:p>
        </p:txBody>
      </p:sp>
      <p:sp>
        <p:nvSpPr>
          <p:cNvPr id="38" name="四角形: 角を丸くする 37">
            <a:extLst>
              <a:ext uri="{FF2B5EF4-FFF2-40B4-BE49-F238E27FC236}">
                <a16:creationId xmlns:a16="http://schemas.microsoft.com/office/drawing/2014/main" id="{7A136987-516D-4541-84DC-B56DE1BB3908}"/>
              </a:ext>
            </a:extLst>
          </p:cNvPr>
          <p:cNvSpPr/>
          <p:nvPr/>
        </p:nvSpPr>
        <p:spPr>
          <a:xfrm>
            <a:off x="600662" y="2024959"/>
            <a:ext cx="1496060" cy="1019693"/>
          </a:xfrm>
          <a:prstGeom prst="roundRect">
            <a:avLst>
              <a:gd name="adj" fmla="val 3854"/>
            </a:avLst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9" name="四角形: 角を丸くする 38">
            <a:extLst>
              <a:ext uri="{FF2B5EF4-FFF2-40B4-BE49-F238E27FC236}">
                <a16:creationId xmlns:a16="http://schemas.microsoft.com/office/drawing/2014/main" id="{C47DF5BB-C99B-4B37-9BD3-C8EB28710FF1}"/>
              </a:ext>
            </a:extLst>
          </p:cNvPr>
          <p:cNvSpPr/>
          <p:nvPr/>
        </p:nvSpPr>
        <p:spPr>
          <a:xfrm>
            <a:off x="2157870" y="2024959"/>
            <a:ext cx="3259706" cy="1019693"/>
          </a:xfrm>
          <a:prstGeom prst="roundRect">
            <a:avLst>
              <a:gd name="adj" fmla="val 3854"/>
            </a:avLst>
          </a:prstGeom>
          <a:noFill/>
          <a:ln w="57150">
            <a:solidFill>
              <a:srgbClr val="20386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四角形: 角を丸くする 24">
            <a:extLst>
              <a:ext uri="{FF2B5EF4-FFF2-40B4-BE49-F238E27FC236}">
                <a16:creationId xmlns:a16="http://schemas.microsoft.com/office/drawing/2014/main" id="{7F797AE0-3FCD-4AF0-90B3-88D4AF4E2A34}"/>
              </a:ext>
            </a:extLst>
          </p:cNvPr>
          <p:cNvSpPr/>
          <p:nvPr/>
        </p:nvSpPr>
        <p:spPr>
          <a:xfrm>
            <a:off x="6096000" y="1015257"/>
            <a:ext cx="5692111" cy="2647426"/>
          </a:xfrm>
          <a:prstGeom prst="roundRect">
            <a:avLst>
              <a:gd name="adj" fmla="val 1789"/>
            </a:avLst>
          </a:prstGeom>
          <a:solidFill>
            <a:schemeClr val="accent1">
              <a:lumMod val="20000"/>
              <a:lumOff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sz="1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紙の確認記録票とスマイルは、「取引の種類」「お取引の目的」が異なる表現で記載されています。</a:t>
            </a:r>
            <a:endParaRPr lang="en-US" altLang="ja-JP" sz="16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ja-JP" altLang="en-US" sz="1600" dirty="0">
                <a:solidFill>
                  <a:srgbClr val="203864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　　</a:t>
            </a:r>
            <a:r>
              <a:rPr lang="en-US" altLang="ja-JP" sz="1600" dirty="0">
                <a:solidFill>
                  <a:srgbClr val="203864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【 </a:t>
            </a:r>
            <a:r>
              <a:rPr lang="ja-JP" altLang="en-US" sz="1600" dirty="0">
                <a:solidFill>
                  <a:srgbClr val="203864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　</a:t>
            </a:r>
            <a:r>
              <a:rPr lang="ja-JP" altLang="en-US" sz="1600" b="1" dirty="0">
                <a:solidFill>
                  <a:srgbClr val="203864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紙</a:t>
            </a:r>
            <a:r>
              <a:rPr lang="ja-JP" altLang="en-US" sz="1600" dirty="0">
                <a:solidFill>
                  <a:srgbClr val="203864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　 </a:t>
            </a:r>
            <a:r>
              <a:rPr lang="en-US" altLang="ja-JP" sz="1600" dirty="0">
                <a:solidFill>
                  <a:srgbClr val="203864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】</a:t>
            </a:r>
            <a:r>
              <a:rPr lang="ja-JP" altLang="en-US" sz="1600" dirty="0">
                <a:solidFill>
                  <a:srgbClr val="203864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「</a:t>
            </a:r>
            <a:r>
              <a:rPr lang="ja-JP" altLang="en-US" sz="16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取引の種類</a:t>
            </a:r>
            <a:r>
              <a:rPr lang="ja-JP" altLang="en-US" sz="1600" dirty="0">
                <a:solidFill>
                  <a:srgbClr val="203864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」「</a:t>
            </a:r>
            <a:r>
              <a:rPr lang="ja-JP" altLang="en-US" sz="1600" b="1" dirty="0">
                <a:solidFill>
                  <a:srgbClr val="203864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お取引の目的</a:t>
            </a:r>
            <a:r>
              <a:rPr lang="ja-JP" altLang="en-US" sz="1600" dirty="0">
                <a:solidFill>
                  <a:srgbClr val="203864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」</a:t>
            </a:r>
            <a:endParaRPr lang="en-US" altLang="ja-JP" sz="1600" dirty="0">
              <a:solidFill>
                <a:srgbClr val="203864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ja-JP" altLang="en-US" sz="1600" dirty="0">
                <a:solidFill>
                  <a:srgbClr val="203864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　　</a:t>
            </a:r>
            <a:r>
              <a:rPr lang="en-US" altLang="ja-JP" sz="1600" dirty="0">
                <a:solidFill>
                  <a:srgbClr val="203864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【</a:t>
            </a:r>
            <a:r>
              <a:rPr lang="ja-JP" altLang="en-US" sz="1600" b="1" dirty="0">
                <a:solidFill>
                  <a:srgbClr val="203864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スマイル</a:t>
            </a:r>
            <a:r>
              <a:rPr lang="en-US" altLang="ja-JP" sz="1600" dirty="0">
                <a:solidFill>
                  <a:srgbClr val="203864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】</a:t>
            </a:r>
            <a:r>
              <a:rPr lang="ja-JP" altLang="en-US" sz="1600" dirty="0">
                <a:solidFill>
                  <a:srgbClr val="203864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「</a:t>
            </a:r>
            <a:r>
              <a:rPr lang="ja-JP" altLang="en-US" sz="1600" b="1" dirty="0">
                <a:solidFill>
                  <a:srgbClr val="203864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今回のお取引の目的</a:t>
            </a:r>
            <a:r>
              <a:rPr lang="ja-JP" altLang="en-US" sz="1600" dirty="0">
                <a:solidFill>
                  <a:srgbClr val="203864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」</a:t>
            </a:r>
            <a:endParaRPr lang="en-US" altLang="ja-JP" sz="1600" dirty="0">
              <a:solidFill>
                <a:srgbClr val="203864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ja-JP" altLang="en-US" sz="1600" dirty="0">
                <a:solidFill>
                  <a:srgbClr val="203864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　</a:t>
            </a:r>
            <a:r>
              <a:rPr lang="ja-JP" altLang="en-US" sz="1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　対応関係を本画像から確認してください。</a:t>
            </a:r>
            <a:endParaRPr lang="en-US" altLang="ja-JP" sz="16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endParaRPr lang="en-US" altLang="ja-JP" sz="1600" dirty="0">
              <a:solidFill>
                <a:srgbClr val="203864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sz="1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紙の確認記録票では</a:t>
            </a:r>
            <a:r>
              <a:rPr lang="ja-JP" altLang="en-US" sz="16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取引の種類</a:t>
            </a:r>
            <a:r>
              <a:rPr lang="ja-JP" altLang="en-US" sz="1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で「</a:t>
            </a:r>
            <a:r>
              <a:rPr lang="en-US" altLang="ja-JP" sz="1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99:</a:t>
            </a:r>
            <a:r>
              <a:rPr lang="ja-JP" altLang="en-US" sz="1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その他」を選択した　場合、詳細を記入しますが、スマイルでは</a:t>
            </a:r>
            <a:r>
              <a:rPr lang="ja-JP" altLang="en-US" sz="16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取引の種類</a:t>
            </a:r>
            <a:r>
              <a:rPr lang="ja-JP" altLang="en-US" sz="1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の詳細を入力する必要はありません。</a:t>
            </a:r>
            <a:endParaRPr lang="en-US" altLang="ja-JP" sz="16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0" name="四角形: 角を丸くする 39">
            <a:extLst>
              <a:ext uri="{FF2B5EF4-FFF2-40B4-BE49-F238E27FC236}">
                <a16:creationId xmlns:a16="http://schemas.microsoft.com/office/drawing/2014/main" id="{BE7669CE-94B6-43C6-B968-FEEC58E5F074}"/>
              </a:ext>
            </a:extLst>
          </p:cNvPr>
          <p:cNvSpPr/>
          <p:nvPr/>
        </p:nvSpPr>
        <p:spPr>
          <a:xfrm>
            <a:off x="639951" y="2087273"/>
            <a:ext cx="116152" cy="765692"/>
          </a:xfrm>
          <a:prstGeom prst="roundRect">
            <a:avLst>
              <a:gd name="adj" fmla="val 5128"/>
            </a:avLst>
          </a:prstGeom>
          <a:solidFill>
            <a:srgbClr val="DCDADB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lIns="0" tIns="36000" rIns="0" bIns="0"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 sz="700" b="1" spc="-1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今回のお取引の目的</a:t>
            </a:r>
            <a:endParaRPr lang="en-US" altLang="ja-JP" sz="700" b="1" spc="-1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7" name="四角形: 角を丸くする 36">
            <a:extLst>
              <a:ext uri="{FF2B5EF4-FFF2-40B4-BE49-F238E27FC236}">
                <a16:creationId xmlns:a16="http://schemas.microsoft.com/office/drawing/2014/main" id="{7FFF2AC3-0A4B-418C-8994-7DE5576014C9}"/>
              </a:ext>
            </a:extLst>
          </p:cNvPr>
          <p:cNvSpPr/>
          <p:nvPr/>
        </p:nvSpPr>
        <p:spPr>
          <a:xfrm>
            <a:off x="487403" y="4472132"/>
            <a:ext cx="1380087" cy="318028"/>
          </a:xfrm>
          <a:prstGeom prst="roundRect">
            <a:avLst>
              <a:gd name="adj" fmla="val 3227"/>
            </a:avLst>
          </a:prstGeom>
          <a:solidFill>
            <a:schemeClr val="bg1"/>
          </a:solidFill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0" rIns="108000" bIns="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 sz="1600" b="1" dirty="0">
                <a:solidFill>
                  <a:srgbClr val="C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取引の種類</a:t>
            </a:r>
            <a:endParaRPr lang="en-US" altLang="ja-JP" sz="1600" b="1" dirty="0">
              <a:solidFill>
                <a:srgbClr val="C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1" name="楕円 40">
            <a:extLst>
              <a:ext uri="{FF2B5EF4-FFF2-40B4-BE49-F238E27FC236}">
                <a16:creationId xmlns:a16="http://schemas.microsoft.com/office/drawing/2014/main" id="{6E743BCB-B946-449E-B1CD-8A4B97668781}"/>
              </a:ext>
            </a:extLst>
          </p:cNvPr>
          <p:cNvSpPr/>
          <p:nvPr/>
        </p:nvSpPr>
        <p:spPr>
          <a:xfrm>
            <a:off x="335360" y="4328765"/>
            <a:ext cx="324000" cy="324000"/>
          </a:xfrm>
          <a:prstGeom prst="ellipse">
            <a:avLst/>
          </a:prstGeom>
          <a:solidFill>
            <a:srgbClr val="C00000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36000" rtlCol="0" anchor="ctr"/>
          <a:lstStyle/>
          <a:p>
            <a:pPr algn="ctr"/>
            <a:r>
              <a:rPr lang="en-US" altLang="ja-JP" sz="16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A</a:t>
            </a:r>
            <a:endParaRPr kumimoji="1" lang="en-US" altLang="ja-JP" sz="16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2" name="四角形: 角を丸くする 41">
            <a:extLst>
              <a:ext uri="{FF2B5EF4-FFF2-40B4-BE49-F238E27FC236}">
                <a16:creationId xmlns:a16="http://schemas.microsoft.com/office/drawing/2014/main" id="{EB89C144-30F3-442D-8450-F15E1EA48E6C}"/>
              </a:ext>
            </a:extLst>
          </p:cNvPr>
          <p:cNvSpPr/>
          <p:nvPr/>
        </p:nvSpPr>
        <p:spPr>
          <a:xfrm>
            <a:off x="2455351" y="4478210"/>
            <a:ext cx="1542783" cy="304113"/>
          </a:xfrm>
          <a:prstGeom prst="roundRect">
            <a:avLst>
              <a:gd name="adj" fmla="val 3227"/>
            </a:avLst>
          </a:prstGeom>
          <a:solidFill>
            <a:schemeClr val="bg1"/>
          </a:solidFill>
          <a:ln w="28575">
            <a:solidFill>
              <a:srgbClr val="20386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0" rIns="108000" bIns="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 sz="1600" b="1" dirty="0">
                <a:solidFill>
                  <a:srgbClr val="203864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お取引の目的</a:t>
            </a:r>
            <a:endParaRPr lang="en-US" altLang="ja-JP" sz="1600" b="1" dirty="0">
              <a:solidFill>
                <a:srgbClr val="203864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3" name="楕円 42">
            <a:extLst>
              <a:ext uri="{FF2B5EF4-FFF2-40B4-BE49-F238E27FC236}">
                <a16:creationId xmlns:a16="http://schemas.microsoft.com/office/drawing/2014/main" id="{9515952C-6CC6-4845-93AA-AC3C76514846}"/>
              </a:ext>
            </a:extLst>
          </p:cNvPr>
          <p:cNvSpPr/>
          <p:nvPr/>
        </p:nvSpPr>
        <p:spPr>
          <a:xfrm>
            <a:off x="2281680" y="4333646"/>
            <a:ext cx="324000" cy="324000"/>
          </a:xfrm>
          <a:prstGeom prst="ellipse">
            <a:avLst/>
          </a:prstGeom>
          <a:solidFill>
            <a:srgbClr val="203864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36000" rtlCol="0" anchor="ctr"/>
          <a:lstStyle/>
          <a:p>
            <a:pPr algn="ctr"/>
            <a:r>
              <a:rPr lang="en-US" altLang="ja-JP" sz="16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B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947EBA3E-65E7-4AC8-80C0-D740C8823898}"/>
              </a:ext>
            </a:extLst>
          </p:cNvPr>
          <p:cNvSpPr/>
          <p:nvPr/>
        </p:nvSpPr>
        <p:spPr>
          <a:xfrm>
            <a:off x="309540" y="706805"/>
            <a:ext cx="3672408" cy="360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ja-JP" altLang="en-US" spc="-100" dirty="0">
                <a:solidFill>
                  <a:schemeClr val="accent1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スマイル　</a:t>
            </a:r>
            <a:r>
              <a:rPr lang="ja-JP" altLang="en-US" b="1" spc="-100" dirty="0">
                <a:solidFill>
                  <a:schemeClr val="accent1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「お取引の目的</a:t>
            </a:r>
            <a:r>
              <a:rPr lang="ja-JP" altLang="en-US" spc="-100" dirty="0">
                <a:solidFill>
                  <a:schemeClr val="accent1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・ご職業</a:t>
            </a:r>
            <a:r>
              <a:rPr lang="ja-JP" altLang="en-US" b="1" spc="-100" dirty="0">
                <a:solidFill>
                  <a:schemeClr val="accent1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」</a:t>
            </a:r>
            <a:r>
              <a:rPr lang="ja-JP" altLang="en-US" spc="-100" dirty="0">
                <a:solidFill>
                  <a:schemeClr val="accent1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画面</a:t>
            </a:r>
            <a:endParaRPr lang="en-US" altLang="ja-JP" spc="-100" dirty="0">
              <a:solidFill>
                <a:schemeClr val="accent1">
                  <a:lumMod val="50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7" name="正方形/長方形 46">
            <a:extLst>
              <a:ext uri="{FF2B5EF4-FFF2-40B4-BE49-F238E27FC236}">
                <a16:creationId xmlns:a16="http://schemas.microsoft.com/office/drawing/2014/main" id="{B5D65C7C-EE79-487D-A6CD-BAFE6BAAAE2A}"/>
              </a:ext>
            </a:extLst>
          </p:cNvPr>
          <p:cNvSpPr/>
          <p:nvPr/>
        </p:nvSpPr>
        <p:spPr>
          <a:xfrm>
            <a:off x="309540" y="3896483"/>
            <a:ext cx="5570436" cy="360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ja-JP" altLang="en-US" spc="-100" dirty="0">
                <a:solidFill>
                  <a:srgbClr val="203864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紙の確認記録票　</a:t>
            </a:r>
            <a:r>
              <a:rPr lang="ja-JP" altLang="en-US" b="1" spc="-100" dirty="0">
                <a:solidFill>
                  <a:srgbClr val="203864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「取引の種類」・「今回のお取引の目的」</a:t>
            </a:r>
            <a:r>
              <a:rPr lang="ja-JP" altLang="en-US" spc="-100" dirty="0">
                <a:solidFill>
                  <a:srgbClr val="203864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欄</a:t>
            </a:r>
            <a:endParaRPr lang="en-US" altLang="ja-JP" spc="-100" dirty="0">
              <a:solidFill>
                <a:srgbClr val="203864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0378454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E5AB920-65FA-41C2-97C1-E14FB1699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000" y="130631"/>
            <a:ext cx="11664000" cy="540000"/>
          </a:xfrm>
          <a:solidFill>
            <a:srgbClr val="203864"/>
          </a:solidFill>
        </p:spPr>
        <p:txBody>
          <a:bodyPr vert="horz" lIns="180000" tIns="0" rIns="180000" bIns="0" rtlCol="0" anchor="ctr">
            <a:noAutofit/>
          </a:bodyPr>
          <a:lstStyle/>
          <a:p>
            <a:pPr algn="ctr"/>
            <a:r>
              <a:rPr lang="ja-JP" altLang="en-US" sz="2800" dirty="0">
                <a:solidFill>
                  <a:sysClr val="window" lastClr="FFFFFF"/>
                </a:solidFill>
              </a:rPr>
              <a:t>お取引目的・お取引の種類の入力方法</a:t>
            </a:r>
            <a:endParaRPr lang="ja-JP" altLang="ja-JP" sz="2800" dirty="0">
              <a:solidFill>
                <a:sysClr val="window" lastClr="FFFFFF"/>
              </a:solidFill>
            </a:endParaRPr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6219C105-0531-4A7B-8288-0529FACCB16C}"/>
              </a:ext>
            </a:extLst>
          </p:cNvPr>
          <p:cNvSpPr/>
          <p:nvPr/>
        </p:nvSpPr>
        <p:spPr>
          <a:xfrm>
            <a:off x="189583" y="856622"/>
            <a:ext cx="5400000" cy="665480"/>
          </a:xfrm>
          <a:prstGeom prst="roundRect">
            <a:avLst>
              <a:gd name="adj" fmla="val 5128"/>
            </a:avLst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 sz="1800" spc="-100" dirty="0">
                <a:solidFill>
                  <a:srgbClr val="203864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スマイル　</a:t>
            </a:r>
            <a:r>
              <a:rPr lang="ja-JP" altLang="en-US" sz="1800" b="1" spc="-100" dirty="0">
                <a:solidFill>
                  <a:srgbClr val="203864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「お取引の目的」</a:t>
            </a:r>
            <a:r>
              <a:rPr lang="ja-JP" altLang="en-US" sz="1800" spc="-100" dirty="0">
                <a:solidFill>
                  <a:srgbClr val="203864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入力画面</a:t>
            </a:r>
            <a:endParaRPr lang="en-US" altLang="ja-JP" sz="1800" spc="-100" dirty="0">
              <a:solidFill>
                <a:srgbClr val="203864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26" name="図 25">
            <a:extLst>
              <a:ext uri="{FF2B5EF4-FFF2-40B4-BE49-F238E27FC236}">
                <a16:creationId xmlns:a16="http://schemas.microsoft.com/office/drawing/2014/main" id="{DC3E591D-741E-43F7-98DA-FA0A8BD0EFF4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70" t="612" r="1161" b="31304"/>
          <a:stretch/>
        </p:blipFill>
        <p:spPr>
          <a:xfrm>
            <a:off x="1314822" y="1515668"/>
            <a:ext cx="9562356" cy="4653764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sp>
        <p:nvSpPr>
          <p:cNvPr id="38" name="四角形: 角を丸くする 37">
            <a:extLst>
              <a:ext uri="{FF2B5EF4-FFF2-40B4-BE49-F238E27FC236}">
                <a16:creationId xmlns:a16="http://schemas.microsoft.com/office/drawing/2014/main" id="{7A136987-516D-4541-84DC-B56DE1BB3908}"/>
              </a:ext>
            </a:extLst>
          </p:cNvPr>
          <p:cNvSpPr/>
          <p:nvPr/>
        </p:nvSpPr>
        <p:spPr>
          <a:xfrm>
            <a:off x="2177319" y="3194050"/>
            <a:ext cx="2358557" cy="1778880"/>
          </a:xfrm>
          <a:prstGeom prst="roundRect">
            <a:avLst>
              <a:gd name="adj" fmla="val 3854"/>
            </a:avLst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rgbClr val="C00000"/>
              </a:solidFill>
            </a:endParaRPr>
          </a:p>
        </p:txBody>
      </p:sp>
      <p:sp>
        <p:nvSpPr>
          <p:cNvPr id="39" name="四角形: 角を丸くする 38">
            <a:extLst>
              <a:ext uri="{FF2B5EF4-FFF2-40B4-BE49-F238E27FC236}">
                <a16:creationId xmlns:a16="http://schemas.microsoft.com/office/drawing/2014/main" id="{C47DF5BB-C99B-4B37-9BD3-C8EB28710FF1}"/>
              </a:ext>
            </a:extLst>
          </p:cNvPr>
          <p:cNvSpPr/>
          <p:nvPr/>
        </p:nvSpPr>
        <p:spPr>
          <a:xfrm>
            <a:off x="4594245" y="3194050"/>
            <a:ext cx="5854755" cy="1778880"/>
          </a:xfrm>
          <a:prstGeom prst="roundRect">
            <a:avLst>
              <a:gd name="adj" fmla="val 3854"/>
            </a:avLst>
          </a:prstGeom>
          <a:noFill/>
          <a:ln w="57150">
            <a:solidFill>
              <a:srgbClr val="20386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86D6E06E-1964-4FC6-904F-D9CA4201B41A}"/>
              </a:ext>
            </a:extLst>
          </p:cNvPr>
          <p:cNvSpPr txBox="1"/>
          <p:nvPr/>
        </p:nvSpPr>
        <p:spPr>
          <a:xfrm>
            <a:off x="4702648" y="4568715"/>
            <a:ext cx="3567357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kumimoji="1" lang="ja-JP" altLang="en-US" sz="12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B5CB2D82-2014-45C9-9ED3-990581F70FDA}"/>
              </a:ext>
            </a:extLst>
          </p:cNvPr>
          <p:cNvSpPr/>
          <p:nvPr/>
        </p:nvSpPr>
        <p:spPr>
          <a:xfrm>
            <a:off x="4595556" y="4530962"/>
            <a:ext cx="201369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ja-JP" altLang="en-US" sz="1600" b="1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本人特定事項の確認</a:t>
            </a:r>
          </a:p>
        </p:txBody>
      </p:sp>
      <p:sp>
        <p:nvSpPr>
          <p:cNvPr id="50" name="四角形: 角を丸くする 49">
            <a:extLst>
              <a:ext uri="{FF2B5EF4-FFF2-40B4-BE49-F238E27FC236}">
                <a16:creationId xmlns:a16="http://schemas.microsoft.com/office/drawing/2014/main" id="{81CB3D02-63CD-4F0E-A49E-E9F9BE53DFCE}"/>
              </a:ext>
            </a:extLst>
          </p:cNvPr>
          <p:cNvSpPr/>
          <p:nvPr/>
        </p:nvSpPr>
        <p:spPr>
          <a:xfrm>
            <a:off x="2580883" y="5039657"/>
            <a:ext cx="1348318" cy="450926"/>
          </a:xfrm>
          <a:prstGeom prst="roundRect">
            <a:avLst>
              <a:gd name="adj" fmla="val 3227"/>
            </a:avLst>
          </a:prstGeom>
          <a:solidFill>
            <a:schemeClr val="bg1"/>
          </a:solidFill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0" rIns="108000" bIns="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 sz="1600" b="1" dirty="0">
                <a:solidFill>
                  <a:srgbClr val="C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取引の種類</a:t>
            </a:r>
            <a:endParaRPr lang="en-US" altLang="ja-JP" sz="1600" b="1" dirty="0">
              <a:solidFill>
                <a:srgbClr val="C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1" name="楕円 50">
            <a:extLst>
              <a:ext uri="{FF2B5EF4-FFF2-40B4-BE49-F238E27FC236}">
                <a16:creationId xmlns:a16="http://schemas.microsoft.com/office/drawing/2014/main" id="{92417421-2674-4129-BEB5-0820D89DFC02}"/>
              </a:ext>
            </a:extLst>
          </p:cNvPr>
          <p:cNvSpPr/>
          <p:nvPr/>
        </p:nvSpPr>
        <p:spPr>
          <a:xfrm>
            <a:off x="2381485" y="4841657"/>
            <a:ext cx="396000" cy="396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36000" rtlCol="0" anchor="ctr"/>
          <a:lstStyle/>
          <a:p>
            <a:pPr algn="ctr"/>
            <a:r>
              <a:rPr lang="en-US" altLang="ja-JP" sz="16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A</a:t>
            </a:r>
            <a:endParaRPr kumimoji="1" lang="en-US" altLang="ja-JP" sz="16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2" name="四角形: 角を丸くする 51">
            <a:extLst>
              <a:ext uri="{FF2B5EF4-FFF2-40B4-BE49-F238E27FC236}">
                <a16:creationId xmlns:a16="http://schemas.microsoft.com/office/drawing/2014/main" id="{22602CEA-2727-49EA-A171-7D322DA1C329}"/>
              </a:ext>
            </a:extLst>
          </p:cNvPr>
          <p:cNvSpPr/>
          <p:nvPr/>
        </p:nvSpPr>
        <p:spPr>
          <a:xfrm>
            <a:off x="4846427" y="5038443"/>
            <a:ext cx="1537605" cy="450926"/>
          </a:xfrm>
          <a:prstGeom prst="roundRect">
            <a:avLst>
              <a:gd name="adj" fmla="val 3227"/>
            </a:avLst>
          </a:prstGeom>
          <a:solidFill>
            <a:schemeClr val="bg1"/>
          </a:solidFill>
          <a:ln w="28575">
            <a:solidFill>
              <a:srgbClr val="20386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0" rIns="108000" bIns="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 sz="1600" b="1" dirty="0">
                <a:solidFill>
                  <a:srgbClr val="203864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お取引の目的</a:t>
            </a:r>
            <a:endParaRPr lang="en-US" altLang="ja-JP" sz="1600" b="1" dirty="0">
              <a:solidFill>
                <a:srgbClr val="203864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3" name="楕円 52">
            <a:extLst>
              <a:ext uri="{FF2B5EF4-FFF2-40B4-BE49-F238E27FC236}">
                <a16:creationId xmlns:a16="http://schemas.microsoft.com/office/drawing/2014/main" id="{35F1EEC6-E61A-4295-A838-500C55A0145D}"/>
              </a:ext>
            </a:extLst>
          </p:cNvPr>
          <p:cNvSpPr/>
          <p:nvPr/>
        </p:nvSpPr>
        <p:spPr>
          <a:xfrm>
            <a:off x="4647029" y="4840443"/>
            <a:ext cx="396000" cy="396000"/>
          </a:xfrm>
          <a:prstGeom prst="ellipse">
            <a:avLst/>
          </a:prstGeom>
          <a:solidFill>
            <a:srgbClr val="2038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36000" rtlCol="0" anchor="ctr"/>
          <a:lstStyle/>
          <a:p>
            <a:pPr algn="ctr"/>
            <a:r>
              <a:rPr lang="en-US" altLang="ja-JP" sz="1600" b="1">
                <a:latin typeface="Meiryo UI" panose="020B0604030504040204" pitchFamily="50" charset="-128"/>
                <a:ea typeface="Meiryo UI" panose="020B0604030504040204" pitchFamily="50" charset="-128"/>
              </a:rPr>
              <a:t>B</a:t>
            </a:r>
            <a:endParaRPr lang="en-US" altLang="ja-JP" sz="16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7" name="吹き出し: 折線 26">
            <a:extLst>
              <a:ext uri="{FF2B5EF4-FFF2-40B4-BE49-F238E27FC236}">
                <a16:creationId xmlns:a16="http://schemas.microsoft.com/office/drawing/2014/main" id="{2E2D73B6-0133-4F85-8737-D1D9E4B88901}"/>
              </a:ext>
            </a:extLst>
          </p:cNvPr>
          <p:cNvSpPr/>
          <p:nvPr/>
        </p:nvSpPr>
        <p:spPr>
          <a:xfrm>
            <a:off x="5037771" y="2388690"/>
            <a:ext cx="4321811" cy="462224"/>
          </a:xfrm>
          <a:prstGeom prst="borderCallout2">
            <a:avLst>
              <a:gd name="adj1" fmla="val 44004"/>
              <a:gd name="adj2" fmla="val -89"/>
              <a:gd name="adj3" fmla="val 44004"/>
              <a:gd name="adj4" fmla="val -6538"/>
              <a:gd name="adj5" fmla="val 298566"/>
              <a:gd name="adj6" fmla="val -20643"/>
            </a:avLst>
          </a:prstGeom>
          <a:solidFill>
            <a:schemeClr val="bg1"/>
          </a:solidFill>
          <a:ln w="28575">
            <a:solidFill>
              <a:srgbClr val="FF0000"/>
            </a:solidFill>
            <a:tailEnd type="oval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0" rIns="0" bIns="0" rtlCol="0" anchor="ctr"/>
          <a:lstStyle/>
          <a:p>
            <a:r>
              <a:rPr lang="ja-JP" altLang="en-US" sz="16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本日予定している取引をプルダウンより選択する。</a:t>
            </a:r>
            <a:endParaRPr lang="en-US" altLang="ja-JP" sz="16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2" name="楕円 41">
            <a:extLst>
              <a:ext uri="{FF2B5EF4-FFF2-40B4-BE49-F238E27FC236}">
                <a16:creationId xmlns:a16="http://schemas.microsoft.com/office/drawing/2014/main" id="{65906A2F-0530-4170-AFE7-C7A537E87E36}"/>
              </a:ext>
            </a:extLst>
          </p:cNvPr>
          <p:cNvSpPr/>
          <p:nvPr/>
        </p:nvSpPr>
        <p:spPr>
          <a:xfrm>
            <a:off x="4895448" y="2148657"/>
            <a:ext cx="396000" cy="396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36000" rtlCol="0" anchor="ctr"/>
          <a:lstStyle/>
          <a:p>
            <a:pPr algn="ctr"/>
            <a:r>
              <a:rPr kumimoji="1" lang="en-US" altLang="ja-JP" sz="16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1</a:t>
            </a:r>
          </a:p>
        </p:txBody>
      </p:sp>
      <p:sp>
        <p:nvSpPr>
          <p:cNvPr id="30" name="吹き出し: 折線 29">
            <a:extLst>
              <a:ext uri="{FF2B5EF4-FFF2-40B4-BE49-F238E27FC236}">
                <a16:creationId xmlns:a16="http://schemas.microsoft.com/office/drawing/2014/main" id="{81B73013-7FA1-4CC4-8EB8-B4623C8316F2}"/>
              </a:ext>
            </a:extLst>
          </p:cNvPr>
          <p:cNvSpPr/>
          <p:nvPr/>
        </p:nvSpPr>
        <p:spPr>
          <a:xfrm>
            <a:off x="7767604" y="4710552"/>
            <a:ext cx="3399224" cy="709811"/>
          </a:xfrm>
          <a:prstGeom prst="borderCallout2">
            <a:avLst>
              <a:gd name="adj1" fmla="val 44004"/>
              <a:gd name="adj2" fmla="val -89"/>
              <a:gd name="adj3" fmla="val 44004"/>
              <a:gd name="adj4" fmla="val -6538"/>
              <a:gd name="adj5" fmla="val 2547"/>
              <a:gd name="adj6" fmla="val -25222"/>
            </a:avLst>
          </a:prstGeom>
          <a:solidFill>
            <a:schemeClr val="bg1"/>
          </a:solidFill>
          <a:ln w="28575">
            <a:solidFill>
              <a:srgbClr val="FF0000"/>
            </a:solidFill>
            <a:tailEnd type="oval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0" rIns="0" bIns="0" rtlCol="0" anchor="ctr"/>
          <a:lstStyle/>
          <a:p>
            <a:r>
              <a:rPr lang="ja-JP" altLang="en-US" sz="16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本日予定している取引がない場合は</a:t>
            </a:r>
          </a:p>
          <a:p>
            <a:r>
              <a:rPr lang="ja-JP" altLang="en-US" sz="16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「本人特定事項の確認」と入力する。</a:t>
            </a:r>
          </a:p>
        </p:txBody>
      </p:sp>
      <p:sp>
        <p:nvSpPr>
          <p:cNvPr id="47" name="楕円 46">
            <a:extLst>
              <a:ext uri="{FF2B5EF4-FFF2-40B4-BE49-F238E27FC236}">
                <a16:creationId xmlns:a16="http://schemas.microsoft.com/office/drawing/2014/main" id="{7455FC42-C3F2-4B00-B12E-97269694E78E}"/>
              </a:ext>
            </a:extLst>
          </p:cNvPr>
          <p:cNvSpPr/>
          <p:nvPr/>
        </p:nvSpPr>
        <p:spPr>
          <a:xfrm>
            <a:off x="7596821" y="4552773"/>
            <a:ext cx="396000" cy="396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36000" rtlCol="0" anchor="ctr"/>
          <a:lstStyle/>
          <a:p>
            <a:pPr algn="ctr"/>
            <a:r>
              <a:rPr lang="ja-JP" altLang="en-US" sz="16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２</a:t>
            </a:r>
            <a:endParaRPr kumimoji="1" lang="en-US" altLang="ja-JP" sz="16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5759075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F67D316A-1E25-4629-B781-A73E8A1D6EB7}"/>
              </a:ext>
            </a:extLst>
          </p:cNvPr>
          <p:cNvSpPr/>
          <p:nvPr/>
        </p:nvSpPr>
        <p:spPr>
          <a:xfrm>
            <a:off x="271496" y="486175"/>
            <a:ext cx="11547283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DE4ED5AB-6753-4DC8-BA5B-0E20E55FE2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425" y="1061055"/>
            <a:ext cx="5884716" cy="5149129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3">
            <a:extLst>
              <a:ext uri="{FF2B5EF4-FFF2-40B4-BE49-F238E27FC236}">
                <a16:creationId xmlns:a16="http://schemas.microsoft.com/office/drawing/2014/main" id="{FA5167B2-DABC-4413-8EEB-61D7DB1673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6423" y="2899320"/>
            <a:ext cx="4734977" cy="2833936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E1D6809E-C92B-45A6-8A7A-9623D5967638}"/>
              </a:ext>
            </a:extLst>
          </p:cNvPr>
          <p:cNvCxnSpPr>
            <a:cxnSpLocks/>
          </p:cNvCxnSpPr>
          <p:nvPr/>
        </p:nvCxnSpPr>
        <p:spPr>
          <a:xfrm flipV="1">
            <a:off x="5565685" y="2878027"/>
            <a:ext cx="1310738" cy="1770812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1C030BF1-16FD-44CD-8E48-AC6BE12AB1DB}"/>
              </a:ext>
            </a:extLst>
          </p:cNvPr>
          <p:cNvCxnSpPr>
            <a:cxnSpLocks/>
          </p:cNvCxnSpPr>
          <p:nvPr/>
        </p:nvCxnSpPr>
        <p:spPr>
          <a:xfrm>
            <a:off x="5565685" y="5546838"/>
            <a:ext cx="1310738" cy="172571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B5ACC7AE-5B36-4FA5-9A9E-156402E69A7F}"/>
              </a:ext>
            </a:extLst>
          </p:cNvPr>
          <p:cNvSpPr txBox="1"/>
          <p:nvPr/>
        </p:nvSpPr>
        <p:spPr>
          <a:xfrm>
            <a:off x="264000" y="152696"/>
            <a:ext cx="11664000" cy="540000"/>
          </a:xfrm>
          <a:prstGeom prst="rect">
            <a:avLst/>
          </a:prstGeom>
          <a:solidFill>
            <a:srgbClr val="203864"/>
          </a:solidFill>
        </p:spPr>
        <p:txBody>
          <a:bodyPr vert="horz" lIns="180000" tIns="0" rIns="180000" bIns="0" rtlCol="0" anchor="ctr">
            <a:noAutofit/>
          </a:bodyPr>
          <a:lstStyle>
            <a:lvl1pPr algn="ctr">
              <a:lnSpc>
                <a:spcPct val="90000"/>
              </a:lnSpc>
              <a:spcBef>
                <a:spcPct val="0"/>
              </a:spcBef>
              <a:buNone/>
              <a:defRPr sz="2800" b="1">
                <a:solidFill>
                  <a:sysClr val="window" lastClr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j-cs"/>
              </a:defRPr>
            </a:lvl1pPr>
          </a:lstStyle>
          <a:p>
            <a:r>
              <a:rPr lang="ja-JP" altLang="en-US" dirty="0"/>
              <a:t>在留期限の更新手続きについて</a:t>
            </a:r>
          </a:p>
        </p:txBody>
      </p:sp>
      <p:sp>
        <p:nvSpPr>
          <p:cNvPr id="15" name="四角形: 角を丸くする 14">
            <a:extLst>
              <a:ext uri="{FF2B5EF4-FFF2-40B4-BE49-F238E27FC236}">
                <a16:creationId xmlns:a16="http://schemas.microsoft.com/office/drawing/2014/main" id="{769B11B7-554B-4C1C-843D-B20E76805C87}"/>
              </a:ext>
            </a:extLst>
          </p:cNvPr>
          <p:cNvSpPr/>
          <p:nvPr/>
        </p:nvSpPr>
        <p:spPr>
          <a:xfrm>
            <a:off x="7639064" y="3927640"/>
            <a:ext cx="3461678" cy="797798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吹き出し: 折線 18">
            <a:extLst>
              <a:ext uri="{FF2B5EF4-FFF2-40B4-BE49-F238E27FC236}">
                <a16:creationId xmlns:a16="http://schemas.microsoft.com/office/drawing/2014/main" id="{C52DED98-1259-4D34-9B94-BBE8AE9D3CD3}"/>
              </a:ext>
            </a:extLst>
          </p:cNvPr>
          <p:cNvSpPr/>
          <p:nvPr/>
        </p:nvSpPr>
        <p:spPr>
          <a:xfrm>
            <a:off x="5488074" y="4751206"/>
            <a:ext cx="1767500" cy="462224"/>
          </a:xfrm>
          <a:prstGeom prst="borderCallout2">
            <a:avLst>
              <a:gd name="adj1" fmla="val 44004"/>
              <a:gd name="adj2" fmla="val -89"/>
              <a:gd name="adj3" fmla="val 44004"/>
              <a:gd name="adj4" fmla="val -6538"/>
              <a:gd name="adj5" fmla="val 127584"/>
              <a:gd name="adj6" fmla="val -15161"/>
            </a:avLst>
          </a:prstGeom>
          <a:solidFill>
            <a:schemeClr val="bg1"/>
          </a:solidFill>
          <a:ln w="28575">
            <a:solidFill>
              <a:srgbClr val="FF0000"/>
            </a:solidFill>
            <a:tailEnd type="oval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0" rIns="0" bIns="0" rtlCol="0" anchor="ctr"/>
          <a:lstStyle/>
          <a:p>
            <a:r>
              <a:rPr lang="ja-JP" altLang="en-US" sz="16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入力ボタンを押す</a:t>
            </a:r>
          </a:p>
        </p:txBody>
      </p:sp>
      <p:sp>
        <p:nvSpPr>
          <p:cNvPr id="20" name="楕円 19">
            <a:extLst>
              <a:ext uri="{FF2B5EF4-FFF2-40B4-BE49-F238E27FC236}">
                <a16:creationId xmlns:a16="http://schemas.microsoft.com/office/drawing/2014/main" id="{D3CEF63F-77BA-4AB1-8DCE-68CBC4984B47}"/>
              </a:ext>
            </a:extLst>
          </p:cNvPr>
          <p:cNvSpPr/>
          <p:nvPr/>
        </p:nvSpPr>
        <p:spPr>
          <a:xfrm>
            <a:off x="5388782" y="4550084"/>
            <a:ext cx="324000" cy="324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36000" rtlCol="0" anchor="ctr"/>
          <a:lstStyle/>
          <a:p>
            <a:pPr algn="ctr"/>
            <a:r>
              <a:rPr kumimoji="1" lang="en-US" altLang="ja-JP" sz="16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1</a:t>
            </a:r>
          </a:p>
        </p:txBody>
      </p:sp>
      <p:sp>
        <p:nvSpPr>
          <p:cNvPr id="24" name="吹き出し: 折線 23">
            <a:extLst>
              <a:ext uri="{FF2B5EF4-FFF2-40B4-BE49-F238E27FC236}">
                <a16:creationId xmlns:a16="http://schemas.microsoft.com/office/drawing/2014/main" id="{1B862010-227F-4391-B52E-D2F8940B5E7B}"/>
              </a:ext>
            </a:extLst>
          </p:cNvPr>
          <p:cNvSpPr/>
          <p:nvPr/>
        </p:nvSpPr>
        <p:spPr>
          <a:xfrm>
            <a:off x="8576128" y="1094473"/>
            <a:ext cx="3035272" cy="1713040"/>
          </a:xfrm>
          <a:prstGeom prst="borderCallout2">
            <a:avLst>
              <a:gd name="adj1" fmla="val 44004"/>
              <a:gd name="adj2" fmla="val -89"/>
              <a:gd name="adj3" fmla="val 44004"/>
              <a:gd name="adj4" fmla="val -6538"/>
              <a:gd name="adj5" fmla="val 162535"/>
              <a:gd name="adj6" fmla="val -24395"/>
            </a:avLst>
          </a:prstGeom>
          <a:solidFill>
            <a:schemeClr val="bg1"/>
          </a:solidFill>
          <a:ln w="28575">
            <a:solidFill>
              <a:srgbClr val="FF0000"/>
            </a:solidFill>
            <a:tailEnd type="oval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0" rIns="0" bIns="0" rtlCol="0" anchor="ctr"/>
          <a:lstStyle/>
          <a:p>
            <a:r>
              <a:rPr lang="ja-JP" altLang="en-US" sz="16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・国籍</a:t>
            </a:r>
            <a:endParaRPr lang="en-US" altLang="ja-JP" sz="16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ja-JP" altLang="en-US" sz="16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・国籍確認資料</a:t>
            </a:r>
            <a:endParaRPr lang="en-US" altLang="ja-JP" sz="16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ja-JP" altLang="en-US" sz="16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・在留資格</a:t>
            </a:r>
            <a:endParaRPr lang="en-US" altLang="ja-JP" sz="16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ja-JP" altLang="en-US" sz="16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・在留期限</a:t>
            </a:r>
            <a:endParaRPr lang="en-US" altLang="ja-JP" sz="16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ja-JP" altLang="en-US" sz="16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・アルファベット氏名</a:t>
            </a:r>
            <a:endParaRPr lang="en-US" altLang="ja-JP" sz="16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ja-JP" altLang="en-US" sz="16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を入力して帳票作成を押す</a:t>
            </a:r>
          </a:p>
        </p:txBody>
      </p:sp>
      <p:sp>
        <p:nvSpPr>
          <p:cNvPr id="28" name="楕円 27">
            <a:extLst>
              <a:ext uri="{FF2B5EF4-FFF2-40B4-BE49-F238E27FC236}">
                <a16:creationId xmlns:a16="http://schemas.microsoft.com/office/drawing/2014/main" id="{5E92E5F2-3DBD-4308-B2FE-2CA72D29A7C0}"/>
              </a:ext>
            </a:extLst>
          </p:cNvPr>
          <p:cNvSpPr/>
          <p:nvPr/>
        </p:nvSpPr>
        <p:spPr>
          <a:xfrm>
            <a:off x="8466907" y="972226"/>
            <a:ext cx="324000" cy="324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36000" rtlCol="0" anchor="ctr"/>
          <a:lstStyle/>
          <a:p>
            <a:pPr algn="ctr"/>
            <a:r>
              <a:rPr kumimoji="1" lang="en-US" altLang="ja-JP" sz="16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3878233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A7BB01C6-13DD-43F5-8314-417D63E4C0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199" y="825632"/>
            <a:ext cx="3994642" cy="5626138"/>
          </a:xfrm>
          <a:prstGeom prst="rect">
            <a:avLst/>
          </a:prstGeom>
          <a:noFill/>
          <a:ln>
            <a:solidFill>
              <a:schemeClr val="accent3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8824CCF9-7661-447B-B564-09874EEDD157}"/>
              </a:ext>
            </a:extLst>
          </p:cNvPr>
          <p:cNvSpPr/>
          <p:nvPr/>
        </p:nvSpPr>
        <p:spPr>
          <a:xfrm>
            <a:off x="884354" y="4226768"/>
            <a:ext cx="3528230" cy="69979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77A07715-92F8-47E0-9A4B-40BA78DA2EAE}"/>
              </a:ext>
            </a:extLst>
          </p:cNvPr>
          <p:cNvSpPr/>
          <p:nvPr/>
        </p:nvSpPr>
        <p:spPr>
          <a:xfrm>
            <a:off x="264000" y="191626"/>
            <a:ext cx="11664000" cy="540000"/>
          </a:xfrm>
          <a:prstGeom prst="rect">
            <a:avLst/>
          </a:prstGeom>
          <a:solidFill>
            <a:srgbClr val="203864"/>
          </a:solidFill>
        </p:spPr>
        <p:txBody>
          <a:bodyPr vert="horz" lIns="180000" tIns="0" rIns="180000" bIns="0" rtlCol="0" anchor="ctr"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</a:pPr>
            <a:r>
              <a:rPr lang="ja-JP" altLang="en-US" sz="2800" b="1" dirty="0">
                <a:solidFill>
                  <a:sysClr val="window" lastClr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j-cs"/>
              </a:rPr>
              <a:t>郵送確認が必要な場合の確認記録票の記入箇所</a:t>
            </a:r>
          </a:p>
        </p:txBody>
      </p:sp>
      <p:pic>
        <p:nvPicPr>
          <p:cNvPr id="12" name="図 11">
            <a:extLst>
              <a:ext uri="{FF2B5EF4-FFF2-40B4-BE49-F238E27FC236}">
                <a16:creationId xmlns:a16="http://schemas.microsoft.com/office/drawing/2014/main" id="{6191EE8E-F60D-4B15-A3D4-9020F661985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603" t="60902" r="4326" b="27043"/>
          <a:stretch/>
        </p:blipFill>
        <p:spPr>
          <a:xfrm>
            <a:off x="4876802" y="3694579"/>
            <a:ext cx="7019996" cy="1351574"/>
          </a:xfrm>
          <a:prstGeom prst="rect">
            <a:avLst/>
          </a:prstGeom>
          <a:ln>
            <a:solidFill>
              <a:schemeClr val="accent3">
                <a:lumMod val="75000"/>
              </a:schemeClr>
            </a:solidFill>
          </a:ln>
        </p:spPr>
      </p:pic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AE4F5C4C-832A-4361-A74B-291DA8033654}"/>
              </a:ext>
            </a:extLst>
          </p:cNvPr>
          <p:cNvSpPr/>
          <p:nvPr/>
        </p:nvSpPr>
        <p:spPr>
          <a:xfrm>
            <a:off x="8364890" y="4028276"/>
            <a:ext cx="3531908" cy="958082"/>
          </a:xfrm>
          <a:prstGeom prst="rect">
            <a:avLst/>
          </a:prstGeom>
          <a:solidFill>
            <a:srgbClr val="A5A5A5">
              <a:alpha val="52157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E7246FD6-A26C-4F5F-94ED-D2F7B370AA62}"/>
              </a:ext>
            </a:extLst>
          </p:cNvPr>
          <p:cNvSpPr txBox="1"/>
          <p:nvPr/>
        </p:nvSpPr>
        <p:spPr>
          <a:xfrm>
            <a:off x="9560796" y="4353372"/>
            <a:ext cx="12067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b="1" dirty="0">
                <a:solidFill>
                  <a:schemeClr val="bg2">
                    <a:lumMod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記入不要</a:t>
            </a:r>
            <a:endParaRPr kumimoji="1" lang="en-US" altLang="ja-JP" b="1" dirty="0">
              <a:solidFill>
                <a:schemeClr val="bg2">
                  <a:lumMod val="2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3101A742-AAE2-4092-8F9D-E21261856386}"/>
              </a:ext>
            </a:extLst>
          </p:cNvPr>
          <p:cNvCxnSpPr>
            <a:cxnSpLocks/>
          </p:cNvCxnSpPr>
          <p:nvPr/>
        </p:nvCxnSpPr>
        <p:spPr>
          <a:xfrm flipV="1">
            <a:off x="4412584" y="3694579"/>
            <a:ext cx="464218" cy="53219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4B454B45-2102-4C88-9CCE-3533CF3F22B3}"/>
              </a:ext>
            </a:extLst>
          </p:cNvPr>
          <p:cNvCxnSpPr>
            <a:cxnSpLocks/>
          </p:cNvCxnSpPr>
          <p:nvPr/>
        </p:nvCxnSpPr>
        <p:spPr>
          <a:xfrm>
            <a:off x="4412584" y="4926563"/>
            <a:ext cx="464218" cy="11959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674D26D3-795C-4534-832C-FD05B234A95E}"/>
              </a:ext>
            </a:extLst>
          </p:cNvPr>
          <p:cNvSpPr/>
          <p:nvPr/>
        </p:nvSpPr>
        <p:spPr>
          <a:xfrm>
            <a:off x="5434613" y="4028275"/>
            <a:ext cx="2930277" cy="95808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F044D6F7-0F94-4215-BC9A-A652E4D0B1FD}"/>
              </a:ext>
            </a:extLst>
          </p:cNvPr>
          <p:cNvSpPr txBox="1"/>
          <p:nvPr/>
        </p:nvSpPr>
        <p:spPr>
          <a:xfrm>
            <a:off x="4943745" y="3272063"/>
            <a:ext cx="33985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※</a:t>
            </a:r>
            <a:r>
              <a:rPr kumimoji="1" lang="ja-JP" altLang="en-US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ここを必ず記入してください</a:t>
            </a:r>
          </a:p>
        </p:txBody>
      </p:sp>
    </p:spTree>
    <p:extLst>
      <p:ext uri="{BB962C8B-B14F-4D97-AF65-F5344CB8AC3E}">
        <p14:creationId xmlns:p14="http://schemas.microsoft.com/office/powerpoint/2010/main" val="37463117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2268</TotalTime>
  <Words>522</Words>
  <Application>Microsoft Office PowerPoint</Application>
  <PresentationFormat>ワイド画面</PresentationFormat>
  <Paragraphs>85</Paragraphs>
  <Slides>7</Slides>
  <Notes>5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7</vt:i4>
      </vt:variant>
    </vt:vector>
  </HeadingPairs>
  <TitlesOfParts>
    <vt:vector size="12" baseType="lpstr">
      <vt:lpstr>Meiryo UI</vt:lpstr>
      <vt:lpstr>游ゴシック</vt:lpstr>
      <vt:lpstr>游ゴシック Light</vt:lpstr>
      <vt:lpstr>Arial</vt:lpstr>
      <vt:lpstr>Office テーマ</vt:lpstr>
      <vt:lpstr>補完書類がある場合の入力方法</vt:lpstr>
      <vt:lpstr>公立学校の顔写真付き学生証を使用する場合の事務</vt:lpstr>
      <vt:lpstr>PowerPoint プレゼンテーション</vt:lpstr>
      <vt:lpstr>スマイルと確認記録票の違い（お取引目的・お取引の種類）</vt:lpstr>
      <vt:lpstr>お取引目的・お取引の種類の入力方法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宇野　央佳</dc:creator>
  <cp:lastModifiedBy>杉保　大和</cp:lastModifiedBy>
  <cp:revision>118</cp:revision>
  <dcterms:created xsi:type="dcterms:W3CDTF">2024-08-01T00:45:44Z</dcterms:created>
  <dcterms:modified xsi:type="dcterms:W3CDTF">2025-11-17T03:58:20Z</dcterms:modified>
</cp:coreProperties>
</file>