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s/slide3.xml" ContentType="application/vnd.openxmlformats-officedocument.presentationml.slide+xml"/>
  <Override PartName="/ppt/slides/slide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commentAuthors.xml" ContentType="application/vnd.openxmlformats-officedocument.presentationml.commentAuthors+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 Id="rId5" Type="http://schemas.microsoft.com/office/2020/02/relationships/classificationlabels" Target="docMetadata/LabelInfo.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429" r:id="rId2"/>
    <p:sldId id="463" r:id="rId3"/>
    <p:sldId id="466" r:id="rId4"/>
    <p:sldId id="459" r:id="rId5"/>
    <p:sldId id="454" r:id="rId6"/>
    <p:sldId id="458" r:id="rId7"/>
    <p:sldId id="465" r:id="rId8"/>
    <p:sldId id="457" r:id="rId9"/>
    <p:sldId id="460" r:id="rId10"/>
    <p:sldId id="276"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落合　啓太" initials="落合　啓太" lastIdx="3" clrIdx="0">
    <p:extLst>
      <p:ext uri="{19B8F6BF-5375-455C-9EA6-DF929625EA0E}">
        <p15:presenceInfo xmlns:p15="http://schemas.microsoft.com/office/powerpoint/2012/main" userId="S-1-5-21-1957994488-527237240-1606980848-233490" providerId="AD"/>
      </p:ext>
    </p:extLst>
  </p:cmAuthor>
  <p:cmAuthor id="2" name="佐藤　優花" initials="佐藤　優花" lastIdx="2" clrIdx="1">
    <p:extLst>
      <p:ext uri="{19B8F6BF-5375-455C-9EA6-DF929625EA0E}">
        <p15:presenceInfo xmlns:p15="http://schemas.microsoft.com/office/powerpoint/2012/main" userId="S-1-5-21-1957994488-527237240-1606980848-287299" providerId="AD"/>
      </p:ext>
    </p:extLst>
  </p:cmAuthor>
  <p:cmAuthor id="3" name="肥田　彩花" initials="肥田　彩花" lastIdx="3" clrIdx="2">
    <p:extLst>
      <p:ext uri="{19B8F6BF-5375-455C-9EA6-DF929625EA0E}">
        <p15:presenceInfo xmlns:p15="http://schemas.microsoft.com/office/powerpoint/2012/main" userId="S-1-5-21-1957994488-527237240-1606980848-321076" providerId="AD"/>
      </p:ext>
    </p:extLst>
  </p:cmAuthor>
  <p:cmAuthor id="4" name="矢萩　七海" initials="矢萩　七海" lastIdx="2" clrIdx="3">
    <p:extLst>
      <p:ext uri="{19B8F6BF-5375-455C-9EA6-DF929625EA0E}">
        <p15:presenceInfo xmlns:p15="http://schemas.microsoft.com/office/powerpoint/2012/main" userId="S-1-5-21-1957994488-527237240-1606980848-34108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CE8F4"/>
    <a:srgbClr val="DAE3F3"/>
    <a:srgbClr val="0088C7"/>
    <a:srgbClr val="F0F0F0"/>
    <a:srgbClr val="C3C1C2"/>
    <a:srgbClr val="FFC0CB"/>
    <a:srgbClr val="FFFFFF"/>
    <a:srgbClr val="E6E6E6"/>
    <a:srgbClr val="FF0000"/>
    <a:srgbClr val="EDED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777" autoAdjust="0"/>
    <p:restoredTop sz="94805" autoAdjust="0"/>
  </p:normalViewPr>
  <p:slideViewPr>
    <p:cSldViewPr snapToGrid="0">
      <p:cViewPr varScale="1">
        <p:scale>
          <a:sx n="78" d="100"/>
          <a:sy n="78" d="100"/>
        </p:scale>
        <p:origin x="125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9629B7-2897-48B8-A5A8-8AFC1F54CF8F}" type="datetimeFigureOut">
              <a:rPr kumimoji="1" lang="ja-JP" altLang="en-US" smtClean="0"/>
              <a:t>2025/9/1</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3979CB-FF53-4C24-9575-5798EB42EC9E}" type="slidenum">
              <a:rPr kumimoji="1" lang="ja-JP" altLang="en-US" smtClean="0"/>
              <a:t>‹#›</a:t>
            </a:fld>
            <a:endParaRPr kumimoji="1" lang="ja-JP" altLang="en-US"/>
          </a:p>
        </p:txBody>
      </p:sp>
    </p:spTree>
    <p:extLst>
      <p:ext uri="{BB962C8B-B14F-4D97-AF65-F5344CB8AC3E}">
        <p14:creationId xmlns:p14="http://schemas.microsoft.com/office/powerpoint/2010/main" val="346622709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r>
              <a:rPr kumimoji="1" lang="zh-TW" altLang="en-US"/>
              <a:t>業達（事企）</a:t>
            </a:r>
            <a:endParaRPr kumimoji="1" lang="ja-JP" altLang="en-US"/>
          </a:p>
        </p:txBody>
      </p:sp>
    </p:spTree>
    <p:extLst>
      <p:ext uri="{BB962C8B-B14F-4D97-AF65-F5344CB8AC3E}">
        <p14:creationId xmlns:p14="http://schemas.microsoft.com/office/powerpoint/2010/main" val="23694574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73979CB-FF53-4C24-9575-5798EB42EC9E}" type="slidenum">
              <a:rPr kumimoji="1" lang="ja-JP" altLang="en-US" smtClean="0"/>
              <a:t>2</a:t>
            </a:fld>
            <a:endParaRPr kumimoji="1" lang="ja-JP" altLang="en-US"/>
          </a:p>
        </p:txBody>
      </p:sp>
    </p:spTree>
    <p:extLst>
      <p:ext uri="{BB962C8B-B14F-4D97-AF65-F5344CB8AC3E}">
        <p14:creationId xmlns:p14="http://schemas.microsoft.com/office/powerpoint/2010/main" val="1656590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73979CB-FF53-4C24-9575-5798EB42EC9E}" type="slidenum">
              <a:rPr kumimoji="1" lang="ja-JP" altLang="en-US" smtClean="0"/>
              <a:t>4</a:t>
            </a:fld>
            <a:endParaRPr kumimoji="1" lang="ja-JP" altLang="en-US"/>
          </a:p>
        </p:txBody>
      </p:sp>
    </p:spTree>
    <p:extLst>
      <p:ext uri="{BB962C8B-B14F-4D97-AF65-F5344CB8AC3E}">
        <p14:creationId xmlns:p14="http://schemas.microsoft.com/office/powerpoint/2010/main" val="4164554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73979CB-FF53-4C24-9575-5798EB42EC9E}" type="slidenum">
              <a:rPr kumimoji="1" lang="ja-JP" altLang="en-US" smtClean="0"/>
              <a:t>5</a:t>
            </a:fld>
            <a:endParaRPr kumimoji="1" lang="ja-JP" altLang="en-US"/>
          </a:p>
        </p:txBody>
      </p:sp>
    </p:spTree>
    <p:extLst>
      <p:ext uri="{BB962C8B-B14F-4D97-AF65-F5344CB8AC3E}">
        <p14:creationId xmlns:p14="http://schemas.microsoft.com/office/powerpoint/2010/main" val="41748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73979CB-FF53-4C24-9575-5798EB42EC9E}" type="slidenum">
              <a:rPr kumimoji="1" lang="ja-JP" altLang="en-US" smtClean="0"/>
              <a:t>6</a:t>
            </a:fld>
            <a:endParaRPr kumimoji="1" lang="ja-JP" altLang="en-US"/>
          </a:p>
        </p:txBody>
      </p:sp>
    </p:spTree>
    <p:extLst>
      <p:ext uri="{BB962C8B-B14F-4D97-AF65-F5344CB8AC3E}">
        <p14:creationId xmlns:p14="http://schemas.microsoft.com/office/powerpoint/2010/main" val="1736685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58D94F2D-F96D-43AD-BD4C-661EC9F65E47}" type="datetimeFigureOut">
              <a:rPr kumimoji="1" lang="ja-JP" altLang="en-US" smtClean="0"/>
              <a:t>2025/9/1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B8B4904C-3C18-4AEA-BF9A-94A3A55FF146}" type="slidenum">
              <a:rPr kumimoji="1" lang="ja-JP" altLang="en-US" smtClean="0"/>
              <a:t>‹#›</a:t>
            </a:fld>
            <a:endParaRPr kumimoji="1" lang="ja-JP" altLang="en-US"/>
          </a:p>
        </p:txBody>
      </p:sp>
    </p:spTree>
    <p:extLst>
      <p:ext uri="{BB962C8B-B14F-4D97-AF65-F5344CB8AC3E}">
        <p14:creationId xmlns:p14="http://schemas.microsoft.com/office/powerpoint/2010/main" val="1150772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8D94F2D-F96D-43AD-BD4C-661EC9F65E47}" type="datetimeFigureOut">
              <a:rPr kumimoji="1" lang="ja-JP" altLang="en-US" smtClean="0"/>
              <a:t>2025/9/1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B8B4904C-3C18-4AEA-BF9A-94A3A55FF146}" type="slidenum">
              <a:rPr kumimoji="1" lang="ja-JP" altLang="en-US" smtClean="0"/>
              <a:t>‹#›</a:t>
            </a:fld>
            <a:endParaRPr kumimoji="1" lang="ja-JP" altLang="en-US"/>
          </a:p>
        </p:txBody>
      </p:sp>
    </p:spTree>
    <p:extLst>
      <p:ext uri="{BB962C8B-B14F-4D97-AF65-F5344CB8AC3E}">
        <p14:creationId xmlns:p14="http://schemas.microsoft.com/office/powerpoint/2010/main" val="4268160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58D94F2D-F96D-43AD-BD4C-661EC9F65E47}" type="datetimeFigureOut">
              <a:rPr kumimoji="1" lang="ja-JP" altLang="en-US" smtClean="0"/>
              <a:t>2025/9/1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B8B4904C-3C18-4AEA-BF9A-94A3A55FF146}" type="slidenum">
              <a:rPr kumimoji="1" lang="ja-JP" altLang="en-US" smtClean="0"/>
              <a:t>‹#›</a:t>
            </a:fld>
            <a:endParaRPr kumimoji="1" lang="ja-JP" altLang="en-US"/>
          </a:p>
        </p:txBody>
      </p:sp>
    </p:spTree>
    <p:extLst>
      <p:ext uri="{BB962C8B-B14F-4D97-AF65-F5344CB8AC3E}">
        <p14:creationId xmlns:p14="http://schemas.microsoft.com/office/powerpoint/2010/main" val="3349367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58D94F2D-F96D-43AD-BD4C-661EC9F65E47}" type="datetimeFigureOut">
              <a:rPr kumimoji="1" lang="ja-JP" altLang="en-US" smtClean="0"/>
              <a:t>2025/9/1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B8B4904C-3C18-4AEA-BF9A-94A3A55FF146}" type="slidenum">
              <a:rPr kumimoji="1" lang="ja-JP" altLang="en-US" smtClean="0"/>
              <a:t>‹#›</a:t>
            </a:fld>
            <a:endParaRPr kumimoji="1" lang="ja-JP" altLang="en-US"/>
          </a:p>
        </p:txBody>
      </p:sp>
    </p:spTree>
    <p:extLst>
      <p:ext uri="{BB962C8B-B14F-4D97-AF65-F5344CB8AC3E}">
        <p14:creationId xmlns:p14="http://schemas.microsoft.com/office/powerpoint/2010/main" val="196855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58D94F2D-F96D-43AD-BD4C-661EC9F65E47}" type="datetimeFigureOut">
              <a:rPr kumimoji="1" lang="ja-JP" altLang="en-US" smtClean="0"/>
              <a:t>2025/9/1</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B8B4904C-3C18-4AEA-BF9A-94A3A55FF146}" type="slidenum">
              <a:rPr kumimoji="1" lang="ja-JP" altLang="en-US" smtClean="0"/>
              <a:t>‹#›</a:t>
            </a:fld>
            <a:endParaRPr kumimoji="1" lang="ja-JP" altLang="en-US"/>
          </a:p>
        </p:txBody>
      </p:sp>
    </p:spTree>
    <p:extLst>
      <p:ext uri="{BB962C8B-B14F-4D97-AF65-F5344CB8AC3E}">
        <p14:creationId xmlns:p14="http://schemas.microsoft.com/office/powerpoint/2010/main" val="3846197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58D94F2D-F96D-43AD-BD4C-661EC9F65E47}" type="datetimeFigureOut">
              <a:rPr kumimoji="1" lang="ja-JP" altLang="en-US" smtClean="0"/>
              <a:t>2025/9/1</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B8B4904C-3C18-4AEA-BF9A-94A3A55FF146}" type="slidenum">
              <a:rPr kumimoji="1" lang="ja-JP" altLang="en-US" smtClean="0"/>
              <a:t>‹#›</a:t>
            </a:fld>
            <a:endParaRPr kumimoji="1" lang="ja-JP" altLang="en-US"/>
          </a:p>
        </p:txBody>
      </p:sp>
    </p:spTree>
    <p:extLst>
      <p:ext uri="{BB962C8B-B14F-4D97-AF65-F5344CB8AC3E}">
        <p14:creationId xmlns:p14="http://schemas.microsoft.com/office/powerpoint/2010/main" val="3747888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D94F2D-F96D-43AD-BD4C-661EC9F65E47}" type="datetimeFigureOut">
              <a:rPr kumimoji="1" lang="ja-JP" altLang="en-US" smtClean="0"/>
              <a:t>2025/9/1</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B8B4904C-3C18-4AEA-BF9A-94A3A55FF146}" type="slidenum">
              <a:rPr kumimoji="1" lang="ja-JP" altLang="en-US" smtClean="0"/>
              <a:t>‹#›</a:t>
            </a:fld>
            <a:endParaRPr kumimoji="1" lang="ja-JP" altLang="en-US"/>
          </a:p>
        </p:txBody>
      </p:sp>
    </p:spTree>
    <p:extLst>
      <p:ext uri="{BB962C8B-B14F-4D97-AF65-F5344CB8AC3E}">
        <p14:creationId xmlns:p14="http://schemas.microsoft.com/office/powerpoint/2010/main" val="1835097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58D94F2D-F96D-43AD-BD4C-661EC9F65E47}" type="datetimeFigureOut">
              <a:rPr kumimoji="1" lang="ja-JP" altLang="en-US" smtClean="0"/>
              <a:t>2025/9/1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B8B4904C-3C18-4AEA-BF9A-94A3A55FF146}" type="slidenum">
              <a:rPr kumimoji="1" lang="ja-JP" altLang="en-US" smtClean="0"/>
              <a:t>‹#›</a:t>
            </a:fld>
            <a:endParaRPr kumimoji="1" lang="ja-JP" altLang="en-US"/>
          </a:p>
        </p:txBody>
      </p:sp>
    </p:spTree>
    <p:extLst>
      <p:ext uri="{BB962C8B-B14F-4D97-AF65-F5344CB8AC3E}">
        <p14:creationId xmlns:p14="http://schemas.microsoft.com/office/powerpoint/2010/main" val="1185456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58D94F2D-F96D-43AD-BD4C-661EC9F65E47}" type="datetimeFigureOut">
              <a:rPr kumimoji="1" lang="ja-JP" altLang="en-US" smtClean="0"/>
              <a:t>2025/9/1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B8B4904C-3C18-4AEA-BF9A-94A3A55FF146}" type="slidenum">
              <a:rPr kumimoji="1" lang="ja-JP" altLang="en-US" smtClean="0"/>
              <a:t>‹#›</a:t>
            </a:fld>
            <a:endParaRPr kumimoji="1" lang="ja-JP" altLang="en-US"/>
          </a:p>
        </p:txBody>
      </p:sp>
    </p:spTree>
    <p:extLst>
      <p:ext uri="{BB962C8B-B14F-4D97-AF65-F5344CB8AC3E}">
        <p14:creationId xmlns:p14="http://schemas.microsoft.com/office/powerpoint/2010/main" val="622507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8D94F2D-F96D-43AD-BD4C-661EC9F65E47}" type="datetimeFigureOut">
              <a:rPr kumimoji="1" lang="ja-JP" altLang="en-US" smtClean="0"/>
              <a:t>2025/9/1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B8B4904C-3C18-4AEA-BF9A-94A3A55FF146}" type="slidenum">
              <a:rPr kumimoji="1" lang="ja-JP" altLang="en-US" smtClean="0"/>
              <a:t>‹#›</a:t>
            </a:fld>
            <a:endParaRPr kumimoji="1" lang="ja-JP" altLang="en-US"/>
          </a:p>
        </p:txBody>
      </p:sp>
    </p:spTree>
    <p:extLst>
      <p:ext uri="{BB962C8B-B14F-4D97-AF65-F5344CB8AC3E}">
        <p14:creationId xmlns:p14="http://schemas.microsoft.com/office/powerpoint/2010/main" val="212089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8D94F2D-F96D-43AD-BD4C-661EC9F65E47}" type="datetimeFigureOut">
              <a:rPr kumimoji="1" lang="ja-JP" altLang="en-US" smtClean="0"/>
              <a:t>2025/9/1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B8B4904C-3C18-4AEA-BF9A-94A3A55FF146}" type="slidenum">
              <a:rPr kumimoji="1" lang="ja-JP" altLang="en-US" smtClean="0"/>
              <a:t>‹#›</a:t>
            </a:fld>
            <a:endParaRPr kumimoji="1" lang="ja-JP" altLang="en-US"/>
          </a:p>
        </p:txBody>
      </p:sp>
    </p:spTree>
    <p:extLst>
      <p:ext uri="{BB962C8B-B14F-4D97-AF65-F5344CB8AC3E}">
        <p14:creationId xmlns:p14="http://schemas.microsoft.com/office/powerpoint/2010/main" val="2349687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D94F2D-F96D-43AD-BD4C-661EC9F65E47}" type="datetimeFigureOut">
              <a:rPr kumimoji="1" lang="ja-JP" altLang="en-US" smtClean="0"/>
              <a:t>2025/9/1</a:t>
            </a:fld>
            <a:endParaRPr kumimoji="1" lang="ja-JP"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B4904C-3C18-4AEA-BF9A-94A3A55FF146}" type="slidenum">
              <a:rPr kumimoji="1" lang="ja-JP" altLang="en-US" smtClean="0"/>
              <a:t>‹#›</a:t>
            </a:fld>
            <a:endParaRPr kumimoji="1" lang="ja-JP" altLang="en-US"/>
          </a:p>
        </p:txBody>
      </p:sp>
    </p:spTree>
    <p:extLst>
      <p:ext uri="{BB962C8B-B14F-4D97-AF65-F5344CB8AC3E}">
        <p14:creationId xmlns:p14="http://schemas.microsoft.com/office/powerpoint/2010/main" val="21413049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brc2web80.cbk.local/cm.html?c219146" TargetMode="External"/><Relationship Id="rId13" Type="http://schemas.openxmlformats.org/officeDocument/2006/relationships/slide" Target="slide5.xml"/><Relationship Id="rId3" Type="http://schemas.openxmlformats.org/officeDocument/2006/relationships/hyperlink" Target="http://brc2web80.cbk.local/cm.html?5e6216bb0cf2de4fa2f0e563@sbitrmwa1.cbk.local" TargetMode="External"/><Relationship Id="rId7" Type="http://schemas.openxmlformats.org/officeDocument/2006/relationships/hyperlink" Target="http://brc2web80.cbk.local/cm.html?c223931" TargetMode="External"/><Relationship Id="rId12" Type="http://schemas.openxmlformats.org/officeDocument/2006/relationships/slide" Target="slide7.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brc2web80.cbk.local/cm.html?c205231" TargetMode="External"/><Relationship Id="rId11" Type="http://schemas.openxmlformats.org/officeDocument/2006/relationships/slide" Target="slide2.xml"/><Relationship Id="rId5" Type="http://schemas.openxmlformats.org/officeDocument/2006/relationships/hyperlink" Target="http://brc2web80.cbk.local/cm.html?c221025" TargetMode="External"/><Relationship Id="rId10" Type="http://schemas.openxmlformats.org/officeDocument/2006/relationships/image" Target="../media/image2.png"/><Relationship Id="rId4" Type="http://schemas.openxmlformats.org/officeDocument/2006/relationships/hyperlink" Target="http://brc2web80.cbk.local/cm.html?c215032" TargetMode="External"/><Relationship Id="rId9" Type="http://schemas.openxmlformats.org/officeDocument/2006/relationships/image" Target="../media/image1.png"/><Relationship Id="rId14" Type="http://schemas.openxmlformats.org/officeDocument/2006/relationships/slide" Target="slide8.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5" Type="http://schemas.microsoft.com/office/2007/relationships/hdphoto" Target="../media/hdphoto2.wdp"/><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hyperlink" Target="http://ekijun-web1.cbk.local/doclanweb/jump.asp?id=55205" TargetMode="External"/><Relationship Id="rId2" Type="http://schemas.openxmlformats.org/officeDocument/2006/relationships/hyperlink" Target="http://ekijun-web1.cbk.local/doclanweb/jump.asp?id=55208" TargetMode="External"/><Relationship Id="rId1" Type="http://schemas.openxmlformats.org/officeDocument/2006/relationships/slideLayout" Target="../slideLayouts/slideLayout1.xml"/><Relationship Id="rId5" Type="http://schemas.openxmlformats.org/officeDocument/2006/relationships/hyperlink" Target="http://ekijun-web1.cbk.local/doclanweb/jump.asp?id=55189" TargetMode="External"/><Relationship Id="rId4" Type="http://schemas.openxmlformats.org/officeDocument/2006/relationships/hyperlink" Target="http://ekijun-web1.cbk.local/doclanweb/jump.asp?id=55193"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97960647-6109-4774-874A-7AE849D7CFF9}"/>
              </a:ext>
            </a:extLst>
          </p:cNvPr>
          <p:cNvGraphicFramePr>
            <a:graphicFrameLocks noGrp="1"/>
          </p:cNvGraphicFramePr>
          <p:nvPr>
            <p:extLst>
              <p:ext uri="{D42A27DB-BD31-4B8C-83A1-F6EECF244321}">
                <p14:modId xmlns:p14="http://schemas.microsoft.com/office/powerpoint/2010/main" val="250729538"/>
              </p:ext>
            </p:extLst>
          </p:nvPr>
        </p:nvGraphicFramePr>
        <p:xfrm>
          <a:off x="170483" y="516733"/>
          <a:ext cx="8787537" cy="1550130"/>
        </p:xfrm>
        <a:graphic>
          <a:graphicData uri="http://schemas.openxmlformats.org/drawingml/2006/table">
            <a:tbl>
              <a:tblPr firstRow="1" bandRow="1">
                <a:tableStyleId>{5C22544A-7EE6-4342-B048-85BDC9FD1C3A}</a:tableStyleId>
              </a:tblPr>
              <a:tblGrid>
                <a:gridCol w="1048252">
                  <a:extLst>
                    <a:ext uri="{9D8B030D-6E8A-4147-A177-3AD203B41FA5}">
                      <a16:colId xmlns:a16="http://schemas.microsoft.com/office/drawing/2014/main" val="3461433880"/>
                    </a:ext>
                  </a:extLst>
                </a:gridCol>
                <a:gridCol w="2731395">
                  <a:extLst>
                    <a:ext uri="{9D8B030D-6E8A-4147-A177-3AD203B41FA5}">
                      <a16:colId xmlns:a16="http://schemas.microsoft.com/office/drawing/2014/main" val="706798726"/>
                    </a:ext>
                  </a:extLst>
                </a:gridCol>
                <a:gridCol w="1219279">
                  <a:extLst>
                    <a:ext uri="{9D8B030D-6E8A-4147-A177-3AD203B41FA5}">
                      <a16:colId xmlns:a16="http://schemas.microsoft.com/office/drawing/2014/main" val="832262276"/>
                    </a:ext>
                  </a:extLst>
                </a:gridCol>
                <a:gridCol w="3788611">
                  <a:extLst>
                    <a:ext uri="{9D8B030D-6E8A-4147-A177-3AD203B41FA5}">
                      <a16:colId xmlns:a16="http://schemas.microsoft.com/office/drawing/2014/main" val="1081813036"/>
                    </a:ext>
                  </a:extLst>
                </a:gridCol>
              </a:tblGrid>
              <a:tr h="310026">
                <a:tc>
                  <a:txBody>
                    <a:bodyPr/>
                    <a:lstStyle/>
                    <a:p>
                      <a:pPr algn="ctr"/>
                      <a:r>
                        <a:rPr lang="ja-JP" altLang="en-US" sz="1200" dirty="0"/>
                        <a:t>発刊番号</a:t>
                      </a:r>
                    </a:p>
                  </a:txBody>
                  <a:tcPr marL="68580" marR="68580" marT="34290" marB="34290" anchor="ctr"/>
                </a:tc>
                <a:tc>
                  <a:txBody>
                    <a:bodyPr/>
                    <a:lstStyle/>
                    <a:p>
                      <a:r>
                        <a:rPr kumimoji="1" lang="ja-JP" altLang="en-US" sz="1200" dirty="0">
                          <a:solidFill>
                            <a:schemeClr val="bg1"/>
                          </a:solidFill>
                        </a:rPr>
                        <a:t>第２０２５－●号</a:t>
                      </a:r>
                    </a:p>
                  </a:txBody>
                  <a:tcPr marL="68580" marR="68580" marT="34290" marB="34290" anchor="ctr"/>
                </a:tc>
                <a:tc>
                  <a:txBody>
                    <a:bodyPr/>
                    <a:lstStyle/>
                    <a:p>
                      <a:pPr algn="ctr"/>
                      <a:r>
                        <a:rPr kumimoji="1" lang="ja-JP" altLang="en-US" sz="1200" dirty="0">
                          <a:solidFill>
                            <a:schemeClr val="bg1"/>
                          </a:solidFill>
                        </a:rPr>
                        <a:t>発刊日</a:t>
                      </a:r>
                    </a:p>
                  </a:txBody>
                  <a:tcPr marL="68580" marR="68580" marT="34290" marB="34290" anchor="ctr"/>
                </a:tc>
                <a:tc>
                  <a:txBody>
                    <a:bodyPr/>
                    <a:lstStyle/>
                    <a:p>
                      <a:r>
                        <a:rPr kumimoji="1" lang="ja-JP" altLang="en-US" sz="1200" dirty="0">
                          <a:solidFill>
                            <a:schemeClr val="bg1"/>
                          </a:solidFill>
                        </a:rPr>
                        <a:t>２０２５年９月８日</a:t>
                      </a:r>
                    </a:p>
                  </a:txBody>
                  <a:tcPr marL="68580" marR="68580" marT="34290" marB="34290" anchor="ctr"/>
                </a:tc>
                <a:extLst>
                  <a:ext uri="{0D108BD9-81ED-4DB2-BD59-A6C34878D82A}">
                    <a16:rowId xmlns:a16="http://schemas.microsoft.com/office/drawing/2014/main" val="2581276361"/>
                  </a:ext>
                </a:extLst>
              </a:tr>
              <a:tr h="310026">
                <a:tc>
                  <a:txBody>
                    <a:bodyPr/>
                    <a:lstStyle/>
                    <a:p>
                      <a:pPr algn="ctr"/>
                      <a:r>
                        <a:rPr kumimoji="1" lang="ja-JP" altLang="en-US" sz="1200" b="1" dirty="0">
                          <a:solidFill>
                            <a:schemeClr val="tx1"/>
                          </a:solidFill>
                        </a:rPr>
                        <a:t>あて名　</a:t>
                      </a:r>
                    </a:p>
                  </a:txBody>
                  <a:tcPr marL="68580" marR="68580" marT="34290" marB="34290" anchor="ctr">
                    <a:lnR w="12700" cap="flat" cmpd="sng" algn="ctr">
                      <a:solidFill>
                        <a:schemeClr val="bg1"/>
                      </a:solidFill>
                      <a:prstDash val="solid"/>
                      <a:round/>
                      <a:headEnd type="none" w="med" len="med"/>
                      <a:tailEnd type="none" w="med" len="med"/>
                    </a:lnR>
                  </a:tcPr>
                </a:tc>
                <a:tc>
                  <a:txBody>
                    <a:bodyPr/>
                    <a:lstStyle/>
                    <a:p>
                      <a:r>
                        <a:rPr kumimoji="1" lang="ja-JP" altLang="en-US" sz="1200" b="1" dirty="0">
                          <a:solidFill>
                            <a:schemeClr val="tx1"/>
                          </a:solidFill>
                        </a:rPr>
                        <a:t>部、室長、営業店長　殿</a:t>
                      </a:r>
                    </a:p>
                  </a:txBody>
                  <a:tcPr marL="68580" marR="68580" marT="34290" marB="34290" anchor="ctr">
                    <a:lnL w="12700" cap="flat" cmpd="sng" algn="ctr">
                      <a:solidFill>
                        <a:schemeClr val="bg1"/>
                      </a:solidFill>
                      <a:prstDash val="solid"/>
                      <a:round/>
                      <a:headEnd type="none" w="med" len="med"/>
                      <a:tailEnd type="none" w="med" len="med"/>
                    </a:lnL>
                  </a:tcPr>
                </a:tc>
                <a:tc>
                  <a:txBody>
                    <a:bodyPr/>
                    <a:lstStyle/>
                    <a:p>
                      <a:pPr algn="ctr"/>
                      <a:r>
                        <a:rPr kumimoji="1" lang="ja-JP" altLang="en-US" sz="1200" b="1" dirty="0">
                          <a:solidFill>
                            <a:schemeClr val="tx1"/>
                          </a:solidFill>
                        </a:rPr>
                        <a:t>発刊者　　　</a:t>
                      </a:r>
                    </a:p>
                  </a:txBody>
                  <a:tcPr marL="68580" marR="68580" marT="34290" marB="34290" anchor="ctr"/>
                </a:tc>
                <a:tc>
                  <a:txBody>
                    <a:bodyPr/>
                    <a:lstStyle/>
                    <a:p>
                      <a:r>
                        <a:rPr kumimoji="1" lang="ja-JP" altLang="en-US" sz="1200" b="1" dirty="0">
                          <a:solidFill>
                            <a:schemeClr val="tx1"/>
                          </a:solidFill>
                        </a:rPr>
                        <a:t>事務企画部長</a:t>
                      </a:r>
                    </a:p>
                  </a:txBody>
                  <a:tcPr marL="68580" marR="68580" marT="34290" marB="34290" anchor="ctr"/>
                </a:tc>
                <a:extLst>
                  <a:ext uri="{0D108BD9-81ED-4DB2-BD59-A6C34878D82A}">
                    <a16:rowId xmlns:a16="http://schemas.microsoft.com/office/drawing/2014/main" val="3520454666"/>
                  </a:ext>
                </a:extLst>
              </a:tr>
              <a:tr h="310026">
                <a:tc>
                  <a:txBody>
                    <a:bodyPr/>
                    <a:lstStyle/>
                    <a:p>
                      <a:pPr algn="ctr"/>
                      <a:r>
                        <a:rPr kumimoji="1" lang="ja-JP" altLang="en-US" sz="1200" b="1" dirty="0">
                          <a:solidFill>
                            <a:schemeClr val="tx1"/>
                          </a:solidFill>
                        </a:rPr>
                        <a:t>（閲覧者）</a:t>
                      </a:r>
                    </a:p>
                  </a:txBody>
                  <a:tcPr marL="68580" marR="68580" marT="34290" marB="34290" anchor="ctr">
                    <a:lnR w="12700" cap="flat" cmpd="sng" algn="ctr">
                      <a:solidFill>
                        <a:schemeClr val="bg1"/>
                      </a:solidFill>
                      <a:prstDash val="solid"/>
                      <a:round/>
                      <a:headEnd type="none" w="med" len="med"/>
                      <a:tailEnd type="none" w="med" len="med"/>
                    </a:lnR>
                  </a:tcPr>
                </a:tc>
                <a:tc>
                  <a:txBody>
                    <a:bodyPr/>
                    <a:lstStyle/>
                    <a:p>
                      <a:r>
                        <a:rPr kumimoji="1" lang="ja-JP" altLang="en-US" sz="1200" b="1" dirty="0">
                          <a:solidFill>
                            <a:schemeClr val="tx1"/>
                          </a:solidFill>
                        </a:rPr>
                        <a:t>（全員）</a:t>
                      </a:r>
                    </a:p>
                  </a:txBody>
                  <a:tcPr marL="68580" marR="68580"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kumimoji="1" lang="ja-JP" altLang="en-US" sz="1200" b="1" dirty="0">
                          <a:solidFill>
                            <a:schemeClr val="tx1"/>
                          </a:solidFill>
                        </a:rPr>
                        <a:t>（担当）</a:t>
                      </a:r>
                    </a:p>
                  </a:txBody>
                  <a:tcPr marL="68580" marR="68580"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r>
                        <a:rPr kumimoji="1" lang="ja-JP" altLang="en-US" sz="1200" b="1" dirty="0">
                          <a:solidFill>
                            <a:schemeClr val="tx1"/>
                          </a:solidFill>
                        </a:rPr>
                        <a:t>（企画グループ）</a:t>
                      </a:r>
                    </a:p>
                  </a:txBody>
                  <a:tcPr marL="68580" marR="68580" marT="34290" marB="34290" anchor="ct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854401278"/>
                  </a:ext>
                </a:extLst>
              </a:tr>
              <a:tr h="310026">
                <a:tc>
                  <a:txBody>
                    <a:bodyPr/>
                    <a:lstStyle/>
                    <a:p>
                      <a:pPr algn="ctr"/>
                      <a:r>
                        <a:rPr kumimoji="1" lang="ja-JP" altLang="en-US" sz="1200" b="1" dirty="0">
                          <a:solidFill>
                            <a:schemeClr val="tx1"/>
                          </a:solidFill>
                        </a:rPr>
                        <a:t>実施日　</a:t>
                      </a:r>
                    </a:p>
                  </a:txBody>
                  <a:tcPr marL="68580" marR="68580" marT="34290" marB="34290" anchor="ctr">
                    <a:lnR w="12700" cap="flat" cmpd="sng" algn="ctr">
                      <a:solidFill>
                        <a:schemeClr val="bg1"/>
                      </a:solidFill>
                      <a:prstDash val="solid"/>
                      <a:round/>
                      <a:headEnd type="none" w="med" len="med"/>
                      <a:tailEnd type="none" w="med" len="med"/>
                    </a:lnR>
                  </a:tcPr>
                </a:tc>
                <a:tc>
                  <a:txBody>
                    <a:bodyPr/>
                    <a:lstStyle/>
                    <a:p>
                      <a:r>
                        <a:rPr kumimoji="1" lang="ja-JP" altLang="en-US" sz="1200" b="1" dirty="0">
                          <a:solidFill>
                            <a:schemeClr val="tx1"/>
                          </a:solidFill>
                        </a:rPr>
                        <a:t>２０２５年９月２０日</a:t>
                      </a:r>
                    </a:p>
                  </a:txBody>
                  <a:tcPr marL="68580" marR="68580"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kumimoji="1" lang="ja-JP" altLang="en-US" sz="1200" b="1" dirty="0">
                          <a:solidFill>
                            <a:schemeClr val="tx1"/>
                          </a:solidFill>
                        </a:rPr>
                        <a:t>関連部・室長</a:t>
                      </a:r>
                    </a:p>
                  </a:txBody>
                  <a:tcPr marL="68580" marR="68580"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endParaRPr kumimoji="1" lang="ja-JP" altLang="en-US" sz="1200" b="1" dirty="0">
                        <a:solidFill>
                          <a:schemeClr val="tx1"/>
                        </a:solidFill>
                      </a:endParaRPr>
                    </a:p>
                  </a:txBody>
                  <a:tcPr marL="68580" marR="68580" marT="34290" marB="34290" anchor="ct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39236398"/>
                  </a:ext>
                </a:extLst>
              </a:tr>
              <a:tr h="310026">
                <a:tc>
                  <a:txBody>
                    <a:bodyPr/>
                    <a:lstStyle/>
                    <a:p>
                      <a:pPr algn="ctr"/>
                      <a:r>
                        <a:rPr kumimoji="1" lang="ja-JP" altLang="en-US" sz="1200" b="1" dirty="0">
                          <a:solidFill>
                            <a:schemeClr val="tx1"/>
                          </a:solidFill>
                        </a:rPr>
                        <a:t>報告期限</a:t>
                      </a:r>
                    </a:p>
                  </a:txBody>
                  <a:tcPr marL="68580" marR="68580" marT="34290" marB="34290" anchor="ctr">
                    <a:lnR w="12700" cap="flat" cmpd="sng" algn="ctr">
                      <a:solidFill>
                        <a:schemeClr val="bg1"/>
                      </a:solidFill>
                      <a:prstDash val="solid"/>
                      <a:round/>
                      <a:headEnd type="none" w="med" len="med"/>
                      <a:tailEnd type="none" w="med" len="med"/>
                    </a:lnR>
                  </a:tcPr>
                </a:tc>
                <a:tc>
                  <a:txBody>
                    <a:bodyPr/>
                    <a:lstStyle/>
                    <a:p>
                      <a:endParaRPr kumimoji="1" lang="ja-JP" altLang="en-US" sz="1200" b="1" dirty="0">
                        <a:solidFill>
                          <a:schemeClr val="tx1"/>
                        </a:solidFill>
                      </a:endParaRPr>
                    </a:p>
                  </a:txBody>
                  <a:tcPr marL="68580" marR="68580"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ctr"/>
                      <a:r>
                        <a:rPr kumimoji="1" lang="ja-JP" altLang="en-US" sz="1200" b="1" dirty="0">
                          <a:solidFill>
                            <a:schemeClr val="tx1"/>
                          </a:solidFill>
                        </a:rPr>
                        <a:t>有効期限</a:t>
                      </a:r>
                    </a:p>
                  </a:txBody>
                  <a:tcPr marL="68580" marR="68580"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r>
                        <a:rPr kumimoji="1" lang="ja-JP" altLang="en-US" sz="1200" b="1" dirty="0">
                          <a:solidFill>
                            <a:schemeClr val="tx1"/>
                          </a:solidFill>
                        </a:rPr>
                        <a:t>２０２６年１２月まで有効</a:t>
                      </a:r>
                    </a:p>
                  </a:txBody>
                  <a:tcPr marL="68580" marR="68580" marT="34290" marB="34290" anchor="ct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75939"/>
                  </a:ext>
                </a:extLst>
              </a:tr>
            </a:tbl>
          </a:graphicData>
        </a:graphic>
      </p:graphicFrame>
      <p:graphicFrame>
        <p:nvGraphicFramePr>
          <p:cNvPr id="5" name="表 4">
            <a:extLst>
              <a:ext uri="{FF2B5EF4-FFF2-40B4-BE49-F238E27FC236}">
                <a16:creationId xmlns:a16="http://schemas.microsoft.com/office/drawing/2014/main" id="{C918AEC9-FE25-41E8-8A9B-465F2F6E8E4B}"/>
              </a:ext>
            </a:extLst>
          </p:cNvPr>
          <p:cNvGraphicFramePr>
            <a:graphicFrameLocks noGrp="1"/>
          </p:cNvGraphicFramePr>
          <p:nvPr>
            <p:extLst>
              <p:ext uri="{D42A27DB-BD31-4B8C-83A1-F6EECF244321}">
                <p14:modId xmlns:p14="http://schemas.microsoft.com/office/powerpoint/2010/main" val="3841108457"/>
              </p:ext>
            </p:extLst>
          </p:nvPr>
        </p:nvGraphicFramePr>
        <p:xfrm>
          <a:off x="170480" y="2049108"/>
          <a:ext cx="8795286" cy="368576"/>
        </p:xfrm>
        <a:graphic>
          <a:graphicData uri="http://schemas.openxmlformats.org/drawingml/2006/table">
            <a:tbl>
              <a:tblPr firstRow="1" bandRow="1">
                <a:tableStyleId>{5C22544A-7EE6-4342-B048-85BDC9FD1C3A}</a:tableStyleId>
              </a:tblPr>
              <a:tblGrid>
                <a:gridCol w="1077132">
                  <a:extLst>
                    <a:ext uri="{9D8B030D-6E8A-4147-A177-3AD203B41FA5}">
                      <a16:colId xmlns:a16="http://schemas.microsoft.com/office/drawing/2014/main" val="1019718550"/>
                    </a:ext>
                  </a:extLst>
                </a:gridCol>
                <a:gridCol w="7718154">
                  <a:extLst>
                    <a:ext uri="{9D8B030D-6E8A-4147-A177-3AD203B41FA5}">
                      <a16:colId xmlns:a16="http://schemas.microsoft.com/office/drawing/2014/main" val="3495663344"/>
                    </a:ext>
                  </a:extLst>
                </a:gridCol>
              </a:tblGrid>
              <a:tr h="368576">
                <a:tc>
                  <a:txBody>
                    <a:bodyPr/>
                    <a:lstStyle/>
                    <a:p>
                      <a:pPr algn="ctr"/>
                      <a:r>
                        <a:rPr kumimoji="1" lang="ja-JP" altLang="en-US" sz="1400" b="1" dirty="0">
                          <a:solidFill>
                            <a:schemeClr val="tx1"/>
                          </a:solidFill>
                          <a:latin typeface="+mn-ea"/>
                          <a:ea typeface="+mn-ea"/>
                        </a:rPr>
                        <a:t>標　題　　　　　　　　　　　　　　　　　　　　　　　　　　　　　　　　　　　　　　　　　　　　　　　　　　　　　　　　　　　　　　　　　　　　　</a:t>
                      </a:r>
                    </a:p>
                  </a:txBody>
                  <a:tcPr marL="72000" marR="68580" marT="0" marB="0" anchor="ctr">
                    <a:noFill/>
                  </a:tcPr>
                </a:tc>
                <a:tc>
                  <a:txBody>
                    <a:bodyPr/>
                    <a:lstStyle/>
                    <a:p>
                      <a:pPr algn="l"/>
                      <a:r>
                        <a:rPr kumimoji="1" lang="en-US" altLang="ja-JP" sz="1400" b="1" dirty="0">
                          <a:solidFill>
                            <a:schemeClr val="tx1"/>
                          </a:solidFill>
                          <a:latin typeface="+mn-ea"/>
                          <a:ea typeface="+mn-ea"/>
                        </a:rPr>
                        <a:t>TSUBASA</a:t>
                      </a:r>
                      <a:r>
                        <a:rPr kumimoji="1" lang="ja-JP" altLang="en-US" sz="1400" b="1" dirty="0">
                          <a:solidFill>
                            <a:schemeClr val="tx1"/>
                          </a:solidFill>
                          <a:latin typeface="+mn-ea"/>
                          <a:ea typeface="+mn-ea"/>
                        </a:rPr>
                        <a:t> </a:t>
                      </a:r>
                      <a:r>
                        <a:rPr kumimoji="1" lang="en-US" altLang="ja-JP" sz="1400" b="1" dirty="0">
                          <a:solidFill>
                            <a:schemeClr val="tx1"/>
                          </a:solidFill>
                          <a:latin typeface="+mn-ea"/>
                          <a:ea typeface="+mn-ea"/>
                        </a:rPr>
                        <a:t>Smile(</a:t>
                      </a:r>
                      <a:r>
                        <a:rPr kumimoji="1" lang="ja-JP" altLang="en-US" sz="1400" b="1" dirty="0">
                          <a:solidFill>
                            <a:schemeClr val="tx1"/>
                          </a:solidFill>
                          <a:latin typeface="+mn-ea"/>
                          <a:ea typeface="+mn-ea"/>
                        </a:rPr>
                        <a:t>スマイル</a:t>
                      </a:r>
                      <a:r>
                        <a:rPr kumimoji="1" lang="en-US" altLang="ja-JP" sz="1400" b="1" dirty="0">
                          <a:solidFill>
                            <a:schemeClr val="tx1"/>
                          </a:solidFill>
                          <a:latin typeface="+mn-ea"/>
                          <a:ea typeface="+mn-ea"/>
                        </a:rPr>
                        <a:t>)</a:t>
                      </a:r>
                      <a:r>
                        <a:rPr kumimoji="1" lang="ja-JP" altLang="en-US" sz="1400" b="1" dirty="0">
                          <a:solidFill>
                            <a:schemeClr val="tx1"/>
                          </a:solidFill>
                          <a:latin typeface="+mn-ea"/>
                          <a:ea typeface="+mn-ea"/>
                        </a:rPr>
                        <a:t>およびスマイルワークフローの各種機能改善について</a:t>
                      </a:r>
                    </a:p>
                  </a:txBody>
                  <a:tcPr marL="72000" marR="68580" marT="0" marB="0" anchor="ctr">
                    <a:noFill/>
                  </a:tcPr>
                </a:tc>
                <a:extLst>
                  <a:ext uri="{0D108BD9-81ED-4DB2-BD59-A6C34878D82A}">
                    <a16:rowId xmlns:a16="http://schemas.microsoft.com/office/drawing/2014/main" val="1010377618"/>
                  </a:ext>
                </a:extLst>
              </a:tr>
            </a:tbl>
          </a:graphicData>
        </a:graphic>
      </p:graphicFrame>
      <p:graphicFrame>
        <p:nvGraphicFramePr>
          <p:cNvPr id="6" name="表 5">
            <a:extLst>
              <a:ext uri="{FF2B5EF4-FFF2-40B4-BE49-F238E27FC236}">
                <a16:creationId xmlns:a16="http://schemas.microsoft.com/office/drawing/2014/main" id="{AA6C2CA4-E79B-43B9-83FE-6DE4D740F5E7}"/>
              </a:ext>
            </a:extLst>
          </p:cNvPr>
          <p:cNvGraphicFramePr>
            <a:graphicFrameLocks noGrp="1"/>
          </p:cNvGraphicFramePr>
          <p:nvPr>
            <p:extLst>
              <p:ext uri="{D42A27DB-BD31-4B8C-83A1-F6EECF244321}">
                <p14:modId xmlns:p14="http://schemas.microsoft.com/office/powerpoint/2010/main" val="4011778737"/>
              </p:ext>
            </p:extLst>
          </p:nvPr>
        </p:nvGraphicFramePr>
        <p:xfrm>
          <a:off x="170480" y="2369574"/>
          <a:ext cx="8787537" cy="4253784"/>
        </p:xfrm>
        <a:graphic>
          <a:graphicData uri="http://schemas.openxmlformats.org/drawingml/2006/table">
            <a:tbl>
              <a:tblPr firstRow="1" bandRow="1">
                <a:tableStyleId>{5C22544A-7EE6-4342-B048-85BDC9FD1C3A}</a:tableStyleId>
              </a:tblPr>
              <a:tblGrid>
                <a:gridCol w="1072701">
                  <a:extLst>
                    <a:ext uri="{9D8B030D-6E8A-4147-A177-3AD203B41FA5}">
                      <a16:colId xmlns:a16="http://schemas.microsoft.com/office/drawing/2014/main" val="2191577627"/>
                    </a:ext>
                  </a:extLst>
                </a:gridCol>
                <a:gridCol w="7714836">
                  <a:extLst>
                    <a:ext uri="{9D8B030D-6E8A-4147-A177-3AD203B41FA5}">
                      <a16:colId xmlns:a16="http://schemas.microsoft.com/office/drawing/2014/main" val="718325247"/>
                    </a:ext>
                  </a:extLst>
                </a:gridCol>
              </a:tblGrid>
              <a:tr h="498784">
                <a:tc>
                  <a:txBody>
                    <a:bodyPr/>
                    <a:lstStyle/>
                    <a:p>
                      <a:pPr algn="ctr"/>
                      <a:r>
                        <a:rPr kumimoji="1" lang="ja-JP" altLang="en-US" sz="1400" dirty="0"/>
                        <a:t>要　旨</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spc="-50" baseline="0" dirty="0">
                          <a:solidFill>
                            <a:schemeClr val="lt1"/>
                          </a:solidFill>
                          <a:latin typeface="+mn-ea"/>
                          <a:ea typeface="+mn-ea"/>
                          <a:cs typeface="+mn-cs"/>
                        </a:rPr>
                        <a:t>利便性向上と事務ミス防止のため、営業店のみなさまからのご提案・ご要望を踏まえて、以下の　機能改善を実施します。</a:t>
                      </a:r>
                      <a:endParaRPr kumimoji="1" lang="ja-JP" altLang="en-US" sz="1400" b="1" i="0" u="none" strike="noStrike" kern="1200" spc="-30" baseline="0" dirty="0">
                        <a:solidFill>
                          <a:schemeClr val="lt1"/>
                        </a:solidFill>
                        <a:latin typeface="+mn-ea"/>
                        <a:ea typeface="+mn-ea"/>
                        <a:cs typeface="+mn-cs"/>
                      </a:endParaRPr>
                    </a:p>
                  </a:txBody>
                  <a:tcPr marL="68580" marR="68580" marT="34290" marB="34290" anchor="ctr"/>
                </a:tc>
                <a:extLst>
                  <a:ext uri="{0D108BD9-81ED-4DB2-BD59-A6C34878D82A}">
                    <a16:rowId xmlns:a16="http://schemas.microsoft.com/office/drawing/2014/main" val="1849712829"/>
                  </a:ext>
                </a:extLst>
              </a:tr>
              <a:tr h="3512488">
                <a:tc>
                  <a:txBody>
                    <a:bodyPr/>
                    <a:lstStyle/>
                    <a:p>
                      <a:pPr algn="ctr"/>
                      <a:r>
                        <a:rPr kumimoji="1" lang="ja-JP" altLang="en-US" sz="1400" b="1" dirty="0"/>
                        <a:t>実施事項</a:t>
                      </a:r>
                    </a:p>
                  </a:txBody>
                  <a:tcPr marL="68580" marR="68580" marT="34290" marB="34290" anchor="ctr"/>
                </a:tc>
                <a:tc>
                  <a:txBody>
                    <a:bodyPr/>
                    <a:lstStyle/>
                    <a:p>
                      <a:pPr marL="1440000" indent="-1431925">
                        <a:lnSpc>
                          <a:spcPct val="100000"/>
                        </a:lnSpc>
                        <a:spcBef>
                          <a:spcPts val="200"/>
                        </a:spcBef>
                      </a:pPr>
                      <a:r>
                        <a:rPr kumimoji="1" lang="ja-JP" altLang="en-US" sz="1400" b="1" kern="1200" spc="-50" baseline="0" dirty="0">
                          <a:solidFill>
                            <a:schemeClr val="dk1"/>
                          </a:solidFill>
                          <a:effectLst/>
                          <a:latin typeface="+mn-ea"/>
                          <a:ea typeface="+mn-ea"/>
                          <a:cs typeface="+mn-cs"/>
                        </a:rPr>
                        <a:t>１．スマイルの機能改善（別紙</a:t>
                      </a:r>
                      <a:r>
                        <a:rPr kumimoji="1" lang="en-US" altLang="ja-JP" sz="1400" b="1" kern="1200" spc="-50" baseline="0" dirty="0">
                          <a:solidFill>
                            <a:schemeClr val="dk1"/>
                          </a:solidFill>
                          <a:effectLst/>
                          <a:latin typeface="+mn-ea"/>
                          <a:ea typeface="+mn-ea"/>
                          <a:cs typeface="+mn-cs"/>
                        </a:rPr>
                        <a:t>Ⅰ</a:t>
                      </a:r>
                      <a:r>
                        <a:rPr kumimoji="1" lang="ja-JP" altLang="en-US" sz="1400" b="1" kern="1200" spc="-50" baseline="0" dirty="0">
                          <a:solidFill>
                            <a:schemeClr val="dk1"/>
                          </a:solidFill>
                          <a:effectLst/>
                          <a:latin typeface="+mn-ea"/>
                          <a:ea typeface="+mn-ea"/>
                          <a:cs typeface="+mn-cs"/>
                        </a:rPr>
                        <a:t>～</a:t>
                      </a:r>
                      <a:r>
                        <a:rPr kumimoji="1" lang="en-US" altLang="ja-JP" sz="1400" b="1" kern="1200" spc="-50" baseline="0" dirty="0">
                          <a:solidFill>
                            <a:schemeClr val="dk1"/>
                          </a:solidFill>
                          <a:effectLst/>
                          <a:latin typeface="+mn-ea"/>
                          <a:ea typeface="+mn-ea"/>
                          <a:cs typeface="+mn-cs"/>
                        </a:rPr>
                        <a:t>Ⅲ</a:t>
                      </a:r>
                      <a:r>
                        <a:rPr kumimoji="1" lang="ja-JP" altLang="en-US" sz="1400" b="1" kern="1200" spc="-50" baseline="0" dirty="0">
                          <a:solidFill>
                            <a:schemeClr val="dk1"/>
                          </a:solidFill>
                          <a:effectLst/>
                          <a:latin typeface="+mn-ea"/>
                          <a:ea typeface="+mn-ea"/>
                          <a:cs typeface="+mn-cs"/>
                        </a:rPr>
                        <a:t>）</a:t>
                      </a:r>
                    </a:p>
                    <a:p>
                      <a:pPr marL="1440000" indent="-1431925">
                        <a:lnSpc>
                          <a:spcPct val="100000"/>
                        </a:lnSpc>
                        <a:spcBef>
                          <a:spcPts val="200"/>
                        </a:spcBef>
                      </a:pPr>
                      <a:endParaRPr kumimoji="1" lang="en-US" altLang="ja-JP" sz="1400" b="0" kern="1200" spc="-50" baseline="0" dirty="0">
                        <a:solidFill>
                          <a:schemeClr val="dk1"/>
                        </a:solidFill>
                        <a:effectLst/>
                        <a:latin typeface="+mn-ea"/>
                        <a:ea typeface="+mn-ea"/>
                        <a:cs typeface="+mn-cs"/>
                      </a:endParaRPr>
                    </a:p>
                    <a:p>
                      <a:pPr marL="1440000" indent="-1431925">
                        <a:lnSpc>
                          <a:spcPct val="100000"/>
                        </a:lnSpc>
                        <a:spcBef>
                          <a:spcPts val="200"/>
                        </a:spcBef>
                      </a:pPr>
                      <a:endParaRPr kumimoji="1" lang="en-US" altLang="ja-JP" sz="1400" b="0" kern="1200" spc="-50" baseline="0" dirty="0">
                        <a:solidFill>
                          <a:schemeClr val="dk1"/>
                        </a:solidFill>
                        <a:effectLst/>
                        <a:latin typeface="+mn-ea"/>
                        <a:ea typeface="+mn-ea"/>
                        <a:cs typeface="+mn-cs"/>
                      </a:endParaRPr>
                    </a:p>
                    <a:p>
                      <a:pPr marL="1440000" indent="-1431925">
                        <a:lnSpc>
                          <a:spcPct val="100000"/>
                        </a:lnSpc>
                        <a:spcBef>
                          <a:spcPts val="200"/>
                        </a:spcBef>
                      </a:pPr>
                      <a:endParaRPr kumimoji="1" lang="en-US" altLang="ja-JP" sz="1400" b="0" kern="1200" spc="-50" baseline="0" dirty="0">
                        <a:solidFill>
                          <a:schemeClr val="dk1"/>
                        </a:solidFill>
                        <a:effectLst/>
                        <a:latin typeface="+mn-ea"/>
                        <a:ea typeface="+mn-ea"/>
                        <a:cs typeface="+mn-cs"/>
                      </a:endParaRPr>
                    </a:p>
                    <a:p>
                      <a:pPr marL="1440000" marR="0" lvl="0" indent="-1431925" algn="l" defTabSz="914400" rtl="0" eaLnBrk="1" fontAlgn="auto" latinLnBrk="0" hangingPunct="1">
                        <a:lnSpc>
                          <a:spcPct val="100000"/>
                        </a:lnSpc>
                        <a:spcBef>
                          <a:spcPts val="200"/>
                        </a:spcBef>
                        <a:spcAft>
                          <a:spcPts val="0"/>
                        </a:spcAft>
                        <a:buClrTx/>
                        <a:buSzTx/>
                        <a:buFontTx/>
                        <a:buNone/>
                        <a:tabLst/>
                        <a:defRPr/>
                      </a:pPr>
                      <a:endParaRPr kumimoji="1" lang="en-US" altLang="ja-JP" sz="1400" b="0" kern="1200" spc="-50" baseline="0" dirty="0">
                        <a:solidFill>
                          <a:schemeClr val="dk1"/>
                        </a:solidFill>
                        <a:effectLst/>
                        <a:latin typeface="+mn-ea"/>
                        <a:ea typeface="+mn-ea"/>
                        <a:cs typeface="+mn-cs"/>
                      </a:endParaRPr>
                    </a:p>
                    <a:p>
                      <a:pPr marL="1440000" marR="0" lvl="0" indent="-1431925" algn="l" defTabSz="914400" rtl="0" eaLnBrk="1" fontAlgn="auto" latinLnBrk="0" hangingPunct="1">
                        <a:lnSpc>
                          <a:spcPct val="100000"/>
                        </a:lnSpc>
                        <a:spcBef>
                          <a:spcPts val="200"/>
                        </a:spcBef>
                        <a:spcAft>
                          <a:spcPts val="0"/>
                        </a:spcAft>
                        <a:buClrTx/>
                        <a:buSzTx/>
                        <a:buFontTx/>
                        <a:buNone/>
                        <a:tabLst/>
                        <a:defRPr/>
                      </a:pPr>
                      <a:r>
                        <a:rPr kumimoji="1" lang="ja-JP" altLang="en-US" sz="1400" b="1" kern="1200" spc="-50" baseline="0" dirty="0">
                          <a:solidFill>
                            <a:schemeClr val="dk1"/>
                          </a:solidFill>
                          <a:effectLst/>
                          <a:latin typeface="+mn-ea"/>
                          <a:ea typeface="+mn-ea"/>
                          <a:cs typeface="+mn-cs"/>
                        </a:rPr>
                        <a:t>２．スマイルワークフローの機能改善（別紙</a:t>
                      </a:r>
                      <a:r>
                        <a:rPr kumimoji="1" lang="en-US" altLang="ja-JP" sz="1400" b="1" kern="1200" spc="-50" baseline="0" dirty="0">
                          <a:solidFill>
                            <a:schemeClr val="dk1"/>
                          </a:solidFill>
                          <a:effectLst/>
                          <a:latin typeface="+mn-ea"/>
                          <a:ea typeface="+mn-ea"/>
                          <a:cs typeface="+mn-cs"/>
                        </a:rPr>
                        <a:t>Ⅳ</a:t>
                      </a:r>
                      <a:r>
                        <a:rPr kumimoji="1" lang="ja-JP" altLang="en-US" sz="1400" b="1" kern="1200" spc="-50" baseline="0" dirty="0">
                          <a:solidFill>
                            <a:schemeClr val="dk1"/>
                          </a:solidFill>
                          <a:effectLst/>
                          <a:latin typeface="+mn-ea"/>
                          <a:ea typeface="+mn-ea"/>
                          <a:cs typeface="+mn-cs"/>
                        </a:rPr>
                        <a:t>～</a:t>
                      </a:r>
                      <a:r>
                        <a:rPr kumimoji="1" lang="en-US" altLang="ja-JP" sz="1400" b="1" kern="1200" spc="-50" baseline="0" dirty="0">
                          <a:solidFill>
                            <a:schemeClr val="dk1"/>
                          </a:solidFill>
                          <a:effectLst/>
                          <a:latin typeface="+mn-ea"/>
                          <a:ea typeface="+mn-ea"/>
                          <a:cs typeface="+mn-cs"/>
                        </a:rPr>
                        <a:t>Ⅶ</a:t>
                      </a:r>
                      <a:r>
                        <a:rPr kumimoji="1" lang="ja-JP" altLang="en-US" sz="1400" b="1" kern="1200" spc="-50" baseline="0" dirty="0">
                          <a:solidFill>
                            <a:schemeClr val="dk1"/>
                          </a:solidFill>
                          <a:effectLst/>
                          <a:latin typeface="+mn-ea"/>
                          <a:ea typeface="+mn-ea"/>
                          <a:cs typeface="+mn-cs"/>
                        </a:rPr>
                        <a:t>）</a:t>
                      </a:r>
                    </a:p>
                    <a:p>
                      <a:pPr marL="1440000" marR="0" lvl="0" indent="-1431925" algn="l" defTabSz="914400" rtl="0" eaLnBrk="1" fontAlgn="auto" latinLnBrk="0" hangingPunct="1">
                        <a:lnSpc>
                          <a:spcPct val="100000"/>
                        </a:lnSpc>
                        <a:spcBef>
                          <a:spcPts val="200"/>
                        </a:spcBef>
                        <a:spcAft>
                          <a:spcPts val="0"/>
                        </a:spcAft>
                        <a:buClrTx/>
                        <a:buSzTx/>
                        <a:buFontTx/>
                        <a:buNone/>
                        <a:tabLst/>
                        <a:defRPr/>
                      </a:pPr>
                      <a:endParaRPr kumimoji="1" lang="en-US" altLang="ja-JP" sz="1400" b="0" kern="1200" spc="-50" baseline="0" dirty="0">
                        <a:solidFill>
                          <a:schemeClr val="dk1"/>
                        </a:solidFill>
                        <a:effectLst/>
                        <a:latin typeface="+mn-ea"/>
                        <a:ea typeface="+mn-ea"/>
                        <a:cs typeface="+mn-cs"/>
                      </a:endParaRPr>
                    </a:p>
                    <a:p>
                      <a:pPr marL="1440000" marR="0" lvl="0" indent="-1431925" algn="l" defTabSz="914400" rtl="0" eaLnBrk="1" fontAlgn="auto" latinLnBrk="0" hangingPunct="1">
                        <a:lnSpc>
                          <a:spcPct val="100000"/>
                        </a:lnSpc>
                        <a:spcBef>
                          <a:spcPts val="600"/>
                        </a:spcBef>
                        <a:spcAft>
                          <a:spcPts val="0"/>
                        </a:spcAft>
                        <a:buClrTx/>
                        <a:buSzTx/>
                        <a:buFontTx/>
                        <a:buNone/>
                        <a:tabLst/>
                        <a:defRPr/>
                      </a:pPr>
                      <a:endParaRPr kumimoji="1" lang="en-US" altLang="ja-JP" sz="1400" b="1" kern="1200" spc="-50" baseline="0" dirty="0">
                        <a:solidFill>
                          <a:schemeClr val="dk1"/>
                        </a:solidFill>
                        <a:effectLst/>
                        <a:latin typeface="+mn-ea"/>
                        <a:ea typeface="+mn-ea"/>
                        <a:cs typeface="+mn-cs"/>
                      </a:endParaRPr>
                    </a:p>
                    <a:p>
                      <a:pPr marL="1440000" marR="0" lvl="0" indent="-1431925" algn="l" defTabSz="914400" rtl="0" eaLnBrk="1" fontAlgn="auto" latinLnBrk="0" hangingPunct="1">
                        <a:lnSpc>
                          <a:spcPct val="100000"/>
                        </a:lnSpc>
                        <a:spcBef>
                          <a:spcPts val="600"/>
                        </a:spcBef>
                        <a:spcAft>
                          <a:spcPts val="0"/>
                        </a:spcAft>
                        <a:buClrTx/>
                        <a:buSzTx/>
                        <a:buFontTx/>
                        <a:buNone/>
                        <a:tabLst/>
                        <a:defRPr/>
                      </a:pPr>
                      <a:endParaRPr kumimoji="1" lang="en-US" altLang="ja-JP" sz="1400" b="1" kern="1200" spc="-50" baseline="0" dirty="0">
                        <a:solidFill>
                          <a:schemeClr val="dk1"/>
                        </a:solidFill>
                        <a:effectLst/>
                        <a:latin typeface="+mn-ea"/>
                        <a:ea typeface="+mn-ea"/>
                        <a:cs typeface="+mn-cs"/>
                      </a:endParaRPr>
                    </a:p>
                    <a:p>
                      <a:pPr marL="1440000" marR="0" lvl="0" indent="-1431925" algn="l" defTabSz="914400" rtl="0" eaLnBrk="1" fontAlgn="auto" latinLnBrk="0" hangingPunct="1">
                        <a:lnSpc>
                          <a:spcPct val="100000"/>
                        </a:lnSpc>
                        <a:spcBef>
                          <a:spcPts val="600"/>
                        </a:spcBef>
                        <a:spcAft>
                          <a:spcPts val="0"/>
                        </a:spcAft>
                        <a:buClrTx/>
                        <a:buSzTx/>
                        <a:buFontTx/>
                        <a:buNone/>
                        <a:tabLst/>
                        <a:defRPr/>
                      </a:pPr>
                      <a:r>
                        <a:rPr kumimoji="1" lang="ja-JP" altLang="en-US" sz="1400" b="1" kern="1200" spc="-50" baseline="0" dirty="0">
                          <a:solidFill>
                            <a:schemeClr val="dk1"/>
                          </a:solidFill>
                          <a:effectLst/>
                          <a:latin typeface="+mn-ea"/>
                          <a:ea typeface="+mn-ea"/>
                          <a:cs typeface="+mn-cs"/>
                        </a:rPr>
                        <a:t>３．</a:t>
                      </a:r>
                      <a:r>
                        <a:rPr kumimoji="1" lang="ja-JP" altLang="en-US" sz="1400" b="1" kern="1200" spc="0" baseline="0" dirty="0">
                          <a:solidFill>
                            <a:schemeClr val="dk1"/>
                          </a:solidFill>
                          <a:effectLst/>
                          <a:latin typeface="+mn-ea"/>
                          <a:ea typeface="+mn-ea"/>
                          <a:cs typeface="+mn-cs"/>
                        </a:rPr>
                        <a:t>事務基準、</a:t>
                      </a:r>
                      <a:r>
                        <a:rPr kumimoji="1" lang="en-US" altLang="ja-JP" sz="1400" b="1" kern="1200" spc="0" baseline="0" dirty="0">
                          <a:solidFill>
                            <a:schemeClr val="dk1"/>
                          </a:solidFill>
                          <a:effectLst/>
                          <a:latin typeface="+mn-ea"/>
                          <a:ea typeface="+mn-ea"/>
                          <a:cs typeface="+mn-cs"/>
                        </a:rPr>
                        <a:t>TSUBASA Smile</a:t>
                      </a:r>
                      <a:r>
                        <a:rPr kumimoji="1" lang="ja-JP" altLang="en-US" sz="1400" b="1" kern="1200" spc="0" baseline="0" dirty="0">
                          <a:solidFill>
                            <a:schemeClr val="dk1"/>
                          </a:solidFill>
                          <a:effectLst/>
                          <a:latin typeface="+mn-ea"/>
                          <a:ea typeface="+mn-ea"/>
                          <a:cs typeface="+mn-cs"/>
                        </a:rPr>
                        <a:t>マニュアルおよび規定の改定</a:t>
                      </a:r>
                    </a:p>
                    <a:p>
                      <a:pPr marL="1440000" marR="0" lvl="0" indent="-1431925" algn="l" defTabSz="914400" rtl="0" eaLnBrk="1" fontAlgn="auto" latinLnBrk="0" hangingPunct="1">
                        <a:lnSpc>
                          <a:spcPct val="100000"/>
                        </a:lnSpc>
                        <a:spcBef>
                          <a:spcPts val="0"/>
                        </a:spcBef>
                        <a:spcAft>
                          <a:spcPts val="0"/>
                        </a:spcAft>
                        <a:buClrTx/>
                        <a:buSzTx/>
                        <a:buFontTx/>
                        <a:buNone/>
                        <a:tabLst/>
                        <a:defRPr/>
                      </a:pPr>
                      <a:r>
                        <a:rPr kumimoji="1" lang="ja-JP" altLang="en-US" sz="1400" b="1" kern="1200" spc="-50" baseline="0" dirty="0">
                          <a:solidFill>
                            <a:schemeClr val="dk1"/>
                          </a:solidFill>
                          <a:effectLst/>
                          <a:latin typeface="+mn-ea"/>
                          <a:ea typeface="+mn-ea"/>
                          <a:cs typeface="+mn-cs"/>
                        </a:rPr>
                        <a:t>　　</a:t>
                      </a:r>
                      <a:r>
                        <a:rPr kumimoji="1" lang="ja-JP" altLang="en-US" sz="1400" b="0" kern="1200" spc="-50" baseline="0" dirty="0">
                          <a:solidFill>
                            <a:schemeClr val="dk1"/>
                          </a:solidFill>
                          <a:effectLst/>
                          <a:latin typeface="游ゴシック Medium" panose="020B0500000000000000" pitchFamily="50" charset="-128"/>
                          <a:ea typeface="游ゴシック Medium" panose="020B0500000000000000" pitchFamily="50" charset="-128"/>
                          <a:cs typeface="+mn-cs"/>
                          <a:hlinkClick r:id="" action="ppaction://noaction"/>
                        </a:rPr>
                        <a:t>別紙</a:t>
                      </a:r>
                      <a:r>
                        <a:rPr kumimoji="1" lang="en-US" altLang="ja-JP" sz="1400" b="0" kern="1200" spc="-50" baseline="0" dirty="0">
                          <a:solidFill>
                            <a:schemeClr val="dk1"/>
                          </a:solidFill>
                          <a:effectLst/>
                          <a:latin typeface="游ゴシック Medium" panose="020B0500000000000000" pitchFamily="50" charset="-128"/>
                          <a:ea typeface="游ゴシック Medium" panose="020B0500000000000000" pitchFamily="50" charset="-128"/>
                          <a:cs typeface="+mn-cs"/>
                          <a:hlinkClick r:id="" action="ppaction://noaction"/>
                        </a:rPr>
                        <a:t>Ⅷ</a:t>
                      </a:r>
                      <a:r>
                        <a:rPr kumimoji="1" lang="ja-JP" altLang="en-US" sz="1400" b="0" kern="1200" spc="-50" baseline="0" dirty="0">
                          <a:solidFill>
                            <a:schemeClr val="dk1"/>
                          </a:solidFill>
                          <a:effectLst/>
                          <a:latin typeface="游ゴシック Medium" panose="020B0500000000000000" pitchFamily="50" charset="-128"/>
                          <a:ea typeface="游ゴシック Medium" panose="020B0500000000000000" pitchFamily="50" charset="-128"/>
                          <a:cs typeface="+mn-cs"/>
                        </a:rPr>
                        <a:t>のとおり改定します。</a:t>
                      </a:r>
                    </a:p>
                    <a:p>
                      <a:pPr marL="1440000" indent="-1431925">
                        <a:lnSpc>
                          <a:spcPct val="100000"/>
                        </a:lnSpc>
                        <a:spcBef>
                          <a:spcPts val="600"/>
                        </a:spcBef>
                      </a:pPr>
                      <a:r>
                        <a:rPr kumimoji="1" lang="ja-JP" altLang="en-US" sz="1400" b="1" kern="1200" spc="-50" baseline="0" dirty="0">
                          <a:solidFill>
                            <a:schemeClr val="dk1"/>
                          </a:solidFill>
                          <a:effectLst/>
                          <a:latin typeface="+mn-ea"/>
                          <a:ea typeface="+mn-ea"/>
                          <a:cs typeface="+mn-cs"/>
                        </a:rPr>
                        <a:t>４．スマイル利用停止時間</a:t>
                      </a:r>
                      <a:endParaRPr kumimoji="1" lang="en-US" altLang="ja-JP" sz="1400" b="1" kern="1200" spc="-50" baseline="0" dirty="0">
                        <a:solidFill>
                          <a:schemeClr val="dk1"/>
                        </a:solidFill>
                        <a:effectLst/>
                        <a:latin typeface="+mn-ea"/>
                        <a:ea typeface="+mn-ea"/>
                        <a:cs typeface="+mn-cs"/>
                      </a:endParaRPr>
                    </a:p>
                    <a:p>
                      <a:pPr marL="355600" indent="-1588">
                        <a:lnSpc>
                          <a:spcPct val="100000"/>
                        </a:lnSpc>
                        <a:spcBef>
                          <a:spcPts val="0"/>
                        </a:spcBef>
                      </a:pPr>
                      <a:r>
                        <a:rPr kumimoji="1" lang="ja-JP" altLang="en-US" sz="1400" b="0" kern="1200" spc="-50" baseline="0" dirty="0">
                          <a:solidFill>
                            <a:schemeClr val="dk1"/>
                          </a:solidFill>
                          <a:effectLst/>
                          <a:latin typeface="游ゴシック Medium" panose="020B0500000000000000" pitchFamily="50" charset="-128"/>
                          <a:ea typeface="游ゴシック Medium" panose="020B0500000000000000" pitchFamily="50" charset="-128"/>
                          <a:cs typeface="+mn-cs"/>
                        </a:rPr>
                        <a:t>今回の各種機能改善に伴い、</a:t>
                      </a:r>
                      <a:r>
                        <a:rPr kumimoji="1" lang="en-US" altLang="ja-JP" sz="1400" b="0" kern="1200" spc="-50" baseline="0" dirty="0">
                          <a:solidFill>
                            <a:schemeClr val="dk1"/>
                          </a:solidFill>
                          <a:effectLst/>
                          <a:latin typeface="游ゴシック Medium" panose="020B0500000000000000" pitchFamily="50" charset="-128"/>
                          <a:ea typeface="游ゴシック Medium" panose="020B0500000000000000" pitchFamily="50" charset="-128"/>
                          <a:cs typeface="+mn-cs"/>
                        </a:rPr>
                        <a:t>9/19(</a:t>
                      </a:r>
                      <a:r>
                        <a:rPr kumimoji="1" lang="ja-JP" altLang="en-US" sz="1400" b="0" kern="1200" spc="-50" baseline="0" dirty="0">
                          <a:solidFill>
                            <a:schemeClr val="dk1"/>
                          </a:solidFill>
                          <a:effectLst/>
                          <a:latin typeface="游ゴシック Medium" panose="020B0500000000000000" pitchFamily="50" charset="-128"/>
                          <a:ea typeface="游ゴシック Medium" panose="020B0500000000000000" pitchFamily="50" charset="-128"/>
                          <a:cs typeface="+mn-cs"/>
                        </a:rPr>
                        <a:t>金</a:t>
                      </a:r>
                      <a:r>
                        <a:rPr kumimoji="1" lang="en-US" altLang="ja-JP" sz="1400" b="0" kern="1200" spc="-50" baseline="0" dirty="0">
                          <a:solidFill>
                            <a:schemeClr val="dk1"/>
                          </a:solidFill>
                          <a:effectLst/>
                          <a:latin typeface="游ゴシック Medium" panose="020B0500000000000000" pitchFamily="50" charset="-128"/>
                          <a:ea typeface="游ゴシック Medium" panose="020B0500000000000000" pitchFamily="50" charset="-128"/>
                          <a:cs typeface="+mn-cs"/>
                        </a:rPr>
                        <a:t>)18:00</a:t>
                      </a:r>
                      <a:r>
                        <a:rPr kumimoji="1" lang="ja-JP" altLang="en-US" sz="1400" b="0" kern="1200" spc="-50" baseline="0" dirty="0">
                          <a:solidFill>
                            <a:schemeClr val="dk1"/>
                          </a:solidFill>
                          <a:effectLst/>
                          <a:latin typeface="游ゴシック Medium" panose="020B0500000000000000" pitchFamily="50" charset="-128"/>
                          <a:ea typeface="游ゴシック Medium" panose="020B0500000000000000" pitchFamily="50" charset="-128"/>
                          <a:cs typeface="+mn-cs"/>
                        </a:rPr>
                        <a:t>以降の時間帯はスマイルおよびスマイルワーク</a:t>
                      </a:r>
                      <a:endParaRPr kumimoji="1" lang="en-US" altLang="ja-JP" sz="1400" b="0" kern="1200" spc="-50" baseline="0" dirty="0">
                        <a:solidFill>
                          <a:schemeClr val="dk1"/>
                        </a:solidFill>
                        <a:effectLst/>
                        <a:latin typeface="游ゴシック Medium" panose="020B0500000000000000" pitchFamily="50" charset="-128"/>
                        <a:ea typeface="游ゴシック Medium" panose="020B0500000000000000" pitchFamily="50" charset="-128"/>
                        <a:cs typeface="+mn-cs"/>
                      </a:endParaRPr>
                    </a:p>
                    <a:p>
                      <a:pPr marL="355600" indent="-1588">
                        <a:lnSpc>
                          <a:spcPct val="100000"/>
                        </a:lnSpc>
                        <a:spcBef>
                          <a:spcPts val="0"/>
                        </a:spcBef>
                      </a:pPr>
                      <a:r>
                        <a:rPr kumimoji="1" lang="ja-JP" altLang="en-US" sz="1400" b="0" kern="1200" spc="-50" baseline="0" dirty="0">
                          <a:solidFill>
                            <a:schemeClr val="dk1"/>
                          </a:solidFill>
                          <a:effectLst/>
                          <a:latin typeface="游ゴシック Medium" panose="020B0500000000000000" pitchFamily="50" charset="-128"/>
                          <a:ea typeface="游ゴシック Medium" panose="020B0500000000000000" pitchFamily="50" charset="-128"/>
                          <a:cs typeface="+mn-cs"/>
                        </a:rPr>
                        <a:t>フローはご利用いただけませんのでご注意ください。</a:t>
                      </a:r>
                      <a:endParaRPr kumimoji="1" lang="en-US" altLang="ja-JP" sz="1400" b="0" kern="1200" spc="-50" baseline="0" dirty="0">
                        <a:solidFill>
                          <a:schemeClr val="dk1"/>
                        </a:solidFill>
                        <a:effectLst/>
                        <a:latin typeface="游ゴシック Medium" panose="020B0500000000000000" pitchFamily="50" charset="-128"/>
                        <a:ea typeface="游ゴシック Medium" panose="020B0500000000000000" pitchFamily="50" charset="-128"/>
                        <a:cs typeface="+mn-cs"/>
                      </a:endParaRPr>
                    </a:p>
                    <a:p>
                      <a:pPr marL="1440000" indent="-1431925">
                        <a:lnSpc>
                          <a:spcPct val="100000"/>
                        </a:lnSpc>
                        <a:spcBef>
                          <a:spcPts val="200"/>
                        </a:spcBef>
                      </a:pPr>
                      <a:endParaRPr kumimoji="1" lang="ja-JP" altLang="en-US" sz="1400" b="0" kern="1200" spc="-50" baseline="0" dirty="0">
                        <a:solidFill>
                          <a:schemeClr val="dk1"/>
                        </a:solidFill>
                        <a:effectLst/>
                        <a:latin typeface="+mn-ea"/>
                        <a:ea typeface="+mn-ea"/>
                        <a:cs typeface="+mn-cs"/>
                      </a:endParaRPr>
                    </a:p>
                  </a:txBody>
                  <a:tcPr marL="68580" marR="68580" marT="72000" marB="0">
                    <a:noFill/>
                  </a:tcPr>
                </a:tc>
                <a:extLst>
                  <a:ext uri="{0D108BD9-81ED-4DB2-BD59-A6C34878D82A}">
                    <a16:rowId xmlns:a16="http://schemas.microsoft.com/office/drawing/2014/main" val="3261786328"/>
                  </a:ext>
                </a:extLst>
              </a:tr>
            </a:tbl>
          </a:graphicData>
        </a:graphic>
      </p:graphicFrame>
      <p:graphicFrame>
        <p:nvGraphicFramePr>
          <p:cNvPr id="11" name="表 10">
            <a:extLst>
              <a:ext uri="{FF2B5EF4-FFF2-40B4-BE49-F238E27FC236}">
                <a16:creationId xmlns:a16="http://schemas.microsoft.com/office/drawing/2014/main" id="{AE684C24-1F11-4870-B94B-62FBF35D9116}"/>
              </a:ext>
            </a:extLst>
          </p:cNvPr>
          <p:cNvGraphicFramePr>
            <a:graphicFrameLocks noGrp="1"/>
          </p:cNvGraphicFramePr>
          <p:nvPr>
            <p:extLst>
              <p:ext uri="{D42A27DB-BD31-4B8C-83A1-F6EECF244321}">
                <p14:modId xmlns:p14="http://schemas.microsoft.com/office/powerpoint/2010/main" val="3917158335"/>
              </p:ext>
            </p:extLst>
          </p:nvPr>
        </p:nvGraphicFramePr>
        <p:xfrm>
          <a:off x="174356" y="6406188"/>
          <a:ext cx="8871321" cy="434340"/>
        </p:xfrm>
        <a:graphic>
          <a:graphicData uri="http://schemas.openxmlformats.org/drawingml/2006/table">
            <a:tbl>
              <a:tblPr firstRow="1" bandRow="1">
                <a:tableStyleId>{5C22544A-7EE6-4342-B048-85BDC9FD1C3A}</a:tableStyleId>
              </a:tblPr>
              <a:tblGrid>
                <a:gridCol w="1094261">
                  <a:extLst>
                    <a:ext uri="{9D8B030D-6E8A-4147-A177-3AD203B41FA5}">
                      <a16:colId xmlns:a16="http://schemas.microsoft.com/office/drawing/2014/main" val="2191577627"/>
                    </a:ext>
                  </a:extLst>
                </a:gridCol>
                <a:gridCol w="7777060">
                  <a:extLst>
                    <a:ext uri="{9D8B030D-6E8A-4147-A177-3AD203B41FA5}">
                      <a16:colId xmlns:a16="http://schemas.microsoft.com/office/drawing/2014/main" val="718325247"/>
                    </a:ext>
                  </a:extLst>
                </a:gridCol>
              </a:tblGrid>
              <a:tr h="363903">
                <a:tc>
                  <a:txBody>
                    <a:bodyPr/>
                    <a:lstStyle/>
                    <a:p>
                      <a:pPr algn="ctr"/>
                      <a:r>
                        <a:rPr kumimoji="1" lang="ja-JP" altLang="en-US" sz="1400" dirty="0">
                          <a:solidFill>
                            <a:schemeClr val="tx1"/>
                          </a:solidFill>
                          <a:latin typeface="+mn-ea"/>
                          <a:ea typeface="+mn-ea"/>
                        </a:rPr>
                        <a:t>照 会 先</a:t>
                      </a:r>
                    </a:p>
                  </a:txBody>
                  <a:tcPr marL="68580" marR="68580" marT="34290" marB="34290" anchor="ctr">
                    <a:solidFill>
                      <a:schemeClr val="accent6">
                        <a:lumMod val="20000"/>
                        <a:lumOff val="80000"/>
                      </a:schemeClr>
                    </a:solidFill>
                  </a:tcPr>
                </a:tc>
                <a:tc>
                  <a:txBody>
                    <a:bodyPr/>
                    <a:lstStyle/>
                    <a:p>
                      <a:r>
                        <a:rPr kumimoji="1" lang="ja-JP" altLang="en-US" sz="1200" b="1" dirty="0">
                          <a:solidFill>
                            <a:schemeClr val="tx1"/>
                          </a:solidFill>
                          <a:latin typeface="+mn-ea"/>
                          <a:ea typeface="+mn-ea"/>
                        </a:rPr>
                        <a:t>事務企画部 企画</a:t>
                      </a:r>
                      <a:r>
                        <a:rPr kumimoji="1" lang="en-US" altLang="ja-JP" sz="1200" b="1" dirty="0">
                          <a:solidFill>
                            <a:schemeClr val="tx1"/>
                          </a:solidFill>
                          <a:latin typeface="+mn-ea"/>
                          <a:ea typeface="+mn-ea"/>
                        </a:rPr>
                        <a:t>G </a:t>
                      </a:r>
                      <a:r>
                        <a:rPr kumimoji="1" lang="ja-JP" altLang="en-US" sz="1200" b="1" dirty="0">
                          <a:solidFill>
                            <a:schemeClr val="tx1"/>
                          </a:solidFill>
                          <a:latin typeface="+mn-ea"/>
                          <a:ea typeface="+mn-ea"/>
                          <a:hlinkClick r:id="rId3"/>
                        </a:rPr>
                        <a:t>各種問い合わせボット</a:t>
                      </a:r>
                      <a:r>
                        <a:rPr kumimoji="1" lang="ja-JP" altLang="en-US" sz="1200" b="1" dirty="0">
                          <a:solidFill>
                            <a:schemeClr val="tx1"/>
                          </a:solidFill>
                          <a:latin typeface="+mn-ea"/>
                          <a:ea typeface="+mn-ea"/>
                        </a:rPr>
                        <a:t>（スマイルタブレット）</a:t>
                      </a:r>
                      <a:endParaRPr kumimoji="1" lang="en-US" altLang="ja-JP" sz="1200" b="1" dirty="0">
                        <a:solidFill>
                          <a:schemeClr val="tx1"/>
                        </a:solidFill>
                        <a:latin typeface="+mn-ea"/>
                        <a:ea typeface="+mn-ea"/>
                      </a:endParaRPr>
                    </a:p>
                    <a:p>
                      <a:r>
                        <a:rPr kumimoji="1" lang="zh-TW" altLang="en-US" sz="1200" b="1" spc="0" baseline="0" dirty="0">
                          <a:solidFill>
                            <a:schemeClr val="tx1"/>
                          </a:solidFill>
                          <a:latin typeface="游ゴシック" panose="020B0400000000000000" pitchFamily="50" charset="-128"/>
                          <a:ea typeface="游ゴシック" panose="020B0400000000000000" pitchFamily="50" charset="-128"/>
                          <a:hlinkClick r:id="rId4"/>
                        </a:rPr>
                        <a:t>佐藤</a:t>
                      </a:r>
                      <a:r>
                        <a:rPr kumimoji="1" lang="ja-JP" altLang="en-US" sz="1200" b="1" spc="0" baseline="0" dirty="0">
                          <a:solidFill>
                            <a:schemeClr val="tx1"/>
                          </a:solidFill>
                          <a:latin typeface="游ゴシック" panose="020B0400000000000000" pitchFamily="50" charset="-128"/>
                          <a:ea typeface="+mn-ea"/>
                          <a:hlinkClick r:id="rId4"/>
                        </a:rPr>
                        <a:t> </a:t>
                      </a:r>
                      <a:r>
                        <a:rPr kumimoji="1" lang="zh-TW" altLang="en-US" sz="1200" b="1" spc="0" baseline="0" dirty="0">
                          <a:solidFill>
                            <a:schemeClr val="tx1"/>
                          </a:solidFill>
                          <a:latin typeface="游ゴシック" panose="020B0400000000000000" pitchFamily="50" charset="-128"/>
                          <a:ea typeface="游ゴシック" panose="020B0400000000000000" pitchFamily="50" charset="-128"/>
                          <a:hlinkClick r:id="rId4"/>
                        </a:rPr>
                        <a:t>優花</a:t>
                      </a:r>
                      <a:r>
                        <a:rPr kumimoji="1" lang="zh-TW" altLang="en-US" sz="1200" b="1" spc="0" baseline="0" dirty="0">
                          <a:solidFill>
                            <a:schemeClr val="tx1"/>
                          </a:solidFill>
                          <a:latin typeface="游ゴシック" panose="020B0400000000000000" pitchFamily="50" charset="-128"/>
                          <a:ea typeface="游ゴシック" panose="020B0400000000000000" pitchFamily="50" charset="-128"/>
                        </a:rPr>
                        <a:t>（</a:t>
                      </a:r>
                      <a:r>
                        <a:rPr kumimoji="1" lang="en-US" altLang="zh-TW" sz="1200" b="1" spc="0" baseline="0" dirty="0">
                          <a:solidFill>
                            <a:schemeClr val="tx1"/>
                          </a:solidFill>
                          <a:latin typeface="游ゴシック" panose="020B0400000000000000" pitchFamily="50" charset="-128"/>
                          <a:ea typeface="游ゴシック" panose="020B0400000000000000" pitchFamily="50" charset="-128"/>
                        </a:rPr>
                        <a:t>8448</a:t>
                      </a:r>
                      <a:r>
                        <a:rPr kumimoji="1" lang="zh-TW" altLang="en-US" sz="1200" b="1" spc="0" baseline="0" dirty="0">
                          <a:solidFill>
                            <a:schemeClr val="tx1"/>
                          </a:solidFill>
                          <a:latin typeface="游ゴシック" panose="020B0400000000000000" pitchFamily="50" charset="-128"/>
                          <a:ea typeface="游ゴシック" panose="020B0400000000000000" pitchFamily="50" charset="-128"/>
                        </a:rPr>
                        <a:t>）</a:t>
                      </a:r>
                      <a:r>
                        <a:rPr kumimoji="1" lang="ja-JP" altLang="en-US" sz="1200" b="1" spc="0" baseline="0" dirty="0" err="1">
                          <a:solidFill>
                            <a:schemeClr val="tx1"/>
                          </a:solidFill>
                          <a:latin typeface="游ゴシック" panose="020B0400000000000000" pitchFamily="50" charset="-128"/>
                          <a:ea typeface="+mn-ea"/>
                        </a:rPr>
                        <a:t>、</a:t>
                      </a:r>
                      <a:r>
                        <a:rPr kumimoji="1" lang="ja-JP" altLang="en-US" sz="1200" b="1" spc="0" baseline="0" dirty="0">
                          <a:solidFill>
                            <a:schemeClr val="tx1"/>
                          </a:solidFill>
                          <a:latin typeface="游ゴシック" panose="020B0400000000000000" pitchFamily="50" charset="-128"/>
                          <a:ea typeface="+mn-ea"/>
                          <a:hlinkClick r:id="rId5"/>
                        </a:rPr>
                        <a:t>矢萩 七海</a:t>
                      </a:r>
                      <a:r>
                        <a:rPr kumimoji="1" lang="ja-JP" altLang="en-US" sz="1200" b="1" spc="0" baseline="0" dirty="0">
                          <a:solidFill>
                            <a:schemeClr val="tx1"/>
                          </a:solidFill>
                          <a:latin typeface="游ゴシック" panose="020B0400000000000000" pitchFamily="50" charset="-128"/>
                          <a:ea typeface="+mn-ea"/>
                        </a:rPr>
                        <a:t>（</a:t>
                      </a:r>
                      <a:r>
                        <a:rPr kumimoji="1" lang="en-US" altLang="ja-JP" sz="1200" b="1" spc="0" baseline="0" dirty="0">
                          <a:solidFill>
                            <a:schemeClr val="tx1"/>
                          </a:solidFill>
                          <a:latin typeface="游ゴシック" panose="020B0400000000000000" pitchFamily="50" charset="-128"/>
                          <a:ea typeface="+mn-ea"/>
                        </a:rPr>
                        <a:t>8340</a:t>
                      </a:r>
                      <a:r>
                        <a:rPr kumimoji="1" lang="ja-JP" altLang="en-US" sz="1200" b="1" spc="0" baseline="0" dirty="0">
                          <a:solidFill>
                            <a:schemeClr val="tx1"/>
                          </a:solidFill>
                          <a:latin typeface="游ゴシック" panose="020B0400000000000000" pitchFamily="50" charset="-128"/>
                          <a:ea typeface="+mn-ea"/>
                        </a:rPr>
                        <a:t>）</a:t>
                      </a:r>
                      <a:r>
                        <a:rPr kumimoji="1" lang="ja-JP" altLang="en-US" sz="1200" b="1" spc="0" baseline="0" dirty="0">
                          <a:solidFill>
                            <a:schemeClr val="tx1"/>
                          </a:solidFill>
                          <a:latin typeface="游ゴシック" panose="020B0400000000000000" pitchFamily="50" charset="-128"/>
                          <a:ea typeface="游ゴシック" panose="020B0400000000000000" pitchFamily="50" charset="-128"/>
                        </a:rPr>
                        <a:t>、</a:t>
                      </a:r>
                      <a:r>
                        <a:rPr kumimoji="1" lang="ja-JP" altLang="en-US" sz="1200" b="1" spc="0" baseline="0" dirty="0">
                          <a:solidFill>
                            <a:schemeClr val="tx1"/>
                          </a:solidFill>
                          <a:latin typeface="+mn-ea"/>
                          <a:ea typeface="+mn-ea"/>
                          <a:hlinkClick r:id="rId6"/>
                        </a:rPr>
                        <a:t>長妻 直美</a:t>
                      </a:r>
                      <a:r>
                        <a:rPr kumimoji="1" lang="ja-JP" altLang="en-US" sz="1200" b="1" spc="0" baseline="0" dirty="0">
                          <a:solidFill>
                            <a:schemeClr val="tx1"/>
                          </a:solidFill>
                          <a:latin typeface="+mn-ea"/>
                          <a:ea typeface="+mn-ea"/>
                        </a:rPr>
                        <a:t>（</a:t>
                      </a:r>
                      <a:r>
                        <a:rPr kumimoji="1" lang="en-US" altLang="ja-JP" sz="1200" b="1" spc="0" baseline="0" dirty="0">
                          <a:solidFill>
                            <a:schemeClr val="tx1"/>
                          </a:solidFill>
                          <a:latin typeface="+mn-ea"/>
                          <a:ea typeface="+mn-ea"/>
                        </a:rPr>
                        <a:t>8378</a:t>
                      </a:r>
                      <a:r>
                        <a:rPr kumimoji="1" lang="ja-JP" altLang="en-US" sz="1200" b="1" spc="0" baseline="0" dirty="0">
                          <a:solidFill>
                            <a:schemeClr val="tx1"/>
                          </a:solidFill>
                          <a:latin typeface="+mn-ea"/>
                          <a:ea typeface="+mn-ea"/>
                        </a:rPr>
                        <a:t>）</a:t>
                      </a:r>
                      <a:r>
                        <a:rPr kumimoji="1" lang="ja-JP" altLang="en-US" sz="1200" b="1" spc="0" baseline="0" dirty="0">
                          <a:solidFill>
                            <a:schemeClr val="tx1"/>
                          </a:solidFill>
                          <a:latin typeface="游ゴシック" panose="020B0400000000000000" pitchFamily="50" charset="-128"/>
                          <a:ea typeface="游ゴシック" panose="020B0400000000000000" pitchFamily="50" charset="-128"/>
                        </a:rPr>
                        <a:t>、</a:t>
                      </a:r>
                      <a:r>
                        <a:rPr kumimoji="1" lang="ja-JP" altLang="en-US" sz="1200" b="1" spc="0" baseline="0" dirty="0">
                          <a:solidFill>
                            <a:schemeClr val="tx1"/>
                          </a:solidFill>
                          <a:latin typeface="游ゴシック" panose="020B0400000000000000" pitchFamily="50" charset="-128"/>
                          <a:ea typeface="+mn-ea"/>
                          <a:hlinkClick r:id="rId7"/>
                        </a:rPr>
                        <a:t>杉保 大和</a:t>
                      </a:r>
                      <a:r>
                        <a:rPr kumimoji="1" lang="ja-JP" altLang="en-US" sz="1200" b="1" spc="0" baseline="0" dirty="0">
                          <a:solidFill>
                            <a:schemeClr val="tx1"/>
                          </a:solidFill>
                          <a:latin typeface="游ゴシック" panose="020B0400000000000000" pitchFamily="50" charset="-128"/>
                          <a:ea typeface="+mn-ea"/>
                        </a:rPr>
                        <a:t>（</a:t>
                      </a:r>
                      <a:r>
                        <a:rPr kumimoji="1" lang="en-US" altLang="ja-JP" sz="1200" b="1" spc="0" baseline="0" dirty="0">
                          <a:solidFill>
                            <a:schemeClr val="tx1"/>
                          </a:solidFill>
                          <a:latin typeface="游ゴシック" panose="020B0400000000000000" pitchFamily="50" charset="-128"/>
                          <a:ea typeface="+mn-ea"/>
                        </a:rPr>
                        <a:t>8466</a:t>
                      </a:r>
                      <a:r>
                        <a:rPr kumimoji="1" lang="ja-JP" altLang="en-US" sz="1200" b="1" spc="0" baseline="0" dirty="0">
                          <a:solidFill>
                            <a:schemeClr val="tx1"/>
                          </a:solidFill>
                          <a:latin typeface="游ゴシック" panose="020B0400000000000000" pitchFamily="50" charset="-128"/>
                          <a:ea typeface="+mn-ea"/>
                        </a:rPr>
                        <a:t>）、</a:t>
                      </a:r>
                      <a:r>
                        <a:rPr kumimoji="1" lang="ja-JP" altLang="en-US" sz="1200" b="1" spc="0" baseline="0" dirty="0">
                          <a:solidFill>
                            <a:schemeClr val="tx1"/>
                          </a:solidFill>
                          <a:latin typeface="+mn-ea"/>
                          <a:ea typeface="+mn-ea"/>
                          <a:hlinkClick r:id="rId8"/>
                        </a:rPr>
                        <a:t>肥田 彩花</a:t>
                      </a:r>
                      <a:r>
                        <a:rPr kumimoji="1" lang="zh-TW" altLang="en-US" sz="1200" b="1" spc="0" baseline="0" dirty="0">
                          <a:solidFill>
                            <a:schemeClr val="tx1"/>
                          </a:solidFill>
                          <a:latin typeface="游ゴシック" panose="020B0400000000000000" pitchFamily="50" charset="-128"/>
                          <a:ea typeface="游ゴシック" panose="020B0400000000000000" pitchFamily="50" charset="-128"/>
                        </a:rPr>
                        <a:t>（</a:t>
                      </a:r>
                      <a:r>
                        <a:rPr kumimoji="1" lang="en-US" altLang="zh-TW" sz="1200" b="1" spc="0" baseline="0" dirty="0">
                          <a:solidFill>
                            <a:schemeClr val="tx1"/>
                          </a:solidFill>
                          <a:latin typeface="游ゴシック" panose="020B0400000000000000" pitchFamily="50" charset="-128"/>
                          <a:ea typeface="游ゴシック" panose="020B0400000000000000" pitchFamily="50" charset="-128"/>
                        </a:rPr>
                        <a:t>83</a:t>
                      </a:r>
                      <a:r>
                        <a:rPr kumimoji="1" lang="en-US" altLang="ja-JP" sz="1200" b="1" spc="0" baseline="0" dirty="0">
                          <a:solidFill>
                            <a:schemeClr val="tx1"/>
                          </a:solidFill>
                          <a:latin typeface="游ゴシック" panose="020B0400000000000000" pitchFamily="50" charset="-128"/>
                          <a:ea typeface="+mn-ea"/>
                        </a:rPr>
                        <a:t>13</a:t>
                      </a:r>
                      <a:r>
                        <a:rPr kumimoji="1" lang="zh-TW" altLang="en-US" sz="1200" b="1" spc="0" baseline="0" dirty="0">
                          <a:solidFill>
                            <a:schemeClr val="tx1"/>
                          </a:solidFill>
                          <a:latin typeface="游ゴシック" panose="020B0400000000000000" pitchFamily="50" charset="-128"/>
                          <a:ea typeface="游ゴシック" panose="020B0400000000000000" pitchFamily="50" charset="-128"/>
                        </a:rPr>
                        <a:t>）</a:t>
                      </a:r>
                      <a:endParaRPr kumimoji="1" lang="en-US" altLang="ja-JP" sz="1200" b="0" spc="0" baseline="0" dirty="0">
                        <a:solidFill>
                          <a:schemeClr val="tx1"/>
                        </a:solidFill>
                        <a:latin typeface="+mn-ea"/>
                        <a:ea typeface="+mn-ea"/>
                      </a:endParaRPr>
                    </a:p>
                  </a:txBody>
                  <a:tcPr marL="68580" marR="68580" marT="34290" marB="34290" anchor="ctr">
                    <a:solidFill>
                      <a:schemeClr val="accent6">
                        <a:lumMod val="20000"/>
                        <a:lumOff val="80000"/>
                      </a:schemeClr>
                    </a:solidFill>
                  </a:tcPr>
                </a:tc>
                <a:extLst>
                  <a:ext uri="{0D108BD9-81ED-4DB2-BD59-A6C34878D82A}">
                    <a16:rowId xmlns:a16="http://schemas.microsoft.com/office/drawing/2014/main" val="1849712829"/>
                  </a:ext>
                </a:extLst>
              </a:tr>
            </a:tbl>
          </a:graphicData>
        </a:graphic>
      </p:graphicFrame>
      <p:grpSp>
        <p:nvGrpSpPr>
          <p:cNvPr id="3" name="グループ化 2">
            <a:extLst>
              <a:ext uri="{FF2B5EF4-FFF2-40B4-BE49-F238E27FC236}">
                <a16:creationId xmlns:a16="http://schemas.microsoft.com/office/drawing/2014/main" id="{5CB6D1A8-97DF-4679-8555-4FC5AB9C2E39}"/>
              </a:ext>
            </a:extLst>
          </p:cNvPr>
          <p:cNvGrpSpPr/>
          <p:nvPr/>
        </p:nvGrpSpPr>
        <p:grpSpPr>
          <a:xfrm>
            <a:off x="3958980" y="97486"/>
            <a:ext cx="4999038" cy="438193"/>
            <a:chOff x="3958980" y="177696"/>
            <a:chExt cx="4999038" cy="438193"/>
          </a:xfrm>
        </p:grpSpPr>
        <p:sp>
          <p:nvSpPr>
            <p:cNvPr id="20" name="正方形/長方形 19">
              <a:extLst>
                <a:ext uri="{FF2B5EF4-FFF2-40B4-BE49-F238E27FC236}">
                  <a16:creationId xmlns:a16="http://schemas.microsoft.com/office/drawing/2014/main" id="{F660737E-54C5-44D6-83D3-FF95FA9954F9}"/>
                </a:ext>
              </a:extLst>
            </p:cNvPr>
            <p:cNvSpPr/>
            <p:nvPr/>
          </p:nvSpPr>
          <p:spPr>
            <a:xfrm>
              <a:off x="3958980" y="177696"/>
              <a:ext cx="4999038" cy="396000"/>
            </a:xfrm>
            <a:prstGeom prst="rect">
              <a:avLst/>
            </a:prstGeom>
            <a:solidFill>
              <a:schemeClr val="accent2">
                <a:lumMod val="20000"/>
                <a:lumOff val="80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 name="グループ化 1">
              <a:extLst>
                <a:ext uri="{FF2B5EF4-FFF2-40B4-BE49-F238E27FC236}">
                  <a16:creationId xmlns:a16="http://schemas.microsoft.com/office/drawing/2014/main" id="{4DDC8C22-09BE-431D-9044-8158DE542997}"/>
                </a:ext>
              </a:extLst>
            </p:cNvPr>
            <p:cNvGrpSpPr/>
            <p:nvPr/>
          </p:nvGrpSpPr>
          <p:grpSpPr>
            <a:xfrm>
              <a:off x="4363761" y="178828"/>
              <a:ext cx="4095898" cy="437061"/>
              <a:chOff x="4363761" y="18236"/>
              <a:chExt cx="4095898" cy="437061"/>
            </a:xfrm>
          </p:grpSpPr>
          <p:pic>
            <p:nvPicPr>
              <p:cNvPr id="13" name="図 12">
                <a:extLst>
                  <a:ext uri="{FF2B5EF4-FFF2-40B4-BE49-F238E27FC236}">
                    <a16:creationId xmlns:a16="http://schemas.microsoft.com/office/drawing/2014/main" id="{4F70ABFE-F83D-4361-AAD3-F3FAD2BC8C7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471261" y="221380"/>
                <a:ext cx="3880898" cy="233917"/>
              </a:xfrm>
              <a:prstGeom prst="rect">
                <a:avLst/>
              </a:prstGeom>
            </p:spPr>
          </p:pic>
          <p:pic>
            <p:nvPicPr>
              <p:cNvPr id="15" name="図 14">
                <a:extLst>
                  <a:ext uri="{FF2B5EF4-FFF2-40B4-BE49-F238E27FC236}">
                    <a16:creationId xmlns:a16="http://schemas.microsoft.com/office/drawing/2014/main" id="{884A556A-ADBB-4864-9502-A622DEFD706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363761" y="18236"/>
                <a:ext cx="4095898" cy="244768"/>
              </a:xfrm>
              <a:prstGeom prst="rect">
                <a:avLst/>
              </a:prstGeom>
            </p:spPr>
          </p:pic>
        </p:grpSp>
      </p:grpSp>
      <p:sp>
        <p:nvSpPr>
          <p:cNvPr id="17" name="テキスト ボックス 16">
            <a:extLst>
              <a:ext uri="{FF2B5EF4-FFF2-40B4-BE49-F238E27FC236}">
                <a16:creationId xmlns:a16="http://schemas.microsoft.com/office/drawing/2014/main" id="{3BE57F6C-A9CD-47A0-BAC8-443A6D47E474}"/>
              </a:ext>
            </a:extLst>
          </p:cNvPr>
          <p:cNvSpPr txBox="1"/>
          <p:nvPr/>
        </p:nvSpPr>
        <p:spPr>
          <a:xfrm>
            <a:off x="170480" y="95349"/>
            <a:ext cx="3780000" cy="396000"/>
          </a:xfrm>
          <a:prstGeom prst="rect">
            <a:avLst/>
          </a:prstGeom>
          <a:solidFill>
            <a:srgbClr val="4472C4"/>
          </a:solidFill>
          <a:ln w="12700">
            <a:solidFill>
              <a:schemeClr val="bg1"/>
            </a:solidFill>
          </a:ln>
        </p:spPr>
        <p:txBody>
          <a:bodyPr wrap="square" tIns="36000" bIns="36000" rtlCol="0" anchor="ctr">
            <a:normAutofit/>
          </a:bodyPr>
          <a:lstStyle/>
          <a:p>
            <a:pPr algn="ctr"/>
            <a:r>
              <a:rPr kumimoji="1" lang="ja-JP" altLang="en-US" sz="1400" b="1" dirty="0">
                <a:solidFill>
                  <a:schemeClr val="bg1"/>
                </a:solidFill>
              </a:rPr>
              <a:t>手続（ｽﾏｲﾙ）</a:t>
            </a:r>
          </a:p>
        </p:txBody>
      </p:sp>
      <p:graphicFrame>
        <p:nvGraphicFramePr>
          <p:cNvPr id="8" name="表 7">
            <a:extLst>
              <a:ext uri="{FF2B5EF4-FFF2-40B4-BE49-F238E27FC236}">
                <a16:creationId xmlns:a16="http://schemas.microsoft.com/office/drawing/2014/main" id="{96B2FA15-75EA-4C78-9ED7-8613A5F240F7}"/>
              </a:ext>
            </a:extLst>
          </p:cNvPr>
          <p:cNvGraphicFramePr>
            <a:graphicFrameLocks noGrp="1"/>
          </p:cNvGraphicFramePr>
          <p:nvPr>
            <p:extLst>
              <p:ext uri="{D42A27DB-BD31-4B8C-83A1-F6EECF244321}">
                <p14:modId xmlns:p14="http://schemas.microsoft.com/office/powerpoint/2010/main" val="1252269633"/>
              </p:ext>
            </p:extLst>
          </p:nvPr>
        </p:nvGraphicFramePr>
        <p:xfrm>
          <a:off x="1328468" y="3226962"/>
          <a:ext cx="7628719" cy="738292"/>
        </p:xfrm>
        <a:graphic>
          <a:graphicData uri="http://schemas.openxmlformats.org/drawingml/2006/table">
            <a:tbl>
              <a:tblPr firstRow="1" bandRow="1">
                <a:tableStyleId>{5940675A-B579-460E-94D1-54222C63F5DA}</a:tableStyleId>
              </a:tblPr>
              <a:tblGrid>
                <a:gridCol w="3815988">
                  <a:extLst>
                    <a:ext uri="{9D8B030D-6E8A-4147-A177-3AD203B41FA5}">
                      <a16:colId xmlns:a16="http://schemas.microsoft.com/office/drawing/2014/main" val="2560295837"/>
                    </a:ext>
                  </a:extLst>
                </a:gridCol>
                <a:gridCol w="3812731">
                  <a:extLst>
                    <a:ext uri="{9D8B030D-6E8A-4147-A177-3AD203B41FA5}">
                      <a16:colId xmlns:a16="http://schemas.microsoft.com/office/drawing/2014/main" val="682729889"/>
                    </a:ext>
                  </a:extLst>
                </a:gridCol>
              </a:tblGrid>
              <a:tr h="369146">
                <a:tc>
                  <a:txBody>
                    <a:bodyPr/>
                    <a:lstStyle/>
                    <a:p>
                      <a:pPr algn="l"/>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個人事業主の本人認証方法拡大・・・・・</a:t>
                      </a:r>
                      <a:r>
                        <a:rPr kumimoji="1" lang="en-US" altLang="ja-JP" sz="1400" b="0" dirty="0">
                          <a:solidFill>
                            <a:schemeClr val="tx1"/>
                          </a:solidFill>
                          <a:latin typeface="游ゴシック Medium" panose="020B0500000000000000" pitchFamily="50" charset="-128"/>
                          <a:ea typeface="游ゴシック Medium" panose="020B0500000000000000" pitchFamily="50" charset="-128"/>
                          <a:hlinkClick r:id="rId11" action="ppaction://hlinksldjump"/>
                        </a:rPr>
                        <a:t>Ⅰ</a:t>
                      </a:r>
                      <a:endParaRPr kumimoji="1" lang="ja-JP" altLang="en-US" sz="1400" b="0" dirty="0">
                        <a:solidFill>
                          <a:schemeClr val="tx1"/>
                        </a:solidFill>
                        <a:latin typeface="游ゴシック Medium" panose="020B0500000000000000" pitchFamily="50" charset="-128"/>
                        <a:ea typeface="游ゴシック Medium" panose="020B0500000000000000" pitchFamily="50" charset="-128"/>
                      </a:endParaRPr>
                    </a:p>
                  </a:txBody>
                  <a:tcPr anchor="c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在留期限確認メッセージの表示・・・・・・</a:t>
                      </a:r>
                      <a:r>
                        <a:rPr kumimoji="1" lang="en-US" altLang="ja-JP" sz="1400" b="0" dirty="0">
                          <a:solidFill>
                            <a:schemeClr val="tx1"/>
                          </a:solidFill>
                          <a:latin typeface="游ゴシック Medium" panose="020B0500000000000000" pitchFamily="50" charset="-128"/>
                          <a:ea typeface="游ゴシック Medium" panose="020B0500000000000000" pitchFamily="50" charset="-128"/>
                          <a:hlinkClick r:id="rId12" action="ppaction://hlinksldjump"/>
                        </a:rPr>
                        <a:t>Ⅲ</a:t>
                      </a:r>
                      <a:endParaRPr kumimoji="1" lang="ja-JP" altLang="en-US" sz="1400" b="0" dirty="0">
                        <a:solidFill>
                          <a:schemeClr val="tx1"/>
                        </a:solidFill>
                        <a:latin typeface="游ゴシック Medium" panose="020B0500000000000000" pitchFamily="50" charset="-128"/>
                        <a:ea typeface="游ゴシック Medium" panose="020B0500000000000000" pitchFamily="50" charset="-128"/>
                      </a:endParaRPr>
                    </a:p>
                  </a:txBody>
                  <a:tcPr marL="7620" marR="7620" marT="7620" marB="0" anchor="ctr">
                    <a:noFill/>
                  </a:tcPr>
                </a:tc>
                <a:extLst>
                  <a:ext uri="{0D108BD9-81ED-4DB2-BD59-A6C34878D82A}">
                    <a16:rowId xmlns:a16="http://schemas.microsoft.com/office/drawing/2014/main" val="237868184"/>
                  </a:ext>
                </a:extLst>
              </a:tr>
              <a:tr h="369146">
                <a:tc>
                  <a:txBody>
                    <a:bodyPr/>
                    <a:lstStyle/>
                    <a:p>
                      <a:r>
                        <a:rPr lang="ja-JP" altLang="en-US" sz="1400" dirty="0">
                          <a:latin typeface="游ゴシック Medium" panose="020B0500000000000000" pitchFamily="50" charset="-128"/>
                          <a:ea typeface="游ゴシック Medium" panose="020B0500000000000000" pitchFamily="50" charset="-128"/>
                        </a:rPr>
                        <a:t>普通・貯蓄併用カード再発行の改善・・・</a:t>
                      </a:r>
                      <a:r>
                        <a:rPr lang="en-US" altLang="ja-JP" sz="1400" dirty="0">
                          <a:latin typeface="游ゴシック Medium" panose="020B0500000000000000" pitchFamily="50" charset="-128"/>
                          <a:ea typeface="游ゴシック Medium" panose="020B0500000000000000" pitchFamily="50" charset="-128"/>
                          <a:hlinkClick r:id="rId13" action="ppaction://hlinksldjump"/>
                        </a:rPr>
                        <a:t>Ⅱ</a:t>
                      </a:r>
                      <a:endParaRPr lang="ja-JP" altLang="en-US" sz="1400" dirty="0">
                        <a:latin typeface="游ゴシック Medium" panose="020B0500000000000000" pitchFamily="50" charset="-128"/>
                        <a:ea typeface="游ゴシック Medium" panose="020B0500000000000000" pitchFamily="50" charset="-128"/>
                      </a:endParaRPr>
                    </a:p>
                  </a:txBody>
                  <a:tcPr anchor="ctr">
                    <a:noFill/>
                  </a:tcPr>
                </a:tc>
                <a:tc>
                  <a:txBody>
                    <a:bodyPr/>
                    <a:lstStyle/>
                    <a:p>
                      <a:pPr algn="l" fontAlgn="ctr"/>
                      <a:endParaRPr lang="ja-JP" altLang="en-US" sz="1400" b="0" i="0" u="none" strike="noStrike" spc="-100" baseline="0" dirty="0">
                        <a:solidFill>
                          <a:schemeClr val="tx1"/>
                        </a:solidFill>
                        <a:effectLst/>
                        <a:latin typeface="游ゴシック Medium" panose="020B0500000000000000" pitchFamily="50" charset="-128"/>
                        <a:ea typeface="游ゴシック Medium" panose="020B0500000000000000" pitchFamily="50" charset="-128"/>
                      </a:endParaRPr>
                    </a:p>
                  </a:txBody>
                  <a:tcPr marL="7620" marR="7620" marT="7620"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63641611"/>
                  </a:ext>
                </a:extLst>
              </a:tr>
            </a:tbl>
          </a:graphicData>
        </a:graphic>
      </p:graphicFrame>
      <p:graphicFrame>
        <p:nvGraphicFramePr>
          <p:cNvPr id="9" name="表 8">
            <a:extLst>
              <a:ext uri="{FF2B5EF4-FFF2-40B4-BE49-F238E27FC236}">
                <a16:creationId xmlns:a16="http://schemas.microsoft.com/office/drawing/2014/main" id="{918E817A-9AF9-4CD8-9EC7-7DB1E8A27EE1}"/>
              </a:ext>
            </a:extLst>
          </p:cNvPr>
          <p:cNvGraphicFramePr>
            <a:graphicFrameLocks noGrp="1"/>
          </p:cNvGraphicFramePr>
          <p:nvPr>
            <p:extLst>
              <p:ext uri="{D42A27DB-BD31-4B8C-83A1-F6EECF244321}">
                <p14:modId xmlns:p14="http://schemas.microsoft.com/office/powerpoint/2010/main" val="3235520196"/>
              </p:ext>
            </p:extLst>
          </p:nvPr>
        </p:nvGraphicFramePr>
        <p:xfrm>
          <a:off x="1328467" y="4395554"/>
          <a:ext cx="7628719" cy="738292"/>
        </p:xfrm>
        <a:graphic>
          <a:graphicData uri="http://schemas.openxmlformats.org/drawingml/2006/table">
            <a:tbl>
              <a:tblPr firstRow="1" bandRow="1">
                <a:tableStyleId>{5940675A-B579-460E-94D1-54222C63F5DA}</a:tableStyleId>
              </a:tblPr>
              <a:tblGrid>
                <a:gridCol w="3815988">
                  <a:extLst>
                    <a:ext uri="{9D8B030D-6E8A-4147-A177-3AD203B41FA5}">
                      <a16:colId xmlns:a16="http://schemas.microsoft.com/office/drawing/2014/main" val="765836262"/>
                    </a:ext>
                  </a:extLst>
                </a:gridCol>
                <a:gridCol w="3812731">
                  <a:extLst>
                    <a:ext uri="{9D8B030D-6E8A-4147-A177-3AD203B41FA5}">
                      <a16:colId xmlns:a16="http://schemas.microsoft.com/office/drawing/2014/main" val="1084967718"/>
                    </a:ext>
                  </a:extLst>
                </a:gridCol>
              </a:tblGrid>
              <a:tr h="369146">
                <a:tc>
                  <a:txBody>
                    <a:bodyPr/>
                    <a:lstStyle/>
                    <a:p>
                      <a:r>
                        <a:rPr lang="ja-JP" altLang="en-US" sz="1400" dirty="0">
                          <a:latin typeface="游ゴシック Medium" panose="020B0500000000000000" pitchFamily="50" charset="-128"/>
                          <a:ea typeface="游ゴシック Medium" panose="020B0500000000000000" pitchFamily="50" charset="-128"/>
                        </a:rPr>
                        <a:t>メッセンジャー通知の文言の改善・・・・</a:t>
                      </a:r>
                      <a:r>
                        <a:rPr lang="en-US" altLang="ja-JP" sz="1400" dirty="0">
                          <a:latin typeface="游ゴシック Medium" panose="020B0500000000000000" pitchFamily="50" charset="-128"/>
                          <a:ea typeface="游ゴシック Medium" panose="020B0500000000000000" pitchFamily="50" charset="-128"/>
                          <a:hlinkClick r:id="rId13" action="ppaction://hlinksldjump"/>
                        </a:rPr>
                        <a:t>Ⅳ</a:t>
                      </a:r>
                      <a:endParaRPr lang="ja-JP" altLang="en-US" sz="1400" dirty="0">
                        <a:latin typeface="游ゴシック Medium" panose="020B0500000000000000" pitchFamily="50" charset="-128"/>
                        <a:ea typeface="游ゴシック Medium" panose="020B0500000000000000" pitchFamily="50" charset="-128"/>
                      </a:endParaRPr>
                    </a:p>
                  </a:txBody>
                  <a:tcPr anchor="c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400" dirty="0">
                          <a:latin typeface="游ゴシック Medium" panose="020B0500000000000000" pitchFamily="50" charset="-128"/>
                          <a:ea typeface="游ゴシック Medium" panose="020B0500000000000000" pitchFamily="50" charset="-128"/>
                        </a:rPr>
                        <a:t>新規口座開設チェックシートの文言修正・・</a:t>
                      </a:r>
                      <a:r>
                        <a:rPr lang="en-US" altLang="ja-JP" sz="1400" dirty="0">
                          <a:latin typeface="游ゴシック Medium" panose="020B0500000000000000" pitchFamily="50" charset="-128"/>
                          <a:ea typeface="游ゴシック Medium" panose="020B0500000000000000" pitchFamily="50" charset="-128"/>
                          <a:hlinkClick r:id="" action="ppaction://noaction"/>
                        </a:rPr>
                        <a:t>Ⅵ</a:t>
                      </a:r>
                      <a:endParaRPr lang="ja-JP" altLang="en-US" sz="1400" dirty="0">
                        <a:latin typeface="游ゴシック Medium" panose="020B0500000000000000" pitchFamily="50" charset="-128"/>
                        <a:ea typeface="游ゴシック Medium" panose="020B0500000000000000" pitchFamily="50" charset="-128"/>
                      </a:endParaRPr>
                    </a:p>
                  </a:txBody>
                  <a:tcPr marL="7620" marR="7620" marT="7620" marB="0" anchor="ctr">
                    <a:noFill/>
                  </a:tcPr>
                </a:tc>
                <a:extLst>
                  <a:ext uri="{0D108BD9-81ED-4DB2-BD59-A6C34878D82A}">
                    <a16:rowId xmlns:a16="http://schemas.microsoft.com/office/drawing/2014/main" val="1674390080"/>
                  </a:ext>
                </a:extLst>
              </a:tr>
              <a:tr h="369146">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400" dirty="0">
                          <a:latin typeface="游ゴシック Medium" panose="020B0500000000000000" pitchFamily="50" charset="-128"/>
                          <a:ea typeface="游ゴシック Medium" panose="020B0500000000000000" pitchFamily="50" charset="-128"/>
                        </a:rPr>
                        <a:t>ワークフロー承認依頼先の自動設定・・・</a:t>
                      </a:r>
                      <a:r>
                        <a:rPr lang="en-US" altLang="ja-JP" sz="1400" dirty="0">
                          <a:latin typeface="游ゴシック Medium" panose="020B0500000000000000" pitchFamily="50" charset="-128"/>
                          <a:ea typeface="游ゴシック Medium" panose="020B0500000000000000" pitchFamily="50" charset="-128"/>
                          <a:hlinkClick r:id="" action="ppaction://noaction"/>
                        </a:rPr>
                        <a:t>Ⅴ</a:t>
                      </a:r>
                      <a:endParaRPr lang="ja-JP" altLang="en-US" sz="1400" dirty="0">
                        <a:latin typeface="游ゴシック Medium" panose="020B0500000000000000" pitchFamily="50" charset="-128"/>
                        <a:ea typeface="游ゴシック Medium" panose="020B0500000000000000" pitchFamily="50" charset="-128"/>
                      </a:endParaRPr>
                    </a:p>
                  </a:txBody>
                  <a:tcPr anchor="c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400" dirty="0">
                          <a:latin typeface="游ゴシック Medium" panose="020B0500000000000000" pitchFamily="50" charset="-128"/>
                          <a:ea typeface="游ゴシック Medium" panose="020B0500000000000000" pitchFamily="50" charset="-128"/>
                        </a:rPr>
                        <a:t>書類検索画面に更新ボタンを追加・・・・・</a:t>
                      </a:r>
                      <a:r>
                        <a:rPr lang="en-US" altLang="ja-JP" sz="1400" dirty="0">
                          <a:latin typeface="游ゴシック Medium" panose="020B0500000000000000" pitchFamily="50" charset="-128"/>
                          <a:ea typeface="游ゴシック Medium" panose="020B0500000000000000" pitchFamily="50" charset="-128"/>
                          <a:hlinkClick r:id="rId14" action="ppaction://hlinksldjump"/>
                        </a:rPr>
                        <a:t>Ⅶ</a:t>
                      </a:r>
                      <a:endParaRPr lang="ja-JP" altLang="en-US" sz="1400" dirty="0">
                        <a:latin typeface="游ゴシック Medium" panose="020B0500000000000000" pitchFamily="50" charset="-128"/>
                        <a:ea typeface="游ゴシック Medium" panose="020B0500000000000000" pitchFamily="50" charset="-128"/>
                      </a:endParaRPr>
                    </a:p>
                  </a:txBody>
                  <a:tcPr marL="7620" marR="7620" marT="7620" marB="0" anchor="ctr">
                    <a:noFill/>
                  </a:tcPr>
                </a:tc>
                <a:extLst>
                  <a:ext uri="{0D108BD9-81ED-4DB2-BD59-A6C34878D82A}">
                    <a16:rowId xmlns:a16="http://schemas.microsoft.com/office/drawing/2014/main" val="1732329832"/>
                  </a:ext>
                </a:extLst>
              </a:tr>
            </a:tbl>
          </a:graphicData>
        </a:graphic>
      </p:graphicFrame>
    </p:spTree>
    <p:extLst>
      <p:ext uri="{BB962C8B-B14F-4D97-AF65-F5344CB8AC3E}">
        <p14:creationId xmlns:p14="http://schemas.microsoft.com/office/powerpoint/2010/main" val="3898719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0" name="直線矢印コネクタ 39">
            <a:extLst>
              <a:ext uri="{FF2B5EF4-FFF2-40B4-BE49-F238E27FC236}">
                <a16:creationId xmlns:a16="http://schemas.microsoft.com/office/drawing/2014/main" id="{C53E286B-043C-4F04-A5B1-07498B4BCEF5}"/>
              </a:ext>
            </a:extLst>
          </p:cNvPr>
          <p:cNvCxnSpPr>
            <a:cxnSpLocks/>
            <a:endCxn id="35" idx="1"/>
          </p:cNvCxnSpPr>
          <p:nvPr/>
        </p:nvCxnSpPr>
        <p:spPr>
          <a:xfrm>
            <a:off x="1482436" y="5251590"/>
            <a:ext cx="1349676" cy="2129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grpSp>
        <p:nvGrpSpPr>
          <p:cNvPr id="4" name="グループ化 3">
            <a:extLst>
              <a:ext uri="{FF2B5EF4-FFF2-40B4-BE49-F238E27FC236}">
                <a16:creationId xmlns:a16="http://schemas.microsoft.com/office/drawing/2014/main" id="{B0B348D0-CC7A-4102-8D81-56AFDB828D10}"/>
              </a:ext>
            </a:extLst>
          </p:cNvPr>
          <p:cNvGrpSpPr/>
          <p:nvPr/>
        </p:nvGrpSpPr>
        <p:grpSpPr>
          <a:xfrm>
            <a:off x="276044" y="284904"/>
            <a:ext cx="8591911" cy="681250"/>
            <a:chOff x="276044" y="190018"/>
            <a:chExt cx="8591911" cy="681250"/>
          </a:xfrm>
        </p:grpSpPr>
        <p:cxnSp>
          <p:nvCxnSpPr>
            <p:cNvPr id="8" name="直線コネクタ 7">
              <a:extLst>
                <a:ext uri="{FF2B5EF4-FFF2-40B4-BE49-F238E27FC236}">
                  <a16:creationId xmlns:a16="http://schemas.microsoft.com/office/drawing/2014/main" id="{5A7CEE16-C584-4DC9-A63C-3778D4335113}"/>
                </a:ext>
              </a:extLst>
            </p:cNvPr>
            <p:cNvCxnSpPr/>
            <p:nvPr/>
          </p:nvCxnSpPr>
          <p:spPr>
            <a:xfrm>
              <a:off x="276045" y="871268"/>
              <a:ext cx="859191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正方形/長方形 8">
              <a:extLst>
                <a:ext uri="{FF2B5EF4-FFF2-40B4-BE49-F238E27FC236}">
                  <a16:creationId xmlns:a16="http://schemas.microsoft.com/office/drawing/2014/main" id="{F4E332DB-71A2-4DAA-A52C-7C3AEDF289F0}"/>
                </a:ext>
              </a:extLst>
            </p:cNvPr>
            <p:cNvSpPr/>
            <p:nvPr/>
          </p:nvSpPr>
          <p:spPr>
            <a:xfrm>
              <a:off x="276044" y="259268"/>
              <a:ext cx="144000" cy="612000"/>
            </a:xfrm>
            <a:prstGeom prst="rect">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3AEF284C-D00E-4272-81DD-2CD29381689E}"/>
                </a:ext>
              </a:extLst>
            </p:cNvPr>
            <p:cNvSpPr txBox="1"/>
            <p:nvPr/>
          </p:nvSpPr>
          <p:spPr>
            <a:xfrm>
              <a:off x="420044" y="190018"/>
              <a:ext cx="1599256" cy="276999"/>
            </a:xfrm>
            <a:prstGeom prst="rect">
              <a:avLst/>
            </a:prstGeom>
            <a:noFill/>
          </p:spPr>
          <p:txBody>
            <a:bodyPr wrap="square" rtlCol="0" anchor="ctr">
              <a:spAutoFit/>
            </a:bodyPr>
            <a:lstStyle/>
            <a:p>
              <a:r>
                <a:rPr kumimoji="1" lang="ja-JP" altLang="en-US" sz="1200" dirty="0">
                  <a:latin typeface="游ゴシック Medium" panose="020B0500000000000000" pitchFamily="50" charset="-128"/>
                  <a:ea typeface="游ゴシック Medium" panose="020B0500000000000000" pitchFamily="50" charset="-128"/>
                </a:rPr>
                <a:t>機能改善詳細（１）</a:t>
              </a:r>
            </a:p>
          </p:txBody>
        </p:sp>
        <p:sp>
          <p:nvSpPr>
            <p:cNvPr id="11" name="テキスト ボックス 10">
              <a:extLst>
                <a:ext uri="{FF2B5EF4-FFF2-40B4-BE49-F238E27FC236}">
                  <a16:creationId xmlns:a16="http://schemas.microsoft.com/office/drawing/2014/main" id="{8A39368D-15FA-4F19-8D68-EF6AB8936699}"/>
                </a:ext>
              </a:extLst>
            </p:cNvPr>
            <p:cNvSpPr txBox="1"/>
            <p:nvPr/>
          </p:nvSpPr>
          <p:spPr>
            <a:xfrm>
              <a:off x="420043" y="428543"/>
              <a:ext cx="7792303" cy="400110"/>
            </a:xfrm>
            <a:prstGeom prst="rect">
              <a:avLst/>
            </a:prstGeom>
            <a:noFill/>
          </p:spPr>
          <p:txBody>
            <a:bodyPr wrap="square" rtlCol="0" anchor="ctr">
              <a:spAutoFit/>
            </a:bodyPr>
            <a:lstStyle/>
            <a:p>
              <a:r>
                <a:rPr kumimoji="1" lang="ja-JP" altLang="en-US" sz="2000" b="1" dirty="0">
                  <a:latin typeface="+mn-ea"/>
                </a:rPr>
                <a:t>個人事業主の本人認証方法拡大</a:t>
              </a:r>
              <a:endParaRPr kumimoji="1" lang="ja-JP" altLang="en-US" sz="2000" b="1" dirty="0">
                <a:solidFill>
                  <a:schemeClr val="accent1"/>
                </a:solidFill>
              </a:endParaRPr>
            </a:p>
          </p:txBody>
        </p:sp>
      </p:grpSp>
      <p:graphicFrame>
        <p:nvGraphicFramePr>
          <p:cNvPr id="13" name="表 12">
            <a:extLst>
              <a:ext uri="{FF2B5EF4-FFF2-40B4-BE49-F238E27FC236}">
                <a16:creationId xmlns:a16="http://schemas.microsoft.com/office/drawing/2014/main" id="{6839CE9E-DA91-450B-84F3-072EDD6AAACB}"/>
              </a:ext>
            </a:extLst>
          </p:cNvPr>
          <p:cNvGraphicFramePr>
            <a:graphicFrameLocks noGrp="1"/>
          </p:cNvGraphicFramePr>
          <p:nvPr>
            <p:extLst/>
          </p:nvPr>
        </p:nvGraphicFramePr>
        <p:xfrm>
          <a:off x="276043" y="1084189"/>
          <a:ext cx="8694153" cy="878160"/>
        </p:xfrm>
        <a:graphic>
          <a:graphicData uri="http://schemas.openxmlformats.org/drawingml/2006/table">
            <a:tbl>
              <a:tblPr firstRow="1" bandRow="1">
                <a:tableStyleId>{5940675A-B579-460E-94D1-54222C63F5DA}</a:tableStyleId>
              </a:tblPr>
              <a:tblGrid>
                <a:gridCol w="864000">
                  <a:extLst>
                    <a:ext uri="{9D8B030D-6E8A-4147-A177-3AD203B41FA5}">
                      <a16:colId xmlns:a16="http://schemas.microsoft.com/office/drawing/2014/main" val="1045753353"/>
                    </a:ext>
                  </a:extLst>
                </a:gridCol>
                <a:gridCol w="7830153">
                  <a:extLst>
                    <a:ext uri="{9D8B030D-6E8A-4147-A177-3AD203B41FA5}">
                      <a16:colId xmlns:a16="http://schemas.microsoft.com/office/drawing/2014/main" val="2889024988"/>
                    </a:ext>
                  </a:extLst>
                </a:gridCol>
              </a:tblGrid>
              <a:tr h="360000">
                <a:tc>
                  <a:txBody>
                    <a:bodyPr/>
                    <a:lstStyle/>
                    <a:p>
                      <a:pPr algn="ctr"/>
                      <a:r>
                        <a:rPr kumimoji="1" lang="ja-JP" altLang="en-US" sz="1200" dirty="0">
                          <a:solidFill>
                            <a:schemeClr val="tx1"/>
                          </a:solidFill>
                          <a:latin typeface="游ゴシック Medium" panose="020B0500000000000000" pitchFamily="50" charset="-128"/>
                          <a:ea typeface="游ゴシック Medium" panose="020B0500000000000000" pitchFamily="50" charset="-128"/>
                        </a:rPr>
                        <a:t>対象取引</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a:r>
                        <a:rPr kumimoji="1" lang="ja-JP" altLang="en-US" sz="1400" b="0" dirty="0">
                          <a:latin typeface="游ゴシック Medium" panose="020B0500000000000000" pitchFamily="50" charset="-128"/>
                          <a:ea typeface="游ゴシック Medium" panose="020B0500000000000000" pitchFamily="50" charset="-128"/>
                        </a:rPr>
                        <a:t>個人事業主が手続き可能な全取引</a:t>
                      </a:r>
                      <a:endParaRPr kumimoji="1" lang="ja-JP" altLang="en-US" sz="1400" b="0" baseline="30000" dirty="0">
                        <a:latin typeface="游ゴシック Medium" panose="020B0500000000000000" pitchFamily="50" charset="-128"/>
                        <a:ea typeface="游ゴシック Medium" panose="020B0500000000000000" pitchFamily="50" charset="-12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740567117"/>
                  </a:ext>
                </a:extLst>
              </a:tr>
              <a:tr h="360000">
                <a:tc>
                  <a:txBody>
                    <a:bodyPr/>
                    <a:lstStyle/>
                    <a:p>
                      <a:pPr algn="ctr"/>
                      <a:r>
                        <a:rPr kumimoji="1" lang="ja-JP" altLang="en-US" sz="1200" dirty="0">
                          <a:solidFill>
                            <a:schemeClr val="tx1"/>
                          </a:solidFill>
                          <a:latin typeface="游ゴシック Medium" panose="020B0500000000000000" pitchFamily="50" charset="-128"/>
                          <a:ea typeface="游ゴシック Medium" panose="020B0500000000000000" pitchFamily="50" charset="-128"/>
                        </a:rPr>
                        <a:t>改善内容</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400" b="0" dirty="0">
                          <a:latin typeface="游ゴシック Medium" panose="020B0500000000000000" pitchFamily="50" charset="-128"/>
                          <a:ea typeface="游ゴシック Medium" panose="020B0500000000000000" pitchFamily="50" charset="-128"/>
                        </a:rPr>
                        <a:t>個人事業主がスマイルで手続きを行う場合、</a:t>
                      </a:r>
                      <a:r>
                        <a:rPr kumimoji="1" lang="ja-JP" altLang="en-US" sz="1400" b="1" dirty="0">
                          <a:latin typeface="+mn-ea"/>
                          <a:ea typeface="+mn-ea"/>
                        </a:rPr>
                        <a:t>キャッシュカード暗証一致での本人認証を</a:t>
                      </a:r>
                      <a:endParaRPr kumimoji="1" lang="en-US" altLang="ja-JP" sz="1400" b="1" dirty="0">
                        <a:latin typeface="+mn-ea"/>
                        <a:ea typeface="+mn-ea"/>
                      </a:endParaRPr>
                    </a:p>
                    <a:p>
                      <a:pPr algn="l"/>
                      <a:r>
                        <a:rPr kumimoji="1" lang="ja-JP" altLang="en-US" sz="1400" b="1" dirty="0">
                          <a:latin typeface="+mn-ea"/>
                          <a:ea typeface="+mn-ea"/>
                        </a:rPr>
                        <a:t>可能</a:t>
                      </a:r>
                      <a:r>
                        <a:rPr kumimoji="1" lang="ja-JP" altLang="en-US" sz="1400" b="0" dirty="0">
                          <a:latin typeface="游ゴシック Medium" panose="020B0500000000000000" pitchFamily="50" charset="-128"/>
                          <a:ea typeface="游ゴシック Medium" panose="020B0500000000000000" pitchFamily="50" charset="-128"/>
                        </a:rPr>
                        <a:t>とします。</a:t>
                      </a:r>
                      <a:endParaRPr kumimoji="1" lang="ja-JP" altLang="en-US" sz="1400" b="0" dirty="0">
                        <a:solidFill>
                          <a:schemeClr val="tx1"/>
                        </a:solidFill>
                        <a:latin typeface="游ゴシック Medium" panose="020B0500000000000000" pitchFamily="50" charset="-128"/>
                        <a:ea typeface="游ゴシック Medium" panose="020B0500000000000000" pitchFamily="50" charset="-12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42379294"/>
                  </a:ext>
                </a:extLst>
              </a:tr>
            </a:tbl>
          </a:graphicData>
        </a:graphic>
      </p:graphicFrame>
      <p:graphicFrame>
        <p:nvGraphicFramePr>
          <p:cNvPr id="23" name="表 22">
            <a:extLst>
              <a:ext uri="{FF2B5EF4-FFF2-40B4-BE49-F238E27FC236}">
                <a16:creationId xmlns:a16="http://schemas.microsoft.com/office/drawing/2014/main" id="{4E485E8B-44BF-484D-81A8-81BAC9C3076F}"/>
              </a:ext>
            </a:extLst>
          </p:cNvPr>
          <p:cNvGraphicFramePr>
            <a:graphicFrameLocks noGrp="1"/>
          </p:cNvGraphicFramePr>
          <p:nvPr>
            <p:extLst>
              <p:ext uri="{D42A27DB-BD31-4B8C-83A1-F6EECF244321}">
                <p14:modId xmlns:p14="http://schemas.microsoft.com/office/powerpoint/2010/main" val="266700451"/>
              </p:ext>
            </p:extLst>
          </p:nvPr>
        </p:nvGraphicFramePr>
        <p:xfrm>
          <a:off x="270871" y="2684493"/>
          <a:ext cx="8591910" cy="3943527"/>
        </p:xfrm>
        <a:graphic>
          <a:graphicData uri="http://schemas.openxmlformats.org/drawingml/2006/table">
            <a:tbl>
              <a:tblPr firstRow="1" bandRow="1">
                <a:tableStyleId>{5940675A-B579-460E-94D1-54222C63F5DA}</a:tableStyleId>
              </a:tblPr>
              <a:tblGrid>
                <a:gridCol w="4295955">
                  <a:extLst>
                    <a:ext uri="{9D8B030D-6E8A-4147-A177-3AD203B41FA5}">
                      <a16:colId xmlns:a16="http://schemas.microsoft.com/office/drawing/2014/main" val="2200843645"/>
                    </a:ext>
                  </a:extLst>
                </a:gridCol>
                <a:gridCol w="4295955">
                  <a:extLst>
                    <a:ext uri="{9D8B030D-6E8A-4147-A177-3AD203B41FA5}">
                      <a16:colId xmlns:a16="http://schemas.microsoft.com/office/drawing/2014/main" val="3914625769"/>
                    </a:ext>
                  </a:extLst>
                </a:gridCol>
              </a:tblGrid>
              <a:tr h="360000">
                <a:tc>
                  <a:txBody>
                    <a:bodyPr/>
                    <a:lstStyle/>
                    <a:p>
                      <a:pPr algn="ctr"/>
                      <a:r>
                        <a:rPr kumimoji="1" lang="ja-JP" altLang="en-US" sz="1400" dirty="0">
                          <a:latin typeface="游ゴシック Medium" panose="020B0500000000000000" pitchFamily="50" charset="-128"/>
                          <a:ea typeface="游ゴシック Medium" panose="020B0500000000000000" pitchFamily="50" charset="-128"/>
                        </a:rPr>
                        <a:t>いままで</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kumimoji="1" lang="ja-JP" altLang="en-US" sz="1400" dirty="0">
                          <a:latin typeface="游ゴシック Medium" panose="020B0500000000000000" pitchFamily="50" charset="-128"/>
                          <a:ea typeface="游ゴシック Medium" panose="020B0500000000000000" pitchFamily="50" charset="-128"/>
                        </a:rPr>
                        <a:t>これから</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242879240"/>
                  </a:ext>
                </a:extLst>
              </a:tr>
              <a:tr h="358352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Medium" panose="020B0500000000000000" pitchFamily="50" charset="-128"/>
                          <a:ea typeface="游ゴシック Medium" panose="020B0500000000000000" pitchFamily="50" charset="-128"/>
                        </a:rPr>
                        <a:t>個人事業主は「通帳＋印鑑」の</a:t>
                      </a:r>
                      <a:endParaRPr kumimoji="1" lang="en-US" altLang="ja-JP" sz="1400" dirty="0">
                        <a:latin typeface="游ゴシック Medium" panose="020B0500000000000000" pitchFamily="50" charset="-128"/>
                        <a:ea typeface="游ゴシック Medium" panose="020B0500000000000000"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Medium" panose="020B0500000000000000" pitchFamily="50" charset="-128"/>
                          <a:ea typeface="游ゴシック Medium" panose="020B0500000000000000" pitchFamily="50" charset="-128"/>
                        </a:rPr>
                        <a:t>本人認証のみ可能としていました。</a:t>
                      </a:r>
                      <a:endParaRPr kumimoji="1" lang="en-US" altLang="ja-JP" sz="1400" dirty="0">
                        <a:latin typeface="游ゴシック Medium" panose="020B0500000000000000" pitchFamily="50" charset="-128"/>
                        <a:ea typeface="游ゴシック Medium" panose="020B0500000000000000" pitchFamily="50" charset="-128"/>
                      </a:endParaRPr>
                    </a:p>
                  </a:txBody>
                  <a:tcPr marT="108000">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Medium" panose="020B0500000000000000" pitchFamily="50" charset="-128"/>
                          <a:ea typeface="游ゴシック Medium" panose="020B0500000000000000" pitchFamily="50" charset="-128"/>
                        </a:rPr>
                        <a:t>個人事業主も「キャッシュカード暗証一致」</a:t>
                      </a:r>
                      <a:endParaRPr kumimoji="1" lang="en-US" altLang="ja-JP" sz="1400" dirty="0">
                        <a:latin typeface="游ゴシック Medium" panose="020B0500000000000000" pitchFamily="50" charset="-128"/>
                        <a:ea typeface="游ゴシック Medium" panose="020B0500000000000000"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err="1">
                          <a:latin typeface="游ゴシック Medium" panose="020B0500000000000000" pitchFamily="50" charset="-128"/>
                          <a:ea typeface="游ゴシック Medium" panose="020B0500000000000000" pitchFamily="50" charset="-128"/>
                        </a:rPr>
                        <a:t>での</a:t>
                      </a:r>
                      <a:r>
                        <a:rPr kumimoji="1" lang="ja-JP" altLang="en-US" sz="1400" dirty="0">
                          <a:latin typeface="游ゴシック Medium" panose="020B0500000000000000" pitchFamily="50" charset="-128"/>
                          <a:ea typeface="游ゴシック Medium" panose="020B0500000000000000" pitchFamily="50" charset="-128"/>
                        </a:rPr>
                        <a:t>認証を可能とします。</a:t>
                      </a:r>
                      <a:endParaRPr kumimoji="1" lang="en-US" altLang="ja-JP" sz="1400" dirty="0">
                        <a:latin typeface="游ゴシック Medium" panose="020B0500000000000000" pitchFamily="50" charset="-128"/>
                        <a:ea typeface="游ゴシック Medium" panose="020B0500000000000000" pitchFamily="50" charset="-128"/>
                      </a:endParaRPr>
                    </a:p>
                    <a:p>
                      <a:endParaRPr kumimoji="1" lang="ja-JP" altLang="en-US" dirty="0"/>
                    </a:p>
                  </a:txBody>
                  <a:tcPr marT="108000">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09827986"/>
                  </a:ext>
                </a:extLst>
              </a:tr>
            </a:tbl>
          </a:graphicData>
        </a:graphic>
      </p:graphicFrame>
      <p:sp>
        <p:nvSpPr>
          <p:cNvPr id="22" name="フッター プレースホルダー 3">
            <a:extLst>
              <a:ext uri="{FF2B5EF4-FFF2-40B4-BE49-F238E27FC236}">
                <a16:creationId xmlns:a16="http://schemas.microsoft.com/office/drawing/2014/main" id="{C988BDA9-9934-4748-8A1D-71A803A4ACB4}"/>
              </a:ext>
            </a:extLst>
          </p:cNvPr>
          <p:cNvSpPr txBox="1">
            <a:spLocks/>
          </p:cNvSpPr>
          <p:nvPr/>
        </p:nvSpPr>
        <p:spPr>
          <a:xfrm>
            <a:off x="0" y="0"/>
            <a:ext cx="4478338" cy="365125"/>
          </a:xfrm>
          <a:prstGeom prst="rect">
            <a:avLst/>
          </a:prstGeom>
        </p:spPr>
        <p:txBody>
          <a:bodyPr anchor="ctr"/>
          <a:lstStyle>
            <a:defPPr>
              <a:defRPr lang="en-US"/>
            </a:defPPr>
            <a:lvl1pPr algn="ctr" defTabSz="457200" rtl="0" eaLnBrk="1" fontAlgn="auto" hangingPunct="1">
              <a:spcBef>
                <a:spcPts val="0"/>
              </a:spcBef>
              <a:spcAft>
                <a:spcPts val="0"/>
              </a:spcAft>
              <a:defRPr kumimoji="1"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2pPr>
            <a:lvl3pPr marL="9144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3pPr>
            <a:lvl4pPr marL="13716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4pPr>
            <a:lvl5pPr marL="18288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9pPr>
          </a:lstStyle>
          <a:p>
            <a:pPr algn="l">
              <a:defRPr/>
            </a:pPr>
            <a:r>
              <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　手続（スマイル）第</a:t>
            </a:r>
            <a:r>
              <a:rPr lang="en-US" altLang="ja-JP"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2025-</a:t>
            </a:r>
            <a:r>
              <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●号・別紙</a:t>
            </a:r>
            <a:r>
              <a:rPr lang="en-US" altLang="ja-JP"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Ⅰ</a:t>
            </a:r>
            <a:endPar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endParaRPr>
          </a:p>
        </p:txBody>
      </p:sp>
      <p:sp>
        <p:nvSpPr>
          <p:cNvPr id="20" name="吹き出し: 四角形 19">
            <a:extLst>
              <a:ext uri="{FF2B5EF4-FFF2-40B4-BE49-F238E27FC236}">
                <a16:creationId xmlns:a16="http://schemas.microsoft.com/office/drawing/2014/main" id="{15C92FC8-144E-4406-BCC4-1FA4E54E0B12}"/>
              </a:ext>
            </a:extLst>
          </p:cNvPr>
          <p:cNvSpPr/>
          <p:nvPr/>
        </p:nvSpPr>
        <p:spPr>
          <a:xfrm>
            <a:off x="6244224" y="1950438"/>
            <a:ext cx="2569396" cy="515588"/>
          </a:xfrm>
          <a:prstGeom prst="wedgeRectCallout">
            <a:avLst>
              <a:gd name="adj1" fmla="val -20833"/>
              <a:gd name="adj2" fmla="val 83477"/>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游ゴシック Medium" panose="020B0500000000000000" pitchFamily="50" charset="-128"/>
                <a:ea typeface="游ゴシック Medium" panose="020B0500000000000000" pitchFamily="50" charset="-128"/>
              </a:rPr>
              <a:t>諸変更や生体認証登録も</a:t>
            </a:r>
            <a:endParaRPr kumimoji="1" lang="en-US" altLang="ja-JP" sz="1400" dirty="0">
              <a:solidFill>
                <a:schemeClr val="tx1"/>
              </a:solidFill>
              <a:latin typeface="游ゴシック Medium" panose="020B0500000000000000" pitchFamily="50" charset="-128"/>
              <a:ea typeface="游ゴシック Medium" panose="020B0500000000000000" pitchFamily="50" charset="-128"/>
            </a:endParaRPr>
          </a:p>
          <a:p>
            <a:pPr algn="ctr"/>
            <a:r>
              <a:rPr kumimoji="1" lang="ja-JP" altLang="en-US" sz="1400" dirty="0">
                <a:solidFill>
                  <a:schemeClr val="tx1"/>
                </a:solidFill>
                <a:latin typeface="游ゴシック Medium" panose="020B0500000000000000" pitchFamily="50" charset="-128"/>
                <a:ea typeface="游ゴシック Medium" panose="020B0500000000000000" pitchFamily="50" charset="-128"/>
              </a:rPr>
              <a:t>カードがあれば手続可能👌</a:t>
            </a:r>
          </a:p>
        </p:txBody>
      </p:sp>
      <p:sp>
        <p:nvSpPr>
          <p:cNvPr id="16" name="乗算記号 15">
            <a:extLst>
              <a:ext uri="{FF2B5EF4-FFF2-40B4-BE49-F238E27FC236}">
                <a16:creationId xmlns:a16="http://schemas.microsoft.com/office/drawing/2014/main" id="{1D95450E-C2E4-44B8-98B7-DF975B1ECB7A}"/>
              </a:ext>
            </a:extLst>
          </p:cNvPr>
          <p:cNvSpPr/>
          <p:nvPr/>
        </p:nvSpPr>
        <p:spPr>
          <a:xfrm>
            <a:off x="1368265" y="4555174"/>
            <a:ext cx="1543692" cy="1392832"/>
          </a:xfrm>
          <a:prstGeom prst="mathMultiply">
            <a:avLst/>
          </a:prstGeom>
          <a:solidFill>
            <a:srgbClr val="FF00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4" name="テキスト ボックス 43">
            <a:extLst>
              <a:ext uri="{FF2B5EF4-FFF2-40B4-BE49-F238E27FC236}">
                <a16:creationId xmlns:a16="http://schemas.microsoft.com/office/drawing/2014/main" id="{D6A56509-D9A3-4353-B5BF-FB8AD10C8C46}"/>
              </a:ext>
            </a:extLst>
          </p:cNvPr>
          <p:cNvSpPr txBox="1"/>
          <p:nvPr/>
        </p:nvSpPr>
        <p:spPr>
          <a:xfrm>
            <a:off x="1703330" y="5782427"/>
            <a:ext cx="1197606" cy="369332"/>
          </a:xfrm>
          <a:prstGeom prst="rect">
            <a:avLst/>
          </a:prstGeom>
          <a:noFill/>
        </p:spPr>
        <p:txBody>
          <a:bodyPr wrap="square" rtlCol="0">
            <a:spAutoFit/>
          </a:bodyPr>
          <a:lstStyle/>
          <a:p>
            <a:r>
              <a:rPr kumimoji="1" lang="ja-JP" altLang="en-US" b="1" dirty="0"/>
              <a:t>本人認証</a:t>
            </a:r>
          </a:p>
        </p:txBody>
      </p:sp>
      <p:cxnSp>
        <p:nvCxnSpPr>
          <p:cNvPr id="45" name="直線矢印コネクタ 44">
            <a:extLst>
              <a:ext uri="{FF2B5EF4-FFF2-40B4-BE49-F238E27FC236}">
                <a16:creationId xmlns:a16="http://schemas.microsoft.com/office/drawing/2014/main" id="{E5C1651F-172B-4E47-B828-D181F53EC06E}"/>
              </a:ext>
            </a:extLst>
          </p:cNvPr>
          <p:cNvCxnSpPr>
            <a:cxnSpLocks/>
            <a:endCxn id="54" idx="1"/>
          </p:cNvCxnSpPr>
          <p:nvPr/>
        </p:nvCxnSpPr>
        <p:spPr>
          <a:xfrm>
            <a:off x="5735613" y="5195980"/>
            <a:ext cx="1501448" cy="8322"/>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53" name="テキスト ボックス 52">
            <a:extLst>
              <a:ext uri="{FF2B5EF4-FFF2-40B4-BE49-F238E27FC236}">
                <a16:creationId xmlns:a16="http://schemas.microsoft.com/office/drawing/2014/main" id="{785C1FA3-0930-48F7-B820-97FB4462DFA2}"/>
              </a:ext>
            </a:extLst>
          </p:cNvPr>
          <p:cNvSpPr txBox="1"/>
          <p:nvPr/>
        </p:nvSpPr>
        <p:spPr>
          <a:xfrm>
            <a:off x="5983989" y="5782427"/>
            <a:ext cx="1197606" cy="369332"/>
          </a:xfrm>
          <a:prstGeom prst="rect">
            <a:avLst/>
          </a:prstGeom>
          <a:noFill/>
        </p:spPr>
        <p:txBody>
          <a:bodyPr wrap="square" rtlCol="0">
            <a:spAutoFit/>
          </a:bodyPr>
          <a:lstStyle/>
          <a:p>
            <a:r>
              <a:rPr kumimoji="1" lang="ja-JP" altLang="en-US" b="1" dirty="0"/>
              <a:t>本人認証</a:t>
            </a:r>
          </a:p>
        </p:txBody>
      </p:sp>
      <p:sp>
        <p:nvSpPr>
          <p:cNvPr id="18" name="円: 塗りつぶしなし 17">
            <a:extLst>
              <a:ext uri="{FF2B5EF4-FFF2-40B4-BE49-F238E27FC236}">
                <a16:creationId xmlns:a16="http://schemas.microsoft.com/office/drawing/2014/main" id="{613E8E64-2FF1-4AB7-825F-42998199BDC0}"/>
              </a:ext>
            </a:extLst>
          </p:cNvPr>
          <p:cNvSpPr/>
          <p:nvPr/>
        </p:nvSpPr>
        <p:spPr>
          <a:xfrm>
            <a:off x="5940094" y="4702742"/>
            <a:ext cx="1020584" cy="1001845"/>
          </a:xfrm>
          <a:prstGeom prst="donut">
            <a:avLst/>
          </a:prstGeom>
          <a:solidFill>
            <a:srgbClr val="FF000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grpSp>
        <p:nvGrpSpPr>
          <p:cNvPr id="34" name="グループ化 33">
            <a:extLst>
              <a:ext uri="{FF2B5EF4-FFF2-40B4-BE49-F238E27FC236}">
                <a16:creationId xmlns:a16="http://schemas.microsoft.com/office/drawing/2014/main" id="{DE5B1026-9A24-4DE7-B054-F88F3CAFBC94}"/>
              </a:ext>
            </a:extLst>
          </p:cNvPr>
          <p:cNvGrpSpPr/>
          <p:nvPr/>
        </p:nvGrpSpPr>
        <p:grpSpPr>
          <a:xfrm>
            <a:off x="2832112" y="4771966"/>
            <a:ext cx="1617695" cy="1001845"/>
            <a:chOff x="762001" y="4229370"/>
            <a:chExt cx="3457387" cy="2300304"/>
          </a:xfrm>
        </p:grpSpPr>
        <p:pic>
          <p:nvPicPr>
            <p:cNvPr id="35" name="図 34">
              <a:extLst>
                <a:ext uri="{FF2B5EF4-FFF2-40B4-BE49-F238E27FC236}">
                  <a16:creationId xmlns:a16="http://schemas.microsoft.com/office/drawing/2014/main" id="{03C90241-2378-4085-933E-262C08C7A690}"/>
                </a:ext>
              </a:extLst>
            </p:cNvPr>
            <p:cNvPicPr>
              <a:picLocks noChangeAspect="1"/>
            </p:cNvPicPr>
            <p:nvPr/>
          </p:nvPicPr>
          <p:blipFill rotWithShape="1">
            <a:blip r:embed="rId3"/>
            <a:srcRect b="3430"/>
            <a:stretch/>
          </p:blipFill>
          <p:spPr>
            <a:xfrm>
              <a:off x="762001" y="4229370"/>
              <a:ext cx="3436374" cy="2300304"/>
            </a:xfrm>
            <a:prstGeom prst="rect">
              <a:avLst/>
            </a:prstGeom>
            <a:ln>
              <a:solidFill>
                <a:schemeClr val="tx1"/>
              </a:solidFill>
            </a:ln>
          </p:spPr>
        </p:pic>
        <p:sp>
          <p:nvSpPr>
            <p:cNvPr id="36" name="正方形/長方形 35">
              <a:extLst>
                <a:ext uri="{FF2B5EF4-FFF2-40B4-BE49-F238E27FC236}">
                  <a16:creationId xmlns:a16="http://schemas.microsoft.com/office/drawing/2014/main" id="{4F720051-6018-4EBB-B8BA-FCBA8A3CA9CA}"/>
                </a:ext>
              </a:extLst>
            </p:cNvPr>
            <p:cNvSpPr/>
            <p:nvPr/>
          </p:nvSpPr>
          <p:spPr>
            <a:xfrm>
              <a:off x="783014" y="4635280"/>
              <a:ext cx="3436374" cy="159946"/>
            </a:xfrm>
            <a:prstGeom prst="rect">
              <a:avLst/>
            </a:prstGeom>
            <a:solidFill>
              <a:schemeClr val="accent4">
                <a:lumMod val="20000"/>
                <a:lumOff val="8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b="1" dirty="0">
                  <a:solidFill>
                    <a:srgbClr val="FF0000"/>
                  </a:solidFill>
                </a:rPr>
                <a:t>預金者コード：２０</a:t>
              </a:r>
            </a:p>
          </p:txBody>
        </p:sp>
        <p:sp>
          <p:nvSpPr>
            <p:cNvPr id="37" name="正方形/長方形 36">
              <a:extLst>
                <a:ext uri="{FF2B5EF4-FFF2-40B4-BE49-F238E27FC236}">
                  <a16:creationId xmlns:a16="http://schemas.microsoft.com/office/drawing/2014/main" id="{6610F1A2-A08B-45B9-94BD-39563A11CB40}"/>
                </a:ext>
              </a:extLst>
            </p:cNvPr>
            <p:cNvSpPr/>
            <p:nvPr/>
          </p:nvSpPr>
          <p:spPr>
            <a:xfrm>
              <a:off x="1425676" y="5130934"/>
              <a:ext cx="288000" cy="72000"/>
            </a:xfrm>
            <a:prstGeom prst="rect">
              <a:avLst/>
            </a:pr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7333B9C3-B518-4FD0-8EED-5C5031C631EC}"/>
                </a:ext>
              </a:extLst>
            </p:cNvPr>
            <p:cNvSpPr/>
            <p:nvPr/>
          </p:nvSpPr>
          <p:spPr>
            <a:xfrm>
              <a:off x="2507226" y="5968836"/>
              <a:ext cx="796411" cy="335931"/>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39" name="図 38">
            <a:extLst>
              <a:ext uri="{FF2B5EF4-FFF2-40B4-BE49-F238E27FC236}">
                <a16:creationId xmlns:a16="http://schemas.microsoft.com/office/drawing/2014/main" id="{035D2928-5826-41AA-956C-4C40E3C273C3}"/>
              </a:ext>
            </a:extLst>
          </p:cNvPr>
          <p:cNvPicPr>
            <a:picLocks noChangeAspect="1"/>
          </p:cNvPicPr>
          <p:nvPr/>
        </p:nvPicPr>
        <p:blipFill rotWithShape="1">
          <a:blip r:embed="rId4"/>
          <a:srcRect l="638" t="2339" b="1"/>
          <a:stretch/>
        </p:blipFill>
        <p:spPr>
          <a:xfrm>
            <a:off x="435516" y="4897587"/>
            <a:ext cx="991580" cy="612157"/>
          </a:xfrm>
          <a:prstGeom prst="rect">
            <a:avLst/>
          </a:prstGeom>
        </p:spPr>
      </p:pic>
      <p:sp>
        <p:nvSpPr>
          <p:cNvPr id="52" name="テキスト ボックス 51">
            <a:extLst>
              <a:ext uri="{FF2B5EF4-FFF2-40B4-BE49-F238E27FC236}">
                <a16:creationId xmlns:a16="http://schemas.microsoft.com/office/drawing/2014/main" id="{CEFAF106-FDE2-407C-AACC-743377C3F4EB}"/>
              </a:ext>
            </a:extLst>
          </p:cNvPr>
          <p:cNvSpPr txBox="1"/>
          <p:nvPr/>
        </p:nvSpPr>
        <p:spPr>
          <a:xfrm>
            <a:off x="1144190" y="3938018"/>
            <a:ext cx="2759646" cy="307777"/>
          </a:xfrm>
          <a:prstGeom prst="borderCallout1">
            <a:avLst>
              <a:gd name="adj1" fmla="val 93343"/>
              <a:gd name="adj2" fmla="val 69961"/>
              <a:gd name="adj3" fmla="val 247184"/>
              <a:gd name="adj4" fmla="val 57190"/>
            </a:avLst>
          </a:prstGeom>
          <a:noFill/>
          <a:ln w="19050">
            <a:solidFill>
              <a:srgbClr val="FF0000"/>
            </a:solidFill>
          </a:ln>
        </p:spPr>
        <p:txBody>
          <a:bodyPr wrap="square" rtlCol="0">
            <a:spAutoFit/>
          </a:bodyPr>
          <a:lstStyle/>
          <a:p>
            <a:pPr algn="ctr"/>
            <a:r>
              <a:rPr kumimoji="1" lang="ja-JP" altLang="en-US" sz="1400" dirty="0">
                <a:latin typeface="游ゴシック Medium" panose="020B0500000000000000" pitchFamily="50" charset="-128"/>
                <a:ea typeface="游ゴシック Medium" panose="020B0500000000000000" pitchFamily="50" charset="-128"/>
              </a:rPr>
              <a:t>エラー文言を表示し認証不可</a:t>
            </a:r>
          </a:p>
        </p:txBody>
      </p:sp>
      <p:pic>
        <p:nvPicPr>
          <p:cNvPr id="54" name="図 53">
            <a:extLst>
              <a:ext uri="{FF2B5EF4-FFF2-40B4-BE49-F238E27FC236}">
                <a16:creationId xmlns:a16="http://schemas.microsoft.com/office/drawing/2014/main" id="{EF854CC2-20D9-4322-9727-17C6E0B32513}"/>
              </a:ext>
            </a:extLst>
          </p:cNvPr>
          <p:cNvPicPr>
            <a:picLocks noChangeAspect="1"/>
          </p:cNvPicPr>
          <p:nvPr/>
        </p:nvPicPr>
        <p:blipFill rotWithShape="1">
          <a:blip r:embed="rId5"/>
          <a:srcRect b="3172"/>
          <a:stretch/>
        </p:blipFill>
        <p:spPr>
          <a:xfrm>
            <a:off x="7237061" y="4672900"/>
            <a:ext cx="1576559" cy="1062804"/>
          </a:xfrm>
          <a:prstGeom prst="rect">
            <a:avLst/>
          </a:prstGeom>
          <a:ln>
            <a:solidFill>
              <a:sysClr val="windowText" lastClr="000000"/>
            </a:solidFill>
          </a:ln>
        </p:spPr>
      </p:pic>
      <p:pic>
        <p:nvPicPr>
          <p:cNvPr id="55" name="図 54">
            <a:extLst>
              <a:ext uri="{FF2B5EF4-FFF2-40B4-BE49-F238E27FC236}">
                <a16:creationId xmlns:a16="http://schemas.microsoft.com/office/drawing/2014/main" id="{FA84E82D-B76A-4DE7-ACA5-BC0DB9CCBAF2}"/>
              </a:ext>
            </a:extLst>
          </p:cNvPr>
          <p:cNvPicPr>
            <a:picLocks noChangeAspect="1"/>
          </p:cNvPicPr>
          <p:nvPr/>
        </p:nvPicPr>
        <p:blipFill rotWithShape="1">
          <a:blip r:embed="rId4"/>
          <a:srcRect l="638" t="2339" b="1"/>
          <a:stretch/>
        </p:blipFill>
        <p:spPr>
          <a:xfrm>
            <a:off x="4672132" y="4874222"/>
            <a:ext cx="991580" cy="612157"/>
          </a:xfrm>
          <a:prstGeom prst="rect">
            <a:avLst/>
          </a:prstGeom>
        </p:spPr>
      </p:pic>
      <p:sp>
        <p:nvSpPr>
          <p:cNvPr id="56" name="テキスト ボックス 55">
            <a:extLst>
              <a:ext uri="{FF2B5EF4-FFF2-40B4-BE49-F238E27FC236}">
                <a16:creationId xmlns:a16="http://schemas.microsoft.com/office/drawing/2014/main" id="{D3FD7DE5-2E12-4104-A2E2-4302750E430F}"/>
              </a:ext>
            </a:extLst>
          </p:cNvPr>
          <p:cNvSpPr txBox="1"/>
          <p:nvPr/>
        </p:nvSpPr>
        <p:spPr>
          <a:xfrm>
            <a:off x="5456003" y="3938017"/>
            <a:ext cx="2174875" cy="307777"/>
          </a:xfrm>
          <a:prstGeom prst="borderCallout1">
            <a:avLst>
              <a:gd name="adj1" fmla="val 81629"/>
              <a:gd name="adj2" fmla="val 80756"/>
              <a:gd name="adj3" fmla="val 233425"/>
              <a:gd name="adj4" fmla="val 67154"/>
            </a:avLst>
          </a:prstGeom>
          <a:noFill/>
          <a:ln w="19050">
            <a:solidFill>
              <a:srgbClr val="FF0000"/>
            </a:solidFill>
          </a:ln>
        </p:spPr>
        <p:txBody>
          <a:bodyPr wrap="square" rtlCol="0">
            <a:spAutoFit/>
          </a:bodyPr>
          <a:lstStyle/>
          <a:p>
            <a:pPr algn="ctr"/>
            <a:r>
              <a:rPr kumimoji="1" lang="ja-JP" altLang="en-US" sz="1400" dirty="0">
                <a:latin typeface="游ゴシック Medium" panose="020B0500000000000000" pitchFamily="50" charset="-128"/>
                <a:ea typeface="游ゴシック Medium" panose="020B0500000000000000" pitchFamily="50" charset="-128"/>
              </a:rPr>
              <a:t>個人と同様に認証可能</a:t>
            </a:r>
          </a:p>
        </p:txBody>
      </p:sp>
    </p:spTree>
    <p:extLst>
      <p:ext uri="{BB962C8B-B14F-4D97-AF65-F5344CB8AC3E}">
        <p14:creationId xmlns:p14="http://schemas.microsoft.com/office/powerpoint/2010/main" val="2623385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グループ化 3">
            <a:extLst>
              <a:ext uri="{FF2B5EF4-FFF2-40B4-BE49-F238E27FC236}">
                <a16:creationId xmlns:a16="http://schemas.microsoft.com/office/drawing/2014/main" id="{B0B348D0-CC7A-4102-8D81-56AFDB828D10}"/>
              </a:ext>
            </a:extLst>
          </p:cNvPr>
          <p:cNvGrpSpPr/>
          <p:nvPr/>
        </p:nvGrpSpPr>
        <p:grpSpPr>
          <a:xfrm>
            <a:off x="276044" y="284903"/>
            <a:ext cx="9316530" cy="681250"/>
            <a:chOff x="276044" y="190018"/>
            <a:chExt cx="9316530" cy="681250"/>
          </a:xfrm>
        </p:grpSpPr>
        <p:cxnSp>
          <p:nvCxnSpPr>
            <p:cNvPr id="8" name="直線コネクタ 7">
              <a:extLst>
                <a:ext uri="{FF2B5EF4-FFF2-40B4-BE49-F238E27FC236}">
                  <a16:creationId xmlns:a16="http://schemas.microsoft.com/office/drawing/2014/main" id="{5A7CEE16-C584-4DC9-A63C-3778D4335113}"/>
                </a:ext>
              </a:extLst>
            </p:cNvPr>
            <p:cNvCxnSpPr/>
            <p:nvPr/>
          </p:nvCxnSpPr>
          <p:spPr>
            <a:xfrm>
              <a:off x="276045" y="871268"/>
              <a:ext cx="859191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正方形/長方形 8">
              <a:extLst>
                <a:ext uri="{FF2B5EF4-FFF2-40B4-BE49-F238E27FC236}">
                  <a16:creationId xmlns:a16="http://schemas.microsoft.com/office/drawing/2014/main" id="{F4E332DB-71A2-4DAA-A52C-7C3AEDF289F0}"/>
                </a:ext>
              </a:extLst>
            </p:cNvPr>
            <p:cNvSpPr/>
            <p:nvPr/>
          </p:nvSpPr>
          <p:spPr>
            <a:xfrm>
              <a:off x="276044" y="259268"/>
              <a:ext cx="144000" cy="612000"/>
            </a:xfrm>
            <a:prstGeom prst="rect">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3AEF284C-D00E-4272-81DD-2CD29381689E}"/>
                </a:ext>
              </a:extLst>
            </p:cNvPr>
            <p:cNvSpPr txBox="1"/>
            <p:nvPr/>
          </p:nvSpPr>
          <p:spPr>
            <a:xfrm>
              <a:off x="420044" y="190018"/>
              <a:ext cx="2732731" cy="276999"/>
            </a:xfrm>
            <a:prstGeom prst="rect">
              <a:avLst/>
            </a:prstGeom>
            <a:noFill/>
          </p:spPr>
          <p:txBody>
            <a:bodyPr wrap="square" rtlCol="0" anchor="ctr">
              <a:spAutoFit/>
            </a:bodyPr>
            <a:lstStyle/>
            <a:p>
              <a:r>
                <a:rPr kumimoji="1" lang="ja-JP" altLang="en-US" sz="1200" dirty="0">
                  <a:latin typeface="游ゴシック Medium" panose="020B0500000000000000" pitchFamily="50" charset="-128"/>
                  <a:ea typeface="游ゴシック Medium" panose="020B0500000000000000" pitchFamily="50" charset="-128"/>
                </a:rPr>
                <a:t>機能改善詳細（２）</a:t>
              </a:r>
            </a:p>
          </p:txBody>
        </p:sp>
        <p:sp>
          <p:nvSpPr>
            <p:cNvPr id="11" name="テキスト ボックス 10">
              <a:extLst>
                <a:ext uri="{FF2B5EF4-FFF2-40B4-BE49-F238E27FC236}">
                  <a16:creationId xmlns:a16="http://schemas.microsoft.com/office/drawing/2014/main" id="{8A39368D-15FA-4F19-8D68-EF6AB8936699}"/>
                </a:ext>
              </a:extLst>
            </p:cNvPr>
            <p:cNvSpPr txBox="1"/>
            <p:nvPr/>
          </p:nvSpPr>
          <p:spPr>
            <a:xfrm>
              <a:off x="420043" y="428543"/>
              <a:ext cx="9172531" cy="400110"/>
            </a:xfrm>
            <a:prstGeom prst="rect">
              <a:avLst/>
            </a:prstGeom>
            <a:noFill/>
          </p:spPr>
          <p:txBody>
            <a:bodyPr wrap="square" rtlCol="0" anchor="ctr">
              <a:spAutoFit/>
            </a:bodyPr>
            <a:lstStyle/>
            <a:p>
              <a:r>
                <a:rPr lang="ja-JP" altLang="en-US" sz="2000" b="1" dirty="0">
                  <a:solidFill>
                    <a:srgbClr val="000000"/>
                  </a:solidFill>
                  <a:latin typeface="+mn-ea"/>
                </a:rPr>
                <a:t>普通・貯蓄併用カード再発行の改善</a:t>
              </a:r>
              <a:endParaRPr kumimoji="1" lang="ja-JP" altLang="en-US" sz="2000" b="1" dirty="0">
                <a:solidFill>
                  <a:schemeClr val="accent1"/>
                </a:solidFill>
                <a:latin typeface="+mn-ea"/>
              </a:endParaRPr>
            </a:p>
          </p:txBody>
        </p:sp>
      </p:grpSp>
      <p:graphicFrame>
        <p:nvGraphicFramePr>
          <p:cNvPr id="13" name="表 12">
            <a:extLst>
              <a:ext uri="{FF2B5EF4-FFF2-40B4-BE49-F238E27FC236}">
                <a16:creationId xmlns:a16="http://schemas.microsoft.com/office/drawing/2014/main" id="{6839CE9E-DA91-450B-84F3-072EDD6AAACB}"/>
              </a:ext>
            </a:extLst>
          </p:cNvPr>
          <p:cNvGraphicFramePr>
            <a:graphicFrameLocks noGrp="1"/>
          </p:cNvGraphicFramePr>
          <p:nvPr>
            <p:extLst>
              <p:ext uri="{D42A27DB-BD31-4B8C-83A1-F6EECF244321}">
                <p14:modId xmlns:p14="http://schemas.microsoft.com/office/powerpoint/2010/main" val="3062024176"/>
              </p:ext>
            </p:extLst>
          </p:nvPr>
        </p:nvGraphicFramePr>
        <p:xfrm>
          <a:off x="276043" y="1084189"/>
          <a:ext cx="8694153" cy="878160"/>
        </p:xfrm>
        <a:graphic>
          <a:graphicData uri="http://schemas.openxmlformats.org/drawingml/2006/table">
            <a:tbl>
              <a:tblPr firstRow="1" bandRow="1">
                <a:tableStyleId>{5940675A-B579-460E-94D1-54222C63F5DA}</a:tableStyleId>
              </a:tblPr>
              <a:tblGrid>
                <a:gridCol w="864000">
                  <a:extLst>
                    <a:ext uri="{9D8B030D-6E8A-4147-A177-3AD203B41FA5}">
                      <a16:colId xmlns:a16="http://schemas.microsoft.com/office/drawing/2014/main" val="1045753353"/>
                    </a:ext>
                  </a:extLst>
                </a:gridCol>
                <a:gridCol w="7830153">
                  <a:extLst>
                    <a:ext uri="{9D8B030D-6E8A-4147-A177-3AD203B41FA5}">
                      <a16:colId xmlns:a16="http://schemas.microsoft.com/office/drawing/2014/main" val="2889024988"/>
                    </a:ext>
                  </a:extLst>
                </a:gridCol>
              </a:tblGrid>
              <a:tr h="360000">
                <a:tc>
                  <a:txBody>
                    <a:bodyPr/>
                    <a:lstStyle/>
                    <a:p>
                      <a:pPr algn="ctr"/>
                      <a:r>
                        <a:rPr kumimoji="1" lang="ja-JP" altLang="en-US" sz="1200" dirty="0">
                          <a:solidFill>
                            <a:schemeClr val="tx1"/>
                          </a:solidFill>
                          <a:latin typeface="游ゴシック Medium" panose="020B0500000000000000" pitchFamily="50" charset="-128"/>
                          <a:ea typeface="游ゴシック Medium" panose="020B0500000000000000" pitchFamily="50" charset="-128"/>
                        </a:rPr>
                        <a:t>対象取引</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キャッシュカード再発行・名義変更・喪失（再発行）</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740567117"/>
                  </a:ext>
                </a:extLst>
              </a:tr>
              <a:tr h="360000">
                <a:tc>
                  <a:txBody>
                    <a:bodyPr/>
                    <a:lstStyle/>
                    <a:p>
                      <a:pPr algn="ctr"/>
                      <a:r>
                        <a:rPr kumimoji="1" lang="ja-JP" altLang="en-US" sz="1200" dirty="0">
                          <a:solidFill>
                            <a:schemeClr val="tx1"/>
                          </a:solidFill>
                          <a:latin typeface="游ゴシック Medium" panose="020B0500000000000000" pitchFamily="50" charset="-128"/>
                          <a:ea typeface="游ゴシック Medium" panose="020B0500000000000000" pitchFamily="50" charset="-128"/>
                        </a:rPr>
                        <a:t>改善内容</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普通・貯蓄併用カード保有先のカード再発行時に、</a:t>
                      </a:r>
                      <a:r>
                        <a:rPr kumimoji="1" lang="ja-JP" altLang="en-US" sz="1400" b="1" dirty="0">
                          <a:solidFill>
                            <a:schemeClr val="tx1"/>
                          </a:solidFill>
                          <a:latin typeface="+mn-ea"/>
                          <a:ea typeface="+mn-ea"/>
                        </a:rPr>
                        <a:t>普通預金キャッシュカードのみ再発行</a:t>
                      </a:r>
                      <a:endParaRPr kumimoji="1" lang="en-US" altLang="ja-JP" sz="1400" b="1" dirty="0">
                        <a:solidFill>
                          <a:schemeClr val="tx1"/>
                        </a:solidFill>
                        <a:latin typeface="+mn-ea"/>
                        <a:ea typeface="+mn-ea"/>
                      </a:endParaRPr>
                    </a:p>
                    <a:p>
                      <a:r>
                        <a:rPr kumimoji="1" lang="ja-JP" altLang="en-US" sz="1400" b="1" dirty="0">
                          <a:solidFill>
                            <a:schemeClr val="tx1"/>
                          </a:solidFill>
                          <a:latin typeface="+mn-ea"/>
                          <a:ea typeface="+mn-ea"/>
                        </a:rPr>
                        <a:t>できるようボタンを新設</a:t>
                      </a:r>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します。（貯蓄預金のカード契約は自動で解除されます。）</a:t>
                      </a:r>
                      <a:endParaRPr kumimoji="1" lang="en-US" altLang="ja-JP" sz="1400" b="0" dirty="0">
                        <a:solidFill>
                          <a:schemeClr val="tx1"/>
                        </a:solidFill>
                        <a:latin typeface="游ゴシック Medium" panose="020B0500000000000000" pitchFamily="50" charset="-128"/>
                        <a:ea typeface="游ゴシック Medium" panose="020B0500000000000000" pitchFamily="50" charset="-12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42379294"/>
                  </a:ext>
                </a:extLst>
              </a:tr>
            </a:tbl>
          </a:graphicData>
        </a:graphic>
      </p:graphicFrame>
      <p:sp>
        <p:nvSpPr>
          <p:cNvPr id="15" name="フッター プレースホルダー 3">
            <a:extLst>
              <a:ext uri="{FF2B5EF4-FFF2-40B4-BE49-F238E27FC236}">
                <a16:creationId xmlns:a16="http://schemas.microsoft.com/office/drawing/2014/main" id="{06FFB05B-8B89-4E89-9B17-C5A42A346CB9}"/>
              </a:ext>
            </a:extLst>
          </p:cNvPr>
          <p:cNvSpPr txBox="1">
            <a:spLocks/>
          </p:cNvSpPr>
          <p:nvPr/>
        </p:nvSpPr>
        <p:spPr>
          <a:xfrm>
            <a:off x="0" y="0"/>
            <a:ext cx="4478338" cy="365125"/>
          </a:xfrm>
          <a:prstGeom prst="rect">
            <a:avLst/>
          </a:prstGeom>
        </p:spPr>
        <p:txBody>
          <a:bodyPr anchor="ctr"/>
          <a:lstStyle>
            <a:defPPr>
              <a:defRPr lang="en-US"/>
            </a:defPPr>
            <a:lvl1pPr algn="ctr" defTabSz="457200" rtl="0" eaLnBrk="1" fontAlgn="auto" hangingPunct="1">
              <a:spcBef>
                <a:spcPts val="0"/>
              </a:spcBef>
              <a:spcAft>
                <a:spcPts val="0"/>
              </a:spcAft>
              <a:defRPr kumimoji="1"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2pPr>
            <a:lvl3pPr marL="9144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3pPr>
            <a:lvl4pPr marL="13716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4pPr>
            <a:lvl5pPr marL="18288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9pPr>
          </a:lstStyle>
          <a:p>
            <a:pPr algn="l">
              <a:defRPr/>
            </a:pPr>
            <a:r>
              <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　手続（スマイル）第</a:t>
            </a:r>
            <a:r>
              <a:rPr lang="en-US" altLang="ja-JP"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2025-</a:t>
            </a:r>
            <a:r>
              <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●号・別紙</a:t>
            </a:r>
            <a:r>
              <a:rPr lang="en-US" altLang="ja-JP"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Ⅱ</a:t>
            </a:r>
            <a:endPar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endParaRPr>
          </a:p>
        </p:txBody>
      </p:sp>
      <p:sp>
        <p:nvSpPr>
          <p:cNvPr id="6" name="正方形/長方形 5">
            <a:extLst>
              <a:ext uri="{FF2B5EF4-FFF2-40B4-BE49-F238E27FC236}">
                <a16:creationId xmlns:a16="http://schemas.microsoft.com/office/drawing/2014/main" id="{825E203A-12FA-42AB-B9B2-B10C2B66BFF6}"/>
              </a:ext>
            </a:extLst>
          </p:cNvPr>
          <p:cNvSpPr/>
          <p:nvPr/>
        </p:nvSpPr>
        <p:spPr>
          <a:xfrm>
            <a:off x="4487059" y="562563"/>
            <a:ext cx="4129657" cy="338554"/>
          </a:xfrm>
          <a:prstGeom prst="rect">
            <a:avLst/>
          </a:prstGeom>
        </p:spPr>
        <p:txBody>
          <a:bodyPr wrap="none">
            <a:spAutoFit/>
          </a:bodyPr>
          <a:lstStyle/>
          <a:p>
            <a:r>
              <a:rPr kumimoji="1" lang="ja-JP" altLang="en-US" sz="1600" b="1" dirty="0">
                <a:solidFill>
                  <a:schemeClr val="accent1"/>
                </a:solidFill>
                <a:latin typeface="+mn-ea"/>
              </a:rPr>
              <a:t>（提案要望掲示板</a:t>
            </a:r>
            <a:r>
              <a:rPr kumimoji="1" lang="en-US" altLang="ja-JP" sz="1600" b="1" dirty="0">
                <a:solidFill>
                  <a:schemeClr val="accent1"/>
                </a:solidFill>
                <a:latin typeface="+mn-ea"/>
              </a:rPr>
              <a:t>No. 3249</a:t>
            </a:r>
            <a:r>
              <a:rPr kumimoji="1" lang="ja-JP" altLang="en-US" sz="1600" b="1" dirty="0">
                <a:solidFill>
                  <a:schemeClr val="accent1"/>
                </a:solidFill>
                <a:latin typeface="+mn-ea"/>
              </a:rPr>
              <a:t>に基づく対応）</a:t>
            </a:r>
            <a:endParaRPr lang="ja-JP" altLang="en-US" sz="1600" dirty="0"/>
          </a:p>
        </p:txBody>
      </p:sp>
      <p:sp>
        <p:nvSpPr>
          <p:cNvPr id="17" name="吹き出し: 四角形 16">
            <a:extLst>
              <a:ext uri="{FF2B5EF4-FFF2-40B4-BE49-F238E27FC236}">
                <a16:creationId xmlns:a16="http://schemas.microsoft.com/office/drawing/2014/main" id="{0F467C55-36D9-42D5-8169-56845601D036}"/>
              </a:ext>
            </a:extLst>
          </p:cNvPr>
          <p:cNvSpPr/>
          <p:nvPr/>
        </p:nvSpPr>
        <p:spPr>
          <a:xfrm>
            <a:off x="6298559" y="1997503"/>
            <a:ext cx="2569396" cy="515588"/>
          </a:xfrm>
          <a:prstGeom prst="wedgeRectCallout">
            <a:avLst>
              <a:gd name="adj1" fmla="val -37288"/>
              <a:gd name="adj2" fmla="val 66314"/>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游ゴシック Medium" panose="020B0500000000000000" pitchFamily="50" charset="-128"/>
                <a:ea typeface="游ゴシック Medium" panose="020B0500000000000000" pitchFamily="50" charset="-128"/>
              </a:rPr>
              <a:t>スマイルで完結できる</a:t>
            </a:r>
            <a:br>
              <a:rPr kumimoji="1" lang="en-US" altLang="ja-JP" sz="1400" dirty="0">
                <a:solidFill>
                  <a:schemeClr val="tx1"/>
                </a:solidFill>
                <a:latin typeface="游ゴシック Medium" panose="020B0500000000000000" pitchFamily="50" charset="-128"/>
                <a:ea typeface="游ゴシック Medium" panose="020B0500000000000000" pitchFamily="50" charset="-128"/>
              </a:rPr>
            </a:br>
            <a:r>
              <a:rPr kumimoji="1" lang="ja-JP" altLang="en-US" sz="1400" dirty="0">
                <a:solidFill>
                  <a:schemeClr val="tx1"/>
                </a:solidFill>
                <a:latin typeface="游ゴシック Medium" panose="020B0500000000000000" pitchFamily="50" charset="-128"/>
                <a:ea typeface="游ゴシック Medium" panose="020B0500000000000000" pitchFamily="50" charset="-128"/>
              </a:rPr>
              <a:t>パターンが増えました👌</a:t>
            </a:r>
          </a:p>
        </p:txBody>
      </p:sp>
      <p:pic>
        <p:nvPicPr>
          <p:cNvPr id="20" name="図 19">
            <a:extLst>
              <a:ext uri="{FF2B5EF4-FFF2-40B4-BE49-F238E27FC236}">
                <a16:creationId xmlns:a16="http://schemas.microsoft.com/office/drawing/2014/main" id="{2672C787-8DB0-4DC8-A904-C9FD56F04695}"/>
              </a:ext>
            </a:extLst>
          </p:cNvPr>
          <p:cNvPicPr>
            <a:picLocks noChangeAspect="1"/>
          </p:cNvPicPr>
          <p:nvPr/>
        </p:nvPicPr>
        <p:blipFill>
          <a:blip r:embed="rId2"/>
          <a:stretch>
            <a:fillRect/>
          </a:stretch>
        </p:blipFill>
        <p:spPr>
          <a:xfrm>
            <a:off x="1007089" y="2653432"/>
            <a:ext cx="5841287" cy="3933263"/>
          </a:xfrm>
          <a:prstGeom prst="rect">
            <a:avLst/>
          </a:prstGeom>
          <a:ln>
            <a:solidFill>
              <a:schemeClr val="tx1"/>
            </a:solidFill>
          </a:ln>
        </p:spPr>
      </p:pic>
      <p:sp>
        <p:nvSpPr>
          <p:cNvPr id="21" name="テキスト ボックス 20">
            <a:extLst>
              <a:ext uri="{FF2B5EF4-FFF2-40B4-BE49-F238E27FC236}">
                <a16:creationId xmlns:a16="http://schemas.microsoft.com/office/drawing/2014/main" id="{B02D2449-7F8C-49BC-97F0-EDDFB217BB1C}"/>
              </a:ext>
            </a:extLst>
          </p:cNvPr>
          <p:cNvSpPr txBox="1"/>
          <p:nvPr/>
        </p:nvSpPr>
        <p:spPr>
          <a:xfrm>
            <a:off x="5111826" y="3456989"/>
            <a:ext cx="3779712" cy="523220"/>
          </a:xfrm>
          <a:prstGeom prst="borderCallout1">
            <a:avLst>
              <a:gd name="adj1" fmla="val 83310"/>
              <a:gd name="adj2" fmla="val 8106"/>
              <a:gd name="adj3" fmla="val 303262"/>
              <a:gd name="adj4" fmla="val 1652"/>
            </a:avLst>
          </a:prstGeom>
          <a:solidFill>
            <a:schemeClr val="bg1"/>
          </a:solidFill>
          <a:ln w="19050">
            <a:solidFill>
              <a:srgbClr val="FF0000"/>
            </a:solidFill>
          </a:ln>
        </p:spPr>
        <p:txBody>
          <a:bodyPr wrap="square" rtlCol="0">
            <a:spAutoFit/>
          </a:bodyPr>
          <a:lstStyle/>
          <a:p>
            <a:pPr algn="ctr"/>
            <a:r>
              <a:rPr kumimoji="1" lang="ja-JP" altLang="en-US" sz="1400" dirty="0">
                <a:latin typeface="游ゴシック Medium" panose="020B0500000000000000" pitchFamily="50" charset="-128"/>
                <a:ea typeface="游ゴシック Medium" panose="020B0500000000000000" pitchFamily="50" charset="-128"/>
              </a:rPr>
              <a:t>「普通預金キャッシュカードのみ再発行」</a:t>
            </a:r>
            <a:endParaRPr kumimoji="1" lang="en-US" altLang="ja-JP" sz="1400" dirty="0">
              <a:latin typeface="游ゴシック Medium" panose="020B0500000000000000" pitchFamily="50" charset="-128"/>
              <a:ea typeface="游ゴシック Medium" panose="020B0500000000000000" pitchFamily="50" charset="-128"/>
            </a:endParaRPr>
          </a:p>
          <a:p>
            <a:pPr algn="ctr"/>
            <a:r>
              <a:rPr kumimoji="1" lang="ja-JP" altLang="en-US" sz="1400" dirty="0">
                <a:latin typeface="游ゴシック Medium" panose="020B0500000000000000" pitchFamily="50" charset="-128"/>
                <a:ea typeface="游ゴシック Medium" panose="020B0500000000000000" pitchFamily="50" charset="-128"/>
              </a:rPr>
              <a:t>のボタンを新設</a:t>
            </a:r>
          </a:p>
        </p:txBody>
      </p:sp>
      <p:sp>
        <p:nvSpPr>
          <p:cNvPr id="22" name="正方形/長方形 21">
            <a:extLst>
              <a:ext uri="{FF2B5EF4-FFF2-40B4-BE49-F238E27FC236}">
                <a16:creationId xmlns:a16="http://schemas.microsoft.com/office/drawing/2014/main" id="{21209DBC-6796-4B55-BEB5-AE1BB44B79B8}"/>
              </a:ext>
            </a:extLst>
          </p:cNvPr>
          <p:cNvSpPr/>
          <p:nvPr/>
        </p:nvSpPr>
        <p:spPr>
          <a:xfrm>
            <a:off x="2359743" y="5114771"/>
            <a:ext cx="2831690" cy="37162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93B03167-5A8F-4DCB-9C17-90D16C297D0A}"/>
              </a:ext>
            </a:extLst>
          </p:cNvPr>
          <p:cNvSpPr/>
          <p:nvPr/>
        </p:nvSpPr>
        <p:spPr>
          <a:xfrm>
            <a:off x="2239169" y="3842713"/>
            <a:ext cx="393290" cy="108000"/>
          </a:xfrm>
          <a:prstGeom prst="rect">
            <a:avLst/>
          </a:pr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8C972E4C-FE2F-4C22-BF8F-20DC9218AABE}"/>
              </a:ext>
            </a:extLst>
          </p:cNvPr>
          <p:cNvSpPr/>
          <p:nvPr/>
        </p:nvSpPr>
        <p:spPr>
          <a:xfrm>
            <a:off x="2956130" y="3276877"/>
            <a:ext cx="642476" cy="108000"/>
          </a:xfrm>
          <a:prstGeom prst="rect">
            <a:avLst/>
          </a:prstGeom>
          <a:solidFill>
            <a:srgbClr val="CCE8F4"/>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73538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グループ化 3">
            <a:extLst>
              <a:ext uri="{FF2B5EF4-FFF2-40B4-BE49-F238E27FC236}">
                <a16:creationId xmlns:a16="http://schemas.microsoft.com/office/drawing/2014/main" id="{B0B348D0-CC7A-4102-8D81-56AFDB828D10}"/>
              </a:ext>
            </a:extLst>
          </p:cNvPr>
          <p:cNvGrpSpPr/>
          <p:nvPr/>
        </p:nvGrpSpPr>
        <p:grpSpPr>
          <a:xfrm>
            <a:off x="276044" y="284904"/>
            <a:ext cx="8591911" cy="681250"/>
            <a:chOff x="276044" y="190018"/>
            <a:chExt cx="8591911" cy="681250"/>
          </a:xfrm>
        </p:grpSpPr>
        <p:cxnSp>
          <p:nvCxnSpPr>
            <p:cNvPr id="8" name="直線コネクタ 7">
              <a:extLst>
                <a:ext uri="{FF2B5EF4-FFF2-40B4-BE49-F238E27FC236}">
                  <a16:creationId xmlns:a16="http://schemas.microsoft.com/office/drawing/2014/main" id="{5A7CEE16-C584-4DC9-A63C-3778D4335113}"/>
                </a:ext>
              </a:extLst>
            </p:cNvPr>
            <p:cNvCxnSpPr/>
            <p:nvPr/>
          </p:nvCxnSpPr>
          <p:spPr>
            <a:xfrm>
              <a:off x="276045" y="871268"/>
              <a:ext cx="859191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正方形/長方形 8">
              <a:extLst>
                <a:ext uri="{FF2B5EF4-FFF2-40B4-BE49-F238E27FC236}">
                  <a16:creationId xmlns:a16="http://schemas.microsoft.com/office/drawing/2014/main" id="{F4E332DB-71A2-4DAA-A52C-7C3AEDF289F0}"/>
                </a:ext>
              </a:extLst>
            </p:cNvPr>
            <p:cNvSpPr/>
            <p:nvPr/>
          </p:nvSpPr>
          <p:spPr>
            <a:xfrm>
              <a:off x="276044" y="259268"/>
              <a:ext cx="144000" cy="612000"/>
            </a:xfrm>
            <a:prstGeom prst="rect">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3AEF284C-D00E-4272-81DD-2CD29381689E}"/>
                </a:ext>
              </a:extLst>
            </p:cNvPr>
            <p:cNvSpPr txBox="1"/>
            <p:nvPr/>
          </p:nvSpPr>
          <p:spPr>
            <a:xfrm>
              <a:off x="420044" y="190018"/>
              <a:ext cx="1701364" cy="276999"/>
            </a:xfrm>
            <a:prstGeom prst="rect">
              <a:avLst/>
            </a:prstGeom>
            <a:noFill/>
          </p:spPr>
          <p:txBody>
            <a:bodyPr wrap="square" rtlCol="0" anchor="ctr">
              <a:spAutoFit/>
            </a:bodyPr>
            <a:lstStyle/>
            <a:p>
              <a:r>
                <a:rPr kumimoji="1" lang="ja-JP" altLang="en-US" sz="1200" dirty="0">
                  <a:latin typeface="游ゴシック Medium" panose="020B0500000000000000" pitchFamily="50" charset="-128"/>
                  <a:ea typeface="游ゴシック Medium" panose="020B0500000000000000" pitchFamily="50" charset="-128"/>
                </a:rPr>
                <a:t>機能改善詳細（３）</a:t>
              </a:r>
            </a:p>
          </p:txBody>
        </p:sp>
        <p:sp>
          <p:nvSpPr>
            <p:cNvPr id="11" name="テキスト ボックス 10">
              <a:extLst>
                <a:ext uri="{FF2B5EF4-FFF2-40B4-BE49-F238E27FC236}">
                  <a16:creationId xmlns:a16="http://schemas.microsoft.com/office/drawing/2014/main" id="{8A39368D-15FA-4F19-8D68-EF6AB8936699}"/>
                </a:ext>
              </a:extLst>
            </p:cNvPr>
            <p:cNvSpPr txBox="1"/>
            <p:nvPr/>
          </p:nvSpPr>
          <p:spPr>
            <a:xfrm>
              <a:off x="420043" y="428543"/>
              <a:ext cx="7792303" cy="400110"/>
            </a:xfrm>
            <a:prstGeom prst="rect">
              <a:avLst/>
            </a:prstGeom>
            <a:noFill/>
          </p:spPr>
          <p:txBody>
            <a:bodyPr wrap="square" rtlCol="0" anchor="ctr">
              <a:spAutoFit/>
            </a:bodyPr>
            <a:lstStyle/>
            <a:p>
              <a:r>
                <a:rPr kumimoji="1" lang="ja-JP" altLang="en-US" sz="2000" b="1" dirty="0">
                  <a:latin typeface="+mn-ea"/>
                </a:rPr>
                <a:t>在留期限確認メッセージの表示</a:t>
              </a:r>
              <a:r>
                <a:rPr kumimoji="1" lang="ja-JP" altLang="en-US" sz="1600" b="1" dirty="0">
                  <a:solidFill>
                    <a:schemeClr val="accent1"/>
                  </a:solidFill>
                  <a:latin typeface="+mn-ea"/>
                </a:rPr>
                <a:t>（</a:t>
              </a:r>
              <a:r>
                <a:rPr lang="ja-JP" altLang="en-US" sz="1600" b="1" dirty="0">
                  <a:solidFill>
                    <a:schemeClr val="accent1"/>
                  </a:solidFill>
                  <a:latin typeface="+mn-ea"/>
                </a:rPr>
                <a:t>提案要望掲示板</a:t>
              </a:r>
              <a:r>
                <a:rPr lang="en-US" altLang="ja-JP" sz="1600" b="1" dirty="0">
                  <a:solidFill>
                    <a:schemeClr val="accent1"/>
                  </a:solidFill>
                  <a:latin typeface="+mn-ea"/>
                </a:rPr>
                <a:t>No.3171</a:t>
              </a:r>
              <a:r>
                <a:rPr lang="ja-JP" altLang="en-US" sz="1600" b="1" dirty="0">
                  <a:solidFill>
                    <a:schemeClr val="accent1"/>
                  </a:solidFill>
                  <a:latin typeface="+mn-ea"/>
                </a:rPr>
                <a:t>に基づく対応）</a:t>
              </a:r>
              <a:endParaRPr kumimoji="1" lang="ja-JP" altLang="en-US" sz="2000" b="1" dirty="0">
                <a:solidFill>
                  <a:schemeClr val="accent1"/>
                </a:solidFill>
              </a:endParaRPr>
            </a:p>
          </p:txBody>
        </p:sp>
      </p:grpSp>
      <p:graphicFrame>
        <p:nvGraphicFramePr>
          <p:cNvPr id="13" name="表 12">
            <a:extLst>
              <a:ext uri="{FF2B5EF4-FFF2-40B4-BE49-F238E27FC236}">
                <a16:creationId xmlns:a16="http://schemas.microsoft.com/office/drawing/2014/main" id="{6839CE9E-DA91-450B-84F3-072EDD6AAACB}"/>
              </a:ext>
            </a:extLst>
          </p:cNvPr>
          <p:cNvGraphicFramePr>
            <a:graphicFrameLocks noGrp="1"/>
          </p:cNvGraphicFramePr>
          <p:nvPr>
            <p:extLst>
              <p:ext uri="{D42A27DB-BD31-4B8C-83A1-F6EECF244321}">
                <p14:modId xmlns:p14="http://schemas.microsoft.com/office/powerpoint/2010/main" val="2455481081"/>
              </p:ext>
            </p:extLst>
          </p:nvPr>
        </p:nvGraphicFramePr>
        <p:xfrm>
          <a:off x="276043" y="1084189"/>
          <a:ext cx="8694153" cy="940482"/>
        </p:xfrm>
        <a:graphic>
          <a:graphicData uri="http://schemas.openxmlformats.org/drawingml/2006/table">
            <a:tbl>
              <a:tblPr firstRow="1" bandRow="1">
                <a:tableStyleId>{5940675A-B579-460E-94D1-54222C63F5DA}</a:tableStyleId>
              </a:tblPr>
              <a:tblGrid>
                <a:gridCol w="864000">
                  <a:extLst>
                    <a:ext uri="{9D8B030D-6E8A-4147-A177-3AD203B41FA5}">
                      <a16:colId xmlns:a16="http://schemas.microsoft.com/office/drawing/2014/main" val="1045753353"/>
                    </a:ext>
                  </a:extLst>
                </a:gridCol>
                <a:gridCol w="7830153">
                  <a:extLst>
                    <a:ext uri="{9D8B030D-6E8A-4147-A177-3AD203B41FA5}">
                      <a16:colId xmlns:a16="http://schemas.microsoft.com/office/drawing/2014/main" val="2889024988"/>
                    </a:ext>
                  </a:extLst>
                </a:gridCol>
              </a:tblGrid>
              <a:tr h="400482">
                <a:tc>
                  <a:txBody>
                    <a:bodyPr/>
                    <a:lstStyle/>
                    <a:p>
                      <a:pPr algn="ctr"/>
                      <a:r>
                        <a:rPr kumimoji="1" lang="ja-JP" altLang="en-US" sz="1200" dirty="0">
                          <a:solidFill>
                            <a:schemeClr val="tx1"/>
                          </a:solidFill>
                          <a:latin typeface="游ゴシック Medium" panose="020B0500000000000000" pitchFamily="50" charset="-128"/>
                          <a:ea typeface="游ゴシック Medium" panose="020B0500000000000000" pitchFamily="50" charset="-128"/>
                        </a:rPr>
                        <a:t>対象取引</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a:r>
                        <a:rPr kumimoji="1" lang="ja-JP" altLang="en-US" sz="1400" dirty="0">
                          <a:solidFill>
                            <a:schemeClr val="tx1"/>
                          </a:solidFill>
                          <a:latin typeface="游ゴシック Medium" panose="020B0500000000000000" pitchFamily="50" charset="-128"/>
                          <a:ea typeface="游ゴシック Medium" panose="020B0500000000000000" pitchFamily="50" charset="-128"/>
                        </a:rPr>
                        <a:t>全取引（届出内容の確認画面）</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740567117"/>
                  </a:ext>
                </a:extLst>
              </a:tr>
              <a:tr h="540000">
                <a:tc>
                  <a:txBody>
                    <a:bodyPr/>
                    <a:lstStyle/>
                    <a:p>
                      <a:pPr algn="ctr"/>
                      <a:r>
                        <a:rPr kumimoji="1" lang="ja-JP" altLang="en-US" sz="1200" dirty="0">
                          <a:solidFill>
                            <a:schemeClr val="tx1"/>
                          </a:solidFill>
                          <a:latin typeface="游ゴシック Medium" panose="020B0500000000000000" pitchFamily="50" charset="-128"/>
                          <a:ea typeface="游ゴシック Medium" panose="020B0500000000000000" pitchFamily="50" charset="-128"/>
                        </a:rPr>
                        <a:t>改善内容</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lgn="l"/>
                      <a:r>
                        <a:rPr kumimoji="1" lang="en-US" altLang="ja-JP" sz="1400" b="0" kern="1200" dirty="0">
                          <a:solidFill>
                            <a:schemeClr val="tx1"/>
                          </a:solidFill>
                          <a:latin typeface="游ゴシック Medium" panose="020B0500000000000000" pitchFamily="50" charset="-128"/>
                          <a:ea typeface="游ゴシック Medium" panose="020B0500000000000000" pitchFamily="50" charset="-128"/>
                          <a:cs typeface="+mn-cs"/>
                        </a:rPr>
                        <a:t>CRM</a:t>
                      </a:r>
                      <a:r>
                        <a:rPr kumimoji="1" lang="ja-JP" altLang="en-US" sz="1400" b="0" kern="1200" dirty="0" err="1">
                          <a:solidFill>
                            <a:schemeClr val="tx1"/>
                          </a:solidFill>
                          <a:latin typeface="游ゴシック Medium" panose="020B0500000000000000" pitchFamily="50" charset="-128"/>
                          <a:ea typeface="游ゴシック Medium" panose="020B0500000000000000" pitchFamily="50" charset="-128"/>
                          <a:cs typeface="+mn-cs"/>
                        </a:rPr>
                        <a:t>に登</a:t>
                      </a:r>
                      <a:r>
                        <a:rPr kumimoji="1" lang="ja-JP" altLang="en-US" sz="1400" b="0" kern="1200" dirty="0">
                          <a:solidFill>
                            <a:schemeClr val="tx1"/>
                          </a:solidFill>
                          <a:latin typeface="游ゴシック Medium" panose="020B0500000000000000" pitchFamily="50" charset="-128"/>
                          <a:ea typeface="游ゴシック Medium" panose="020B0500000000000000" pitchFamily="50" charset="-128"/>
                          <a:cs typeface="+mn-cs"/>
                        </a:rPr>
                        <a:t>録されている在留期限を確認し、</a:t>
                      </a:r>
                      <a:r>
                        <a:rPr kumimoji="1" lang="ja-JP" altLang="en-US" sz="1400" b="1" kern="1200" dirty="0">
                          <a:solidFill>
                            <a:schemeClr val="tx1"/>
                          </a:solidFill>
                          <a:latin typeface="+mn-ea"/>
                          <a:ea typeface="+mn-ea"/>
                          <a:cs typeface="+mn-cs"/>
                        </a:rPr>
                        <a:t>在留期限の確認および更新が必要な場合は受付者へメッセージを表示</a:t>
                      </a:r>
                      <a:r>
                        <a:rPr kumimoji="1" lang="ja-JP" altLang="en-US" sz="1400" b="0" kern="1200" dirty="0">
                          <a:solidFill>
                            <a:schemeClr val="tx1"/>
                          </a:solidFill>
                          <a:latin typeface="游ゴシック Medium" panose="020B0500000000000000" pitchFamily="50" charset="-128"/>
                          <a:ea typeface="游ゴシック Medium" panose="020B0500000000000000" pitchFamily="50" charset="-128"/>
                          <a:cs typeface="+mn-cs"/>
                        </a:rPr>
                        <a:t>します。</a:t>
                      </a:r>
                      <a:endParaRPr kumimoji="1" lang="en-US" altLang="ja-JP" sz="1400" b="0" kern="1200" dirty="0">
                        <a:solidFill>
                          <a:schemeClr val="tx1"/>
                        </a:solidFill>
                        <a:latin typeface="游ゴシック Medium" panose="020B0500000000000000" pitchFamily="50" charset="-128"/>
                        <a:ea typeface="游ゴシック Medium" panose="020B0500000000000000" pitchFamily="50" charset="-128"/>
                        <a:cs typeface="+mn-cs"/>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42379294"/>
                  </a:ext>
                </a:extLst>
              </a:tr>
            </a:tbl>
          </a:graphicData>
        </a:graphic>
      </p:graphicFrame>
      <p:sp>
        <p:nvSpPr>
          <p:cNvPr id="17" name="フッター プレースホルダー 3">
            <a:extLst>
              <a:ext uri="{FF2B5EF4-FFF2-40B4-BE49-F238E27FC236}">
                <a16:creationId xmlns:a16="http://schemas.microsoft.com/office/drawing/2014/main" id="{3F3FB9F7-F16D-4FB7-A52C-1CC3920DD889}"/>
              </a:ext>
            </a:extLst>
          </p:cNvPr>
          <p:cNvSpPr txBox="1">
            <a:spLocks/>
          </p:cNvSpPr>
          <p:nvPr/>
        </p:nvSpPr>
        <p:spPr>
          <a:xfrm>
            <a:off x="0" y="0"/>
            <a:ext cx="4478338" cy="365125"/>
          </a:xfrm>
          <a:prstGeom prst="rect">
            <a:avLst/>
          </a:prstGeom>
        </p:spPr>
        <p:txBody>
          <a:bodyPr anchor="ctr"/>
          <a:lstStyle>
            <a:defPPr>
              <a:defRPr lang="en-US"/>
            </a:defPPr>
            <a:lvl1pPr algn="ctr" defTabSz="457200" rtl="0" eaLnBrk="1" fontAlgn="auto" hangingPunct="1">
              <a:spcBef>
                <a:spcPts val="0"/>
              </a:spcBef>
              <a:spcAft>
                <a:spcPts val="0"/>
              </a:spcAft>
              <a:defRPr kumimoji="1"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2pPr>
            <a:lvl3pPr marL="9144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3pPr>
            <a:lvl4pPr marL="13716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4pPr>
            <a:lvl5pPr marL="18288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9pPr>
          </a:lstStyle>
          <a:p>
            <a:pPr algn="l">
              <a:defRPr/>
            </a:pPr>
            <a:r>
              <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　手続（スマイル）第</a:t>
            </a:r>
            <a:r>
              <a:rPr lang="en-US" altLang="ja-JP"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2025-</a:t>
            </a:r>
            <a:r>
              <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●号・別紙</a:t>
            </a:r>
            <a:r>
              <a:rPr lang="en-US" altLang="ja-JP"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Ⅲ</a:t>
            </a:r>
            <a:endPar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endParaRPr>
          </a:p>
        </p:txBody>
      </p:sp>
      <p:sp>
        <p:nvSpPr>
          <p:cNvPr id="26" name="テキスト ボックス 25">
            <a:extLst>
              <a:ext uri="{FF2B5EF4-FFF2-40B4-BE49-F238E27FC236}">
                <a16:creationId xmlns:a16="http://schemas.microsoft.com/office/drawing/2014/main" id="{FB756438-B447-41EE-9739-97A1B216BED3}"/>
              </a:ext>
            </a:extLst>
          </p:cNvPr>
          <p:cNvSpPr txBox="1"/>
          <p:nvPr/>
        </p:nvSpPr>
        <p:spPr>
          <a:xfrm>
            <a:off x="276043" y="2223342"/>
            <a:ext cx="2109633" cy="461665"/>
          </a:xfrm>
          <a:prstGeom prst="rect">
            <a:avLst/>
          </a:prstGeom>
          <a:noFill/>
        </p:spPr>
        <p:txBody>
          <a:bodyPr wrap="square" rtlCol="0">
            <a:spAutoFit/>
          </a:bodyPr>
          <a:lstStyle/>
          <a:p>
            <a:r>
              <a:rPr kumimoji="1" lang="en-US" altLang="ja-JP" sz="1200" dirty="0">
                <a:latin typeface="游ゴシック Medium" panose="020B0500000000000000" pitchFamily="50" charset="-128"/>
                <a:ea typeface="游ゴシック Medium" panose="020B0500000000000000" pitchFamily="50" charset="-128"/>
              </a:rPr>
              <a:t>【</a:t>
            </a:r>
            <a:r>
              <a:rPr kumimoji="1" lang="ja-JP" altLang="en-US" sz="1200" dirty="0">
                <a:latin typeface="游ゴシック Medium" panose="020B0500000000000000" pitchFamily="50" charset="-128"/>
                <a:ea typeface="游ゴシック Medium" panose="020B0500000000000000" pitchFamily="50" charset="-128"/>
              </a:rPr>
              <a:t>画面イメージ</a:t>
            </a:r>
            <a:r>
              <a:rPr kumimoji="1" lang="en-US" altLang="ja-JP" sz="1200" dirty="0">
                <a:latin typeface="游ゴシック Medium" panose="020B0500000000000000" pitchFamily="50" charset="-128"/>
                <a:ea typeface="游ゴシック Medium" panose="020B0500000000000000" pitchFamily="50" charset="-128"/>
              </a:rPr>
              <a:t>】</a:t>
            </a:r>
          </a:p>
          <a:p>
            <a:r>
              <a:rPr kumimoji="1" lang="ja-JP" altLang="en-US" sz="1200" dirty="0">
                <a:latin typeface="游ゴシック Medium" panose="020B0500000000000000" pitchFamily="50" charset="-128"/>
                <a:ea typeface="游ゴシック Medium" panose="020B0500000000000000" pitchFamily="50" charset="-128"/>
              </a:rPr>
              <a:t>　住所・</a:t>
            </a:r>
            <a:r>
              <a:rPr kumimoji="1" lang="en-US" altLang="ja-JP" sz="1200" dirty="0">
                <a:latin typeface="游ゴシック Medium" panose="020B0500000000000000" pitchFamily="50" charset="-128"/>
                <a:ea typeface="游ゴシック Medium" panose="020B0500000000000000" pitchFamily="50" charset="-128"/>
              </a:rPr>
              <a:t>TEL</a:t>
            </a:r>
            <a:r>
              <a:rPr kumimoji="1" lang="ja-JP" altLang="en-US" sz="1200" dirty="0">
                <a:latin typeface="游ゴシック Medium" panose="020B0500000000000000" pitchFamily="50" charset="-128"/>
                <a:ea typeface="游ゴシック Medium" panose="020B0500000000000000" pitchFamily="50" charset="-128"/>
              </a:rPr>
              <a:t>変更メニュー</a:t>
            </a:r>
          </a:p>
        </p:txBody>
      </p:sp>
      <p:sp>
        <p:nvSpPr>
          <p:cNvPr id="39" name="テキスト ボックス 38">
            <a:extLst>
              <a:ext uri="{FF2B5EF4-FFF2-40B4-BE49-F238E27FC236}">
                <a16:creationId xmlns:a16="http://schemas.microsoft.com/office/drawing/2014/main" id="{D2F730D7-E815-4342-8D1E-5DE8D9216189}"/>
              </a:ext>
            </a:extLst>
          </p:cNvPr>
          <p:cNvSpPr txBox="1"/>
          <p:nvPr/>
        </p:nvSpPr>
        <p:spPr>
          <a:xfrm>
            <a:off x="6046922" y="5608271"/>
            <a:ext cx="2712997" cy="261610"/>
          </a:xfrm>
          <a:prstGeom prst="rect">
            <a:avLst/>
          </a:prstGeom>
          <a:noFill/>
        </p:spPr>
        <p:txBody>
          <a:bodyPr wrap="square" rtlCol="0">
            <a:spAutoFit/>
          </a:bodyPr>
          <a:lstStyle/>
          <a:p>
            <a:pPr fontAlgn="b"/>
            <a:r>
              <a:rPr lang="en-US" altLang="ja-JP" sz="1100" dirty="0">
                <a:solidFill>
                  <a:schemeClr val="accent1"/>
                </a:solidFill>
                <a:latin typeface="游ゴシック Medium" panose="020B0500000000000000" pitchFamily="50" charset="-128"/>
                <a:ea typeface="游ゴシック Medium" panose="020B0500000000000000" pitchFamily="50" charset="-128"/>
              </a:rPr>
              <a:t>CRM</a:t>
            </a:r>
            <a:r>
              <a:rPr lang="ja-JP" altLang="en-US" sz="1100" dirty="0">
                <a:solidFill>
                  <a:schemeClr val="accent1"/>
                </a:solidFill>
                <a:latin typeface="游ゴシック Medium" panose="020B0500000000000000" pitchFamily="50" charset="-128"/>
                <a:ea typeface="游ゴシック Medium" panose="020B0500000000000000" pitchFamily="50" charset="-128"/>
              </a:rPr>
              <a:t>＞取引時確認＞国籍</a:t>
            </a:r>
            <a:endParaRPr lang="en-US" altLang="ja-JP" sz="1100" dirty="0">
              <a:solidFill>
                <a:schemeClr val="accent1"/>
              </a:solidFill>
              <a:latin typeface="游ゴシック Medium" panose="020B0500000000000000" pitchFamily="50" charset="-128"/>
              <a:ea typeface="游ゴシック Medium" panose="020B0500000000000000" pitchFamily="50" charset="-128"/>
            </a:endParaRPr>
          </a:p>
        </p:txBody>
      </p:sp>
      <p:grpSp>
        <p:nvGrpSpPr>
          <p:cNvPr id="16" name="グループ化 15">
            <a:extLst>
              <a:ext uri="{FF2B5EF4-FFF2-40B4-BE49-F238E27FC236}">
                <a16:creationId xmlns:a16="http://schemas.microsoft.com/office/drawing/2014/main" id="{99BF40A1-D3CE-4046-8A49-0051B74B2CEA}"/>
              </a:ext>
            </a:extLst>
          </p:cNvPr>
          <p:cNvGrpSpPr/>
          <p:nvPr/>
        </p:nvGrpSpPr>
        <p:grpSpPr>
          <a:xfrm>
            <a:off x="5690136" y="5956569"/>
            <a:ext cx="3262158" cy="523220"/>
            <a:chOff x="248786" y="4137041"/>
            <a:chExt cx="3280998" cy="397965"/>
          </a:xfrm>
        </p:grpSpPr>
        <p:pic>
          <p:nvPicPr>
            <p:cNvPr id="2" name="図 1">
              <a:extLst>
                <a:ext uri="{FF2B5EF4-FFF2-40B4-BE49-F238E27FC236}">
                  <a16:creationId xmlns:a16="http://schemas.microsoft.com/office/drawing/2014/main" id="{C4CEDC6B-5366-4D79-9DC3-2FB70CB044A3}"/>
                </a:ext>
              </a:extLst>
            </p:cNvPr>
            <p:cNvPicPr>
              <a:picLocks noChangeAspect="1"/>
            </p:cNvPicPr>
            <p:nvPr/>
          </p:nvPicPr>
          <p:blipFill rotWithShape="1">
            <a:blip r:embed="rId3"/>
            <a:srcRect l="9713" t="6609" r="11699" b="5667"/>
            <a:stretch/>
          </p:blipFill>
          <p:spPr>
            <a:xfrm>
              <a:off x="248786" y="4137041"/>
              <a:ext cx="3280998" cy="397965"/>
            </a:xfrm>
            <a:prstGeom prst="rect">
              <a:avLst/>
            </a:prstGeom>
            <a:ln>
              <a:solidFill>
                <a:schemeClr val="tx1"/>
              </a:solidFill>
            </a:ln>
          </p:spPr>
        </p:pic>
        <p:sp>
          <p:nvSpPr>
            <p:cNvPr id="14" name="正方形/長方形 13">
              <a:extLst>
                <a:ext uri="{FF2B5EF4-FFF2-40B4-BE49-F238E27FC236}">
                  <a16:creationId xmlns:a16="http://schemas.microsoft.com/office/drawing/2014/main" id="{EB4AC94C-7D1A-4525-9940-F04E060785B9}"/>
                </a:ext>
              </a:extLst>
            </p:cNvPr>
            <p:cNvSpPr/>
            <p:nvPr/>
          </p:nvSpPr>
          <p:spPr>
            <a:xfrm>
              <a:off x="1664020" y="4405363"/>
              <a:ext cx="1249540" cy="108000"/>
            </a:xfrm>
            <a:prstGeom prst="rect">
              <a:avLst/>
            </a:pr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52BCE88F-6AA2-47EB-9A9A-5786659A7276}"/>
                </a:ext>
              </a:extLst>
            </p:cNvPr>
            <p:cNvSpPr/>
            <p:nvPr/>
          </p:nvSpPr>
          <p:spPr>
            <a:xfrm>
              <a:off x="2766077" y="4279826"/>
              <a:ext cx="694880" cy="104400"/>
            </a:xfrm>
            <a:prstGeom prst="rect">
              <a:avLst/>
            </a:prstGeom>
            <a:solidFill>
              <a:srgbClr val="F0F0F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365F8D72-2BCB-405F-86DA-F1EA4BF44C90}"/>
                </a:ext>
              </a:extLst>
            </p:cNvPr>
            <p:cNvSpPr/>
            <p:nvPr/>
          </p:nvSpPr>
          <p:spPr>
            <a:xfrm>
              <a:off x="1038311" y="4247155"/>
              <a:ext cx="2491473" cy="1548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5" name="テキスト ボックス 24">
            <a:extLst>
              <a:ext uri="{FF2B5EF4-FFF2-40B4-BE49-F238E27FC236}">
                <a16:creationId xmlns:a16="http://schemas.microsoft.com/office/drawing/2014/main" id="{0A30DFAE-6DA3-4580-9DC6-F54A0C8B33D1}"/>
              </a:ext>
            </a:extLst>
          </p:cNvPr>
          <p:cNvSpPr txBox="1"/>
          <p:nvPr/>
        </p:nvSpPr>
        <p:spPr>
          <a:xfrm>
            <a:off x="5607285" y="5602324"/>
            <a:ext cx="661504" cy="261610"/>
          </a:xfrm>
          <a:prstGeom prst="rect">
            <a:avLst/>
          </a:prstGeom>
          <a:noFill/>
        </p:spPr>
        <p:txBody>
          <a:bodyPr wrap="square" rtlCol="0">
            <a:spAutoFit/>
          </a:bodyPr>
          <a:lstStyle/>
          <a:p>
            <a:pPr fontAlgn="b"/>
            <a:r>
              <a:rPr lang="ja-JP" altLang="en-US" sz="1100" dirty="0">
                <a:latin typeface="游ゴシック Medium" panose="020B0500000000000000" pitchFamily="50" charset="-128"/>
                <a:ea typeface="游ゴシック Medium" panose="020B0500000000000000" pitchFamily="50" charset="-128"/>
              </a:rPr>
              <a:t>（例）</a:t>
            </a:r>
            <a:endParaRPr lang="en-US" altLang="ja-JP" sz="1100" dirty="0">
              <a:latin typeface="游ゴシック Medium" panose="020B0500000000000000" pitchFamily="50" charset="-128"/>
              <a:ea typeface="游ゴシック Medium" panose="020B0500000000000000" pitchFamily="50" charset="-128"/>
            </a:endParaRPr>
          </a:p>
        </p:txBody>
      </p:sp>
      <p:sp>
        <p:nvSpPr>
          <p:cNvPr id="5" name="テキスト ボックス 4">
            <a:extLst>
              <a:ext uri="{FF2B5EF4-FFF2-40B4-BE49-F238E27FC236}">
                <a16:creationId xmlns:a16="http://schemas.microsoft.com/office/drawing/2014/main" id="{22186A15-30A0-47A1-B8B8-37D106064803}"/>
              </a:ext>
            </a:extLst>
          </p:cNvPr>
          <p:cNvSpPr txBox="1"/>
          <p:nvPr/>
        </p:nvSpPr>
        <p:spPr>
          <a:xfrm>
            <a:off x="8158706" y="6080964"/>
            <a:ext cx="981811" cy="253916"/>
          </a:xfrm>
          <a:prstGeom prst="rect">
            <a:avLst/>
          </a:prstGeom>
          <a:noFill/>
          <a:ln>
            <a:noFill/>
          </a:ln>
        </p:spPr>
        <p:txBody>
          <a:bodyPr wrap="square" rtlCol="0">
            <a:spAutoFit/>
          </a:bodyPr>
          <a:lstStyle/>
          <a:p>
            <a:r>
              <a:rPr kumimoji="1" lang="en-US" altLang="ja-JP" sz="1050" dirty="0">
                <a:latin typeface="ＭＳ 明朝" panose="02020609040205080304" pitchFamily="17" charset="-128"/>
                <a:ea typeface="ＭＳ 明朝" panose="02020609040205080304" pitchFamily="17" charset="-128"/>
              </a:rPr>
              <a:t>2025/08/10</a:t>
            </a:r>
            <a:endParaRPr kumimoji="1" lang="ja-JP" altLang="en-US" sz="1050" dirty="0">
              <a:latin typeface="ＭＳ 明朝" panose="02020609040205080304" pitchFamily="17" charset="-128"/>
              <a:ea typeface="ＭＳ 明朝" panose="02020609040205080304" pitchFamily="17" charset="-128"/>
            </a:endParaRPr>
          </a:p>
        </p:txBody>
      </p:sp>
      <p:sp>
        <p:nvSpPr>
          <p:cNvPr id="19" name="矢印: 左カーブ 18">
            <a:extLst>
              <a:ext uri="{FF2B5EF4-FFF2-40B4-BE49-F238E27FC236}">
                <a16:creationId xmlns:a16="http://schemas.microsoft.com/office/drawing/2014/main" id="{FE7EE23C-150D-43F2-9A0A-3B21AECA6957}"/>
              </a:ext>
            </a:extLst>
          </p:cNvPr>
          <p:cNvSpPr/>
          <p:nvPr/>
        </p:nvSpPr>
        <p:spPr>
          <a:xfrm rot="18423134">
            <a:off x="5955371" y="4138975"/>
            <a:ext cx="576231" cy="1518157"/>
          </a:xfrm>
          <a:prstGeom prst="curvedLeftArrow">
            <a:avLst>
              <a:gd name="adj1" fmla="val 19598"/>
              <a:gd name="adj2" fmla="val 70144"/>
              <a:gd name="adj3" fmla="val 44693"/>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0" name="テキスト ボックス 19">
            <a:extLst>
              <a:ext uri="{FF2B5EF4-FFF2-40B4-BE49-F238E27FC236}">
                <a16:creationId xmlns:a16="http://schemas.microsoft.com/office/drawing/2014/main" id="{081C6E14-6CB1-4816-9834-1A56F3AF947C}"/>
              </a:ext>
            </a:extLst>
          </p:cNvPr>
          <p:cNvSpPr txBox="1"/>
          <p:nvPr/>
        </p:nvSpPr>
        <p:spPr>
          <a:xfrm>
            <a:off x="6519442" y="4079694"/>
            <a:ext cx="2348513" cy="523220"/>
          </a:xfrm>
          <a:prstGeom prst="rect">
            <a:avLst/>
          </a:prstGeom>
          <a:noFill/>
        </p:spPr>
        <p:txBody>
          <a:bodyPr wrap="square" rtlCol="0">
            <a:spAutoFit/>
          </a:bodyPr>
          <a:lstStyle/>
          <a:p>
            <a:r>
              <a:rPr kumimoji="1" lang="ja-JP" altLang="en-US" sz="1400" dirty="0">
                <a:latin typeface="游ゴシック Medium" panose="020B0500000000000000" pitchFamily="50" charset="-128"/>
                <a:ea typeface="游ゴシック Medium" panose="020B0500000000000000" pitchFamily="50" charset="-128"/>
              </a:rPr>
              <a:t>受付者メッセージに従って</a:t>
            </a:r>
            <a:endParaRPr kumimoji="1" lang="en-US" altLang="ja-JP" sz="1400" dirty="0">
              <a:latin typeface="游ゴシック Medium" panose="020B0500000000000000" pitchFamily="50" charset="-128"/>
              <a:ea typeface="游ゴシック Medium" panose="020B0500000000000000" pitchFamily="50" charset="-128"/>
            </a:endParaRPr>
          </a:p>
          <a:p>
            <a:r>
              <a:rPr kumimoji="1" lang="ja-JP" altLang="en-US" sz="1400" dirty="0">
                <a:latin typeface="游ゴシック Medium" panose="020B0500000000000000" pitchFamily="50" charset="-128"/>
                <a:ea typeface="游ゴシック Medium" panose="020B0500000000000000" pitchFamily="50" charset="-128"/>
              </a:rPr>
              <a:t>お手続きを行ってください</a:t>
            </a:r>
          </a:p>
        </p:txBody>
      </p:sp>
      <p:pic>
        <p:nvPicPr>
          <p:cNvPr id="49" name="図 48">
            <a:extLst>
              <a:ext uri="{FF2B5EF4-FFF2-40B4-BE49-F238E27FC236}">
                <a16:creationId xmlns:a16="http://schemas.microsoft.com/office/drawing/2014/main" id="{E7E712ED-5FC9-4A85-AB89-984DC43136BD}"/>
              </a:ext>
            </a:extLst>
          </p:cNvPr>
          <p:cNvPicPr>
            <a:picLocks noChangeAspect="1"/>
          </p:cNvPicPr>
          <p:nvPr/>
        </p:nvPicPr>
        <p:blipFill>
          <a:blip r:embed="rId4"/>
          <a:stretch>
            <a:fillRect/>
          </a:stretch>
        </p:blipFill>
        <p:spPr>
          <a:xfrm>
            <a:off x="368445" y="3003167"/>
            <a:ext cx="4988187" cy="3500679"/>
          </a:xfrm>
          <a:prstGeom prst="rect">
            <a:avLst/>
          </a:prstGeom>
          <a:ln>
            <a:solidFill>
              <a:schemeClr val="tx1"/>
            </a:solidFill>
          </a:ln>
        </p:spPr>
      </p:pic>
      <p:sp>
        <p:nvSpPr>
          <p:cNvPr id="23" name="正方形/長方形 22">
            <a:extLst>
              <a:ext uri="{FF2B5EF4-FFF2-40B4-BE49-F238E27FC236}">
                <a16:creationId xmlns:a16="http://schemas.microsoft.com/office/drawing/2014/main" id="{50023C37-E130-4986-89AA-DB715470516E}"/>
              </a:ext>
            </a:extLst>
          </p:cNvPr>
          <p:cNvSpPr/>
          <p:nvPr/>
        </p:nvSpPr>
        <p:spPr>
          <a:xfrm>
            <a:off x="368445" y="3254477"/>
            <a:ext cx="4988187" cy="35226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テキスト ボックス 43">
            <a:extLst>
              <a:ext uri="{FF2B5EF4-FFF2-40B4-BE49-F238E27FC236}">
                <a16:creationId xmlns:a16="http://schemas.microsoft.com/office/drawing/2014/main" id="{30C02205-333D-4CC7-AD1F-9F633E16B047}"/>
              </a:ext>
            </a:extLst>
          </p:cNvPr>
          <p:cNvSpPr txBox="1"/>
          <p:nvPr/>
        </p:nvSpPr>
        <p:spPr>
          <a:xfrm>
            <a:off x="4911477" y="1971706"/>
            <a:ext cx="3956478" cy="954107"/>
          </a:xfrm>
          <a:prstGeom prst="borderCallout1">
            <a:avLst>
              <a:gd name="adj1" fmla="val 76335"/>
              <a:gd name="adj2" fmla="val 2139"/>
              <a:gd name="adj3" fmla="val 128431"/>
              <a:gd name="adj4" fmla="val -6269"/>
            </a:avLst>
          </a:prstGeom>
          <a:solidFill>
            <a:schemeClr val="bg1"/>
          </a:solidFill>
          <a:ln w="19050">
            <a:solidFill>
              <a:srgbClr val="FF0000"/>
            </a:solidFill>
          </a:ln>
        </p:spPr>
        <p:txBody>
          <a:bodyPr wrap="square" rtlCol="0">
            <a:spAutoFit/>
          </a:bodyPr>
          <a:lstStyle/>
          <a:p>
            <a:r>
              <a:rPr kumimoji="1" lang="ja-JP" altLang="en-US" sz="1400" dirty="0"/>
              <a:t>下記の場合、受付者メッセージが表示されます。</a:t>
            </a:r>
            <a:endParaRPr kumimoji="1" lang="en-US" altLang="ja-JP" sz="1400" dirty="0"/>
          </a:p>
          <a:p>
            <a:r>
              <a:rPr kumimoji="1" lang="ja-JP" altLang="en-US" sz="1400" dirty="0"/>
              <a:t>・在留期限まで１ヶ月未満</a:t>
            </a:r>
            <a:endParaRPr kumimoji="1" lang="en-US" altLang="ja-JP" sz="1400" dirty="0"/>
          </a:p>
          <a:p>
            <a:r>
              <a:rPr kumimoji="1" lang="ja-JP" altLang="en-US" sz="1400" dirty="0"/>
              <a:t>・在留期限が過ぎている</a:t>
            </a:r>
            <a:endParaRPr kumimoji="1" lang="en-US" altLang="ja-JP" sz="1400" dirty="0"/>
          </a:p>
          <a:p>
            <a:r>
              <a:rPr kumimoji="1" lang="ja-JP" altLang="en-US" sz="1400" dirty="0"/>
              <a:t>・在留資格もしくは在留期限が未登録　　等</a:t>
            </a:r>
            <a:endParaRPr kumimoji="1" lang="en-US" altLang="ja-JP" sz="1400" dirty="0"/>
          </a:p>
        </p:txBody>
      </p:sp>
      <p:sp>
        <p:nvSpPr>
          <p:cNvPr id="24" name="正方形/長方形 23">
            <a:extLst>
              <a:ext uri="{FF2B5EF4-FFF2-40B4-BE49-F238E27FC236}">
                <a16:creationId xmlns:a16="http://schemas.microsoft.com/office/drawing/2014/main" id="{83B76442-E043-4837-A15F-50DB3AC757D8}"/>
              </a:ext>
            </a:extLst>
          </p:cNvPr>
          <p:cNvSpPr/>
          <p:nvPr/>
        </p:nvSpPr>
        <p:spPr>
          <a:xfrm>
            <a:off x="1924762" y="3692926"/>
            <a:ext cx="460913" cy="108000"/>
          </a:xfrm>
          <a:prstGeom prst="rect">
            <a:avLst/>
          </a:pr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9F337B3B-02B3-433D-A01F-800A8912483A}"/>
              </a:ext>
            </a:extLst>
          </p:cNvPr>
          <p:cNvSpPr/>
          <p:nvPr/>
        </p:nvSpPr>
        <p:spPr>
          <a:xfrm>
            <a:off x="1531472" y="4210735"/>
            <a:ext cx="393290" cy="90000"/>
          </a:xfrm>
          <a:prstGeom prst="rect">
            <a:avLst/>
          </a:pr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B5B3E37D-C431-4056-BA5A-D79E58E870A6}"/>
              </a:ext>
            </a:extLst>
          </p:cNvPr>
          <p:cNvSpPr/>
          <p:nvPr/>
        </p:nvSpPr>
        <p:spPr>
          <a:xfrm>
            <a:off x="1531472" y="4372495"/>
            <a:ext cx="393290" cy="90000"/>
          </a:xfrm>
          <a:prstGeom prst="rect">
            <a:avLst/>
          </a:pr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6F4624F3-BC58-446C-9844-814FDFC0958D}"/>
              </a:ext>
            </a:extLst>
          </p:cNvPr>
          <p:cNvSpPr/>
          <p:nvPr/>
        </p:nvSpPr>
        <p:spPr>
          <a:xfrm>
            <a:off x="1531472" y="4720376"/>
            <a:ext cx="690618" cy="90000"/>
          </a:xfrm>
          <a:prstGeom prst="rect">
            <a:avLst/>
          </a:pr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a:extLst>
              <a:ext uri="{FF2B5EF4-FFF2-40B4-BE49-F238E27FC236}">
                <a16:creationId xmlns:a16="http://schemas.microsoft.com/office/drawing/2014/main" id="{11CF4086-FF0A-465E-9EDA-889374E2FC62}"/>
              </a:ext>
            </a:extLst>
          </p:cNvPr>
          <p:cNvSpPr/>
          <p:nvPr/>
        </p:nvSpPr>
        <p:spPr>
          <a:xfrm>
            <a:off x="1531471" y="4898053"/>
            <a:ext cx="779109" cy="90000"/>
          </a:xfrm>
          <a:prstGeom prst="rect">
            <a:avLst/>
          </a:pr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99729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グループ化 3">
            <a:extLst>
              <a:ext uri="{FF2B5EF4-FFF2-40B4-BE49-F238E27FC236}">
                <a16:creationId xmlns:a16="http://schemas.microsoft.com/office/drawing/2014/main" id="{B0B348D0-CC7A-4102-8D81-56AFDB828D10}"/>
              </a:ext>
            </a:extLst>
          </p:cNvPr>
          <p:cNvGrpSpPr/>
          <p:nvPr/>
        </p:nvGrpSpPr>
        <p:grpSpPr>
          <a:xfrm>
            <a:off x="276044" y="284904"/>
            <a:ext cx="10092907" cy="681250"/>
            <a:chOff x="276044" y="190018"/>
            <a:chExt cx="10092907" cy="681250"/>
          </a:xfrm>
        </p:grpSpPr>
        <p:cxnSp>
          <p:nvCxnSpPr>
            <p:cNvPr id="8" name="直線コネクタ 7">
              <a:extLst>
                <a:ext uri="{FF2B5EF4-FFF2-40B4-BE49-F238E27FC236}">
                  <a16:creationId xmlns:a16="http://schemas.microsoft.com/office/drawing/2014/main" id="{5A7CEE16-C584-4DC9-A63C-3778D4335113}"/>
                </a:ext>
              </a:extLst>
            </p:cNvPr>
            <p:cNvCxnSpPr/>
            <p:nvPr/>
          </p:nvCxnSpPr>
          <p:spPr>
            <a:xfrm>
              <a:off x="276045" y="871268"/>
              <a:ext cx="859191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正方形/長方形 8">
              <a:extLst>
                <a:ext uri="{FF2B5EF4-FFF2-40B4-BE49-F238E27FC236}">
                  <a16:creationId xmlns:a16="http://schemas.microsoft.com/office/drawing/2014/main" id="{F4E332DB-71A2-4DAA-A52C-7C3AEDF289F0}"/>
                </a:ext>
              </a:extLst>
            </p:cNvPr>
            <p:cNvSpPr/>
            <p:nvPr/>
          </p:nvSpPr>
          <p:spPr>
            <a:xfrm>
              <a:off x="276044" y="259268"/>
              <a:ext cx="144000" cy="612000"/>
            </a:xfrm>
            <a:prstGeom prst="rect">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3AEF284C-D00E-4272-81DD-2CD29381689E}"/>
                </a:ext>
              </a:extLst>
            </p:cNvPr>
            <p:cNvSpPr txBox="1"/>
            <p:nvPr/>
          </p:nvSpPr>
          <p:spPr>
            <a:xfrm>
              <a:off x="420044" y="190018"/>
              <a:ext cx="1618306" cy="276999"/>
            </a:xfrm>
            <a:prstGeom prst="rect">
              <a:avLst/>
            </a:prstGeom>
            <a:noFill/>
          </p:spPr>
          <p:txBody>
            <a:bodyPr wrap="square" rtlCol="0" anchor="ctr">
              <a:spAutoFit/>
            </a:bodyPr>
            <a:lstStyle/>
            <a:p>
              <a:r>
                <a:rPr kumimoji="1" lang="ja-JP" altLang="en-US" sz="1200" dirty="0">
                  <a:latin typeface="游ゴシック Medium" panose="020B0500000000000000" pitchFamily="50" charset="-128"/>
                  <a:ea typeface="游ゴシック Medium" panose="020B0500000000000000" pitchFamily="50" charset="-128"/>
                </a:rPr>
                <a:t>機能改善詳細（４）</a:t>
              </a:r>
            </a:p>
          </p:txBody>
        </p:sp>
        <p:sp>
          <p:nvSpPr>
            <p:cNvPr id="11" name="テキスト ボックス 10">
              <a:extLst>
                <a:ext uri="{FF2B5EF4-FFF2-40B4-BE49-F238E27FC236}">
                  <a16:creationId xmlns:a16="http://schemas.microsoft.com/office/drawing/2014/main" id="{8A39368D-15FA-4F19-8D68-EF6AB8936699}"/>
                </a:ext>
              </a:extLst>
            </p:cNvPr>
            <p:cNvSpPr txBox="1"/>
            <p:nvPr/>
          </p:nvSpPr>
          <p:spPr>
            <a:xfrm>
              <a:off x="420043" y="428543"/>
              <a:ext cx="9948908" cy="400110"/>
            </a:xfrm>
            <a:prstGeom prst="rect">
              <a:avLst/>
            </a:prstGeom>
            <a:noFill/>
          </p:spPr>
          <p:txBody>
            <a:bodyPr wrap="square" rtlCol="0" anchor="ctr">
              <a:spAutoFit/>
            </a:bodyPr>
            <a:lstStyle/>
            <a:p>
              <a:r>
                <a:rPr kumimoji="1" lang="ja-JP" altLang="en-US" sz="2000" b="1" dirty="0"/>
                <a:t>メッセンジャー通知の文言の改善</a:t>
              </a:r>
              <a:r>
                <a:rPr kumimoji="1" lang="ja-JP" altLang="en-US" sz="1600" b="1" dirty="0">
                  <a:solidFill>
                    <a:schemeClr val="accent1"/>
                  </a:solidFill>
                  <a:latin typeface="+mn-ea"/>
                </a:rPr>
                <a:t>（提案要望掲示</a:t>
              </a:r>
              <a:r>
                <a:rPr kumimoji="1" lang="en-US" altLang="ja-JP" sz="1600" b="1" dirty="0">
                  <a:solidFill>
                    <a:schemeClr val="accent1"/>
                  </a:solidFill>
                  <a:latin typeface="+mn-ea"/>
                </a:rPr>
                <a:t>No.</a:t>
              </a:r>
              <a:r>
                <a:rPr kumimoji="1" lang="ja-JP" altLang="en-US" sz="1600" b="1" dirty="0">
                  <a:solidFill>
                    <a:schemeClr val="accent1"/>
                  </a:solidFill>
                  <a:latin typeface="+mn-ea"/>
                </a:rPr>
                <a:t> </a:t>
              </a:r>
              <a:r>
                <a:rPr kumimoji="1" lang="en-US" altLang="ja-JP" sz="1600" b="1" dirty="0">
                  <a:solidFill>
                    <a:schemeClr val="accent1"/>
                  </a:solidFill>
                  <a:latin typeface="+mn-ea"/>
                </a:rPr>
                <a:t>2970</a:t>
              </a:r>
              <a:r>
                <a:rPr kumimoji="1" lang="ja-JP" altLang="en-US" sz="1600" b="1" dirty="0">
                  <a:solidFill>
                    <a:schemeClr val="accent1"/>
                  </a:solidFill>
                  <a:latin typeface="+mn-ea"/>
                </a:rPr>
                <a:t>に基づく対応）</a:t>
              </a:r>
              <a:endParaRPr kumimoji="1" lang="ja-JP" altLang="en-US" sz="2000" b="1" dirty="0">
                <a:solidFill>
                  <a:schemeClr val="accent1"/>
                </a:solidFill>
              </a:endParaRPr>
            </a:p>
          </p:txBody>
        </p:sp>
      </p:grpSp>
      <p:graphicFrame>
        <p:nvGraphicFramePr>
          <p:cNvPr id="13" name="表 12">
            <a:extLst>
              <a:ext uri="{FF2B5EF4-FFF2-40B4-BE49-F238E27FC236}">
                <a16:creationId xmlns:a16="http://schemas.microsoft.com/office/drawing/2014/main" id="{6839CE9E-DA91-450B-84F3-072EDD6AAACB}"/>
              </a:ext>
            </a:extLst>
          </p:cNvPr>
          <p:cNvGraphicFramePr>
            <a:graphicFrameLocks noGrp="1"/>
          </p:cNvGraphicFramePr>
          <p:nvPr>
            <p:extLst>
              <p:ext uri="{D42A27DB-BD31-4B8C-83A1-F6EECF244321}">
                <p14:modId xmlns:p14="http://schemas.microsoft.com/office/powerpoint/2010/main" val="725169054"/>
              </p:ext>
            </p:extLst>
          </p:nvPr>
        </p:nvGraphicFramePr>
        <p:xfrm>
          <a:off x="276043" y="1084189"/>
          <a:ext cx="8694153" cy="878160"/>
        </p:xfrm>
        <a:graphic>
          <a:graphicData uri="http://schemas.openxmlformats.org/drawingml/2006/table">
            <a:tbl>
              <a:tblPr firstRow="1" bandRow="1">
                <a:tableStyleId>{5940675A-B579-460E-94D1-54222C63F5DA}</a:tableStyleId>
              </a:tblPr>
              <a:tblGrid>
                <a:gridCol w="864000">
                  <a:extLst>
                    <a:ext uri="{9D8B030D-6E8A-4147-A177-3AD203B41FA5}">
                      <a16:colId xmlns:a16="http://schemas.microsoft.com/office/drawing/2014/main" val="1045753353"/>
                    </a:ext>
                  </a:extLst>
                </a:gridCol>
                <a:gridCol w="7830153">
                  <a:extLst>
                    <a:ext uri="{9D8B030D-6E8A-4147-A177-3AD203B41FA5}">
                      <a16:colId xmlns:a16="http://schemas.microsoft.com/office/drawing/2014/main" val="2889024988"/>
                    </a:ext>
                  </a:extLst>
                </a:gridCol>
              </a:tblGrid>
              <a:tr h="360000">
                <a:tc>
                  <a:txBody>
                    <a:bodyPr/>
                    <a:lstStyle/>
                    <a:p>
                      <a:pPr algn="ctr"/>
                      <a:r>
                        <a:rPr kumimoji="1" lang="ja-JP" altLang="en-US" sz="1200" dirty="0">
                          <a:solidFill>
                            <a:schemeClr val="tx1"/>
                          </a:solidFill>
                          <a:latin typeface="游ゴシック Medium" panose="020B0500000000000000" pitchFamily="50" charset="-128"/>
                          <a:ea typeface="游ゴシック Medium" panose="020B0500000000000000" pitchFamily="50" charset="-128"/>
                        </a:rPr>
                        <a:t>対象取引</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a:r>
                        <a:rPr kumimoji="1" lang="ja-JP" altLang="en-US" sz="1400" dirty="0">
                          <a:solidFill>
                            <a:schemeClr val="tx1"/>
                          </a:solidFill>
                          <a:latin typeface="游ゴシック Medium" panose="020B0500000000000000" pitchFamily="50" charset="-128"/>
                          <a:ea typeface="游ゴシック Medium" panose="020B0500000000000000" pitchFamily="50" charset="-128"/>
                        </a:rPr>
                        <a:t>承認依頼通知・承認通知・差戻通知が届く全ての取引</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740567117"/>
                  </a:ext>
                </a:extLst>
              </a:tr>
              <a:tr h="360000">
                <a:tc>
                  <a:txBody>
                    <a:bodyPr/>
                    <a:lstStyle/>
                    <a:p>
                      <a:pPr algn="ctr"/>
                      <a:r>
                        <a:rPr kumimoji="1" lang="ja-JP" altLang="en-US" sz="1200" dirty="0">
                          <a:solidFill>
                            <a:schemeClr val="tx1"/>
                          </a:solidFill>
                          <a:latin typeface="游ゴシック Medium" panose="020B0500000000000000" pitchFamily="50" charset="-128"/>
                          <a:ea typeface="游ゴシック Medium" panose="020B0500000000000000" pitchFamily="50" charset="-128"/>
                        </a:rPr>
                        <a:t>改善内容</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r>
                        <a:rPr kumimoji="1" lang="ja-JP" altLang="en-US" sz="1400" dirty="0">
                          <a:solidFill>
                            <a:schemeClr val="tx1"/>
                          </a:solidFill>
                          <a:latin typeface="游ゴシック Medium" panose="020B0500000000000000" pitchFamily="50" charset="-128"/>
                          <a:ea typeface="游ゴシック Medium" panose="020B0500000000000000" pitchFamily="50" charset="-128"/>
                        </a:rPr>
                        <a:t>①どの取引に関する通知なのかを分かりやすくするため、</a:t>
                      </a:r>
                      <a:r>
                        <a:rPr kumimoji="1" lang="ja-JP" altLang="en-US" sz="1400" b="1" dirty="0">
                          <a:solidFill>
                            <a:schemeClr val="tx1"/>
                          </a:solidFill>
                          <a:latin typeface="+mn-ea"/>
                          <a:ea typeface="+mn-ea"/>
                        </a:rPr>
                        <a:t>通知内容に「取引種類」を追加</a:t>
                      </a:r>
                      <a:r>
                        <a:rPr kumimoji="1" lang="ja-JP" altLang="en-US" sz="1400" dirty="0">
                          <a:solidFill>
                            <a:schemeClr val="tx1"/>
                          </a:solidFill>
                          <a:latin typeface="游ゴシック Medium" panose="020B0500000000000000" pitchFamily="50" charset="-128"/>
                          <a:ea typeface="游ゴシック Medium" panose="020B0500000000000000" pitchFamily="50" charset="-128"/>
                        </a:rPr>
                        <a:t>します。</a:t>
                      </a:r>
                      <a:endParaRPr kumimoji="1" lang="en-US" altLang="ja-JP" sz="1400" dirty="0">
                        <a:solidFill>
                          <a:schemeClr val="tx1"/>
                        </a:solidFill>
                        <a:latin typeface="游ゴシック Medium" panose="020B0500000000000000" pitchFamily="50" charset="-128"/>
                        <a:ea typeface="游ゴシック Medium" panose="020B0500000000000000" pitchFamily="50" charset="-128"/>
                      </a:endParaRPr>
                    </a:p>
                    <a:p>
                      <a:r>
                        <a:rPr kumimoji="1" lang="ja-JP" altLang="en-US" sz="1400" dirty="0">
                          <a:solidFill>
                            <a:schemeClr val="tx1"/>
                          </a:solidFill>
                          <a:latin typeface="游ゴシック Medium" panose="020B0500000000000000" pitchFamily="50" charset="-128"/>
                          <a:ea typeface="游ゴシック Medium" panose="020B0500000000000000" pitchFamily="50" charset="-128"/>
                        </a:rPr>
                        <a:t>②</a:t>
                      </a:r>
                      <a:r>
                        <a:rPr kumimoji="1" lang="ja-JP" altLang="en-US" sz="1400" b="1" dirty="0">
                          <a:solidFill>
                            <a:schemeClr val="tx1"/>
                          </a:solidFill>
                          <a:latin typeface="+mn-ea"/>
                          <a:ea typeface="+mn-ea"/>
                        </a:rPr>
                        <a:t>承認通知に承認依頼者名を追加</a:t>
                      </a:r>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します。</a:t>
                      </a:r>
                      <a:endParaRPr kumimoji="1" lang="en-US" altLang="ja-JP" sz="1400" b="0" dirty="0">
                        <a:solidFill>
                          <a:schemeClr val="tx1"/>
                        </a:solidFill>
                        <a:latin typeface="游ゴシック Medium" panose="020B0500000000000000" pitchFamily="50" charset="-128"/>
                        <a:ea typeface="游ゴシック Medium" panose="020B0500000000000000" pitchFamily="50" charset="-12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42379294"/>
                  </a:ext>
                </a:extLst>
              </a:tr>
            </a:tbl>
          </a:graphicData>
        </a:graphic>
      </p:graphicFrame>
      <p:sp>
        <p:nvSpPr>
          <p:cNvPr id="39" name="フッター プレースホルダー 3">
            <a:extLst>
              <a:ext uri="{FF2B5EF4-FFF2-40B4-BE49-F238E27FC236}">
                <a16:creationId xmlns:a16="http://schemas.microsoft.com/office/drawing/2014/main" id="{3DFBE6C4-37CD-4ADD-85D8-26DC46281C48}"/>
              </a:ext>
            </a:extLst>
          </p:cNvPr>
          <p:cNvSpPr txBox="1">
            <a:spLocks/>
          </p:cNvSpPr>
          <p:nvPr/>
        </p:nvSpPr>
        <p:spPr>
          <a:xfrm>
            <a:off x="0" y="0"/>
            <a:ext cx="4478338" cy="365125"/>
          </a:xfrm>
          <a:prstGeom prst="rect">
            <a:avLst/>
          </a:prstGeom>
        </p:spPr>
        <p:txBody>
          <a:bodyPr anchor="ctr"/>
          <a:lstStyle>
            <a:defPPr>
              <a:defRPr lang="en-US"/>
            </a:defPPr>
            <a:lvl1pPr algn="ctr" defTabSz="457200" rtl="0" eaLnBrk="1" fontAlgn="auto" hangingPunct="1">
              <a:spcBef>
                <a:spcPts val="0"/>
              </a:spcBef>
              <a:spcAft>
                <a:spcPts val="0"/>
              </a:spcAft>
              <a:defRPr kumimoji="1"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2pPr>
            <a:lvl3pPr marL="9144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3pPr>
            <a:lvl4pPr marL="13716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4pPr>
            <a:lvl5pPr marL="18288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9pPr>
          </a:lstStyle>
          <a:p>
            <a:pPr algn="l">
              <a:defRPr/>
            </a:pPr>
            <a:r>
              <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　手続（スマイル）第</a:t>
            </a:r>
            <a:r>
              <a:rPr lang="en-US" altLang="ja-JP"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2025-</a:t>
            </a:r>
            <a:r>
              <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 ●号・別紙</a:t>
            </a:r>
            <a:r>
              <a:rPr lang="en-US" altLang="ja-JP"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Ⅳ</a:t>
            </a:r>
            <a:endPar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endParaRPr>
          </a:p>
        </p:txBody>
      </p:sp>
      <p:grpSp>
        <p:nvGrpSpPr>
          <p:cNvPr id="2" name="グループ化 1">
            <a:extLst>
              <a:ext uri="{FF2B5EF4-FFF2-40B4-BE49-F238E27FC236}">
                <a16:creationId xmlns:a16="http://schemas.microsoft.com/office/drawing/2014/main" id="{AEC16C1D-267D-4256-802D-0FEC5A4A9B6E}"/>
              </a:ext>
            </a:extLst>
          </p:cNvPr>
          <p:cNvGrpSpPr/>
          <p:nvPr/>
        </p:nvGrpSpPr>
        <p:grpSpPr>
          <a:xfrm>
            <a:off x="605559" y="2769900"/>
            <a:ext cx="7774287" cy="3891683"/>
            <a:chOff x="792367" y="2187096"/>
            <a:chExt cx="8662974" cy="4386000"/>
          </a:xfrm>
        </p:grpSpPr>
        <p:pic>
          <p:nvPicPr>
            <p:cNvPr id="44" name="図 43">
              <a:extLst>
                <a:ext uri="{FF2B5EF4-FFF2-40B4-BE49-F238E27FC236}">
                  <a16:creationId xmlns:a16="http://schemas.microsoft.com/office/drawing/2014/main" id="{799A8CB6-00C5-4586-8AE7-011A63455244}"/>
                </a:ext>
              </a:extLst>
            </p:cNvPr>
            <p:cNvPicPr>
              <a:picLocks noChangeAspect="1"/>
            </p:cNvPicPr>
            <p:nvPr/>
          </p:nvPicPr>
          <p:blipFill>
            <a:blip r:embed="rId3"/>
            <a:stretch>
              <a:fillRect/>
            </a:stretch>
          </p:blipFill>
          <p:spPr>
            <a:xfrm>
              <a:off x="792367" y="2187096"/>
              <a:ext cx="6974081" cy="4386000"/>
            </a:xfrm>
            <a:prstGeom prst="rect">
              <a:avLst/>
            </a:prstGeom>
            <a:ln>
              <a:solidFill>
                <a:schemeClr val="tx1"/>
              </a:solidFill>
            </a:ln>
          </p:spPr>
        </p:pic>
        <p:sp>
          <p:nvSpPr>
            <p:cNvPr id="5" name="正方形/長方形 4">
              <a:extLst>
                <a:ext uri="{FF2B5EF4-FFF2-40B4-BE49-F238E27FC236}">
                  <a16:creationId xmlns:a16="http://schemas.microsoft.com/office/drawing/2014/main" id="{6A747FE3-A5B2-4A1F-84CE-D7B68853603E}"/>
                </a:ext>
              </a:extLst>
            </p:cNvPr>
            <p:cNvSpPr/>
            <p:nvPr/>
          </p:nvSpPr>
          <p:spPr>
            <a:xfrm>
              <a:off x="4359276" y="4994954"/>
              <a:ext cx="471367" cy="1480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吹き出し: 線 6">
              <a:extLst>
                <a:ext uri="{FF2B5EF4-FFF2-40B4-BE49-F238E27FC236}">
                  <a16:creationId xmlns:a16="http://schemas.microsoft.com/office/drawing/2014/main" id="{BF7F2BE3-9B82-42BC-BF1A-ED951F23804C}"/>
                </a:ext>
              </a:extLst>
            </p:cNvPr>
            <p:cNvSpPr/>
            <p:nvPr/>
          </p:nvSpPr>
          <p:spPr>
            <a:xfrm>
              <a:off x="5897584" y="3660089"/>
              <a:ext cx="3557757" cy="288000"/>
            </a:xfrm>
            <a:prstGeom prst="borderCallout1">
              <a:avLst>
                <a:gd name="adj1" fmla="val 69999"/>
                <a:gd name="adj2" fmla="val 2127"/>
                <a:gd name="adj3" fmla="val 453553"/>
                <a:gd name="adj4" fmla="val -34870"/>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ja-JP" altLang="en-US" sz="1400" dirty="0">
                  <a:solidFill>
                    <a:schemeClr val="tx1"/>
                  </a:solidFill>
                  <a:latin typeface="游ゴシック Medium" panose="020B0500000000000000" pitchFamily="50" charset="-128"/>
                  <a:ea typeface="游ゴシック Medium" panose="020B0500000000000000" pitchFamily="50" charset="-128"/>
                </a:rPr>
                <a:t> すべての通知に </a:t>
              </a:r>
              <a:r>
                <a:rPr kumimoji="1" lang="ja-JP" altLang="en-US" sz="1400" dirty="0">
                  <a:solidFill>
                    <a:sysClr val="windowText" lastClr="000000"/>
                  </a:solidFill>
                  <a:latin typeface="游ゴシック Medium" panose="020B0500000000000000" pitchFamily="50" charset="-128"/>
                  <a:ea typeface="游ゴシック Medium" panose="020B0500000000000000" pitchFamily="50" charset="-128"/>
                </a:rPr>
                <a:t>「取引種類」を追加</a:t>
              </a:r>
            </a:p>
          </p:txBody>
        </p:sp>
        <p:sp>
          <p:nvSpPr>
            <p:cNvPr id="36" name="楕円 35">
              <a:extLst>
                <a:ext uri="{FF2B5EF4-FFF2-40B4-BE49-F238E27FC236}">
                  <a16:creationId xmlns:a16="http://schemas.microsoft.com/office/drawing/2014/main" id="{AA46DB43-2FDB-49C7-87E1-B842B3593D64}"/>
                </a:ext>
              </a:extLst>
            </p:cNvPr>
            <p:cNvSpPr/>
            <p:nvPr/>
          </p:nvSpPr>
          <p:spPr>
            <a:xfrm>
              <a:off x="5729886" y="3460161"/>
              <a:ext cx="288000" cy="288000"/>
            </a:xfrm>
            <a:prstGeom prst="ellipse">
              <a:avLst/>
            </a:prstGeom>
            <a:solidFill>
              <a:srgbClr val="FF00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1</a:t>
              </a:r>
              <a:endParaRPr kumimoji="1" lang="ja-JP" altLang="en-US" dirty="0"/>
            </a:p>
          </p:txBody>
        </p:sp>
        <p:sp>
          <p:nvSpPr>
            <p:cNvPr id="47" name="正方形/長方形 46">
              <a:extLst>
                <a:ext uri="{FF2B5EF4-FFF2-40B4-BE49-F238E27FC236}">
                  <a16:creationId xmlns:a16="http://schemas.microsoft.com/office/drawing/2014/main" id="{03766452-C94D-4724-B8F4-ABD8DEA8E1BE}"/>
                </a:ext>
              </a:extLst>
            </p:cNvPr>
            <p:cNvSpPr/>
            <p:nvPr/>
          </p:nvSpPr>
          <p:spPr>
            <a:xfrm>
              <a:off x="3571625" y="5142991"/>
              <a:ext cx="1259018" cy="1480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吹き出し: 線 49">
              <a:extLst>
                <a:ext uri="{FF2B5EF4-FFF2-40B4-BE49-F238E27FC236}">
                  <a16:creationId xmlns:a16="http://schemas.microsoft.com/office/drawing/2014/main" id="{5ECCFA16-E647-46A4-8287-4D103742D06D}"/>
                </a:ext>
              </a:extLst>
            </p:cNvPr>
            <p:cNvSpPr/>
            <p:nvPr/>
          </p:nvSpPr>
          <p:spPr>
            <a:xfrm>
              <a:off x="5897584" y="4515843"/>
              <a:ext cx="3193129" cy="288000"/>
            </a:xfrm>
            <a:prstGeom prst="borderCallout1">
              <a:avLst>
                <a:gd name="adj1" fmla="val 84490"/>
                <a:gd name="adj2" fmla="val 2098"/>
                <a:gd name="adj3" fmla="val 238454"/>
                <a:gd name="adj4" fmla="val -33240"/>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ja-JP" altLang="en-US" sz="1400" dirty="0">
                  <a:solidFill>
                    <a:schemeClr val="tx1"/>
                  </a:solidFill>
                  <a:latin typeface="游ゴシック Medium" panose="020B0500000000000000" pitchFamily="50" charset="-128"/>
                  <a:ea typeface="游ゴシック Medium" panose="020B0500000000000000" pitchFamily="50" charset="-128"/>
                </a:rPr>
                <a:t> 承認通知</a:t>
              </a:r>
              <a:r>
                <a:rPr kumimoji="1" lang="ja-JP" altLang="en-US" sz="1400" dirty="0">
                  <a:solidFill>
                    <a:sysClr val="windowText" lastClr="000000"/>
                  </a:solidFill>
                  <a:latin typeface="游ゴシック Medium" panose="020B0500000000000000" pitchFamily="50" charset="-128"/>
                  <a:ea typeface="游ゴシック Medium" panose="020B0500000000000000" pitchFamily="50" charset="-128"/>
                </a:rPr>
                <a:t>に「承認依頼者」を追加</a:t>
              </a:r>
            </a:p>
          </p:txBody>
        </p:sp>
        <p:sp>
          <p:nvSpPr>
            <p:cNvPr id="53" name="楕円 52">
              <a:extLst>
                <a:ext uri="{FF2B5EF4-FFF2-40B4-BE49-F238E27FC236}">
                  <a16:creationId xmlns:a16="http://schemas.microsoft.com/office/drawing/2014/main" id="{F5F3AEDD-D2B9-442A-BBE2-D9EE642D2CEA}"/>
                </a:ext>
              </a:extLst>
            </p:cNvPr>
            <p:cNvSpPr/>
            <p:nvPr/>
          </p:nvSpPr>
          <p:spPr>
            <a:xfrm>
              <a:off x="5720054" y="4285501"/>
              <a:ext cx="288000" cy="288000"/>
            </a:xfrm>
            <a:prstGeom prst="ellipse">
              <a:avLst/>
            </a:prstGeom>
            <a:solidFill>
              <a:srgbClr val="FF00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2</a:t>
              </a:r>
              <a:endParaRPr kumimoji="1" lang="ja-JP" altLang="en-US" dirty="0"/>
            </a:p>
          </p:txBody>
        </p:sp>
        <p:sp>
          <p:nvSpPr>
            <p:cNvPr id="58" name="正方形/長方形 57">
              <a:extLst>
                <a:ext uri="{FF2B5EF4-FFF2-40B4-BE49-F238E27FC236}">
                  <a16:creationId xmlns:a16="http://schemas.microsoft.com/office/drawing/2014/main" id="{7F27BD6B-3F25-42B9-8E19-4A2C98543171}"/>
                </a:ext>
              </a:extLst>
            </p:cNvPr>
            <p:cNvSpPr/>
            <p:nvPr/>
          </p:nvSpPr>
          <p:spPr>
            <a:xfrm>
              <a:off x="4359276" y="3660391"/>
              <a:ext cx="471367" cy="1480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7" name="図 56">
              <a:extLst>
                <a:ext uri="{FF2B5EF4-FFF2-40B4-BE49-F238E27FC236}">
                  <a16:creationId xmlns:a16="http://schemas.microsoft.com/office/drawing/2014/main" id="{FF36647A-706D-4047-86BF-37B6EC708A4F}"/>
                </a:ext>
              </a:extLst>
            </p:cNvPr>
            <p:cNvPicPr>
              <a:picLocks noChangeAspect="1"/>
            </p:cNvPicPr>
            <p:nvPr/>
          </p:nvPicPr>
          <p:blipFill rotWithShape="1">
            <a:blip r:embed="rId4">
              <a:extLst>
                <a:ext uri="{BEBA8EAE-BF5A-486C-A8C5-ECC9F3942E4B}">
                  <a14:imgProps xmlns:a14="http://schemas.microsoft.com/office/drawing/2010/main">
                    <a14:imgLayer r:embed="rId5">
                      <a14:imgEffect>
                        <a14:artisticBlur/>
                      </a14:imgEffect>
                    </a14:imgLayer>
                  </a14:imgProps>
                </a:ext>
              </a:extLst>
            </a:blip>
            <a:srcRect t="28315" r="66808" b="11214"/>
            <a:stretch/>
          </p:blipFill>
          <p:spPr>
            <a:xfrm>
              <a:off x="792367" y="3429000"/>
              <a:ext cx="2314817" cy="2652204"/>
            </a:xfrm>
            <a:prstGeom prst="rect">
              <a:avLst/>
            </a:prstGeom>
            <a:ln>
              <a:solidFill>
                <a:schemeClr val="tx1"/>
              </a:solidFill>
            </a:ln>
            <a:effectLst>
              <a:softEdge rad="0"/>
            </a:effectLst>
          </p:spPr>
        </p:pic>
        <p:cxnSp>
          <p:nvCxnSpPr>
            <p:cNvPr id="17" name="直線コネクタ 16">
              <a:extLst>
                <a:ext uri="{FF2B5EF4-FFF2-40B4-BE49-F238E27FC236}">
                  <a16:creationId xmlns:a16="http://schemas.microsoft.com/office/drawing/2014/main" id="{19056277-533D-4D75-BFD6-D621A9A79198}"/>
                </a:ext>
              </a:extLst>
            </p:cNvPr>
            <p:cNvCxnSpPr>
              <a:cxnSpLocks/>
            </p:cNvCxnSpPr>
            <p:nvPr/>
          </p:nvCxnSpPr>
          <p:spPr>
            <a:xfrm flipH="1" flipV="1">
              <a:off x="4899684" y="3748160"/>
              <a:ext cx="1067517" cy="1302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3" name="吹き出し: 四角形 22">
            <a:extLst>
              <a:ext uri="{FF2B5EF4-FFF2-40B4-BE49-F238E27FC236}">
                <a16:creationId xmlns:a16="http://schemas.microsoft.com/office/drawing/2014/main" id="{FFBCF9C2-520F-4CF7-9A47-F109D543C8DD}"/>
              </a:ext>
            </a:extLst>
          </p:cNvPr>
          <p:cNvSpPr/>
          <p:nvPr/>
        </p:nvSpPr>
        <p:spPr>
          <a:xfrm>
            <a:off x="6063133" y="1921383"/>
            <a:ext cx="2766784" cy="689501"/>
          </a:xfrm>
          <a:prstGeom prst="wedgeRectCallout">
            <a:avLst>
              <a:gd name="adj1" fmla="val -33543"/>
              <a:gd name="adj2" fmla="val 64888"/>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游ゴシック Medium" panose="020B0500000000000000" pitchFamily="50" charset="-128"/>
                <a:ea typeface="游ゴシック Medium" panose="020B0500000000000000" pitchFamily="50" charset="-128"/>
              </a:rPr>
              <a:t>ワークフローを開かなくても、</a:t>
            </a:r>
            <a:endParaRPr kumimoji="1" lang="en-US" altLang="ja-JP" sz="1400" dirty="0">
              <a:solidFill>
                <a:schemeClr val="tx1"/>
              </a:solidFill>
              <a:latin typeface="游ゴシック Medium" panose="020B0500000000000000" pitchFamily="50" charset="-128"/>
              <a:ea typeface="游ゴシック Medium" panose="020B0500000000000000" pitchFamily="50" charset="-128"/>
            </a:endParaRPr>
          </a:p>
          <a:p>
            <a:pPr algn="ctr"/>
            <a:r>
              <a:rPr kumimoji="1" lang="ja-JP" altLang="en-US" sz="1400" dirty="0">
                <a:solidFill>
                  <a:schemeClr val="tx1"/>
                </a:solidFill>
                <a:latin typeface="游ゴシック Medium" panose="020B0500000000000000" pitchFamily="50" charset="-128"/>
                <a:ea typeface="游ゴシック Medium" panose="020B0500000000000000" pitchFamily="50" charset="-128"/>
              </a:rPr>
              <a:t>誰のどの案件が承認されたか　わかるようになります👌</a:t>
            </a:r>
          </a:p>
        </p:txBody>
      </p:sp>
      <p:sp>
        <p:nvSpPr>
          <p:cNvPr id="12" name="正方形/長方形 11">
            <a:extLst>
              <a:ext uri="{FF2B5EF4-FFF2-40B4-BE49-F238E27FC236}">
                <a16:creationId xmlns:a16="http://schemas.microsoft.com/office/drawing/2014/main" id="{AEE04738-1670-41D7-BCF6-818AA0E38E2E}"/>
              </a:ext>
            </a:extLst>
          </p:cNvPr>
          <p:cNvSpPr/>
          <p:nvPr/>
        </p:nvSpPr>
        <p:spPr>
          <a:xfrm>
            <a:off x="2740407" y="6354235"/>
            <a:ext cx="268264" cy="226602"/>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76353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グループ化 3">
            <a:extLst>
              <a:ext uri="{FF2B5EF4-FFF2-40B4-BE49-F238E27FC236}">
                <a16:creationId xmlns:a16="http://schemas.microsoft.com/office/drawing/2014/main" id="{B0B348D0-CC7A-4102-8D81-56AFDB828D10}"/>
              </a:ext>
            </a:extLst>
          </p:cNvPr>
          <p:cNvGrpSpPr/>
          <p:nvPr/>
        </p:nvGrpSpPr>
        <p:grpSpPr>
          <a:xfrm>
            <a:off x="276044" y="284904"/>
            <a:ext cx="8591911" cy="681250"/>
            <a:chOff x="276044" y="190018"/>
            <a:chExt cx="8591911" cy="681250"/>
          </a:xfrm>
        </p:grpSpPr>
        <p:cxnSp>
          <p:nvCxnSpPr>
            <p:cNvPr id="8" name="直線コネクタ 7">
              <a:extLst>
                <a:ext uri="{FF2B5EF4-FFF2-40B4-BE49-F238E27FC236}">
                  <a16:creationId xmlns:a16="http://schemas.microsoft.com/office/drawing/2014/main" id="{5A7CEE16-C584-4DC9-A63C-3778D4335113}"/>
                </a:ext>
              </a:extLst>
            </p:cNvPr>
            <p:cNvCxnSpPr/>
            <p:nvPr/>
          </p:nvCxnSpPr>
          <p:spPr>
            <a:xfrm>
              <a:off x="276045" y="871268"/>
              <a:ext cx="859191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正方形/長方形 8">
              <a:extLst>
                <a:ext uri="{FF2B5EF4-FFF2-40B4-BE49-F238E27FC236}">
                  <a16:creationId xmlns:a16="http://schemas.microsoft.com/office/drawing/2014/main" id="{F4E332DB-71A2-4DAA-A52C-7C3AEDF289F0}"/>
                </a:ext>
              </a:extLst>
            </p:cNvPr>
            <p:cNvSpPr/>
            <p:nvPr/>
          </p:nvSpPr>
          <p:spPr>
            <a:xfrm>
              <a:off x="276044" y="259268"/>
              <a:ext cx="144000" cy="612000"/>
            </a:xfrm>
            <a:prstGeom prst="rect">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3AEF284C-D00E-4272-81DD-2CD29381689E}"/>
                </a:ext>
              </a:extLst>
            </p:cNvPr>
            <p:cNvSpPr txBox="1"/>
            <p:nvPr/>
          </p:nvSpPr>
          <p:spPr>
            <a:xfrm>
              <a:off x="420044" y="190018"/>
              <a:ext cx="1857807" cy="276999"/>
            </a:xfrm>
            <a:prstGeom prst="rect">
              <a:avLst/>
            </a:prstGeom>
            <a:noFill/>
          </p:spPr>
          <p:txBody>
            <a:bodyPr wrap="square" rtlCol="0" anchor="ctr">
              <a:spAutoFit/>
            </a:bodyPr>
            <a:lstStyle/>
            <a:p>
              <a:r>
                <a:rPr kumimoji="1" lang="ja-JP" altLang="en-US" sz="1200" dirty="0">
                  <a:latin typeface="游ゴシック Medium" panose="020B0500000000000000" pitchFamily="50" charset="-128"/>
                  <a:ea typeface="游ゴシック Medium" panose="020B0500000000000000" pitchFamily="50" charset="-128"/>
                </a:rPr>
                <a:t>機能改善詳細（５）</a:t>
              </a:r>
            </a:p>
          </p:txBody>
        </p:sp>
        <p:sp>
          <p:nvSpPr>
            <p:cNvPr id="11" name="テキスト ボックス 10">
              <a:extLst>
                <a:ext uri="{FF2B5EF4-FFF2-40B4-BE49-F238E27FC236}">
                  <a16:creationId xmlns:a16="http://schemas.microsoft.com/office/drawing/2014/main" id="{8A39368D-15FA-4F19-8D68-EF6AB8936699}"/>
                </a:ext>
              </a:extLst>
            </p:cNvPr>
            <p:cNvSpPr txBox="1"/>
            <p:nvPr/>
          </p:nvSpPr>
          <p:spPr>
            <a:xfrm>
              <a:off x="420043" y="428543"/>
              <a:ext cx="8303913" cy="400110"/>
            </a:xfrm>
            <a:prstGeom prst="rect">
              <a:avLst/>
            </a:prstGeom>
            <a:noFill/>
          </p:spPr>
          <p:txBody>
            <a:bodyPr wrap="square" rtlCol="0" anchor="ctr">
              <a:spAutoFit/>
            </a:bodyPr>
            <a:lstStyle/>
            <a:p>
              <a:r>
                <a:rPr kumimoji="1" lang="ja-JP" altLang="en-US" sz="2000" b="1" dirty="0"/>
                <a:t>ワークフロー承認依頼先の自動設定</a:t>
              </a:r>
              <a:endParaRPr kumimoji="1" lang="ja-JP" altLang="en-US" sz="2000" b="1" dirty="0">
                <a:solidFill>
                  <a:schemeClr val="accent1"/>
                </a:solidFill>
                <a:latin typeface="+mn-ea"/>
              </a:endParaRPr>
            </a:p>
          </p:txBody>
        </p:sp>
      </p:grpSp>
      <p:graphicFrame>
        <p:nvGraphicFramePr>
          <p:cNvPr id="13" name="表 12">
            <a:extLst>
              <a:ext uri="{FF2B5EF4-FFF2-40B4-BE49-F238E27FC236}">
                <a16:creationId xmlns:a16="http://schemas.microsoft.com/office/drawing/2014/main" id="{6839CE9E-DA91-450B-84F3-072EDD6AAACB}"/>
              </a:ext>
            </a:extLst>
          </p:cNvPr>
          <p:cNvGraphicFramePr>
            <a:graphicFrameLocks noGrp="1"/>
          </p:cNvGraphicFramePr>
          <p:nvPr>
            <p:extLst>
              <p:ext uri="{D42A27DB-BD31-4B8C-83A1-F6EECF244321}">
                <p14:modId xmlns:p14="http://schemas.microsoft.com/office/powerpoint/2010/main" val="1973957598"/>
              </p:ext>
            </p:extLst>
          </p:nvPr>
        </p:nvGraphicFramePr>
        <p:xfrm>
          <a:off x="276043" y="1084189"/>
          <a:ext cx="8694153" cy="720000"/>
        </p:xfrm>
        <a:graphic>
          <a:graphicData uri="http://schemas.openxmlformats.org/drawingml/2006/table">
            <a:tbl>
              <a:tblPr firstRow="1" bandRow="1">
                <a:tableStyleId>{5940675A-B579-460E-94D1-54222C63F5DA}</a:tableStyleId>
              </a:tblPr>
              <a:tblGrid>
                <a:gridCol w="864000">
                  <a:extLst>
                    <a:ext uri="{9D8B030D-6E8A-4147-A177-3AD203B41FA5}">
                      <a16:colId xmlns:a16="http://schemas.microsoft.com/office/drawing/2014/main" val="1045753353"/>
                    </a:ext>
                  </a:extLst>
                </a:gridCol>
                <a:gridCol w="7830153">
                  <a:extLst>
                    <a:ext uri="{9D8B030D-6E8A-4147-A177-3AD203B41FA5}">
                      <a16:colId xmlns:a16="http://schemas.microsoft.com/office/drawing/2014/main" val="2889024988"/>
                    </a:ext>
                  </a:extLst>
                </a:gridCol>
              </a:tblGrid>
              <a:tr h="360000">
                <a:tc>
                  <a:txBody>
                    <a:bodyPr/>
                    <a:lstStyle/>
                    <a:p>
                      <a:pPr algn="ctr"/>
                      <a:r>
                        <a:rPr kumimoji="1" lang="ja-JP" altLang="en-US" sz="1200" dirty="0">
                          <a:solidFill>
                            <a:schemeClr val="tx1"/>
                          </a:solidFill>
                          <a:latin typeface="游ゴシック Medium" panose="020B0500000000000000" pitchFamily="50" charset="-128"/>
                          <a:ea typeface="游ゴシック Medium" panose="020B0500000000000000" pitchFamily="50" charset="-128"/>
                        </a:rPr>
                        <a:t>対象取引</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スマイルワークフローに帳票が作成される全ての取引</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740567117"/>
                  </a:ext>
                </a:extLst>
              </a:tr>
              <a:tr h="360000">
                <a:tc>
                  <a:txBody>
                    <a:bodyPr/>
                    <a:lstStyle/>
                    <a:p>
                      <a:pPr algn="ctr"/>
                      <a:r>
                        <a:rPr kumimoji="1" lang="ja-JP" altLang="en-US" sz="1200" dirty="0">
                          <a:solidFill>
                            <a:schemeClr val="tx1"/>
                          </a:solidFill>
                          <a:latin typeface="游ゴシック Medium" panose="020B0500000000000000" pitchFamily="50" charset="-128"/>
                          <a:ea typeface="游ゴシック Medium" panose="020B0500000000000000" pitchFamily="50" charset="-128"/>
                        </a:rPr>
                        <a:t>改善内容</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帳票の種類に応じて</a:t>
                      </a:r>
                      <a:r>
                        <a:rPr kumimoji="1" lang="ja-JP" altLang="en-US" sz="1400" b="1" dirty="0">
                          <a:solidFill>
                            <a:schemeClr val="tx1"/>
                          </a:solidFill>
                          <a:latin typeface="+mn-ea"/>
                          <a:ea typeface="+mn-ea"/>
                        </a:rPr>
                        <a:t>自動的に承認依頼先が設定される</a:t>
                      </a:r>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ため、適切に承認依頼を行えます。</a:t>
                      </a:r>
                      <a:endParaRPr kumimoji="1" lang="en-US" altLang="ja-JP" sz="1400" b="0" dirty="0">
                        <a:latin typeface="游ゴシック Medium" panose="020B0500000000000000" pitchFamily="50" charset="-128"/>
                        <a:ea typeface="游ゴシック Medium" panose="020B0500000000000000" pitchFamily="50" charset="-12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42379294"/>
                  </a:ext>
                </a:extLst>
              </a:tr>
            </a:tbl>
          </a:graphicData>
        </a:graphic>
      </p:graphicFrame>
      <p:sp>
        <p:nvSpPr>
          <p:cNvPr id="23" name="フッター プレースホルダー 3">
            <a:extLst>
              <a:ext uri="{FF2B5EF4-FFF2-40B4-BE49-F238E27FC236}">
                <a16:creationId xmlns:a16="http://schemas.microsoft.com/office/drawing/2014/main" id="{8B5C001E-7CA2-4A2C-A496-6F73C84DC587}"/>
              </a:ext>
            </a:extLst>
          </p:cNvPr>
          <p:cNvSpPr txBox="1">
            <a:spLocks/>
          </p:cNvSpPr>
          <p:nvPr/>
        </p:nvSpPr>
        <p:spPr>
          <a:xfrm>
            <a:off x="0" y="0"/>
            <a:ext cx="4478338" cy="365125"/>
          </a:xfrm>
          <a:prstGeom prst="rect">
            <a:avLst/>
          </a:prstGeom>
        </p:spPr>
        <p:txBody>
          <a:bodyPr anchor="ctr"/>
          <a:lstStyle>
            <a:defPPr>
              <a:defRPr lang="en-US"/>
            </a:defPPr>
            <a:lvl1pPr algn="ctr" defTabSz="457200" rtl="0" eaLnBrk="1" fontAlgn="auto" hangingPunct="1">
              <a:spcBef>
                <a:spcPts val="0"/>
              </a:spcBef>
              <a:spcAft>
                <a:spcPts val="0"/>
              </a:spcAft>
              <a:defRPr kumimoji="1"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2pPr>
            <a:lvl3pPr marL="9144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3pPr>
            <a:lvl4pPr marL="13716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4pPr>
            <a:lvl5pPr marL="18288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9pPr>
          </a:lstStyle>
          <a:p>
            <a:pPr algn="l">
              <a:defRPr/>
            </a:pPr>
            <a:r>
              <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　手続（スマイル）第</a:t>
            </a:r>
            <a:r>
              <a:rPr lang="en-US" altLang="ja-JP"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2025-</a:t>
            </a:r>
            <a:r>
              <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 ●号・別紙</a:t>
            </a:r>
            <a:r>
              <a:rPr lang="en-US" altLang="ja-JP"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Ⅴ</a:t>
            </a:r>
            <a:endPar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endParaRPr>
          </a:p>
        </p:txBody>
      </p:sp>
      <p:pic>
        <p:nvPicPr>
          <p:cNvPr id="15" name="図 14">
            <a:extLst>
              <a:ext uri="{FF2B5EF4-FFF2-40B4-BE49-F238E27FC236}">
                <a16:creationId xmlns:a16="http://schemas.microsoft.com/office/drawing/2014/main" id="{A6CF5E6E-740B-4817-9D9A-7BE6CB7D2263}"/>
              </a:ext>
            </a:extLst>
          </p:cNvPr>
          <p:cNvPicPr>
            <a:picLocks noChangeAspect="1"/>
          </p:cNvPicPr>
          <p:nvPr/>
        </p:nvPicPr>
        <p:blipFill rotWithShape="1">
          <a:blip r:embed="rId3"/>
          <a:srcRect l="22056" t="18032" r="23312" b="15675"/>
          <a:stretch/>
        </p:blipFill>
        <p:spPr>
          <a:xfrm>
            <a:off x="292889" y="3507659"/>
            <a:ext cx="2692590" cy="2126902"/>
          </a:xfrm>
          <a:prstGeom prst="rect">
            <a:avLst/>
          </a:prstGeom>
          <a:ln>
            <a:solidFill>
              <a:schemeClr val="tx1"/>
            </a:solidFill>
          </a:ln>
        </p:spPr>
      </p:pic>
      <p:pic>
        <p:nvPicPr>
          <p:cNvPr id="16" name="図 15">
            <a:extLst>
              <a:ext uri="{FF2B5EF4-FFF2-40B4-BE49-F238E27FC236}">
                <a16:creationId xmlns:a16="http://schemas.microsoft.com/office/drawing/2014/main" id="{DB396AED-B236-492D-9830-0F11F66EF2CB}"/>
              </a:ext>
            </a:extLst>
          </p:cNvPr>
          <p:cNvPicPr>
            <a:picLocks noChangeAspect="1"/>
          </p:cNvPicPr>
          <p:nvPr/>
        </p:nvPicPr>
        <p:blipFill rotWithShape="1">
          <a:blip r:embed="rId4"/>
          <a:srcRect l="22076" t="18100" r="23187" b="15399"/>
          <a:stretch/>
        </p:blipFill>
        <p:spPr>
          <a:xfrm>
            <a:off x="3257047" y="3507659"/>
            <a:ext cx="2689378" cy="2126902"/>
          </a:xfrm>
          <a:prstGeom prst="rect">
            <a:avLst/>
          </a:prstGeom>
          <a:ln>
            <a:solidFill>
              <a:schemeClr val="tx1"/>
            </a:solidFill>
          </a:ln>
        </p:spPr>
      </p:pic>
      <p:sp>
        <p:nvSpPr>
          <p:cNvPr id="17" name="正方形/長方形 16">
            <a:extLst>
              <a:ext uri="{FF2B5EF4-FFF2-40B4-BE49-F238E27FC236}">
                <a16:creationId xmlns:a16="http://schemas.microsoft.com/office/drawing/2014/main" id="{8F33F1C3-6567-405D-87B0-59861CE63531}"/>
              </a:ext>
            </a:extLst>
          </p:cNvPr>
          <p:cNvSpPr/>
          <p:nvPr/>
        </p:nvSpPr>
        <p:spPr>
          <a:xfrm>
            <a:off x="1989078" y="3864522"/>
            <a:ext cx="513772" cy="16865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E0C3367A-0DE6-454F-9F53-0400042BD840}"/>
              </a:ext>
            </a:extLst>
          </p:cNvPr>
          <p:cNvSpPr/>
          <p:nvPr/>
        </p:nvSpPr>
        <p:spPr>
          <a:xfrm>
            <a:off x="220890" y="3006753"/>
            <a:ext cx="2192496" cy="476832"/>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ysClr val="windowText" lastClr="000000"/>
                </a:solidFill>
                <a:latin typeface="游ゴシック Medium" panose="020B0500000000000000" pitchFamily="50" charset="-128"/>
                <a:ea typeface="游ゴシック Medium" panose="020B0500000000000000" pitchFamily="50" charset="-128"/>
              </a:rPr>
              <a:t>①検印センター対象帳票</a:t>
            </a:r>
            <a:endParaRPr kumimoji="1" lang="en-US" altLang="ja-JP" sz="1400" dirty="0">
              <a:solidFill>
                <a:sysClr val="windowText" lastClr="000000"/>
              </a:solidFill>
              <a:latin typeface="游ゴシック Medium" panose="020B0500000000000000" pitchFamily="50" charset="-128"/>
              <a:ea typeface="游ゴシック Medium" panose="020B0500000000000000" pitchFamily="50" charset="-128"/>
            </a:endParaRPr>
          </a:p>
          <a:p>
            <a:r>
              <a:rPr kumimoji="1" lang="ja-JP" altLang="en-US" sz="1400" dirty="0">
                <a:solidFill>
                  <a:sysClr val="windowText" lastClr="000000"/>
                </a:solidFill>
                <a:latin typeface="游ゴシック Medium" panose="020B0500000000000000" pitchFamily="50" charset="-128"/>
                <a:ea typeface="游ゴシック Medium" panose="020B0500000000000000" pitchFamily="50" charset="-128"/>
              </a:rPr>
              <a:t>　⇒</a:t>
            </a:r>
            <a:r>
              <a:rPr kumimoji="1" lang="ja-JP" altLang="en-US" sz="1400" dirty="0">
                <a:solidFill>
                  <a:sysClr val="windowText" lastClr="000000"/>
                </a:solidFill>
              </a:rPr>
              <a:t>「</a:t>
            </a:r>
            <a:r>
              <a:rPr kumimoji="1" lang="ja-JP" altLang="en-US" sz="1400" b="1" dirty="0">
                <a:solidFill>
                  <a:sysClr val="windowText" lastClr="000000"/>
                </a:solidFill>
              </a:rPr>
              <a:t>本部を指定</a:t>
            </a:r>
            <a:r>
              <a:rPr kumimoji="1" lang="ja-JP" altLang="en-US" sz="1400" dirty="0">
                <a:solidFill>
                  <a:sysClr val="windowText" lastClr="000000"/>
                </a:solidFill>
              </a:rPr>
              <a:t>」</a:t>
            </a:r>
          </a:p>
        </p:txBody>
      </p:sp>
      <p:sp>
        <p:nvSpPr>
          <p:cNvPr id="19" name="正方形/長方形 18">
            <a:extLst>
              <a:ext uri="{FF2B5EF4-FFF2-40B4-BE49-F238E27FC236}">
                <a16:creationId xmlns:a16="http://schemas.microsoft.com/office/drawing/2014/main" id="{FC5E1CC3-3DCA-4AEF-86D4-B4DBA86E1DE5}"/>
              </a:ext>
            </a:extLst>
          </p:cNvPr>
          <p:cNvSpPr/>
          <p:nvPr/>
        </p:nvSpPr>
        <p:spPr>
          <a:xfrm>
            <a:off x="3195501" y="2988503"/>
            <a:ext cx="2884256" cy="476832"/>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ysClr val="windowText" lastClr="000000"/>
                </a:solidFill>
                <a:latin typeface="游ゴシック Medium" panose="020B0500000000000000" pitchFamily="50" charset="-128"/>
                <a:ea typeface="游ゴシック Medium" panose="020B0500000000000000" pitchFamily="50" charset="-128"/>
              </a:rPr>
              <a:t>②検印センター対象外帳票</a:t>
            </a:r>
            <a:endParaRPr kumimoji="1" lang="en-US" altLang="ja-JP" sz="1400" dirty="0">
              <a:solidFill>
                <a:sysClr val="windowText" lastClr="000000"/>
              </a:solidFill>
              <a:latin typeface="游ゴシック Medium" panose="020B0500000000000000" pitchFamily="50" charset="-128"/>
              <a:ea typeface="游ゴシック Medium" panose="020B0500000000000000" pitchFamily="50" charset="-128"/>
            </a:endParaRPr>
          </a:p>
          <a:p>
            <a:r>
              <a:rPr kumimoji="1" lang="ja-JP" altLang="en-US" sz="1400" dirty="0">
                <a:solidFill>
                  <a:sysClr val="windowText" lastClr="000000"/>
                </a:solidFill>
                <a:latin typeface="游ゴシック Medium" panose="020B0500000000000000" pitchFamily="50" charset="-128"/>
                <a:ea typeface="游ゴシック Medium" panose="020B0500000000000000" pitchFamily="50" charset="-128"/>
              </a:rPr>
              <a:t>　⇒</a:t>
            </a:r>
            <a:r>
              <a:rPr kumimoji="1" lang="ja-JP" altLang="en-US" sz="1400" dirty="0">
                <a:solidFill>
                  <a:sysClr val="windowText" lastClr="000000"/>
                </a:solidFill>
              </a:rPr>
              <a:t>「</a:t>
            </a:r>
            <a:r>
              <a:rPr kumimoji="1" lang="ja-JP" altLang="en-US" sz="1400" b="1" dirty="0">
                <a:solidFill>
                  <a:sysClr val="windowText" lastClr="000000"/>
                </a:solidFill>
              </a:rPr>
              <a:t>自店承認グループを指定</a:t>
            </a:r>
            <a:r>
              <a:rPr kumimoji="1" lang="ja-JP" altLang="en-US" sz="1400" dirty="0">
                <a:solidFill>
                  <a:sysClr val="windowText" lastClr="000000"/>
                </a:solidFill>
              </a:rPr>
              <a:t>」</a:t>
            </a:r>
          </a:p>
        </p:txBody>
      </p:sp>
      <p:sp>
        <p:nvSpPr>
          <p:cNvPr id="20" name="正方形/長方形 19">
            <a:extLst>
              <a:ext uri="{FF2B5EF4-FFF2-40B4-BE49-F238E27FC236}">
                <a16:creationId xmlns:a16="http://schemas.microsoft.com/office/drawing/2014/main" id="{1B57DE72-CFD7-422D-9A1F-2D8247E47CB9}"/>
              </a:ext>
            </a:extLst>
          </p:cNvPr>
          <p:cNvSpPr/>
          <p:nvPr/>
        </p:nvSpPr>
        <p:spPr>
          <a:xfrm>
            <a:off x="4732847" y="3846120"/>
            <a:ext cx="768653" cy="16865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 name="図 20">
            <a:extLst>
              <a:ext uri="{FF2B5EF4-FFF2-40B4-BE49-F238E27FC236}">
                <a16:creationId xmlns:a16="http://schemas.microsoft.com/office/drawing/2014/main" id="{2BF104BB-95D5-4030-BC21-4AADDDB28C15}"/>
              </a:ext>
            </a:extLst>
          </p:cNvPr>
          <p:cNvPicPr>
            <a:picLocks noChangeAspect="1"/>
          </p:cNvPicPr>
          <p:nvPr/>
        </p:nvPicPr>
        <p:blipFill rotWithShape="1">
          <a:blip r:embed="rId5"/>
          <a:srcRect l="22070" t="18022" r="23239" b="15635"/>
          <a:stretch/>
        </p:blipFill>
        <p:spPr>
          <a:xfrm>
            <a:off x="6217462" y="3507659"/>
            <a:ext cx="2693465" cy="2126902"/>
          </a:xfrm>
          <a:prstGeom prst="rect">
            <a:avLst/>
          </a:prstGeom>
          <a:ln>
            <a:solidFill>
              <a:schemeClr val="tx1"/>
            </a:solidFill>
          </a:ln>
        </p:spPr>
      </p:pic>
      <p:sp>
        <p:nvSpPr>
          <p:cNvPr id="22" name="正方形/長方形 21">
            <a:extLst>
              <a:ext uri="{FF2B5EF4-FFF2-40B4-BE49-F238E27FC236}">
                <a16:creationId xmlns:a16="http://schemas.microsoft.com/office/drawing/2014/main" id="{08E1D08E-EDE3-46E1-AE35-D9C9B064F8BB}"/>
              </a:ext>
            </a:extLst>
          </p:cNvPr>
          <p:cNvSpPr/>
          <p:nvPr/>
        </p:nvSpPr>
        <p:spPr>
          <a:xfrm>
            <a:off x="6686130" y="3865763"/>
            <a:ext cx="467065" cy="16865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218C2E05-71B8-4E0A-8F09-9955D82A14CE}"/>
              </a:ext>
            </a:extLst>
          </p:cNvPr>
          <p:cNvSpPr/>
          <p:nvPr/>
        </p:nvSpPr>
        <p:spPr>
          <a:xfrm>
            <a:off x="6131491" y="2988503"/>
            <a:ext cx="1837793" cy="476832"/>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ysClr val="windowText" lastClr="000000"/>
                </a:solidFill>
                <a:latin typeface="游ゴシック Medium" panose="020B0500000000000000" pitchFamily="50" charset="-128"/>
                <a:ea typeface="游ゴシック Medium" panose="020B0500000000000000" pitchFamily="50" charset="-128"/>
              </a:rPr>
              <a:t>③営業系帳票</a:t>
            </a:r>
            <a:endParaRPr kumimoji="1" lang="en-US" altLang="ja-JP" sz="1400" dirty="0">
              <a:solidFill>
                <a:sysClr val="windowText" lastClr="000000"/>
              </a:solidFill>
              <a:latin typeface="游ゴシック Medium" panose="020B0500000000000000" pitchFamily="50" charset="-128"/>
              <a:ea typeface="游ゴシック Medium" panose="020B0500000000000000" pitchFamily="50" charset="-128"/>
            </a:endParaRPr>
          </a:p>
          <a:p>
            <a:r>
              <a:rPr kumimoji="1" lang="ja-JP" altLang="en-US" sz="1400" dirty="0">
                <a:solidFill>
                  <a:sysClr val="windowText" lastClr="000000"/>
                </a:solidFill>
                <a:latin typeface="游ゴシック Medium" panose="020B0500000000000000" pitchFamily="50" charset="-128"/>
                <a:ea typeface="游ゴシック Medium" panose="020B0500000000000000" pitchFamily="50" charset="-128"/>
              </a:rPr>
              <a:t>　⇒</a:t>
            </a:r>
            <a:r>
              <a:rPr kumimoji="1" lang="ja-JP" altLang="en-US" sz="1400" dirty="0">
                <a:solidFill>
                  <a:sysClr val="windowText" lastClr="000000"/>
                </a:solidFill>
              </a:rPr>
              <a:t>「</a:t>
            </a:r>
            <a:r>
              <a:rPr kumimoji="1" lang="ja-JP" altLang="en-US" sz="1400" b="1" dirty="0">
                <a:solidFill>
                  <a:sysClr val="windowText" lastClr="000000"/>
                </a:solidFill>
              </a:rPr>
              <a:t>個人を指定</a:t>
            </a:r>
            <a:r>
              <a:rPr kumimoji="1" lang="ja-JP" altLang="en-US" sz="1400" dirty="0">
                <a:solidFill>
                  <a:sysClr val="windowText" lastClr="000000"/>
                </a:solidFill>
              </a:rPr>
              <a:t>」</a:t>
            </a:r>
          </a:p>
        </p:txBody>
      </p:sp>
      <p:sp>
        <p:nvSpPr>
          <p:cNvPr id="26" name="吹き出し: 四角形 25">
            <a:extLst>
              <a:ext uri="{FF2B5EF4-FFF2-40B4-BE49-F238E27FC236}">
                <a16:creationId xmlns:a16="http://schemas.microsoft.com/office/drawing/2014/main" id="{4394A818-4909-400A-8DF0-28B1D87D1BBF}"/>
              </a:ext>
            </a:extLst>
          </p:cNvPr>
          <p:cNvSpPr/>
          <p:nvPr/>
        </p:nvSpPr>
        <p:spPr>
          <a:xfrm>
            <a:off x="3466719" y="2031064"/>
            <a:ext cx="5401236" cy="723540"/>
          </a:xfrm>
          <a:prstGeom prst="wedgeRectCallout">
            <a:avLst>
              <a:gd name="adj1" fmla="val -33693"/>
              <a:gd name="adj2" fmla="val 70115"/>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latin typeface="游ゴシック Medium" panose="020B0500000000000000" pitchFamily="50" charset="-128"/>
                <a:ea typeface="游ゴシック Medium" panose="020B0500000000000000" pitchFamily="50" charset="-128"/>
              </a:rPr>
              <a:t>✓「本部を指定」を選び直す必要がなし👌</a:t>
            </a:r>
            <a:endParaRPr kumimoji="1" lang="en-US" altLang="ja-JP" sz="1400" dirty="0">
              <a:solidFill>
                <a:schemeClr val="tx1"/>
              </a:solidFill>
              <a:latin typeface="游ゴシック Medium" panose="020B0500000000000000" pitchFamily="50" charset="-128"/>
              <a:ea typeface="游ゴシック Medium" panose="020B0500000000000000" pitchFamily="50" charset="-128"/>
            </a:endParaRPr>
          </a:p>
          <a:p>
            <a:r>
              <a:rPr kumimoji="1" lang="ja-JP" altLang="en-US" sz="1400" dirty="0">
                <a:solidFill>
                  <a:schemeClr val="tx1"/>
                </a:solidFill>
                <a:latin typeface="游ゴシック Medium" panose="020B0500000000000000" pitchFamily="50" charset="-128"/>
                <a:ea typeface="游ゴシック Medium" panose="020B0500000000000000" pitchFamily="50" charset="-128"/>
              </a:rPr>
              <a:t>✓ 検印センター対象外の帳票を誤って承認依頼することもなし👌</a:t>
            </a:r>
          </a:p>
        </p:txBody>
      </p:sp>
      <p:sp>
        <p:nvSpPr>
          <p:cNvPr id="3" name="正方形/長方形 2">
            <a:extLst>
              <a:ext uri="{FF2B5EF4-FFF2-40B4-BE49-F238E27FC236}">
                <a16:creationId xmlns:a16="http://schemas.microsoft.com/office/drawing/2014/main" id="{A4A2F1F6-B7E8-4F6B-9BF3-E201FB995F70}"/>
              </a:ext>
            </a:extLst>
          </p:cNvPr>
          <p:cNvSpPr/>
          <p:nvPr/>
        </p:nvSpPr>
        <p:spPr>
          <a:xfrm>
            <a:off x="350118" y="5759310"/>
            <a:ext cx="2578131" cy="523220"/>
          </a:xfrm>
          <a:prstGeom prst="rect">
            <a:avLst/>
          </a:prstGeom>
          <a:ln w="19050">
            <a:solidFill>
              <a:srgbClr val="0070C0"/>
            </a:solidFill>
          </a:ln>
        </p:spPr>
        <p:txBody>
          <a:bodyPr wrap="square">
            <a:spAutoFit/>
          </a:bodyPr>
          <a:lstStyle/>
          <a:p>
            <a:r>
              <a:rPr kumimoji="1" lang="ja-JP" altLang="en-US" sz="1400" dirty="0">
                <a:latin typeface="游ゴシック Medium" panose="020B0500000000000000" pitchFamily="50" charset="-128"/>
                <a:ea typeface="游ゴシック Medium" panose="020B0500000000000000" pitchFamily="50" charset="-128"/>
              </a:rPr>
              <a:t>新規口座開設チェックシート、申込書、喪失届　等</a:t>
            </a:r>
          </a:p>
        </p:txBody>
      </p:sp>
      <p:sp>
        <p:nvSpPr>
          <p:cNvPr id="5" name="正方形/長方形 4">
            <a:extLst>
              <a:ext uri="{FF2B5EF4-FFF2-40B4-BE49-F238E27FC236}">
                <a16:creationId xmlns:a16="http://schemas.microsoft.com/office/drawing/2014/main" id="{EB34B466-4A51-48CA-B4AA-144C94953BBD}"/>
              </a:ext>
            </a:extLst>
          </p:cNvPr>
          <p:cNvSpPr/>
          <p:nvPr/>
        </p:nvSpPr>
        <p:spPr>
          <a:xfrm>
            <a:off x="3701744" y="5759310"/>
            <a:ext cx="2062205" cy="523220"/>
          </a:xfrm>
          <a:prstGeom prst="rect">
            <a:avLst/>
          </a:prstGeom>
          <a:ln w="19050">
            <a:solidFill>
              <a:schemeClr val="accent1"/>
            </a:solidFill>
          </a:ln>
        </p:spPr>
        <p:txBody>
          <a:bodyPr wrap="square">
            <a:spAutoFit/>
          </a:bodyPr>
          <a:lstStyle/>
          <a:p>
            <a:r>
              <a:rPr kumimoji="1" lang="ja-JP" altLang="en-US" sz="1400" dirty="0">
                <a:latin typeface="游ゴシック Medium" panose="020B0500000000000000" pitchFamily="50" charset="-128"/>
                <a:ea typeface="游ゴシック Medium" panose="020B0500000000000000" pitchFamily="50" charset="-128"/>
              </a:rPr>
              <a:t>貸金庫、取引明細、</a:t>
            </a:r>
            <a:endParaRPr kumimoji="1" lang="en-US" altLang="ja-JP" sz="1400" dirty="0">
              <a:latin typeface="游ゴシック Medium" panose="020B0500000000000000" pitchFamily="50" charset="-128"/>
              <a:ea typeface="游ゴシック Medium" panose="020B0500000000000000" pitchFamily="50" charset="-128"/>
            </a:endParaRPr>
          </a:p>
          <a:p>
            <a:r>
              <a:rPr kumimoji="1" lang="ja-JP" altLang="en-US" sz="1400" dirty="0">
                <a:latin typeface="游ゴシック Medium" panose="020B0500000000000000" pitchFamily="50" charset="-128"/>
                <a:ea typeface="游ゴシック Medium" panose="020B0500000000000000" pitchFamily="50" charset="-128"/>
              </a:rPr>
              <a:t>両替機利用カード　等</a:t>
            </a:r>
          </a:p>
        </p:txBody>
      </p:sp>
      <p:sp>
        <p:nvSpPr>
          <p:cNvPr id="6" name="正方形/長方形 5">
            <a:extLst>
              <a:ext uri="{FF2B5EF4-FFF2-40B4-BE49-F238E27FC236}">
                <a16:creationId xmlns:a16="http://schemas.microsoft.com/office/drawing/2014/main" id="{4499BE54-EF55-4E02-B3C1-374AA4EE2ED0}"/>
              </a:ext>
            </a:extLst>
          </p:cNvPr>
          <p:cNvSpPr/>
          <p:nvPr/>
        </p:nvSpPr>
        <p:spPr>
          <a:xfrm>
            <a:off x="6574179" y="5861436"/>
            <a:ext cx="1980029" cy="307777"/>
          </a:xfrm>
          <a:prstGeom prst="rect">
            <a:avLst/>
          </a:prstGeom>
          <a:ln w="19050">
            <a:solidFill>
              <a:srgbClr val="0070C0"/>
            </a:solidFill>
          </a:ln>
        </p:spPr>
        <p:txBody>
          <a:bodyPr wrap="none">
            <a:spAutoFit/>
          </a:bodyPr>
          <a:lstStyle/>
          <a:p>
            <a:r>
              <a:rPr kumimoji="1" lang="ja-JP" altLang="en-US" sz="1400" dirty="0">
                <a:latin typeface="游ゴシック Medium" panose="020B0500000000000000" pitchFamily="50" charset="-128"/>
                <a:ea typeface="游ゴシック Medium" panose="020B0500000000000000" pitchFamily="50" charset="-128"/>
              </a:rPr>
              <a:t>営業帳票、告知書　等</a:t>
            </a:r>
          </a:p>
        </p:txBody>
      </p:sp>
      <p:sp>
        <p:nvSpPr>
          <p:cNvPr id="30" name="正方形/長方形 29">
            <a:extLst>
              <a:ext uri="{FF2B5EF4-FFF2-40B4-BE49-F238E27FC236}">
                <a16:creationId xmlns:a16="http://schemas.microsoft.com/office/drawing/2014/main" id="{8DDCBADF-D2C0-4E86-9C61-5C57A5156049}"/>
              </a:ext>
            </a:extLst>
          </p:cNvPr>
          <p:cNvSpPr/>
          <p:nvPr/>
        </p:nvSpPr>
        <p:spPr>
          <a:xfrm>
            <a:off x="220890" y="2244250"/>
            <a:ext cx="2884256" cy="358251"/>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u="sng" dirty="0">
                <a:solidFill>
                  <a:sysClr val="windowText" lastClr="000000"/>
                </a:solidFill>
              </a:rPr>
              <a:t>○承認依頼先と主な対象帳票</a:t>
            </a:r>
          </a:p>
        </p:txBody>
      </p:sp>
    </p:spTree>
    <p:extLst>
      <p:ext uri="{BB962C8B-B14F-4D97-AF65-F5344CB8AC3E}">
        <p14:creationId xmlns:p14="http://schemas.microsoft.com/office/powerpoint/2010/main" val="3322270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グループ化 3">
            <a:extLst>
              <a:ext uri="{FF2B5EF4-FFF2-40B4-BE49-F238E27FC236}">
                <a16:creationId xmlns:a16="http://schemas.microsoft.com/office/drawing/2014/main" id="{B0B348D0-CC7A-4102-8D81-56AFDB828D10}"/>
              </a:ext>
            </a:extLst>
          </p:cNvPr>
          <p:cNvGrpSpPr/>
          <p:nvPr/>
        </p:nvGrpSpPr>
        <p:grpSpPr>
          <a:xfrm>
            <a:off x="276044" y="284904"/>
            <a:ext cx="9316530" cy="681250"/>
            <a:chOff x="276044" y="190018"/>
            <a:chExt cx="9316530" cy="681250"/>
          </a:xfrm>
        </p:grpSpPr>
        <p:cxnSp>
          <p:nvCxnSpPr>
            <p:cNvPr id="8" name="直線コネクタ 7">
              <a:extLst>
                <a:ext uri="{FF2B5EF4-FFF2-40B4-BE49-F238E27FC236}">
                  <a16:creationId xmlns:a16="http://schemas.microsoft.com/office/drawing/2014/main" id="{5A7CEE16-C584-4DC9-A63C-3778D4335113}"/>
                </a:ext>
              </a:extLst>
            </p:cNvPr>
            <p:cNvCxnSpPr/>
            <p:nvPr/>
          </p:nvCxnSpPr>
          <p:spPr>
            <a:xfrm>
              <a:off x="276045" y="871268"/>
              <a:ext cx="859191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正方形/長方形 8">
              <a:extLst>
                <a:ext uri="{FF2B5EF4-FFF2-40B4-BE49-F238E27FC236}">
                  <a16:creationId xmlns:a16="http://schemas.microsoft.com/office/drawing/2014/main" id="{F4E332DB-71A2-4DAA-A52C-7C3AEDF289F0}"/>
                </a:ext>
              </a:extLst>
            </p:cNvPr>
            <p:cNvSpPr/>
            <p:nvPr/>
          </p:nvSpPr>
          <p:spPr>
            <a:xfrm>
              <a:off x="276044" y="259268"/>
              <a:ext cx="144000" cy="612000"/>
            </a:xfrm>
            <a:prstGeom prst="rect">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3AEF284C-D00E-4272-81DD-2CD29381689E}"/>
                </a:ext>
              </a:extLst>
            </p:cNvPr>
            <p:cNvSpPr txBox="1"/>
            <p:nvPr/>
          </p:nvSpPr>
          <p:spPr>
            <a:xfrm>
              <a:off x="420044" y="190018"/>
              <a:ext cx="2056456" cy="276999"/>
            </a:xfrm>
            <a:prstGeom prst="rect">
              <a:avLst/>
            </a:prstGeom>
            <a:noFill/>
          </p:spPr>
          <p:txBody>
            <a:bodyPr wrap="square" rtlCol="0" anchor="ctr">
              <a:spAutoFit/>
            </a:bodyPr>
            <a:lstStyle/>
            <a:p>
              <a:r>
                <a:rPr kumimoji="1" lang="ja-JP" altLang="en-US" sz="1200" dirty="0">
                  <a:latin typeface="游ゴシック Medium" panose="020B0500000000000000" pitchFamily="50" charset="-128"/>
                  <a:ea typeface="游ゴシック Medium" panose="020B0500000000000000" pitchFamily="50" charset="-128"/>
                </a:rPr>
                <a:t>機能改善詳細（６）</a:t>
              </a:r>
            </a:p>
          </p:txBody>
        </p:sp>
        <p:sp>
          <p:nvSpPr>
            <p:cNvPr id="11" name="テキスト ボックス 10">
              <a:extLst>
                <a:ext uri="{FF2B5EF4-FFF2-40B4-BE49-F238E27FC236}">
                  <a16:creationId xmlns:a16="http://schemas.microsoft.com/office/drawing/2014/main" id="{8A39368D-15FA-4F19-8D68-EF6AB8936699}"/>
                </a:ext>
              </a:extLst>
            </p:cNvPr>
            <p:cNvSpPr txBox="1"/>
            <p:nvPr/>
          </p:nvSpPr>
          <p:spPr>
            <a:xfrm>
              <a:off x="420043" y="428543"/>
              <a:ext cx="9172531" cy="400110"/>
            </a:xfrm>
            <a:prstGeom prst="rect">
              <a:avLst/>
            </a:prstGeom>
            <a:noFill/>
          </p:spPr>
          <p:txBody>
            <a:bodyPr wrap="square" rtlCol="0" anchor="ctr">
              <a:spAutoFit/>
            </a:bodyPr>
            <a:lstStyle/>
            <a:p>
              <a:r>
                <a:rPr kumimoji="1" lang="ja-JP" altLang="en-US" sz="2000" b="1" spc="-20" dirty="0">
                  <a:latin typeface="+mn-ea"/>
                </a:rPr>
                <a:t>新規口座開設チェックシートの文言修正</a:t>
              </a:r>
              <a:r>
                <a:rPr kumimoji="1" lang="ja-JP" altLang="en-US" sz="1600" b="1" dirty="0">
                  <a:solidFill>
                    <a:schemeClr val="accent1"/>
                  </a:solidFill>
                  <a:latin typeface="+mn-ea"/>
                </a:rPr>
                <a:t>（提案要望掲示板</a:t>
              </a:r>
              <a:r>
                <a:rPr kumimoji="1" lang="en-US" altLang="ja-JP" sz="1600" b="1" dirty="0">
                  <a:solidFill>
                    <a:schemeClr val="accent1"/>
                  </a:solidFill>
                  <a:latin typeface="+mn-ea"/>
                </a:rPr>
                <a:t>No.</a:t>
              </a:r>
              <a:r>
                <a:rPr kumimoji="1" lang="ja-JP" altLang="en-US" sz="1600" b="1" dirty="0">
                  <a:solidFill>
                    <a:schemeClr val="accent1"/>
                  </a:solidFill>
                  <a:latin typeface="+mn-ea"/>
                </a:rPr>
                <a:t> </a:t>
              </a:r>
              <a:r>
                <a:rPr kumimoji="1" lang="en-US" altLang="ja-JP" sz="1600" b="1" dirty="0">
                  <a:solidFill>
                    <a:schemeClr val="accent1"/>
                  </a:solidFill>
                  <a:latin typeface="+mn-ea"/>
                </a:rPr>
                <a:t>3818</a:t>
              </a:r>
              <a:r>
                <a:rPr kumimoji="1" lang="ja-JP" altLang="en-US" sz="1600" b="1" dirty="0">
                  <a:solidFill>
                    <a:schemeClr val="accent1"/>
                  </a:solidFill>
                  <a:latin typeface="+mn-ea"/>
                </a:rPr>
                <a:t>に基づく対応）</a:t>
              </a:r>
              <a:endParaRPr kumimoji="1" lang="ja-JP" altLang="en-US" sz="2000" b="1" dirty="0">
                <a:solidFill>
                  <a:schemeClr val="accent1"/>
                </a:solidFill>
                <a:latin typeface="+mn-ea"/>
              </a:endParaRPr>
            </a:p>
          </p:txBody>
        </p:sp>
      </p:grpSp>
      <p:graphicFrame>
        <p:nvGraphicFramePr>
          <p:cNvPr id="13" name="表 12">
            <a:extLst>
              <a:ext uri="{FF2B5EF4-FFF2-40B4-BE49-F238E27FC236}">
                <a16:creationId xmlns:a16="http://schemas.microsoft.com/office/drawing/2014/main" id="{6839CE9E-DA91-450B-84F3-072EDD6AAACB}"/>
              </a:ext>
            </a:extLst>
          </p:cNvPr>
          <p:cNvGraphicFramePr>
            <a:graphicFrameLocks noGrp="1"/>
          </p:cNvGraphicFramePr>
          <p:nvPr>
            <p:extLst/>
          </p:nvPr>
        </p:nvGraphicFramePr>
        <p:xfrm>
          <a:off x="276043" y="1084189"/>
          <a:ext cx="8694153" cy="878160"/>
        </p:xfrm>
        <a:graphic>
          <a:graphicData uri="http://schemas.openxmlformats.org/drawingml/2006/table">
            <a:tbl>
              <a:tblPr firstRow="1" bandRow="1">
                <a:tableStyleId>{5940675A-B579-460E-94D1-54222C63F5DA}</a:tableStyleId>
              </a:tblPr>
              <a:tblGrid>
                <a:gridCol w="864000">
                  <a:extLst>
                    <a:ext uri="{9D8B030D-6E8A-4147-A177-3AD203B41FA5}">
                      <a16:colId xmlns:a16="http://schemas.microsoft.com/office/drawing/2014/main" val="1045753353"/>
                    </a:ext>
                  </a:extLst>
                </a:gridCol>
                <a:gridCol w="7830153">
                  <a:extLst>
                    <a:ext uri="{9D8B030D-6E8A-4147-A177-3AD203B41FA5}">
                      <a16:colId xmlns:a16="http://schemas.microsoft.com/office/drawing/2014/main" val="2889024988"/>
                    </a:ext>
                  </a:extLst>
                </a:gridCol>
              </a:tblGrid>
              <a:tr h="360000">
                <a:tc>
                  <a:txBody>
                    <a:bodyPr/>
                    <a:lstStyle/>
                    <a:p>
                      <a:pPr algn="ctr"/>
                      <a:r>
                        <a:rPr kumimoji="1" lang="ja-JP" altLang="en-US" sz="1200" dirty="0">
                          <a:solidFill>
                            <a:schemeClr val="tx1"/>
                          </a:solidFill>
                          <a:latin typeface="游ゴシック Medium" panose="020B0500000000000000" pitchFamily="50" charset="-128"/>
                          <a:ea typeface="游ゴシック Medium" panose="020B0500000000000000" pitchFamily="50" charset="-128"/>
                        </a:rPr>
                        <a:t>対象取引</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普通預金新規口座開設（個人・個人事業主）</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740567117"/>
                  </a:ext>
                </a:extLst>
              </a:tr>
              <a:tr h="360000">
                <a:tc>
                  <a:txBody>
                    <a:bodyPr/>
                    <a:lstStyle/>
                    <a:p>
                      <a:pPr algn="ctr"/>
                      <a:r>
                        <a:rPr kumimoji="1" lang="ja-JP" altLang="en-US" sz="1200" dirty="0">
                          <a:solidFill>
                            <a:schemeClr val="tx1"/>
                          </a:solidFill>
                          <a:latin typeface="游ゴシック Medium" panose="020B0500000000000000" pitchFamily="50" charset="-128"/>
                          <a:ea typeface="游ゴシック Medium" panose="020B0500000000000000" pitchFamily="50" charset="-128"/>
                        </a:rPr>
                        <a:t>改善内容</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紙帳票に記載されている注意文言がスマイルワークフローの帳票に記載されていないため、</a:t>
                      </a:r>
                      <a:endParaRPr kumimoji="1" lang="en-US" altLang="ja-JP" sz="1400" b="0" dirty="0">
                        <a:solidFill>
                          <a:schemeClr val="tx1"/>
                        </a:solidFill>
                        <a:latin typeface="游ゴシック Medium" panose="020B0500000000000000" pitchFamily="50" charset="-128"/>
                        <a:ea typeface="游ゴシック Medium" panose="020B0500000000000000" pitchFamily="50" charset="-128"/>
                      </a:endParaRPr>
                    </a:p>
                    <a:p>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紙帳票に合わせてスマイルワークフローの帳票にも</a:t>
                      </a:r>
                      <a:r>
                        <a:rPr kumimoji="1" lang="ja-JP" altLang="en-US" sz="1400" b="1" dirty="0">
                          <a:solidFill>
                            <a:schemeClr val="tx1"/>
                          </a:solidFill>
                          <a:latin typeface="+mn-ea"/>
                          <a:ea typeface="+mn-ea"/>
                        </a:rPr>
                        <a:t>注意文言を記載</a:t>
                      </a:r>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します。</a:t>
                      </a:r>
                      <a:endParaRPr kumimoji="1" lang="en-US" altLang="ja-JP" sz="1400" b="0" dirty="0">
                        <a:solidFill>
                          <a:schemeClr val="tx1"/>
                        </a:solidFill>
                        <a:latin typeface="游ゴシック Medium" panose="020B0500000000000000" pitchFamily="50" charset="-128"/>
                        <a:ea typeface="游ゴシック Medium" panose="020B0500000000000000" pitchFamily="50" charset="-12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42379294"/>
                  </a:ext>
                </a:extLst>
              </a:tr>
            </a:tbl>
          </a:graphicData>
        </a:graphic>
      </p:graphicFrame>
      <p:sp>
        <p:nvSpPr>
          <p:cNvPr id="24" name="フッター プレースホルダー 3">
            <a:extLst>
              <a:ext uri="{FF2B5EF4-FFF2-40B4-BE49-F238E27FC236}">
                <a16:creationId xmlns:a16="http://schemas.microsoft.com/office/drawing/2014/main" id="{3443E2AC-8048-4516-B536-A738B164EEF0}"/>
              </a:ext>
            </a:extLst>
          </p:cNvPr>
          <p:cNvSpPr txBox="1">
            <a:spLocks/>
          </p:cNvSpPr>
          <p:nvPr/>
        </p:nvSpPr>
        <p:spPr>
          <a:xfrm>
            <a:off x="0" y="0"/>
            <a:ext cx="4478338" cy="365125"/>
          </a:xfrm>
          <a:prstGeom prst="rect">
            <a:avLst/>
          </a:prstGeom>
        </p:spPr>
        <p:txBody>
          <a:bodyPr anchor="ctr"/>
          <a:lstStyle>
            <a:defPPr>
              <a:defRPr lang="en-US"/>
            </a:defPPr>
            <a:lvl1pPr algn="ctr" defTabSz="457200" rtl="0" eaLnBrk="1" fontAlgn="auto" hangingPunct="1">
              <a:spcBef>
                <a:spcPts val="0"/>
              </a:spcBef>
              <a:spcAft>
                <a:spcPts val="0"/>
              </a:spcAft>
              <a:defRPr kumimoji="1"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2pPr>
            <a:lvl3pPr marL="9144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3pPr>
            <a:lvl4pPr marL="13716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4pPr>
            <a:lvl5pPr marL="18288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9pPr>
          </a:lstStyle>
          <a:p>
            <a:pPr algn="l">
              <a:defRPr/>
            </a:pPr>
            <a:r>
              <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　手続（スマイル）第</a:t>
            </a:r>
            <a:r>
              <a:rPr lang="en-US" altLang="ja-JP"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2025-</a:t>
            </a:r>
            <a:r>
              <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 ●号・別紙</a:t>
            </a:r>
            <a:r>
              <a:rPr lang="en-US" altLang="ja-JP"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Ⅵ</a:t>
            </a:r>
            <a:endPar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endParaRPr>
          </a:p>
        </p:txBody>
      </p:sp>
      <p:pic>
        <p:nvPicPr>
          <p:cNvPr id="35" name="図 34">
            <a:extLst>
              <a:ext uri="{FF2B5EF4-FFF2-40B4-BE49-F238E27FC236}">
                <a16:creationId xmlns:a16="http://schemas.microsoft.com/office/drawing/2014/main" id="{6B118D0D-2113-4E07-92F4-120A143E57DA}"/>
              </a:ext>
            </a:extLst>
          </p:cNvPr>
          <p:cNvPicPr>
            <a:picLocks noChangeAspect="1"/>
          </p:cNvPicPr>
          <p:nvPr/>
        </p:nvPicPr>
        <p:blipFill rotWithShape="1">
          <a:blip r:embed="rId2"/>
          <a:srcRect b="61336"/>
          <a:stretch/>
        </p:blipFill>
        <p:spPr>
          <a:xfrm>
            <a:off x="276044" y="3714961"/>
            <a:ext cx="8591912" cy="2060933"/>
          </a:xfrm>
          <a:prstGeom prst="rect">
            <a:avLst/>
          </a:prstGeom>
          <a:ln>
            <a:solidFill>
              <a:sysClr val="windowText" lastClr="000000"/>
            </a:solidFill>
          </a:ln>
        </p:spPr>
      </p:pic>
      <p:sp>
        <p:nvSpPr>
          <p:cNvPr id="36" name="テキスト ボックス 4">
            <a:extLst>
              <a:ext uri="{FF2B5EF4-FFF2-40B4-BE49-F238E27FC236}">
                <a16:creationId xmlns:a16="http://schemas.microsoft.com/office/drawing/2014/main" id="{6563E1DD-3307-4E80-89C4-0983CBA6D70E}"/>
              </a:ext>
            </a:extLst>
          </p:cNvPr>
          <p:cNvSpPr txBox="1"/>
          <p:nvPr/>
        </p:nvSpPr>
        <p:spPr>
          <a:xfrm>
            <a:off x="1437033" y="3764907"/>
            <a:ext cx="5265609" cy="132186"/>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900" b="1" dirty="0">
                <a:solidFill>
                  <a:srgbClr val="FF0000"/>
                </a:solidFill>
                <a:latin typeface="Yu Gothic UI" panose="020B0500000000000000" pitchFamily="50" charset="-128"/>
                <a:ea typeface="Yu Gothic UI" panose="020B0500000000000000" pitchFamily="50" charset="-128"/>
              </a:rPr>
              <a:t>（</a:t>
            </a:r>
            <a:r>
              <a:rPr kumimoji="1" lang="en-US" altLang="ja-JP" sz="900" b="1" dirty="0">
                <a:solidFill>
                  <a:srgbClr val="FF0000"/>
                </a:solidFill>
                <a:latin typeface="Yu Gothic UI" panose="020B0500000000000000" pitchFamily="50" charset="-128"/>
                <a:ea typeface="Yu Gothic UI" panose="020B0500000000000000" pitchFamily="50" charset="-128"/>
              </a:rPr>
              <a:t>※【STEP</a:t>
            </a:r>
            <a:r>
              <a:rPr kumimoji="1" lang="ja-JP" altLang="en-US" sz="900" b="1" dirty="0">
                <a:solidFill>
                  <a:srgbClr val="FF0000"/>
                </a:solidFill>
                <a:latin typeface="Yu Gothic UI" panose="020B0500000000000000" pitchFamily="50" charset="-128"/>
                <a:ea typeface="Yu Gothic UI" panose="020B0500000000000000" pitchFamily="50" charset="-128"/>
              </a:rPr>
              <a:t>２</a:t>
            </a:r>
            <a:r>
              <a:rPr kumimoji="1" lang="en-US" altLang="ja-JP" sz="900" b="1" dirty="0">
                <a:solidFill>
                  <a:srgbClr val="FF0000"/>
                </a:solidFill>
                <a:latin typeface="Yu Gothic UI" panose="020B0500000000000000" pitchFamily="50" charset="-128"/>
                <a:ea typeface="Yu Gothic UI" panose="020B0500000000000000" pitchFamily="50" charset="-128"/>
              </a:rPr>
              <a:t>】②</a:t>
            </a:r>
            <a:r>
              <a:rPr kumimoji="1" lang="ja-JP" altLang="en-US" sz="900" b="1" dirty="0">
                <a:solidFill>
                  <a:srgbClr val="FF0000"/>
                </a:solidFill>
                <a:latin typeface="Yu Gothic UI" panose="020B0500000000000000" pitchFamily="50" charset="-128"/>
                <a:ea typeface="Yu Gothic UI" panose="020B0500000000000000" pitchFamily="50" charset="-128"/>
              </a:rPr>
              <a:t>要協議先は、高リスク先の該当有無に関わらず、①「該当する」②「該当しない」として判定する）</a:t>
            </a:r>
          </a:p>
        </p:txBody>
      </p:sp>
      <p:sp>
        <p:nvSpPr>
          <p:cNvPr id="38" name="正方形/長方形 37">
            <a:extLst>
              <a:ext uri="{FF2B5EF4-FFF2-40B4-BE49-F238E27FC236}">
                <a16:creationId xmlns:a16="http://schemas.microsoft.com/office/drawing/2014/main" id="{9B091AE6-327A-414E-BCD8-3FBF9D428E2A}"/>
              </a:ext>
            </a:extLst>
          </p:cNvPr>
          <p:cNvSpPr/>
          <p:nvPr/>
        </p:nvSpPr>
        <p:spPr>
          <a:xfrm>
            <a:off x="276042" y="3347557"/>
            <a:ext cx="5743018" cy="476832"/>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ysClr val="windowText" lastClr="000000"/>
                </a:solidFill>
                <a:latin typeface="游ゴシック Medium" panose="020B0500000000000000" pitchFamily="50" charset="-128"/>
                <a:ea typeface="游ゴシック Medium" panose="020B0500000000000000" pitchFamily="50" charset="-128"/>
              </a:rPr>
              <a:t>○スマイルワークフローの帳票（</a:t>
            </a:r>
            <a:r>
              <a:rPr kumimoji="1" lang="en-US" altLang="ja-JP" sz="1400" dirty="0">
                <a:solidFill>
                  <a:sysClr val="windowText" lastClr="000000"/>
                </a:solidFill>
                <a:latin typeface="游ゴシック Medium" panose="020B0500000000000000" pitchFamily="50" charset="-128"/>
                <a:ea typeface="游ゴシック Medium" panose="020B0500000000000000" pitchFamily="50" charset="-128"/>
              </a:rPr>
              <a:t>【STEP</a:t>
            </a:r>
            <a:r>
              <a:rPr kumimoji="1" lang="ja-JP" altLang="en-US" sz="1400" dirty="0">
                <a:solidFill>
                  <a:sysClr val="windowText" lastClr="000000"/>
                </a:solidFill>
                <a:latin typeface="游ゴシック Medium" panose="020B0500000000000000" pitchFamily="50" charset="-128"/>
                <a:ea typeface="游ゴシック Medium" panose="020B0500000000000000" pitchFamily="50" charset="-128"/>
              </a:rPr>
              <a:t>３</a:t>
            </a:r>
            <a:r>
              <a:rPr kumimoji="1" lang="en-US" altLang="ja-JP" sz="1400" dirty="0">
                <a:solidFill>
                  <a:sysClr val="windowText" lastClr="000000"/>
                </a:solidFill>
                <a:latin typeface="游ゴシック Medium" panose="020B0500000000000000" pitchFamily="50" charset="-128"/>
                <a:ea typeface="游ゴシック Medium" panose="020B0500000000000000" pitchFamily="50" charset="-128"/>
              </a:rPr>
              <a:t>】</a:t>
            </a:r>
            <a:r>
              <a:rPr kumimoji="1" lang="ja-JP" altLang="en-US" sz="1400" dirty="0">
                <a:solidFill>
                  <a:sysClr val="windowText" lastClr="000000"/>
                </a:solidFill>
                <a:latin typeface="游ゴシック Medium" panose="020B0500000000000000" pitchFamily="50" charset="-128"/>
                <a:ea typeface="游ゴシック Medium" panose="020B0500000000000000" pitchFamily="50" charset="-128"/>
              </a:rPr>
              <a:t>リスク評価）</a:t>
            </a:r>
          </a:p>
        </p:txBody>
      </p:sp>
      <p:sp>
        <p:nvSpPr>
          <p:cNvPr id="58" name="正方形/長方形 57">
            <a:extLst>
              <a:ext uri="{FF2B5EF4-FFF2-40B4-BE49-F238E27FC236}">
                <a16:creationId xmlns:a16="http://schemas.microsoft.com/office/drawing/2014/main" id="{32CDB611-7801-4791-BD57-7F578D16F168}"/>
              </a:ext>
            </a:extLst>
          </p:cNvPr>
          <p:cNvSpPr/>
          <p:nvPr/>
        </p:nvSpPr>
        <p:spPr>
          <a:xfrm>
            <a:off x="1445911" y="3741595"/>
            <a:ext cx="5256731" cy="17325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吹き出し: 線 59">
            <a:extLst>
              <a:ext uri="{FF2B5EF4-FFF2-40B4-BE49-F238E27FC236}">
                <a16:creationId xmlns:a16="http://schemas.microsoft.com/office/drawing/2014/main" id="{23F59EDB-E85C-424B-9116-8A5E1414F4E0}"/>
              </a:ext>
            </a:extLst>
          </p:cNvPr>
          <p:cNvSpPr/>
          <p:nvPr/>
        </p:nvSpPr>
        <p:spPr>
          <a:xfrm>
            <a:off x="1114559" y="2566349"/>
            <a:ext cx="6727558" cy="576690"/>
          </a:xfrm>
          <a:prstGeom prst="borderCallout1">
            <a:avLst>
              <a:gd name="adj1" fmla="val 88390"/>
              <a:gd name="adj2" fmla="val 77094"/>
              <a:gd name="adj3" fmla="val 197533"/>
              <a:gd name="adj4" fmla="val 73187"/>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ja-JP" altLang="en-US" sz="1400" dirty="0">
                <a:solidFill>
                  <a:schemeClr val="tx1"/>
                </a:solidFill>
                <a:latin typeface="游ゴシック Medium" panose="020B0500000000000000" pitchFamily="50" charset="-128"/>
                <a:ea typeface="游ゴシック Medium" panose="020B0500000000000000" pitchFamily="50" charset="-128"/>
              </a:rPr>
              <a:t> 「</a:t>
            </a:r>
            <a:r>
              <a:rPr kumimoji="1" lang="en-US" altLang="ja-JP" sz="1400" dirty="0">
                <a:solidFill>
                  <a:schemeClr val="tx1"/>
                </a:solidFill>
                <a:latin typeface="游ゴシック Medium" panose="020B0500000000000000" pitchFamily="50" charset="-128"/>
                <a:ea typeface="游ゴシック Medium" panose="020B0500000000000000" pitchFamily="50" charset="-128"/>
              </a:rPr>
              <a:t>【STEP</a:t>
            </a:r>
            <a:r>
              <a:rPr kumimoji="1" lang="ja-JP" altLang="en-US" sz="1400" dirty="0">
                <a:solidFill>
                  <a:schemeClr val="tx1"/>
                </a:solidFill>
                <a:latin typeface="游ゴシック Medium" panose="020B0500000000000000" pitchFamily="50" charset="-128"/>
                <a:ea typeface="游ゴシック Medium" panose="020B0500000000000000" pitchFamily="50" charset="-128"/>
              </a:rPr>
              <a:t>２</a:t>
            </a:r>
            <a:r>
              <a:rPr kumimoji="1" lang="en-US" altLang="ja-JP" sz="1400" dirty="0">
                <a:solidFill>
                  <a:schemeClr val="tx1"/>
                </a:solidFill>
                <a:latin typeface="游ゴシック Medium" panose="020B0500000000000000" pitchFamily="50" charset="-128"/>
                <a:ea typeface="游ゴシック Medium" panose="020B0500000000000000" pitchFamily="50" charset="-128"/>
              </a:rPr>
              <a:t>】 GPLEX</a:t>
            </a:r>
            <a:r>
              <a:rPr kumimoji="1" lang="ja-JP" altLang="en-US" sz="1400" dirty="0">
                <a:solidFill>
                  <a:schemeClr val="tx1"/>
                </a:solidFill>
                <a:latin typeface="游ゴシック Medium" panose="020B0500000000000000" pitchFamily="50" charset="-128"/>
                <a:ea typeface="游ゴシック Medium" panose="020B0500000000000000" pitchFamily="50" charset="-128"/>
              </a:rPr>
              <a:t>（顧客フィルタリング）による判定」の結果で、</a:t>
            </a:r>
            <a:endParaRPr kumimoji="1" lang="en-US" altLang="ja-JP" sz="1400" dirty="0">
              <a:solidFill>
                <a:schemeClr val="tx1"/>
              </a:solidFill>
              <a:latin typeface="游ゴシック Medium" panose="020B0500000000000000" pitchFamily="50" charset="-128"/>
              <a:ea typeface="游ゴシック Medium" panose="020B0500000000000000" pitchFamily="50" charset="-128"/>
            </a:endParaRPr>
          </a:p>
          <a:p>
            <a:r>
              <a:rPr kumimoji="1" lang="ja-JP" altLang="en-US" sz="1400" dirty="0">
                <a:solidFill>
                  <a:schemeClr val="tx1"/>
                </a:solidFill>
                <a:latin typeface="游ゴシック Medium" panose="020B0500000000000000" pitchFamily="50" charset="-128"/>
                <a:ea typeface="游ゴシック Medium" panose="020B0500000000000000" pitchFamily="50" charset="-128"/>
              </a:rPr>
              <a:t>　要協議先に該当した場合の文言が漏れていたため、紙帳票に合わせて文言を表示</a:t>
            </a:r>
            <a:endParaRPr kumimoji="1" lang="ja-JP" altLang="en-US" sz="1400" dirty="0">
              <a:solidFill>
                <a:sysClr val="windowText" lastClr="000000"/>
              </a:solidFill>
              <a:latin typeface="游ゴシック Medium" panose="020B0500000000000000" pitchFamily="50" charset="-128"/>
              <a:ea typeface="游ゴシック Medium" panose="020B0500000000000000" pitchFamily="50" charset="-128"/>
            </a:endParaRPr>
          </a:p>
        </p:txBody>
      </p:sp>
    </p:spTree>
    <p:extLst>
      <p:ext uri="{BB962C8B-B14F-4D97-AF65-F5344CB8AC3E}">
        <p14:creationId xmlns:p14="http://schemas.microsoft.com/office/powerpoint/2010/main" val="1793409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グループ化 3">
            <a:extLst>
              <a:ext uri="{FF2B5EF4-FFF2-40B4-BE49-F238E27FC236}">
                <a16:creationId xmlns:a16="http://schemas.microsoft.com/office/drawing/2014/main" id="{B0B348D0-CC7A-4102-8D81-56AFDB828D10}"/>
              </a:ext>
            </a:extLst>
          </p:cNvPr>
          <p:cNvGrpSpPr/>
          <p:nvPr/>
        </p:nvGrpSpPr>
        <p:grpSpPr>
          <a:xfrm>
            <a:off x="276044" y="284904"/>
            <a:ext cx="9316530" cy="681250"/>
            <a:chOff x="276044" y="190018"/>
            <a:chExt cx="9316530" cy="681250"/>
          </a:xfrm>
        </p:grpSpPr>
        <p:cxnSp>
          <p:nvCxnSpPr>
            <p:cNvPr id="8" name="直線コネクタ 7">
              <a:extLst>
                <a:ext uri="{FF2B5EF4-FFF2-40B4-BE49-F238E27FC236}">
                  <a16:creationId xmlns:a16="http://schemas.microsoft.com/office/drawing/2014/main" id="{5A7CEE16-C584-4DC9-A63C-3778D4335113}"/>
                </a:ext>
              </a:extLst>
            </p:cNvPr>
            <p:cNvCxnSpPr/>
            <p:nvPr/>
          </p:nvCxnSpPr>
          <p:spPr>
            <a:xfrm>
              <a:off x="276045" y="871268"/>
              <a:ext cx="859191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正方形/長方形 8">
              <a:extLst>
                <a:ext uri="{FF2B5EF4-FFF2-40B4-BE49-F238E27FC236}">
                  <a16:creationId xmlns:a16="http://schemas.microsoft.com/office/drawing/2014/main" id="{F4E332DB-71A2-4DAA-A52C-7C3AEDF289F0}"/>
                </a:ext>
              </a:extLst>
            </p:cNvPr>
            <p:cNvSpPr/>
            <p:nvPr/>
          </p:nvSpPr>
          <p:spPr>
            <a:xfrm>
              <a:off x="276044" y="259268"/>
              <a:ext cx="144000" cy="612000"/>
            </a:xfrm>
            <a:prstGeom prst="rect">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3AEF284C-D00E-4272-81DD-2CD29381689E}"/>
                </a:ext>
              </a:extLst>
            </p:cNvPr>
            <p:cNvSpPr txBox="1"/>
            <p:nvPr/>
          </p:nvSpPr>
          <p:spPr>
            <a:xfrm>
              <a:off x="420044" y="190018"/>
              <a:ext cx="2332681" cy="276999"/>
            </a:xfrm>
            <a:prstGeom prst="rect">
              <a:avLst/>
            </a:prstGeom>
            <a:noFill/>
          </p:spPr>
          <p:txBody>
            <a:bodyPr wrap="square" rtlCol="0" anchor="ctr">
              <a:spAutoFit/>
            </a:bodyPr>
            <a:lstStyle/>
            <a:p>
              <a:r>
                <a:rPr kumimoji="1" lang="ja-JP" altLang="en-US" sz="1200" dirty="0">
                  <a:latin typeface="游ゴシック Medium" panose="020B0500000000000000" pitchFamily="50" charset="-128"/>
                  <a:ea typeface="游ゴシック Medium" panose="020B0500000000000000" pitchFamily="50" charset="-128"/>
                </a:rPr>
                <a:t>機能改善詳細（７）</a:t>
              </a:r>
            </a:p>
          </p:txBody>
        </p:sp>
        <p:sp>
          <p:nvSpPr>
            <p:cNvPr id="11" name="テキスト ボックス 10">
              <a:extLst>
                <a:ext uri="{FF2B5EF4-FFF2-40B4-BE49-F238E27FC236}">
                  <a16:creationId xmlns:a16="http://schemas.microsoft.com/office/drawing/2014/main" id="{8A39368D-15FA-4F19-8D68-EF6AB8936699}"/>
                </a:ext>
              </a:extLst>
            </p:cNvPr>
            <p:cNvSpPr txBox="1"/>
            <p:nvPr/>
          </p:nvSpPr>
          <p:spPr>
            <a:xfrm>
              <a:off x="420043" y="428543"/>
              <a:ext cx="9172531" cy="400110"/>
            </a:xfrm>
            <a:prstGeom prst="rect">
              <a:avLst/>
            </a:prstGeom>
            <a:noFill/>
          </p:spPr>
          <p:txBody>
            <a:bodyPr wrap="square" rtlCol="0" anchor="ctr">
              <a:spAutoFit/>
            </a:bodyPr>
            <a:lstStyle/>
            <a:p>
              <a:r>
                <a:rPr kumimoji="1" lang="ja-JP" altLang="en-US" sz="2000" b="1" dirty="0">
                  <a:latin typeface="+mn-ea"/>
                </a:rPr>
                <a:t>書類検索画面に更新ボタンを追加</a:t>
              </a:r>
              <a:endParaRPr kumimoji="1" lang="ja-JP" altLang="en-US" sz="2000" b="1" dirty="0">
                <a:solidFill>
                  <a:schemeClr val="accent1"/>
                </a:solidFill>
                <a:latin typeface="+mn-ea"/>
              </a:endParaRPr>
            </a:p>
          </p:txBody>
        </p:sp>
      </p:grpSp>
      <p:graphicFrame>
        <p:nvGraphicFramePr>
          <p:cNvPr id="13" name="表 12">
            <a:extLst>
              <a:ext uri="{FF2B5EF4-FFF2-40B4-BE49-F238E27FC236}">
                <a16:creationId xmlns:a16="http://schemas.microsoft.com/office/drawing/2014/main" id="{6839CE9E-DA91-450B-84F3-072EDD6AAACB}"/>
              </a:ext>
            </a:extLst>
          </p:cNvPr>
          <p:cNvGraphicFramePr>
            <a:graphicFrameLocks noGrp="1"/>
          </p:cNvGraphicFramePr>
          <p:nvPr>
            <p:extLst>
              <p:ext uri="{D42A27DB-BD31-4B8C-83A1-F6EECF244321}">
                <p14:modId xmlns:p14="http://schemas.microsoft.com/office/powerpoint/2010/main" val="206955702"/>
              </p:ext>
            </p:extLst>
          </p:nvPr>
        </p:nvGraphicFramePr>
        <p:xfrm>
          <a:off x="276043" y="1084189"/>
          <a:ext cx="8694153" cy="664800"/>
        </p:xfrm>
        <a:graphic>
          <a:graphicData uri="http://schemas.openxmlformats.org/drawingml/2006/table">
            <a:tbl>
              <a:tblPr firstRow="1" bandRow="1">
                <a:tableStyleId>{5940675A-B579-460E-94D1-54222C63F5DA}</a:tableStyleId>
              </a:tblPr>
              <a:tblGrid>
                <a:gridCol w="864000">
                  <a:extLst>
                    <a:ext uri="{9D8B030D-6E8A-4147-A177-3AD203B41FA5}">
                      <a16:colId xmlns:a16="http://schemas.microsoft.com/office/drawing/2014/main" val="1045753353"/>
                    </a:ext>
                  </a:extLst>
                </a:gridCol>
                <a:gridCol w="7830153">
                  <a:extLst>
                    <a:ext uri="{9D8B030D-6E8A-4147-A177-3AD203B41FA5}">
                      <a16:colId xmlns:a16="http://schemas.microsoft.com/office/drawing/2014/main" val="2889024988"/>
                    </a:ext>
                  </a:extLst>
                </a:gridCol>
              </a:tblGrid>
              <a:tr h="360000">
                <a:tc>
                  <a:txBody>
                    <a:bodyPr/>
                    <a:lstStyle/>
                    <a:p>
                      <a:pPr algn="ctr"/>
                      <a:r>
                        <a:rPr kumimoji="1" lang="ja-JP" altLang="en-US" sz="1200" dirty="0">
                          <a:solidFill>
                            <a:schemeClr val="tx1"/>
                          </a:solidFill>
                          <a:latin typeface="游ゴシック Medium" panose="020B0500000000000000" pitchFamily="50" charset="-128"/>
                          <a:ea typeface="游ゴシック Medium" panose="020B0500000000000000" pitchFamily="50" charset="-128"/>
                        </a:rPr>
                        <a:t>対象取引</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l"/>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全取引</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740567117"/>
                  </a:ext>
                </a:extLst>
              </a:tr>
              <a:tr h="295277">
                <a:tc>
                  <a:txBody>
                    <a:bodyPr/>
                    <a:lstStyle/>
                    <a:p>
                      <a:pPr algn="ctr"/>
                      <a:r>
                        <a:rPr kumimoji="1" lang="ja-JP" altLang="en-US" sz="1200" dirty="0">
                          <a:solidFill>
                            <a:schemeClr val="tx1"/>
                          </a:solidFill>
                          <a:latin typeface="游ゴシック Medium" panose="020B0500000000000000" pitchFamily="50" charset="-128"/>
                          <a:ea typeface="游ゴシック Medium" panose="020B0500000000000000" pitchFamily="50" charset="-128"/>
                        </a:rPr>
                        <a:t>改善内容</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書類検索の結果を最新の情報に最新化する</a:t>
                      </a:r>
                      <a:r>
                        <a:rPr kumimoji="1" lang="ja-JP" altLang="en-US" sz="1400" b="1" dirty="0">
                          <a:solidFill>
                            <a:schemeClr val="tx1"/>
                          </a:solidFill>
                          <a:latin typeface="+mn-ea"/>
                          <a:ea typeface="+mn-ea"/>
                        </a:rPr>
                        <a:t>「更新」ボタンを追加</a:t>
                      </a:r>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します。</a:t>
                      </a:r>
                      <a:endParaRPr kumimoji="1" lang="en-US" altLang="ja-JP" sz="1400" b="0" dirty="0">
                        <a:solidFill>
                          <a:schemeClr val="tx1"/>
                        </a:solidFill>
                        <a:latin typeface="游ゴシック Medium" panose="020B0500000000000000" pitchFamily="50" charset="-128"/>
                        <a:ea typeface="游ゴシック Medium" panose="020B0500000000000000" pitchFamily="50" charset="-128"/>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42379294"/>
                  </a:ext>
                </a:extLst>
              </a:tr>
            </a:tbl>
          </a:graphicData>
        </a:graphic>
      </p:graphicFrame>
      <p:sp>
        <p:nvSpPr>
          <p:cNvPr id="17" name="フッター プレースホルダー 3">
            <a:extLst>
              <a:ext uri="{FF2B5EF4-FFF2-40B4-BE49-F238E27FC236}">
                <a16:creationId xmlns:a16="http://schemas.microsoft.com/office/drawing/2014/main" id="{00F76722-DAB7-40E5-9E1F-FBBBC4244B15}"/>
              </a:ext>
            </a:extLst>
          </p:cNvPr>
          <p:cNvSpPr txBox="1">
            <a:spLocks/>
          </p:cNvSpPr>
          <p:nvPr/>
        </p:nvSpPr>
        <p:spPr>
          <a:xfrm>
            <a:off x="0" y="0"/>
            <a:ext cx="4478338" cy="365125"/>
          </a:xfrm>
          <a:prstGeom prst="rect">
            <a:avLst/>
          </a:prstGeom>
        </p:spPr>
        <p:txBody>
          <a:bodyPr anchor="ctr"/>
          <a:lstStyle>
            <a:defPPr>
              <a:defRPr lang="en-US"/>
            </a:defPPr>
            <a:lvl1pPr algn="ctr" defTabSz="457200" rtl="0" eaLnBrk="1" fontAlgn="auto" hangingPunct="1">
              <a:spcBef>
                <a:spcPts val="0"/>
              </a:spcBef>
              <a:spcAft>
                <a:spcPts val="0"/>
              </a:spcAft>
              <a:defRPr kumimoji="1"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2pPr>
            <a:lvl3pPr marL="9144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3pPr>
            <a:lvl4pPr marL="13716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4pPr>
            <a:lvl5pPr marL="18288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9pPr>
          </a:lstStyle>
          <a:p>
            <a:pPr algn="l">
              <a:defRPr/>
            </a:pPr>
            <a:r>
              <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　手続（スマイル）第</a:t>
            </a:r>
            <a:r>
              <a:rPr lang="en-US" altLang="ja-JP"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2025-</a:t>
            </a:r>
            <a:r>
              <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 ●号・別紙</a:t>
            </a:r>
            <a:r>
              <a:rPr lang="en-US" altLang="ja-JP"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Ⅶ</a:t>
            </a:r>
            <a:endPar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endParaRPr>
          </a:p>
        </p:txBody>
      </p:sp>
      <p:graphicFrame>
        <p:nvGraphicFramePr>
          <p:cNvPr id="60" name="表 59">
            <a:extLst>
              <a:ext uri="{FF2B5EF4-FFF2-40B4-BE49-F238E27FC236}">
                <a16:creationId xmlns:a16="http://schemas.microsoft.com/office/drawing/2014/main" id="{CF9960DC-7699-46A0-929A-7A42634B4EB3}"/>
              </a:ext>
            </a:extLst>
          </p:cNvPr>
          <p:cNvGraphicFramePr>
            <a:graphicFrameLocks noGrp="1"/>
          </p:cNvGraphicFramePr>
          <p:nvPr>
            <p:extLst>
              <p:ext uri="{D42A27DB-BD31-4B8C-83A1-F6EECF244321}">
                <p14:modId xmlns:p14="http://schemas.microsoft.com/office/powerpoint/2010/main" val="994775779"/>
              </p:ext>
            </p:extLst>
          </p:nvPr>
        </p:nvGraphicFramePr>
        <p:xfrm>
          <a:off x="276043" y="2076965"/>
          <a:ext cx="8591912" cy="4542479"/>
        </p:xfrm>
        <a:graphic>
          <a:graphicData uri="http://schemas.openxmlformats.org/drawingml/2006/table">
            <a:tbl>
              <a:tblPr firstRow="1" bandRow="1">
                <a:tableStyleId>{5940675A-B579-460E-94D1-54222C63F5DA}</a:tableStyleId>
              </a:tblPr>
              <a:tblGrid>
                <a:gridCol w="4295956">
                  <a:extLst>
                    <a:ext uri="{9D8B030D-6E8A-4147-A177-3AD203B41FA5}">
                      <a16:colId xmlns:a16="http://schemas.microsoft.com/office/drawing/2014/main" val="2200843645"/>
                    </a:ext>
                  </a:extLst>
                </a:gridCol>
                <a:gridCol w="4295956">
                  <a:extLst>
                    <a:ext uri="{9D8B030D-6E8A-4147-A177-3AD203B41FA5}">
                      <a16:colId xmlns:a16="http://schemas.microsoft.com/office/drawing/2014/main" val="3914625769"/>
                    </a:ext>
                  </a:extLst>
                </a:gridCol>
              </a:tblGrid>
              <a:tr h="361435">
                <a:tc>
                  <a:txBody>
                    <a:bodyPr/>
                    <a:lstStyle/>
                    <a:p>
                      <a:pPr algn="ctr"/>
                      <a:r>
                        <a:rPr kumimoji="1" lang="ja-JP" altLang="en-US" sz="1400" dirty="0">
                          <a:latin typeface="游ゴシック Medium" panose="020B0500000000000000" pitchFamily="50" charset="-128"/>
                          <a:ea typeface="游ゴシック Medium" panose="020B0500000000000000" pitchFamily="50" charset="-128"/>
                        </a:rPr>
                        <a:t>いままで</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kumimoji="1" lang="ja-JP" altLang="en-US" sz="1400" dirty="0">
                          <a:latin typeface="游ゴシック Medium" panose="020B0500000000000000" pitchFamily="50" charset="-128"/>
                          <a:ea typeface="游ゴシック Medium" panose="020B0500000000000000" pitchFamily="50" charset="-128"/>
                        </a:rPr>
                        <a:t>これから</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242879240"/>
                  </a:ext>
                </a:extLst>
              </a:tr>
              <a:tr h="418104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Medium" panose="020B0500000000000000" pitchFamily="50" charset="-128"/>
                          <a:ea typeface="游ゴシック Medium" panose="020B0500000000000000" pitchFamily="50" charset="-128"/>
                        </a:rPr>
                        <a:t>折り畳まれている書類検索の条件欄を開いて、</a:t>
                      </a:r>
                      <a:endParaRPr kumimoji="1" lang="en-US" altLang="ja-JP" sz="1400" dirty="0">
                        <a:latin typeface="游ゴシック Medium" panose="020B0500000000000000" pitchFamily="50" charset="-128"/>
                        <a:ea typeface="游ゴシック Medium" panose="020B0500000000000000"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Medium" panose="020B0500000000000000" pitchFamily="50" charset="-128"/>
                          <a:ea typeface="游ゴシック Medium" panose="020B0500000000000000" pitchFamily="50" charset="-128"/>
                        </a:rPr>
                        <a:t>「検索ボタン」を押す必要がありました。</a:t>
                      </a:r>
                      <a:endParaRPr kumimoji="1" lang="en-US" altLang="ja-JP" sz="1400" dirty="0">
                        <a:latin typeface="游ゴシック Medium" panose="020B0500000000000000" pitchFamily="50" charset="-128"/>
                        <a:ea typeface="游ゴシック Medium" panose="020B0500000000000000" pitchFamily="50" charset="-128"/>
                      </a:endParaRPr>
                    </a:p>
                    <a:p>
                      <a:endParaRPr kumimoji="1" lang="ja-JP" altLang="en-US" dirty="0"/>
                    </a:p>
                  </a:txBody>
                  <a:tcPr marT="108000">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Medium" panose="020B0500000000000000" pitchFamily="50" charset="-128"/>
                          <a:ea typeface="游ゴシック Medium" panose="020B0500000000000000" pitchFamily="50" charset="-128"/>
                        </a:rPr>
                        <a:t>「更新」ボタンを押すだけで、</a:t>
                      </a:r>
                      <a:endParaRPr kumimoji="1" lang="en-US" altLang="ja-JP" sz="1400" dirty="0">
                        <a:latin typeface="游ゴシック Medium" panose="020B0500000000000000" pitchFamily="50" charset="-128"/>
                        <a:ea typeface="游ゴシック Medium" panose="020B0500000000000000"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Medium" panose="020B0500000000000000" pitchFamily="50" charset="-128"/>
                          <a:ea typeface="游ゴシック Medium" panose="020B0500000000000000" pitchFamily="50" charset="-128"/>
                        </a:rPr>
                        <a:t>一覧に表示されている情報を最新化できます。</a:t>
                      </a:r>
                      <a:endParaRPr kumimoji="1" lang="en-US" altLang="ja-JP" sz="1400" dirty="0">
                        <a:latin typeface="游ゴシック Medium" panose="020B0500000000000000" pitchFamily="50" charset="-128"/>
                        <a:ea typeface="游ゴシック Medium" panose="020B0500000000000000" pitchFamily="50" charset="-128"/>
                      </a:endParaRPr>
                    </a:p>
                    <a:p>
                      <a:endParaRPr kumimoji="1" lang="ja-JP" altLang="en-US" dirty="0"/>
                    </a:p>
                  </a:txBody>
                  <a:tcPr marT="108000">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09827986"/>
                  </a:ext>
                </a:extLst>
              </a:tr>
            </a:tbl>
          </a:graphicData>
        </a:graphic>
      </p:graphicFrame>
      <p:pic>
        <p:nvPicPr>
          <p:cNvPr id="66" name="図 65">
            <a:extLst>
              <a:ext uri="{FF2B5EF4-FFF2-40B4-BE49-F238E27FC236}">
                <a16:creationId xmlns:a16="http://schemas.microsoft.com/office/drawing/2014/main" id="{2D663743-FB7F-488D-87F3-86393BB6B70F}"/>
              </a:ext>
            </a:extLst>
          </p:cNvPr>
          <p:cNvPicPr>
            <a:picLocks noChangeAspect="1"/>
          </p:cNvPicPr>
          <p:nvPr/>
        </p:nvPicPr>
        <p:blipFill rotWithShape="1">
          <a:blip r:embed="rId2"/>
          <a:srcRect l="3992" t="11390" r="4343"/>
          <a:stretch/>
        </p:blipFill>
        <p:spPr>
          <a:xfrm>
            <a:off x="420043" y="3698542"/>
            <a:ext cx="4033385" cy="2665252"/>
          </a:xfrm>
          <a:prstGeom prst="rect">
            <a:avLst/>
          </a:prstGeom>
          <a:ln>
            <a:solidFill>
              <a:schemeClr val="tx1"/>
            </a:solidFill>
          </a:ln>
        </p:spPr>
      </p:pic>
      <p:sp>
        <p:nvSpPr>
          <p:cNvPr id="67" name="吹き出し: 線 66">
            <a:extLst>
              <a:ext uri="{FF2B5EF4-FFF2-40B4-BE49-F238E27FC236}">
                <a16:creationId xmlns:a16="http://schemas.microsoft.com/office/drawing/2014/main" id="{3F9F3199-849D-4E79-8724-B318AB23EE49}"/>
              </a:ext>
            </a:extLst>
          </p:cNvPr>
          <p:cNvSpPr/>
          <p:nvPr/>
        </p:nvSpPr>
        <p:spPr>
          <a:xfrm>
            <a:off x="760827" y="3004802"/>
            <a:ext cx="3351816" cy="509590"/>
          </a:xfrm>
          <a:prstGeom prst="borderCallout1">
            <a:avLst>
              <a:gd name="adj1" fmla="val 80397"/>
              <a:gd name="adj2" fmla="val 95907"/>
              <a:gd name="adj3" fmla="val 199925"/>
              <a:gd name="adj4" fmla="val 100866"/>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ja-JP" altLang="en-US" sz="1400" dirty="0">
                <a:solidFill>
                  <a:sysClr val="windowText" lastClr="000000"/>
                </a:solidFill>
                <a:latin typeface="游ゴシック Medium" panose="020B0500000000000000" pitchFamily="50" charset="-128"/>
                <a:ea typeface="游ゴシック Medium" panose="020B0500000000000000" pitchFamily="50" charset="-128"/>
              </a:rPr>
              <a:t> 書類検索の条件欄を開いたうえで</a:t>
            </a:r>
            <a:endParaRPr kumimoji="1" lang="en-US" altLang="ja-JP" sz="1400" dirty="0">
              <a:solidFill>
                <a:sysClr val="windowText" lastClr="000000"/>
              </a:solidFill>
              <a:latin typeface="游ゴシック Medium" panose="020B0500000000000000" pitchFamily="50" charset="-128"/>
              <a:ea typeface="游ゴシック Medium" panose="020B0500000000000000" pitchFamily="50" charset="-128"/>
            </a:endParaRPr>
          </a:p>
          <a:p>
            <a:pPr algn="ctr"/>
            <a:r>
              <a:rPr kumimoji="1" lang="ja-JP" altLang="en-US" sz="1400" dirty="0">
                <a:solidFill>
                  <a:sysClr val="windowText" lastClr="000000"/>
                </a:solidFill>
                <a:latin typeface="游ゴシック Medium" panose="020B0500000000000000" pitchFamily="50" charset="-128"/>
                <a:ea typeface="游ゴシック Medium" panose="020B0500000000000000" pitchFamily="50" charset="-128"/>
              </a:rPr>
              <a:t>「検索ボタン」を押下</a:t>
            </a:r>
          </a:p>
        </p:txBody>
      </p:sp>
      <p:sp>
        <p:nvSpPr>
          <p:cNvPr id="2" name="正方形/長方形 1">
            <a:extLst>
              <a:ext uri="{FF2B5EF4-FFF2-40B4-BE49-F238E27FC236}">
                <a16:creationId xmlns:a16="http://schemas.microsoft.com/office/drawing/2014/main" id="{55B39E1C-9409-4CBA-8FA5-58315D5B5AD2}"/>
              </a:ext>
            </a:extLst>
          </p:cNvPr>
          <p:cNvSpPr/>
          <p:nvPr/>
        </p:nvSpPr>
        <p:spPr>
          <a:xfrm>
            <a:off x="4080356" y="4096527"/>
            <a:ext cx="219075" cy="1719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正方形/長方形 70">
            <a:extLst>
              <a:ext uri="{FF2B5EF4-FFF2-40B4-BE49-F238E27FC236}">
                <a16:creationId xmlns:a16="http://schemas.microsoft.com/office/drawing/2014/main" id="{1603E4CD-185B-4700-B282-311AFD2D3E1A}"/>
              </a:ext>
            </a:extLst>
          </p:cNvPr>
          <p:cNvSpPr/>
          <p:nvPr/>
        </p:nvSpPr>
        <p:spPr>
          <a:xfrm>
            <a:off x="3571015" y="5647432"/>
            <a:ext cx="667610" cy="19321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2" name="図 71">
            <a:extLst>
              <a:ext uri="{FF2B5EF4-FFF2-40B4-BE49-F238E27FC236}">
                <a16:creationId xmlns:a16="http://schemas.microsoft.com/office/drawing/2014/main" id="{9C649C17-D278-4219-93E9-9B8A56966B34}"/>
              </a:ext>
            </a:extLst>
          </p:cNvPr>
          <p:cNvPicPr>
            <a:picLocks noChangeAspect="1"/>
          </p:cNvPicPr>
          <p:nvPr/>
        </p:nvPicPr>
        <p:blipFill rotWithShape="1">
          <a:blip r:embed="rId3"/>
          <a:srcRect l="4238" t="2814" r="3961" b="2676"/>
          <a:stretch/>
        </p:blipFill>
        <p:spPr>
          <a:xfrm>
            <a:off x="4725935" y="3610054"/>
            <a:ext cx="4033385" cy="2838451"/>
          </a:xfrm>
          <a:prstGeom prst="rect">
            <a:avLst/>
          </a:prstGeom>
          <a:ln>
            <a:solidFill>
              <a:schemeClr val="tx1"/>
            </a:solidFill>
          </a:ln>
        </p:spPr>
      </p:pic>
      <p:sp>
        <p:nvSpPr>
          <p:cNvPr id="75" name="正方形/長方形 74">
            <a:extLst>
              <a:ext uri="{FF2B5EF4-FFF2-40B4-BE49-F238E27FC236}">
                <a16:creationId xmlns:a16="http://schemas.microsoft.com/office/drawing/2014/main" id="{136AA972-E3DA-4028-9719-2016381501FD}"/>
              </a:ext>
            </a:extLst>
          </p:cNvPr>
          <p:cNvSpPr/>
          <p:nvPr/>
        </p:nvSpPr>
        <p:spPr>
          <a:xfrm>
            <a:off x="7492181" y="6213989"/>
            <a:ext cx="559176" cy="20496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6" name="図 75">
            <a:extLst>
              <a:ext uri="{FF2B5EF4-FFF2-40B4-BE49-F238E27FC236}">
                <a16:creationId xmlns:a16="http://schemas.microsoft.com/office/drawing/2014/main" id="{FF77B9E6-8510-44D7-B6F1-087E81544777}"/>
              </a:ext>
            </a:extLst>
          </p:cNvPr>
          <p:cNvPicPr>
            <a:picLocks noChangeAspect="1"/>
          </p:cNvPicPr>
          <p:nvPr/>
        </p:nvPicPr>
        <p:blipFill rotWithShape="1">
          <a:blip r:embed="rId4">
            <a:extLst>
              <a:ext uri="{BEBA8EAE-BF5A-486C-A8C5-ECC9F3942E4B}">
                <a14:imgProps xmlns:a14="http://schemas.microsoft.com/office/drawing/2010/main">
                  <a14:imgLayer r:embed="rId5">
                    <a14:imgEffect>
                      <a14:artisticBlur/>
                    </a14:imgEffect>
                  </a14:imgLayer>
                </a14:imgProps>
              </a:ext>
            </a:extLst>
          </a:blip>
          <a:srcRect l="6299" t="35904" r="7345" b="11758"/>
          <a:stretch/>
        </p:blipFill>
        <p:spPr>
          <a:xfrm>
            <a:off x="4816987" y="4595468"/>
            <a:ext cx="3794125" cy="1571903"/>
          </a:xfrm>
          <a:prstGeom prst="rect">
            <a:avLst/>
          </a:prstGeom>
          <a:ln>
            <a:noFill/>
          </a:ln>
        </p:spPr>
      </p:pic>
      <p:sp>
        <p:nvSpPr>
          <p:cNvPr id="73" name="吹き出し: 線 72">
            <a:extLst>
              <a:ext uri="{FF2B5EF4-FFF2-40B4-BE49-F238E27FC236}">
                <a16:creationId xmlns:a16="http://schemas.microsoft.com/office/drawing/2014/main" id="{8E286306-93A9-457A-8E22-AE7F9BFC9071}"/>
              </a:ext>
            </a:extLst>
          </p:cNvPr>
          <p:cNvSpPr/>
          <p:nvPr/>
        </p:nvSpPr>
        <p:spPr>
          <a:xfrm>
            <a:off x="5708732" y="3093950"/>
            <a:ext cx="2010634" cy="366409"/>
          </a:xfrm>
          <a:prstGeom prst="borderCallout1">
            <a:avLst>
              <a:gd name="adj1" fmla="val 75030"/>
              <a:gd name="adj2" fmla="val 83193"/>
              <a:gd name="adj3" fmla="val 842412"/>
              <a:gd name="adj4" fmla="val 102722"/>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ja-JP" altLang="en-US" sz="1400" dirty="0">
                <a:solidFill>
                  <a:sysClr val="windowText" lastClr="000000"/>
                </a:solidFill>
                <a:latin typeface="游ゴシック Medium" panose="020B0500000000000000" pitchFamily="50" charset="-128"/>
                <a:ea typeface="游ゴシック Medium" panose="020B0500000000000000" pitchFamily="50" charset="-128"/>
              </a:rPr>
              <a:t> 「更新ボタン」を押下</a:t>
            </a:r>
          </a:p>
        </p:txBody>
      </p:sp>
      <p:cxnSp>
        <p:nvCxnSpPr>
          <p:cNvPr id="5" name="直線コネクタ 4">
            <a:extLst>
              <a:ext uri="{FF2B5EF4-FFF2-40B4-BE49-F238E27FC236}">
                <a16:creationId xmlns:a16="http://schemas.microsoft.com/office/drawing/2014/main" id="{30652D2B-A076-4075-B8E0-657D8AA4AFDF}"/>
              </a:ext>
            </a:extLst>
          </p:cNvPr>
          <p:cNvCxnSpPr>
            <a:cxnSpLocks/>
          </p:cNvCxnSpPr>
          <p:nvPr/>
        </p:nvCxnSpPr>
        <p:spPr>
          <a:xfrm flipH="1">
            <a:off x="3904820" y="3429000"/>
            <a:ext cx="77245" cy="212622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9489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グループ化 3">
            <a:extLst>
              <a:ext uri="{FF2B5EF4-FFF2-40B4-BE49-F238E27FC236}">
                <a16:creationId xmlns:a16="http://schemas.microsoft.com/office/drawing/2014/main" id="{B0B348D0-CC7A-4102-8D81-56AFDB828D10}"/>
              </a:ext>
            </a:extLst>
          </p:cNvPr>
          <p:cNvGrpSpPr/>
          <p:nvPr/>
        </p:nvGrpSpPr>
        <p:grpSpPr>
          <a:xfrm>
            <a:off x="276044" y="354154"/>
            <a:ext cx="9316530" cy="612000"/>
            <a:chOff x="276044" y="259268"/>
            <a:chExt cx="9316530" cy="612000"/>
          </a:xfrm>
        </p:grpSpPr>
        <p:cxnSp>
          <p:nvCxnSpPr>
            <p:cNvPr id="8" name="直線コネクタ 7">
              <a:extLst>
                <a:ext uri="{FF2B5EF4-FFF2-40B4-BE49-F238E27FC236}">
                  <a16:creationId xmlns:a16="http://schemas.microsoft.com/office/drawing/2014/main" id="{5A7CEE16-C584-4DC9-A63C-3778D4335113}"/>
                </a:ext>
              </a:extLst>
            </p:cNvPr>
            <p:cNvCxnSpPr/>
            <p:nvPr/>
          </p:nvCxnSpPr>
          <p:spPr>
            <a:xfrm>
              <a:off x="276045" y="871268"/>
              <a:ext cx="859191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正方形/長方形 8">
              <a:extLst>
                <a:ext uri="{FF2B5EF4-FFF2-40B4-BE49-F238E27FC236}">
                  <a16:creationId xmlns:a16="http://schemas.microsoft.com/office/drawing/2014/main" id="{F4E332DB-71A2-4DAA-A52C-7C3AEDF289F0}"/>
                </a:ext>
              </a:extLst>
            </p:cNvPr>
            <p:cNvSpPr/>
            <p:nvPr/>
          </p:nvSpPr>
          <p:spPr>
            <a:xfrm>
              <a:off x="276044" y="259268"/>
              <a:ext cx="144000" cy="612000"/>
            </a:xfrm>
            <a:prstGeom prst="rect">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テキスト ボックス 10">
              <a:extLst>
                <a:ext uri="{FF2B5EF4-FFF2-40B4-BE49-F238E27FC236}">
                  <a16:creationId xmlns:a16="http://schemas.microsoft.com/office/drawing/2014/main" id="{8A39368D-15FA-4F19-8D68-EF6AB8936699}"/>
                </a:ext>
              </a:extLst>
            </p:cNvPr>
            <p:cNvSpPr txBox="1"/>
            <p:nvPr/>
          </p:nvSpPr>
          <p:spPr>
            <a:xfrm>
              <a:off x="420043" y="428543"/>
              <a:ext cx="9172531" cy="400110"/>
            </a:xfrm>
            <a:prstGeom prst="rect">
              <a:avLst/>
            </a:prstGeom>
            <a:noFill/>
          </p:spPr>
          <p:txBody>
            <a:bodyPr wrap="square" rtlCol="0" anchor="ctr">
              <a:spAutoFit/>
            </a:bodyPr>
            <a:lstStyle/>
            <a:p>
              <a:r>
                <a:rPr kumimoji="1" lang="ja-JP" altLang="en-US" sz="2000" b="1" spc="-100" dirty="0">
                  <a:solidFill>
                    <a:schemeClr val="dk1"/>
                  </a:solidFill>
                  <a:latin typeface="+mn-ea"/>
                </a:rPr>
                <a:t>事務基準、</a:t>
              </a:r>
              <a:r>
                <a:rPr kumimoji="1" lang="en-US" altLang="ja-JP" sz="2000" b="1" spc="-100" dirty="0">
                  <a:solidFill>
                    <a:schemeClr val="dk1"/>
                  </a:solidFill>
                  <a:latin typeface="+mn-ea"/>
                </a:rPr>
                <a:t>TSUBASA Smile</a:t>
              </a:r>
              <a:r>
                <a:rPr kumimoji="1" lang="ja-JP" altLang="en-US" sz="2000" b="1" spc="-100" dirty="0">
                  <a:solidFill>
                    <a:schemeClr val="dk1"/>
                  </a:solidFill>
                  <a:latin typeface="+mn-ea"/>
                </a:rPr>
                <a:t>マニュアルおよび規定の改定</a:t>
              </a:r>
              <a:endParaRPr kumimoji="1" lang="ja-JP" altLang="en-US" sz="2000" b="1" dirty="0">
                <a:latin typeface="+mn-ea"/>
              </a:endParaRPr>
            </a:p>
          </p:txBody>
        </p:sp>
      </p:grpSp>
      <p:sp>
        <p:nvSpPr>
          <p:cNvPr id="15" name="フッター プレースホルダー 3">
            <a:extLst>
              <a:ext uri="{FF2B5EF4-FFF2-40B4-BE49-F238E27FC236}">
                <a16:creationId xmlns:a16="http://schemas.microsoft.com/office/drawing/2014/main" id="{06FFB05B-8B89-4E89-9B17-C5A42A346CB9}"/>
              </a:ext>
            </a:extLst>
          </p:cNvPr>
          <p:cNvSpPr txBox="1">
            <a:spLocks/>
          </p:cNvSpPr>
          <p:nvPr/>
        </p:nvSpPr>
        <p:spPr>
          <a:xfrm>
            <a:off x="0" y="0"/>
            <a:ext cx="4478338" cy="365125"/>
          </a:xfrm>
          <a:prstGeom prst="rect">
            <a:avLst/>
          </a:prstGeom>
        </p:spPr>
        <p:txBody>
          <a:bodyPr anchor="ctr"/>
          <a:lstStyle>
            <a:defPPr>
              <a:defRPr lang="en-US"/>
            </a:defPPr>
            <a:lvl1pPr algn="ctr" defTabSz="457200" rtl="0" eaLnBrk="1" fontAlgn="auto" hangingPunct="1">
              <a:spcBef>
                <a:spcPts val="0"/>
              </a:spcBef>
              <a:spcAft>
                <a:spcPts val="0"/>
              </a:spcAft>
              <a:defRPr kumimoji="1"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2pPr>
            <a:lvl3pPr marL="9144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3pPr>
            <a:lvl4pPr marL="13716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4pPr>
            <a:lvl5pPr marL="18288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9pPr>
          </a:lstStyle>
          <a:p>
            <a:pPr algn="l">
              <a:defRPr/>
            </a:pPr>
            <a:r>
              <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　手続（スマイル）第</a:t>
            </a:r>
            <a:r>
              <a:rPr lang="en-US" altLang="ja-JP"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2025-</a:t>
            </a:r>
            <a:r>
              <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●号・別紙</a:t>
            </a:r>
            <a:r>
              <a:rPr lang="en-US" altLang="ja-JP"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Ⅷ</a:t>
            </a:r>
            <a:endPar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endParaRPr>
          </a:p>
        </p:txBody>
      </p:sp>
      <p:sp>
        <p:nvSpPr>
          <p:cNvPr id="25" name="正方形/長方形 24">
            <a:extLst>
              <a:ext uri="{FF2B5EF4-FFF2-40B4-BE49-F238E27FC236}">
                <a16:creationId xmlns:a16="http://schemas.microsoft.com/office/drawing/2014/main" id="{D4DA0333-27C9-48FB-9AAF-11C6C0685893}"/>
              </a:ext>
            </a:extLst>
          </p:cNvPr>
          <p:cNvSpPr/>
          <p:nvPr/>
        </p:nvSpPr>
        <p:spPr>
          <a:xfrm>
            <a:off x="220164" y="996642"/>
            <a:ext cx="8703671" cy="600164"/>
          </a:xfrm>
          <a:prstGeom prst="rect">
            <a:avLst/>
          </a:prstGeom>
        </p:spPr>
        <p:txBody>
          <a:bodyPr wrap="square">
            <a:spAutoFit/>
          </a:bodyPr>
          <a:lstStyle/>
          <a:p>
            <a:pPr>
              <a:spcAft>
                <a:spcPts val="600"/>
              </a:spcAft>
            </a:pPr>
            <a:r>
              <a:rPr kumimoji="1" lang="ja-JP" altLang="en-US" sz="1400" b="1" spc="-100" dirty="0">
                <a:solidFill>
                  <a:schemeClr val="dk1"/>
                </a:solidFill>
                <a:latin typeface="+mn-ea"/>
              </a:rPr>
              <a:t>１．事務基準、</a:t>
            </a:r>
            <a:r>
              <a:rPr kumimoji="1" lang="en-US" altLang="ja-JP" sz="1400" b="1" spc="-100" dirty="0">
                <a:solidFill>
                  <a:schemeClr val="dk1"/>
                </a:solidFill>
                <a:latin typeface="+mn-ea"/>
              </a:rPr>
              <a:t> TSUBASA Smile</a:t>
            </a:r>
            <a:r>
              <a:rPr kumimoji="1" lang="ja-JP" altLang="en-US" sz="1400" b="1" spc="-100" dirty="0">
                <a:solidFill>
                  <a:schemeClr val="dk1"/>
                </a:solidFill>
                <a:latin typeface="+mn-ea"/>
              </a:rPr>
              <a:t>マニュアルの改定</a:t>
            </a:r>
            <a:endParaRPr kumimoji="1" lang="en-US" altLang="ja-JP" sz="1400" dirty="0">
              <a:solidFill>
                <a:schemeClr val="dk1"/>
              </a:solidFill>
              <a:latin typeface="+mn-ea"/>
            </a:endParaRPr>
          </a:p>
          <a:p>
            <a:r>
              <a:rPr kumimoji="1" lang="ja-JP" altLang="en-US" sz="1400" dirty="0">
                <a:solidFill>
                  <a:schemeClr val="dk1"/>
                </a:solidFill>
                <a:latin typeface="游ゴシック Medium" panose="020B0500000000000000" pitchFamily="50" charset="-128"/>
                <a:ea typeface="游ゴシック Medium" panose="020B0500000000000000" pitchFamily="50" charset="-128"/>
              </a:rPr>
              <a:t>　今回の機能改善実施に伴い以下の改定を行います。改定後の内容は</a:t>
            </a:r>
            <a:r>
              <a:rPr kumimoji="1" lang="en-US" altLang="ja-JP" sz="1400" dirty="0">
                <a:solidFill>
                  <a:schemeClr val="dk1"/>
                </a:solidFill>
                <a:latin typeface="游ゴシック Medium" panose="020B0500000000000000" pitchFamily="50" charset="-128"/>
                <a:ea typeface="游ゴシック Medium" panose="020B0500000000000000" pitchFamily="50" charset="-128"/>
              </a:rPr>
              <a:t>e-KIJUN</a:t>
            </a:r>
            <a:r>
              <a:rPr kumimoji="1" lang="ja-JP" altLang="en-US" sz="1400" dirty="0">
                <a:solidFill>
                  <a:schemeClr val="dk1"/>
                </a:solidFill>
                <a:latin typeface="游ゴシック Medium" panose="020B0500000000000000" pitchFamily="50" charset="-128"/>
                <a:ea typeface="游ゴシック Medium" panose="020B0500000000000000" pitchFamily="50" charset="-128"/>
              </a:rPr>
              <a:t>をご参照ください。</a:t>
            </a:r>
            <a:endParaRPr lang="ja-JP" altLang="en-US" sz="1400" dirty="0">
              <a:latin typeface="游ゴシック Medium" panose="020B0500000000000000" pitchFamily="50" charset="-128"/>
              <a:ea typeface="游ゴシック Medium" panose="020B0500000000000000" pitchFamily="50" charset="-128"/>
            </a:endParaRPr>
          </a:p>
        </p:txBody>
      </p:sp>
      <p:graphicFrame>
        <p:nvGraphicFramePr>
          <p:cNvPr id="26" name="表 25">
            <a:extLst>
              <a:ext uri="{FF2B5EF4-FFF2-40B4-BE49-F238E27FC236}">
                <a16:creationId xmlns:a16="http://schemas.microsoft.com/office/drawing/2014/main" id="{16AEF33E-64D1-4726-9DFA-0894052987D6}"/>
              </a:ext>
            </a:extLst>
          </p:cNvPr>
          <p:cNvGraphicFramePr>
            <a:graphicFrameLocks noGrp="1"/>
          </p:cNvGraphicFramePr>
          <p:nvPr>
            <p:extLst>
              <p:ext uri="{D42A27DB-BD31-4B8C-83A1-F6EECF244321}">
                <p14:modId xmlns:p14="http://schemas.microsoft.com/office/powerpoint/2010/main" val="448356399"/>
              </p:ext>
            </p:extLst>
          </p:nvPr>
        </p:nvGraphicFramePr>
        <p:xfrm>
          <a:off x="486845" y="1578854"/>
          <a:ext cx="8170308" cy="2103120"/>
        </p:xfrm>
        <a:graphic>
          <a:graphicData uri="http://schemas.openxmlformats.org/drawingml/2006/table">
            <a:tbl>
              <a:tblPr firstRow="1" bandRow="1">
                <a:tableStyleId>{5C22544A-7EE6-4342-B048-85BDC9FD1C3A}</a:tableStyleId>
              </a:tblPr>
              <a:tblGrid>
                <a:gridCol w="2853055">
                  <a:extLst>
                    <a:ext uri="{9D8B030D-6E8A-4147-A177-3AD203B41FA5}">
                      <a16:colId xmlns:a16="http://schemas.microsoft.com/office/drawing/2014/main" val="970523163"/>
                    </a:ext>
                  </a:extLst>
                </a:gridCol>
                <a:gridCol w="5317253">
                  <a:extLst>
                    <a:ext uri="{9D8B030D-6E8A-4147-A177-3AD203B41FA5}">
                      <a16:colId xmlns:a16="http://schemas.microsoft.com/office/drawing/2014/main" val="1761888139"/>
                    </a:ext>
                  </a:extLst>
                </a:gridCol>
              </a:tblGrid>
              <a:tr h="465498">
                <a:tc>
                  <a:txBody>
                    <a:bodyPr/>
                    <a:lstStyle/>
                    <a:p>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事務基準（</a:t>
                      </a:r>
                      <a:r>
                        <a:rPr kumimoji="1" lang="en-US" altLang="ja-JP" sz="1400" b="0" dirty="0">
                          <a:solidFill>
                            <a:schemeClr val="tx1"/>
                          </a:solidFill>
                          <a:latin typeface="游ゴシック Medium" panose="020B0500000000000000" pitchFamily="50" charset="-128"/>
                          <a:ea typeface="游ゴシック Medium" panose="020B0500000000000000" pitchFamily="50" charset="-128"/>
                        </a:rPr>
                        <a:t>TSUBASA Smile</a:t>
                      </a:r>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編）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zh-TW" altLang="en-US" sz="1400" b="0" dirty="0">
                          <a:solidFill>
                            <a:schemeClr val="tx1"/>
                          </a:solidFill>
                          <a:latin typeface="游ゴシック Medium" panose="020B0500000000000000" pitchFamily="50" charset="-128"/>
                          <a:ea typeface="游ゴシック Medium" panose="020B0500000000000000" pitchFamily="50" charset="-128"/>
                        </a:rPr>
                        <a:t>第</a:t>
                      </a:r>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２</a:t>
                      </a:r>
                      <a:r>
                        <a:rPr kumimoji="1" lang="zh-TW" altLang="en-US" sz="1400" b="0" dirty="0">
                          <a:solidFill>
                            <a:schemeClr val="tx1"/>
                          </a:solidFill>
                          <a:latin typeface="游ゴシック Medium" panose="020B0500000000000000" pitchFamily="50" charset="-128"/>
                          <a:ea typeface="游ゴシック Medium" panose="020B0500000000000000" pitchFamily="50" charset="-128"/>
                        </a:rPr>
                        <a:t>章  </a:t>
                      </a:r>
                      <a:r>
                        <a:rPr kumimoji="1" lang="en-US" altLang="ja-JP" sz="1400" b="0" dirty="0">
                          <a:solidFill>
                            <a:schemeClr val="tx1"/>
                          </a:solidFill>
                          <a:latin typeface="游ゴシック Medium" panose="020B0500000000000000" pitchFamily="50" charset="-128"/>
                          <a:ea typeface="游ゴシック Medium" panose="020B0500000000000000" pitchFamily="50" charset="-128"/>
                        </a:rPr>
                        <a:t>CIF</a:t>
                      </a:r>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開設、本人確認、取引時確認＞</a:t>
                      </a:r>
                      <a:r>
                        <a:rPr kumimoji="1" lang="zh-TW" altLang="en-US" sz="1400" b="0" dirty="0">
                          <a:solidFill>
                            <a:schemeClr val="tx1"/>
                          </a:solidFill>
                          <a:latin typeface="游ゴシック Medium" panose="020B0500000000000000" pitchFamily="50" charset="-128"/>
                          <a:ea typeface="游ゴシック Medium" panose="020B0500000000000000" pitchFamily="50" charset="-128"/>
                        </a:rPr>
                        <a:t>第</a:t>
                      </a:r>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２</a:t>
                      </a:r>
                      <a:r>
                        <a:rPr kumimoji="1" lang="zh-TW" altLang="en-US" sz="1400" b="0" dirty="0">
                          <a:solidFill>
                            <a:schemeClr val="tx1"/>
                          </a:solidFill>
                          <a:latin typeface="游ゴシック Medium" panose="020B0500000000000000" pitchFamily="50" charset="-128"/>
                          <a:ea typeface="游ゴシック Medium" panose="020B0500000000000000" pitchFamily="50" charset="-128"/>
                        </a:rPr>
                        <a:t>節 </a:t>
                      </a:r>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本人認証</a:t>
                      </a:r>
                      <a:endParaRPr kumimoji="1" lang="en-US" altLang="ja-JP" sz="1400" b="0" dirty="0">
                        <a:solidFill>
                          <a:schemeClr val="tx1"/>
                        </a:solidFill>
                        <a:latin typeface="游ゴシック Medium" panose="020B0500000000000000" pitchFamily="50" charset="-128"/>
                        <a:ea typeface="游ゴシック Medium" panose="020B0500000000000000" pitchFamily="50" charset="-128"/>
                      </a:endParaRPr>
                    </a:p>
                    <a:p>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第</a:t>
                      </a:r>
                      <a:r>
                        <a:rPr kumimoji="1" lang="en-US" altLang="ja-JP" sz="1400" b="0" dirty="0">
                          <a:solidFill>
                            <a:schemeClr val="tx1"/>
                          </a:solidFill>
                          <a:latin typeface="游ゴシック Medium" panose="020B0500000000000000" pitchFamily="50" charset="-128"/>
                          <a:ea typeface="游ゴシック Medium" panose="020B0500000000000000" pitchFamily="50" charset="-128"/>
                        </a:rPr>
                        <a:t>11</a:t>
                      </a:r>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章 定額自動送金</a:t>
                      </a:r>
                      <a:r>
                        <a:rPr kumimoji="1" lang="en-US" altLang="ja-JP" sz="1400" b="0" dirty="0">
                          <a:solidFill>
                            <a:schemeClr val="tx1"/>
                          </a:solidFill>
                          <a:latin typeface="游ゴシック Medium" panose="020B0500000000000000" pitchFamily="50" charset="-128"/>
                          <a:ea typeface="游ゴシック Medium" panose="020B0500000000000000" pitchFamily="50" charset="-128"/>
                        </a:rPr>
                        <a:t>&gt;</a:t>
                      </a:r>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第１節 定額自動送金新規、第２節 定額自動送金変更、第３節 定額自動送金解約</a:t>
                      </a:r>
                      <a:endParaRPr kumimoji="1" lang="en-US" altLang="ja-JP" sz="1400" b="0" dirty="0">
                        <a:solidFill>
                          <a:schemeClr val="tx1"/>
                        </a:solidFill>
                        <a:latin typeface="游ゴシック Medium" panose="020B0500000000000000" pitchFamily="50" charset="-128"/>
                        <a:ea typeface="游ゴシック Medium" panose="020B0500000000000000" pitchFamily="50" charset="-128"/>
                      </a:endParaRPr>
                    </a:p>
                    <a:p>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第</a:t>
                      </a:r>
                      <a:r>
                        <a:rPr kumimoji="1" lang="en-US" altLang="ja-JP" sz="1400" b="0" dirty="0">
                          <a:solidFill>
                            <a:schemeClr val="tx1"/>
                          </a:solidFill>
                          <a:latin typeface="游ゴシック Medium" panose="020B0500000000000000" pitchFamily="50" charset="-128"/>
                          <a:ea typeface="游ゴシック Medium" panose="020B0500000000000000" pitchFamily="50" charset="-128"/>
                        </a:rPr>
                        <a:t>14</a:t>
                      </a:r>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章 残高証明書＞第１章 残高証明書</a:t>
                      </a:r>
                      <a:r>
                        <a:rPr kumimoji="1" lang="en-US" altLang="ja-JP" sz="1400" b="0" dirty="0">
                          <a:solidFill>
                            <a:schemeClr val="tx1"/>
                          </a:solidFill>
                          <a:latin typeface="游ゴシック Medium" panose="020B0500000000000000" pitchFamily="50" charset="-128"/>
                          <a:ea typeface="游ゴシック Medium" panose="020B0500000000000000" pitchFamily="50" charset="-128"/>
                        </a:rPr>
                        <a:t>(</a:t>
                      </a:r>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随時発行</a:t>
                      </a:r>
                      <a:r>
                        <a:rPr kumimoji="1" lang="en-US" altLang="ja-JP" sz="1400" b="0" dirty="0">
                          <a:solidFill>
                            <a:schemeClr val="tx1"/>
                          </a:solidFill>
                          <a:latin typeface="游ゴシック Medium" panose="020B0500000000000000" pitchFamily="50" charset="-128"/>
                          <a:ea typeface="游ゴシック Medium" panose="020B0500000000000000" pitchFamily="50" charset="-128"/>
                        </a:rPr>
                        <a:t>)</a:t>
                      </a:r>
                      <a:r>
                        <a:rPr kumimoji="1" lang="ja-JP" altLang="en-US" sz="1400" b="0" dirty="0" err="1">
                          <a:solidFill>
                            <a:schemeClr val="tx1"/>
                          </a:solidFill>
                          <a:latin typeface="游ゴシック Medium" panose="020B0500000000000000" pitchFamily="50" charset="-128"/>
                          <a:ea typeface="游ゴシック Medium" panose="020B0500000000000000" pitchFamily="50" charset="-128"/>
                        </a:rPr>
                        <a:t>、</a:t>
                      </a:r>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第２章 残高証明書</a:t>
                      </a:r>
                      <a:r>
                        <a:rPr kumimoji="1" lang="en-US" altLang="ja-JP" sz="1400" b="0" dirty="0">
                          <a:solidFill>
                            <a:schemeClr val="tx1"/>
                          </a:solidFill>
                          <a:latin typeface="游ゴシック Medium" panose="020B0500000000000000" pitchFamily="50" charset="-128"/>
                          <a:ea typeface="游ゴシック Medium" panose="020B0500000000000000" pitchFamily="50" charset="-128"/>
                        </a:rPr>
                        <a:t>(</a:t>
                      </a:r>
                      <a:r>
                        <a:rPr kumimoji="1" lang="ja-JP" altLang="en-US" sz="1400" b="0" dirty="0">
                          <a:solidFill>
                            <a:schemeClr val="tx1"/>
                          </a:solidFill>
                          <a:latin typeface="游ゴシック Medium" panose="020B0500000000000000" pitchFamily="50" charset="-128"/>
                          <a:ea typeface="游ゴシック Medium" panose="020B0500000000000000" pitchFamily="50" charset="-128"/>
                        </a:rPr>
                        <a:t>継続発行</a:t>
                      </a:r>
                      <a:r>
                        <a:rPr kumimoji="1" lang="en-US" altLang="ja-JP" sz="1400" b="0" dirty="0">
                          <a:solidFill>
                            <a:schemeClr val="tx1"/>
                          </a:solidFill>
                          <a:latin typeface="游ゴシック Medium" panose="020B0500000000000000" pitchFamily="50" charset="-128"/>
                          <a:ea typeface="游ゴシック Medium" panose="020B0500000000000000"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5347217"/>
                  </a:ext>
                </a:extLst>
              </a:tr>
              <a:tr h="845467">
                <a:tc>
                  <a:txBody>
                    <a:bodyPr/>
                    <a:lstStyle/>
                    <a:p>
                      <a:r>
                        <a:rPr kumimoji="1" lang="en-US" altLang="ja-JP" sz="1400" dirty="0">
                          <a:latin typeface="游ゴシック Medium" panose="020B0500000000000000" pitchFamily="50" charset="-128"/>
                          <a:ea typeface="游ゴシック Medium" panose="020B0500000000000000" pitchFamily="50" charset="-128"/>
                        </a:rPr>
                        <a:t>TSUBASA Smile</a:t>
                      </a:r>
                      <a:r>
                        <a:rPr kumimoji="1" lang="ja-JP" altLang="en-US" sz="1400" dirty="0">
                          <a:latin typeface="游ゴシック Medium" panose="020B0500000000000000" pitchFamily="50" charset="-128"/>
                          <a:ea typeface="游ゴシック Medium" panose="020B0500000000000000" pitchFamily="50" charset="-128"/>
                        </a:rPr>
                        <a:t>マニュアル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400" dirty="0">
                          <a:latin typeface="游ゴシック Medium" panose="020B0500000000000000" pitchFamily="50" charset="-128"/>
                          <a:ea typeface="游ゴシック Medium" panose="020B0500000000000000" pitchFamily="50" charset="-128"/>
                          <a:hlinkClick r:id="rId2"/>
                        </a:rPr>
                        <a:t>ＣＩＦ開設、本人確認、取引時確認、スキャン方法編</a:t>
                      </a:r>
                      <a:endParaRPr kumimoji="1" lang="en-US" altLang="ja-JP" sz="1400" dirty="0">
                        <a:latin typeface="游ゴシック Medium" panose="020B0500000000000000" pitchFamily="50" charset="-128"/>
                        <a:ea typeface="游ゴシック Medium" panose="020B0500000000000000" pitchFamily="50" charset="-128"/>
                      </a:endParaRPr>
                    </a:p>
                    <a:p>
                      <a:r>
                        <a:rPr kumimoji="1" lang="ja-JP" altLang="en-US" sz="1400" dirty="0">
                          <a:latin typeface="游ゴシック Medium" panose="020B0500000000000000" pitchFamily="50" charset="-128"/>
                          <a:ea typeface="游ゴシック Medium" panose="020B0500000000000000" pitchFamily="50" charset="-128"/>
                          <a:hlinkClick r:id="rId3"/>
                        </a:rPr>
                        <a:t>キャッシュカード再発行編</a:t>
                      </a:r>
                      <a:endParaRPr kumimoji="1" lang="en-US" altLang="ja-JP" sz="1400" dirty="0">
                        <a:latin typeface="游ゴシック Medium" panose="020B0500000000000000" pitchFamily="50" charset="-128"/>
                        <a:ea typeface="游ゴシック Medium" panose="020B0500000000000000" pitchFamily="50" charset="-128"/>
                      </a:endParaRPr>
                    </a:p>
                    <a:p>
                      <a:r>
                        <a:rPr kumimoji="1" lang="ja-JP" altLang="en-US" sz="1400" dirty="0">
                          <a:latin typeface="游ゴシック Medium" panose="020B0500000000000000" pitchFamily="50" charset="-128"/>
                          <a:ea typeface="游ゴシック Medium" panose="020B0500000000000000" pitchFamily="50" charset="-128"/>
                          <a:hlinkClick r:id="rId4"/>
                        </a:rPr>
                        <a:t>名義変更編</a:t>
                      </a:r>
                      <a:endParaRPr kumimoji="1" lang="en-US" altLang="ja-JP" sz="1400" dirty="0">
                        <a:latin typeface="游ゴシック Medium" panose="020B0500000000000000" pitchFamily="50" charset="-128"/>
                        <a:ea typeface="游ゴシック Medium" panose="020B0500000000000000" pitchFamily="50" charset="-128"/>
                      </a:endParaRPr>
                    </a:p>
                    <a:p>
                      <a:r>
                        <a:rPr kumimoji="1" lang="ja-JP" altLang="en-US" sz="1400" dirty="0">
                          <a:latin typeface="游ゴシック Medium" panose="020B0500000000000000" pitchFamily="50" charset="-128"/>
                          <a:ea typeface="游ゴシック Medium" panose="020B0500000000000000" pitchFamily="50" charset="-128"/>
                          <a:hlinkClick r:id="rId5"/>
                        </a:rPr>
                        <a:t>喪失</a:t>
                      </a:r>
                      <a:r>
                        <a:rPr kumimoji="1" lang="en-US" altLang="ja-JP" sz="1400" dirty="0">
                          <a:latin typeface="游ゴシック Medium" panose="020B0500000000000000" pitchFamily="50" charset="-128"/>
                          <a:ea typeface="游ゴシック Medium" panose="020B0500000000000000" pitchFamily="50" charset="-128"/>
                          <a:hlinkClick r:id="rId5"/>
                        </a:rPr>
                        <a:t>(</a:t>
                      </a:r>
                      <a:r>
                        <a:rPr kumimoji="1" lang="ja-JP" altLang="en-US" sz="1400" dirty="0">
                          <a:latin typeface="游ゴシック Medium" panose="020B0500000000000000" pitchFamily="50" charset="-128"/>
                          <a:ea typeface="游ゴシック Medium" panose="020B0500000000000000" pitchFamily="50" charset="-128"/>
                          <a:hlinkClick r:id="rId5"/>
                        </a:rPr>
                        <a:t>再発行</a:t>
                      </a:r>
                      <a:r>
                        <a:rPr kumimoji="1" lang="en-US" altLang="ja-JP" sz="1400" dirty="0">
                          <a:latin typeface="游ゴシック Medium" panose="020B0500000000000000" pitchFamily="50" charset="-128"/>
                          <a:ea typeface="游ゴシック Medium" panose="020B0500000000000000" pitchFamily="50" charset="-128"/>
                          <a:hlinkClick r:id="rId5"/>
                        </a:rPr>
                        <a:t>)</a:t>
                      </a:r>
                      <a:r>
                        <a:rPr kumimoji="1" lang="ja-JP" altLang="en-US" sz="1400" dirty="0">
                          <a:latin typeface="游ゴシック Medium" panose="020B0500000000000000" pitchFamily="50" charset="-128"/>
                          <a:ea typeface="游ゴシック Medium" panose="020B0500000000000000" pitchFamily="50" charset="-128"/>
                          <a:hlinkClick r:id="rId5"/>
                        </a:rPr>
                        <a:t>編</a:t>
                      </a:r>
                      <a:endParaRPr kumimoji="1" lang="en-US" altLang="ja-JP" sz="1400" dirty="0">
                        <a:latin typeface="游ゴシック Medium" panose="020B0500000000000000" pitchFamily="50" charset="-128"/>
                        <a:ea typeface="游ゴシック Medium" panose="020B05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8007443"/>
                  </a:ext>
                </a:extLst>
              </a:tr>
            </a:tbl>
          </a:graphicData>
        </a:graphic>
      </p:graphicFrame>
      <p:sp>
        <p:nvSpPr>
          <p:cNvPr id="16" name="正方形/長方形 15">
            <a:extLst>
              <a:ext uri="{FF2B5EF4-FFF2-40B4-BE49-F238E27FC236}">
                <a16:creationId xmlns:a16="http://schemas.microsoft.com/office/drawing/2014/main" id="{9680057D-64D4-4B97-814B-E03B2CEF3134}"/>
              </a:ext>
            </a:extLst>
          </p:cNvPr>
          <p:cNvSpPr/>
          <p:nvPr/>
        </p:nvSpPr>
        <p:spPr>
          <a:xfrm>
            <a:off x="276044" y="3734759"/>
            <a:ext cx="8703671" cy="3069110"/>
          </a:xfrm>
          <a:prstGeom prst="rect">
            <a:avLst/>
          </a:prstGeom>
        </p:spPr>
        <p:txBody>
          <a:bodyPr wrap="square">
            <a:spAutoFit/>
          </a:bodyPr>
          <a:lstStyle/>
          <a:p>
            <a:pPr lvl="0" defTabSz="914400">
              <a:lnSpc>
                <a:spcPts val="1900"/>
              </a:lnSpc>
              <a:spcAft>
                <a:spcPts val="600"/>
              </a:spcAft>
              <a:defRPr/>
            </a:pPr>
            <a:r>
              <a:rPr kumimoji="1" lang="ja-JP" altLang="en-US" sz="1400" b="1" spc="-100" dirty="0">
                <a:solidFill>
                  <a:schemeClr val="dk1"/>
                </a:solidFill>
                <a:latin typeface="+mn-ea"/>
              </a:rPr>
              <a:t>２．</a:t>
            </a:r>
            <a:r>
              <a:rPr kumimoji="1" lang="ja-JP" altLang="en-US" sz="1400" b="1" dirty="0">
                <a:solidFill>
                  <a:prstClr val="black"/>
                </a:solidFill>
                <a:latin typeface="+mn-ea"/>
              </a:rPr>
              <a:t>規定の改定</a:t>
            </a:r>
            <a:endParaRPr kumimoji="1" lang="en-US" altLang="ja-JP" sz="1400" b="1" dirty="0">
              <a:solidFill>
                <a:prstClr val="black"/>
              </a:solidFill>
              <a:latin typeface="+mn-ea"/>
            </a:endParaRPr>
          </a:p>
          <a:p>
            <a:pPr lvl="0" defTabSz="914400">
              <a:lnSpc>
                <a:spcPts val="1900"/>
              </a:lnSpc>
              <a:defRPr/>
            </a:pPr>
            <a:r>
              <a:rPr kumimoji="1" lang="ja-JP" altLang="en-US" sz="1400" b="1" dirty="0">
                <a:solidFill>
                  <a:prstClr val="black"/>
                </a:solidFill>
                <a:latin typeface="+mn-ea"/>
              </a:rPr>
              <a:t>（１）対象規定</a:t>
            </a:r>
            <a:endParaRPr kumimoji="1" lang="en-US" altLang="ja-JP" sz="1400" b="1" dirty="0">
              <a:solidFill>
                <a:prstClr val="black"/>
              </a:solidFill>
              <a:latin typeface="+mn-ea"/>
            </a:endParaRPr>
          </a:p>
          <a:p>
            <a:pPr lvl="0" defTabSz="914400">
              <a:lnSpc>
                <a:spcPts val="1900"/>
              </a:lnSpc>
              <a:defRPr/>
            </a:pPr>
            <a:r>
              <a:rPr kumimoji="1" lang="ja-JP" altLang="en-US" sz="1400" b="1" dirty="0">
                <a:solidFill>
                  <a:prstClr val="black"/>
                </a:solidFill>
                <a:latin typeface="游ゴシック" panose="020B0400000000000000" pitchFamily="50" charset="-128"/>
              </a:rPr>
              <a:t>　　</a:t>
            </a:r>
            <a:r>
              <a:rPr lang="ja-JP" altLang="en-US" sz="1400" dirty="0" err="1">
                <a:latin typeface="游ゴシック Medium" panose="020B0500000000000000" pitchFamily="50" charset="-128"/>
                <a:ea typeface="游ゴシック Medium" panose="020B0500000000000000" pitchFamily="50" charset="-128"/>
              </a:rPr>
              <a:t>ちばぎん</a:t>
            </a:r>
            <a:r>
              <a:rPr lang="ja-JP" altLang="en-US" sz="1400" dirty="0">
                <a:latin typeface="游ゴシック Medium" panose="020B0500000000000000" pitchFamily="50" charset="-128"/>
                <a:ea typeface="游ゴシック Medium" panose="020B0500000000000000" pitchFamily="50" charset="-128"/>
              </a:rPr>
              <a:t>キャッシュカード規定（個人用）</a:t>
            </a:r>
            <a:endParaRPr kumimoji="1" lang="en-US" altLang="ja-JP" sz="1400" b="1" dirty="0">
              <a:solidFill>
                <a:prstClr val="black"/>
              </a:solidFill>
              <a:latin typeface="游ゴシック Medium" panose="020B0500000000000000" pitchFamily="50" charset="-128"/>
              <a:ea typeface="游ゴシック Medium" panose="020B0500000000000000" pitchFamily="50" charset="-128"/>
            </a:endParaRPr>
          </a:p>
          <a:p>
            <a:pPr lvl="0" defTabSz="914400">
              <a:lnSpc>
                <a:spcPts val="1900"/>
              </a:lnSpc>
              <a:spcBef>
                <a:spcPts val="600"/>
              </a:spcBef>
              <a:defRPr/>
            </a:pPr>
            <a:r>
              <a:rPr kumimoji="1" lang="ja-JP" altLang="en-US" sz="1400" b="1" dirty="0">
                <a:solidFill>
                  <a:prstClr val="black"/>
                </a:solidFill>
                <a:latin typeface="+mn-ea"/>
              </a:rPr>
              <a:t>（２）改定内容及び新旧対比表</a:t>
            </a:r>
            <a:endParaRPr kumimoji="1" lang="en-US" altLang="ja-JP" sz="1400" b="1" dirty="0">
              <a:solidFill>
                <a:prstClr val="black"/>
              </a:solidFill>
              <a:latin typeface="+mn-ea"/>
            </a:endParaRPr>
          </a:p>
          <a:p>
            <a:pPr lvl="0" defTabSz="914400">
              <a:lnSpc>
                <a:spcPts val="1900"/>
              </a:lnSpc>
              <a:defRPr/>
            </a:pPr>
            <a:r>
              <a:rPr kumimoji="1" lang="ja-JP" altLang="en-US" sz="1400" b="1" dirty="0">
                <a:solidFill>
                  <a:prstClr val="black"/>
                </a:solidFill>
                <a:latin typeface="游ゴシック" panose="020B0400000000000000" pitchFamily="50" charset="-128"/>
              </a:rPr>
              <a:t>　　</a:t>
            </a:r>
            <a:r>
              <a:rPr lang="ja-JP" altLang="en-US" sz="1400" dirty="0">
                <a:latin typeface="游ゴシック Medium" panose="020B0500000000000000" pitchFamily="50" charset="-128"/>
                <a:ea typeface="游ゴシック Medium" panose="020B0500000000000000" pitchFamily="50" charset="-128"/>
              </a:rPr>
              <a:t>スマイルで個人事業主のキャッシュカード認証が可能となることに伴い、「当行所定の電子装置での</a:t>
            </a:r>
            <a:endParaRPr lang="en-US" altLang="ja-JP" sz="1400" dirty="0">
              <a:latin typeface="游ゴシック Medium" panose="020B0500000000000000" pitchFamily="50" charset="-128"/>
              <a:ea typeface="游ゴシック Medium" panose="020B0500000000000000" pitchFamily="50" charset="-128"/>
            </a:endParaRPr>
          </a:p>
          <a:p>
            <a:pPr lvl="0" defTabSz="914400">
              <a:lnSpc>
                <a:spcPts val="1900"/>
              </a:lnSpc>
              <a:defRPr/>
            </a:pPr>
            <a:r>
              <a:rPr lang="ja-JP" altLang="en-US" sz="1400" dirty="0">
                <a:latin typeface="游ゴシック Medium" panose="020B0500000000000000" pitchFamily="50" charset="-128"/>
                <a:ea typeface="游ゴシック Medium" panose="020B0500000000000000" pitchFamily="50" charset="-128"/>
              </a:rPr>
              <a:t>　　カードの利用」の条項について改定いたします。</a:t>
            </a:r>
            <a:r>
              <a:rPr kumimoji="1" lang="ja-JP" altLang="en-US" sz="1400" dirty="0">
                <a:solidFill>
                  <a:prstClr val="black"/>
                </a:solidFill>
                <a:latin typeface="游ゴシック Medium" panose="020B0500000000000000" pitchFamily="50" charset="-128"/>
                <a:ea typeface="游ゴシック Medium" panose="020B0500000000000000" pitchFamily="50" charset="-128"/>
              </a:rPr>
              <a:t>新旧対照表（一部抜粋）は別紙</a:t>
            </a:r>
            <a:r>
              <a:rPr kumimoji="1" lang="en-US" altLang="ja-JP" sz="1400" dirty="0">
                <a:solidFill>
                  <a:prstClr val="black"/>
                </a:solidFill>
                <a:latin typeface="游ゴシック Medium" panose="020B0500000000000000" pitchFamily="50" charset="-128"/>
                <a:ea typeface="游ゴシック Medium" panose="020B0500000000000000" pitchFamily="50" charset="-128"/>
              </a:rPr>
              <a:t>Ⅸ</a:t>
            </a:r>
            <a:r>
              <a:rPr kumimoji="1" lang="ja-JP" altLang="en-US" sz="1400" dirty="0">
                <a:solidFill>
                  <a:prstClr val="black"/>
                </a:solidFill>
                <a:latin typeface="游ゴシック Medium" panose="020B0500000000000000" pitchFamily="50" charset="-128"/>
                <a:ea typeface="游ゴシック Medium" panose="020B0500000000000000" pitchFamily="50" charset="-128"/>
              </a:rPr>
              <a:t>のとおりです。</a:t>
            </a:r>
            <a:endParaRPr kumimoji="1" lang="en-US" altLang="ja-JP" sz="1400" dirty="0">
              <a:solidFill>
                <a:prstClr val="black"/>
              </a:solidFill>
              <a:latin typeface="游ゴシック Medium" panose="020B0500000000000000" pitchFamily="50" charset="-128"/>
              <a:ea typeface="游ゴシック Medium" panose="020B0500000000000000" pitchFamily="50" charset="-128"/>
            </a:endParaRPr>
          </a:p>
          <a:p>
            <a:pPr lvl="0" defTabSz="914400">
              <a:lnSpc>
                <a:spcPts val="1900"/>
              </a:lnSpc>
              <a:spcBef>
                <a:spcPts val="600"/>
              </a:spcBef>
              <a:defRPr/>
            </a:pPr>
            <a:r>
              <a:rPr kumimoji="1" lang="ja-JP" altLang="en-US" sz="1400" b="1" dirty="0">
                <a:solidFill>
                  <a:prstClr val="black"/>
                </a:solidFill>
                <a:latin typeface="+mn-ea"/>
              </a:rPr>
              <a:t>（３）</a:t>
            </a:r>
            <a:r>
              <a:rPr kumimoji="1" lang="ja-JP" altLang="en-US" sz="1400" b="1" dirty="0">
                <a:solidFill>
                  <a:prstClr val="black"/>
                </a:solidFill>
                <a:latin typeface="游ゴシック" panose="020B0400000000000000" pitchFamily="50" charset="-128"/>
              </a:rPr>
              <a:t>事前周知</a:t>
            </a:r>
          </a:p>
          <a:p>
            <a:pPr lvl="0" defTabSz="914400">
              <a:lnSpc>
                <a:spcPts val="1900"/>
              </a:lnSpc>
              <a:defRPr/>
            </a:pPr>
            <a:r>
              <a:rPr kumimoji="1" lang="ja-JP" altLang="en-US" sz="1400" dirty="0">
                <a:solidFill>
                  <a:prstClr val="black"/>
                </a:solidFill>
                <a:latin typeface="游ゴシック" panose="020B0400000000000000" pitchFamily="50" charset="-128"/>
              </a:rPr>
              <a:t>　　</a:t>
            </a:r>
            <a:r>
              <a:rPr kumimoji="1" lang="en-US" altLang="ja-JP" sz="1400" dirty="0">
                <a:solidFill>
                  <a:prstClr val="black"/>
                </a:solidFill>
                <a:latin typeface="游ゴシック Medium" panose="020B0500000000000000" pitchFamily="50" charset="-128"/>
                <a:ea typeface="游ゴシック Medium" panose="020B0500000000000000" pitchFamily="50" charset="-128"/>
              </a:rPr>
              <a:t>2025</a:t>
            </a:r>
            <a:r>
              <a:rPr kumimoji="1" lang="ja-JP" altLang="en-US" sz="1400" dirty="0">
                <a:solidFill>
                  <a:prstClr val="black"/>
                </a:solidFill>
                <a:latin typeface="游ゴシック Medium" panose="020B0500000000000000" pitchFamily="50" charset="-128"/>
                <a:ea typeface="游ゴシック Medium" panose="020B0500000000000000" pitchFamily="50" charset="-128"/>
              </a:rPr>
              <a:t>年</a:t>
            </a:r>
            <a:r>
              <a:rPr kumimoji="1" lang="en-US" altLang="ja-JP" sz="1400" dirty="0">
                <a:solidFill>
                  <a:prstClr val="black"/>
                </a:solidFill>
                <a:latin typeface="游ゴシック Medium" panose="020B0500000000000000" pitchFamily="50" charset="-128"/>
                <a:ea typeface="游ゴシック Medium" panose="020B0500000000000000" pitchFamily="50" charset="-128"/>
              </a:rPr>
              <a:t>9</a:t>
            </a:r>
            <a:r>
              <a:rPr kumimoji="1" lang="ja-JP" altLang="en-US" sz="1400" dirty="0">
                <a:solidFill>
                  <a:prstClr val="black"/>
                </a:solidFill>
                <a:latin typeface="游ゴシック Medium" panose="020B0500000000000000" pitchFamily="50" charset="-128"/>
                <a:ea typeface="游ゴシック Medium" panose="020B0500000000000000" pitchFamily="50" charset="-128"/>
              </a:rPr>
              <a:t>月</a:t>
            </a:r>
            <a:r>
              <a:rPr kumimoji="1" lang="en-US" altLang="ja-JP" sz="1400" dirty="0">
                <a:solidFill>
                  <a:prstClr val="black"/>
                </a:solidFill>
                <a:latin typeface="游ゴシック Medium" panose="020B0500000000000000" pitchFamily="50" charset="-128"/>
                <a:ea typeface="游ゴシック Medium" panose="020B0500000000000000" pitchFamily="50" charset="-128"/>
              </a:rPr>
              <a:t>8</a:t>
            </a:r>
            <a:r>
              <a:rPr kumimoji="1" lang="ja-JP" altLang="en-US" sz="1400" dirty="0">
                <a:solidFill>
                  <a:prstClr val="black"/>
                </a:solidFill>
                <a:latin typeface="游ゴシック Medium" panose="020B0500000000000000" pitchFamily="50" charset="-128"/>
                <a:ea typeface="游ゴシック Medium" panose="020B0500000000000000" pitchFamily="50" charset="-128"/>
              </a:rPr>
              <a:t>日</a:t>
            </a:r>
            <a:r>
              <a:rPr kumimoji="1" lang="en-US" altLang="ja-JP" sz="1400" dirty="0">
                <a:solidFill>
                  <a:prstClr val="black"/>
                </a:solidFill>
                <a:latin typeface="游ゴシック Medium" panose="020B0500000000000000" pitchFamily="50" charset="-128"/>
                <a:ea typeface="游ゴシック Medium" panose="020B0500000000000000" pitchFamily="50" charset="-128"/>
              </a:rPr>
              <a:t>(</a:t>
            </a:r>
            <a:r>
              <a:rPr kumimoji="1" lang="ja-JP" altLang="en-US" sz="1400" dirty="0">
                <a:solidFill>
                  <a:prstClr val="black"/>
                </a:solidFill>
                <a:latin typeface="游ゴシック Medium" panose="020B0500000000000000" pitchFamily="50" charset="-128"/>
                <a:ea typeface="游ゴシック Medium" panose="020B0500000000000000" pitchFamily="50" charset="-128"/>
              </a:rPr>
              <a:t>月</a:t>
            </a:r>
            <a:r>
              <a:rPr kumimoji="1" lang="en-US" altLang="ja-JP" sz="1400" dirty="0">
                <a:solidFill>
                  <a:prstClr val="black"/>
                </a:solidFill>
                <a:latin typeface="游ゴシック Medium" panose="020B0500000000000000" pitchFamily="50" charset="-128"/>
                <a:ea typeface="游ゴシック Medium" panose="020B0500000000000000" pitchFamily="50" charset="-128"/>
              </a:rPr>
              <a:t>)</a:t>
            </a:r>
            <a:r>
              <a:rPr kumimoji="1" lang="ja-JP" altLang="en-US" sz="1400" dirty="0">
                <a:solidFill>
                  <a:prstClr val="black"/>
                </a:solidFill>
                <a:latin typeface="游ゴシック Medium" panose="020B0500000000000000" pitchFamily="50" charset="-128"/>
                <a:ea typeface="游ゴシック Medium" panose="020B0500000000000000" pitchFamily="50" charset="-128"/>
              </a:rPr>
              <a:t>より当行ホームページにお知らせ（別紙</a:t>
            </a:r>
            <a:r>
              <a:rPr kumimoji="1" lang="en-US" altLang="ja-JP" sz="1400" dirty="0">
                <a:solidFill>
                  <a:prstClr val="black"/>
                </a:solidFill>
                <a:latin typeface="游ゴシック Medium" panose="020B0500000000000000" pitchFamily="50" charset="-128"/>
                <a:ea typeface="游ゴシック Medium" panose="020B0500000000000000" pitchFamily="50" charset="-128"/>
              </a:rPr>
              <a:t>Ⅹ</a:t>
            </a:r>
            <a:r>
              <a:rPr kumimoji="1" lang="ja-JP" altLang="en-US" sz="1400" dirty="0">
                <a:solidFill>
                  <a:prstClr val="black"/>
                </a:solidFill>
                <a:latin typeface="游ゴシック Medium" panose="020B0500000000000000" pitchFamily="50" charset="-128"/>
                <a:ea typeface="游ゴシック Medium" panose="020B0500000000000000" pitchFamily="50" charset="-128"/>
              </a:rPr>
              <a:t>）を掲載します。</a:t>
            </a:r>
            <a:endParaRPr kumimoji="1" lang="en-US" altLang="ja-JP" sz="1400" dirty="0">
              <a:solidFill>
                <a:prstClr val="black"/>
              </a:solidFill>
              <a:latin typeface="游ゴシック Medium" panose="020B0500000000000000" pitchFamily="50" charset="-128"/>
              <a:ea typeface="游ゴシック Medium" panose="020B0500000000000000" pitchFamily="50" charset="-128"/>
            </a:endParaRPr>
          </a:p>
          <a:p>
            <a:pPr lvl="0" defTabSz="914400">
              <a:lnSpc>
                <a:spcPts val="1900"/>
              </a:lnSpc>
              <a:spcBef>
                <a:spcPts val="600"/>
              </a:spcBef>
              <a:defRPr/>
            </a:pPr>
            <a:r>
              <a:rPr kumimoji="1" lang="ja-JP" altLang="en-US" sz="1400" b="1" dirty="0">
                <a:solidFill>
                  <a:prstClr val="black"/>
                </a:solidFill>
                <a:latin typeface="+mn-ea"/>
              </a:rPr>
              <a:t>（４）改定後の規定の掲示</a:t>
            </a:r>
            <a:endParaRPr kumimoji="1" lang="en-US" altLang="ja-JP" sz="1400" b="1" dirty="0">
              <a:solidFill>
                <a:prstClr val="black"/>
              </a:solidFill>
              <a:latin typeface="+mn-ea"/>
            </a:endParaRPr>
          </a:p>
          <a:p>
            <a:pPr lvl="0" defTabSz="914400">
              <a:lnSpc>
                <a:spcPts val="1900"/>
              </a:lnSpc>
              <a:defRPr/>
            </a:pPr>
            <a:r>
              <a:rPr kumimoji="1" lang="ja-JP" altLang="en-US" sz="1400" dirty="0">
                <a:solidFill>
                  <a:prstClr val="black"/>
                </a:solidFill>
                <a:latin typeface="游ゴシック" panose="020B0400000000000000" pitchFamily="50" charset="-128"/>
              </a:rPr>
              <a:t>　　</a:t>
            </a:r>
            <a:r>
              <a:rPr kumimoji="1" lang="ja-JP" altLang="en-US" sz="1400" dirty="0">
                <a:solidFill>
                  <a:prstClr val="black"/>
                </a:solidFill>
                <a:latin typeface="游ゴシック Medium" panose="020B0500000000000000" pitchFamily="50" charset="-128"/>
                <a:ea typeface="游ゴシック Medium" panose="020B0500000000000000" pitchFamily="50" charset="-128"/>
              </a:rPr>
              <a:t>改定後の規定は、</a:t>
            </a:r>
            <a:r>
              <a:rPr kumimoji="1" lang="en-US" altLang="ja-JP" sz="1400" dirty="0">
                <a:solidFill>
                  <a:prstClr val="black"/>
                </a:solidFill>
                <a:latin typeface="游ゴシック Medium" panose="020B0500000000000000" pitchFamily="50" charset="-128"/>
                <a:ea typeface="游ゴシック Medium" panose="020B0500000000000000" pitchFamily="50" charset="-128"/>
              </a:rPr>
              <a:t>2025</a:t>
            </a:r>
            <a:r>
              <a:rPr kumimoji="1" lang="ja-JP" altLang="en-US" sz="1400" dirty="0">
                <a:solidFill>
                  <a:prstClr val="black"/>
                </a:solidFill>
                <a:latin typeface="游ゴシック Medium" panose="020B0500000000000000" pitchFamily="50" charset="-128"/>
                <a:ea typeface="游ゴシック Medium" panose="020B0500000000000000" pitchFamily="50" charset="-128"/>
              </a:rPr>
              <a:t>年</a:t>
            </a:r>
            <a:r>
              <a:rPr kumimoji="1" lang="en-US" altLang="ja-JP" sz="1400" dirty="0">
                <a:solidFill>
                  <a:prstClr val="black"/>
                </a:solidFill>
                <a:latin typeface="游ゴシック Medium" panose="020B0500000000000000" pitchFamily="50" charset="-128"/>
                <a:ea typeface="游ゴシック Medium" panose="020B0500000000000000" pitchFamily="50" charset="-128"/>
              </a:rPr>
              <a:t>9</a:t>
            </a:r>
            <a:r>
              <a:rPr kumimoji="1" lang="ja-JP" altLang="en-US" sz="1400" dirty="0">
                <a:solidFill>
                  <a:prstClr val="black"/>
                </a:solidFill>
                <a:latin typeface="游ゴシック Medium" panose="020B0500000000000000" pitchFamily="50" charset="-128"/>
                <a:ea typeface="游ゴシック Medium" panose="020B0500000000000000" pitchFamily="50" charset="-128"/>
              </a:rPr>
              <a:t>月</a:t>
            </a:r>
            <a:r>
              <a:rPr kumimoji="1" lang="en-US" altLang="ja-JP" sz="1400" dirty="0">
                <a:solidFill>
                  <a:prstClr val="black"/>
                </a:solidFill>
                <a:latin typeface="游ゴシック Medium" panose="020B0500000000000000" pitchFamily="50" charset="-128"/>
                <a:ea typeface="游ゴシック Medium" panose="020B0500000000000000" pitchFamily="50" charset="-128"/>
              </a:rPr>
              <a:t>20</a:t>
            </a:r>
            <a:r>
              <a:rPr kumimoji="1" lang="ja-JP" altLang="en-US" sz="1400" dirty="0">
                <a:solidFill>
                  <a:prstClr val="black"/>
                </a:solidFill>
                <a:latin typeface="游ゴシック Medium" panose="020B0500000000000000" pitchFamily="50" charset="-128"/>
                <a:ea typeface="游ゴシック Medium" panose="020B0500000000000000" pitchFamily="50" charset="-128"/>
              </a:rPr>
              <a:t>日</a:t>
            </a:r>
            <a:r>
              <a:rPr kumimoji="1" lang="en-US" altLang="ja-JP" sz="1400" dirty="0">
                <a:solidFill>
                  <a:prstClr val="black"/>
                </a:solidFill>
                <a:latin typeface="游ゴシック Medium" panose="020B0500000000000000" pitchFamily="50" charset="-128"/>
                <a:ea typeface="游ゴシック Medium" panose="020B0500000000000000" pitchFamily="50" charset="-128"/>
              </a:rPr>
              <a:t>(</a:t>
            </a:r>
            <a:r>
              <a:rPr kumimoji="1" lang="ja-JP" altLang="en-US" sz="1400" dirty="0">
                <a:solidFill>
                  <a:prstClr val="black"/>
                </a:solidFill>
                <a:latin typeface="游ゴシック Medium" panose="020B0500000000000000" pitchFamily="50" charset="-128"/>
                <a:ea typeface="游ゴシック Medium" panose="020B0500000000000000" pitchFamily="50" charset="-128"/>
              </a:rPr>
              <a:t>土</a:t>
            </a:r>
            <a:r>
              <a:rPr kumimoji="1" lang="en-US" altLang="ja-JP" sz="1400" dirty="0">
                <a:solidFill>
                  <a:prstClr val="black"/>
                </a:solidFill>
                <a:latin typeface="游ゴシック Medium" panose="020B0500000000000000" pitchFamily="50" charset="-128"/>
                <a:ea typeface="游ゴシック Medium" panose="020B0500000000000000" pitchFamily="50" charset="-128"/>
              </a:rPr>
              <a:t>)</a:t>
            </a:r>
            <a:r>
              <a:rPr kumimoji="1" lang="ja-JP" altLang="en-US" sz="1400" dirty="0">
                <a:solidFill>
                  <a:prstClr val="black"/>
                </a:solidFill>
                <a:latin typeface="游ゴシック Medium" panose="020B0500000000000000" pitchFamily="50" charset="-128"/>
                <a:ea typeface="游ゴシック Medium" panose="020B0500000000000000" pitchFamily="50" charset="-128"/>
              </a:rPr>
              <a:t>に</a:t>
            </a:r>
            <a:r>
              <a:rPr kumimoji="1" lang="en-US" altLang="ja-JP" sz="1400" dirty="0">
                <a:solidFill>
                  <a:prstClr val="black"/>
                </a:solidFill>
                <a:latin typeface="游ゴシック Medium" panose="020B0500000000000000" pitchFamily="50" charset="-128"/>
                <a:ea typeface="游ゴシック Medium" panose="020B0500000000000000" pitchFamily="50" charset="-128"/>
              </a:rPr>
              <a:t>e-KIJUN</a:t>
            </a:r>
            <a:r>
              <a:rPr kumimoji="1" lang="ja-JP" altLang="en-US" sz="1400" dirty="0">
                <a:solidFill>
                  <a:prstClr val="black"/>
                </a:solidFill>
                <a:latin typeface="游ゴシック Medium" panose="020B0500000000000000" pitchFamily="50" charset="-128"/>
                <a:ea typeface="游ゴシック Medium" panose="020B0500000000000000" pitchFamily="50" charset="-128"/>
              </a:rPr>
              <a:t>及び当行ホームページに掲示します。</a:t>
            </a:r>
          </a:p>
          <a:p>
            <a:pPr lvl="0" defTabSz="914400">
              <a:lnSpc>
                <a:spcPts val="1900"/>
              </a:lnSpc>
              <a:defRPr/>
            </a:pPr>
            <a:r>
              <a:rPr kumimoji="1" lang="ja-JP" altLang="en-US" sz="1400" dirty="0">
                <a:solidFill>
                  <a:prstClr val="black"/>
                </a:solidFill>
                <a:latin typeface="游ゴシック Medium" panose="020B0500000000000000" pitchFamily="50" charset="-128"/>
                <a:ea typeface="游ゴシック Medium" panose="020B0500000000000000" pitchFamily="50" charset="-128"/>
              </a:rPr>
              <a:t>　　各規定の書面交付を希望する顧客については、</a:t>
            </a:r>
            <a:r>
              <a:rPr kumimoji="1" lang="en-US" altLang="ja-JP" sz="1400" dirty="0">
                <a:solidFill>
                  <a:prstClr val="black"/>
                </a:solidFill>
                <a:latin typeface="游ゴシック Medium" panose="020B0500000000000000" pitchFamily="50" charset="-128"/>
                <a:ea typeface="游ゴシック Medium" panose="020B0500000000000000" pitchFamily="50" charset="-128"/>
              </a:rPr>
              <a:t>e-KIJUN</a:t>
            </a:r>
            <a:r>
              <a:rPr kumimoji="1" lang="ja-JP" altLang="en-US" sz="1400" dirty="0">
                <a:solidFill>
                  <a:prstClr val="black"/>
                </a:solidFill>
                <a:latin typeface="游ゴシック Medium" panose="020B0500000000000000" pitchFamily="50" charset="-128"/>
                <a:ea typeface="游ゴシック Medium" panose="020B0500000000000000" pitchFamily="50" charset="-128"/>
              </a:rPr>
              <a:t>等から出力し交付してください。</a:t>
            </a:r>
            <a:endParaRPr kumimoji="1" lang="en-US" altLang="ja-JP" sz="1400" dirty="0">
              <a:solidFill>
                <a:prstClr val="black"/>
              </a:solidFill>
              <a:latin typeface="游ゴシック Medium" panose="020B0500000000000000" pitchFamily="50" charset="-128"/>
              <a:ea typeface="游ゴシック Medium" panose="020B0500000000000000" pitchFamily="50" charset="-128"/>
            </a:endParaRPr>
          </a:p>
        </p:txBody>
      </p:sp>
    </p:spTree>
    <p:extLst>
      <p:ext uri="{BB962C8B-B14F-4D97-AF65-F5344CB8AC3E}">
        <p14:creationId xmlns:p14="http://schemas.microsoft.com/office/powerpoint/2010/main" val="3726889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BDB6E1D9-1CC9-4E24-866F-8C8676E70271}"/>
              </a:ext>
            </a:extLst>
          </p:cNvPr>
          <p:cNvSpPr txBox="1"/>
          <p:nvPr/>
        </p:nvSpPr>
        <p:spPr>
          <a:xfrm>
            <a:off x="2456200" y="281817"/>
            <a:ext cx="4231600" cy="338554"/>
          </a:xfrm>
          <a:prstGeom prst="rect">
            <a:avLst/>
          </a:prstGeom>
          <a:noFill/>
        </p:spPr>
        <p:txBody>
          <a:bodyPr wrap="square" rtlCol="0">
            <a:spAutoFit/>
          </a:bodyPr>
          <a:lstStyle/>
          <a:p>
            <a:pPr algn="ctr" defTabSz="342900"/>
            <a:r>
              <a:rPr lang="ja-JP" altLang="en-US" sz="1600" b="1" dirty="0">
                <a:solidFill>
                  <a:prstClr val="black"/>
                </a:solidFill>
                <a:latin typeface="游ゴシック" panose="020B0400000000000000" pitchFamily="50" charset="-128"/>
                <a:ea typeface="游ゴシック" panose="020B0400000000000000" pitchFamily="50" charset="-128"/>
              </a:rPr>
              <a:t>新旧対比表</a:t>
            </a:r>
          </a:p>
        </p:txBody>
      </p:sp>
      <p:graphicFrame>
        <p:nvGraphicFramePr>
          <p:cNvPr id="2" name="表 1">
            <a:extLst>
              <a:ext uri="{FF2B5EF4-FFF2-40B4-BE49-F238E27FC236}">
                <a16:creationId xmlns:a16="http://schemas.microsoft.com/office/drawing/2014/main" id="{47ABDC3A-2EF4-41FF-91F8-BB67F73ACA33}"/>
              </a:ext>
            </a:extLst>
          </p:cNvPr>
          <p:cNvGraphicFramePr>
            <a:graphicFrameLocks noGrp="1"/>
          </p:cNvGraphicFramePr>
          <p:nvPr>
            <p:extLst>
              <p:ext uri="{D42A27DB-BD31-4B8C-83A1-F6EECF244321}">
                <p14:modId xmlns:p14="http://schemas.microsoft.com/office/powerpoint/2010/main" val="4144262674"/>
              </p:ext>
            </p:extLst>
          </p:nvPr>
        </p:nvGraphicFramePr>
        <p:xfrm>
          <a:off x="317240" y="1336922"/>
          <a:ext cx="8509518" cy="2102168"/>
        </p:xfrm>
        <a:graphic>
          <a:graphicData uri="http://schemas.openxmlformats.org/drawingml/2006/table">
            <a:tbl>
              <a:tblPr firstRow="1" bandRow="1">
                <a:tableStyleId>{5940675A-B579-460E-94D1-54222C63F5DA}</a:tableStyleId>
              </a:tblPr>
              <a:tblGrid>
                <a:gridCol w="4254759">
                  <a:extLst>
                    <a:ext uri="{9D8B030D-6E8A-4147-A177-3AD203B41FA5}">
                      <a16:colId xmlns:a16="http://schemas.microsoft.com/office/drawing/2014/main" val="3848925762"/>
                    </a:ext>
                  </a:extLst>
                </a:gridCol>
                <a:gridCol w="4254759">
                  <a:extLst>
                    <a:ext uri="{9D8B030D-6E8A-4147-A177-3AD203B41FA5}">
                      <a16:colId xmlns:a16="http://schemas.microsoft.com/office/drawing/2014/main" val="1090554414"/>
                    </a:ext>
                  </a:extLst>
                </a:gridCol>
              </a:tblGrid>
              <a:tr h="0">
                <a:tc>
                  <a:txBody>
                    <a:bodyPr/>
                    <a:lstStyle/>
                    <a:p>
                      <a:pPr algn="ctr">
                        <a:lnSpc>
                          <a:spcPts val="1800"/>
                        </a:lnSpc>
                        <a:spcBef>
                          <a:spcPts val="200"/>
                        </a:spcBef>
                        <a:spcAft>
                          <a:spcPts val="200"/>
                        </a:spcAft>
                      </a:pPr>
                      <a:r>
                        <a:rPr kumimoji="1" lang="ja-JP" altLang="en-US" sz="1200" b="1" dirty="0">
                          <a:latin typeface="游ゴシック 本文"/>
                          <a:ea typeface="+mn-ea"/>
                        </a:rPr>
                        <a:t>改訂後</a:t>
                      </a:r>
                    </a:p>
                  </a:txBody>
                  <a:tcPr marL="68580" marR="68580" marT="34290" marB="34290" anchor="ctr">
                    <a:solidFill>
                      <a:schemeClr val="bg1">
                        <a:lumMod val="85000"/>
                      </a:schemeClr>
                    </a:solidFill>
                  </a:tcPr>
                </a:tc>
                <a:tc>
                  <a:txBody>
                    <a:bodyPr/>
                    <a:lstStyle/>
                    <a:p>
                      <a:pPr algn="ctr">
                        <a:lnSpc>
                          <a:spcPts val="1800"/>
                        </a:lnSpc>
                        <a:spcBef>
                          <a:spcPts val="200"/>
                        </a:spcBef>
                        <a:spcAft>
                          <a:spcPts val="200"/>
                        </a:spcAft>
                      </a:pPr>
                      <a:r>
                        <a:rPr kumimoji="1" lang="ja-JP" altLang="en-US" sz="1200" b="1" dirty="0">
                          <a:latin typeface="游ゴシック 本文"/>
                          <a:ea typeface="+mn-ea"/>
                        </a:rPr>
                        <a:t>現行</a:t>
                      </a:r>
                    </a:p>
                  </a:txBody>
                  <a:tcPr marL="68580" marR="68580" marT="34290" marB="34290" anchor="ctr">
                    <a:solidFill>
                      <a:schemeClr val="bg1">
                        <a:lumMod val="85000"/>
                      </a:schemeClr>
                    </a:solidFill>
                  </a:tcPr>
                </a:tc>
                <a:extLst>
                  <a:ext uri="{0D108BD9-81ED-4DB2-BD59-A6C34878D82A}">
                    <a16:rowId xmlns:a16="http://schemas.microsoft.com/office/drawing/2014/main" val="859099688"/>
                  </a:ext>
                </a:extLst>
              </a:tr>
              <a:tr h="1260000">
                <a:tc>
                  <a:txBody>
                    <a:bodyPr/>
                    <a:lstStyle/>
                    <a:p>
                      <a:pPr marL="457200" indent="-457200" algn="just">
                        <a:lnSpc>
                          <a:spcPts val="1600"/>
                        </a:lnSpc>
                        <a:spcAft>
                          <a:spcPts val="0"/>
                        </a:spcAft>
                      </a:pPr>
                      <a:r>
                        <a:rPr lang="ja-JP" sz="1200" b="1" dirty="0">
                          <a:effectLst/>
                          <a:latin typeface="+mn-ea"/>
                          <a:ea typeface="+mn-ea"/>
                          <a:cs typeface="Times New Roman" panose="02020603050405020304" pitchFamily="18" charset="0"/>
                        </a:rPr>
                        <a:t>１－２（当行所定の電子装置でのカードの利用）</a:t>
                      </a:r>
                      <a:endParaRPr lang="ja-JP" sz="1200" dirty="0">
                        <a:effectLst/>
                        <a:latin typeface="+mn-ea"/>
                        <a:ea typeface="+mn-ea"/>
                        <a:cs typeface="Times New Roman" panose="02020603050405020304" pitchFamily="18" charset="0"/>
                      </a:endParaRPr>
                    </a:p>
                    <a:p>
                      <a:pPr marL="533400" indent="-400050" algn="just">
                        <a:lnSpc>
                          <a:spcPts val="1600"/>
                        </a:lnSpc>
                        <a:spcAft>
                          <a:spcPts val="0"/>
                        </a:spcAft>
                      </a:pPr>
                      <a:r>
                        <a:rPr lang="ja-JP" sz="1200" dirty="0">
                          <a:effectLst/>
                          <a:latin typeface="游ゴシック Medium" panose="020B0500000000000000" pitchFamily="50" charset="-128"/>
                          <a:ea typeface="游ゴシック Medium" panose="020B0500000000000000" pitchFamily="50" charset="-128"/>
                          <a:cs typeface="Times New Roman" panose="02020603050405020304" pitchFamily="18" charset="0"/>
                        </a:rPr>
                        <a:t>（１）カードは、カード名義人と同一名義であると当行が判断する口座を対象として、当行本支店の窓口において当行所定の電子装置を使用した次の取引に利用することができます。また、利用できる取引の範囲は当行が認めた範囲に限るものとします。</a:t>
                      </a:r>
                    </a:p>
                    <a:p>
                      <a:pPr marL="266700" indent="266700" algn="just">
                        <a:lnSpc>
                          <a:spcPts val="1600"/>
                        </a:lnSpc>
                        <a:spcAft>
                          <a:spcPts val="0"/>
                        </a:spcAft>
                      </a:pPr>
                      <a:r>
                        <a:rPr lang="ja-JP" sz="1200" dirty="0">
                          <a:effectLst/>
                          <a:latin typeface="游ゴシック Medium" panose="020B0500000000000000" pitchFamily="50" charset="-128"/>
                          <a:ea typeface="游ゴシック Medium" panose="020B0500000000000000" pitchFamily="50" charset="-128"/>
                          <a:cs typeface="Times New Roman" panose="02020603050405020304" pitchFamily="18" charset="0"/>
                        </a:rPr>
                        <a:t>①各種届出およびサービスの申込</a:t>
                      </a:r>
                    </a:p>
                    <a:p>
                      <a:pPr marL="266700" indent="266700" algn="just">
                        <a:lnSpc>
                          <a:spcPts val="1600"/>
                        </a:lnSpc>
                        <a:spcAft>
                          <a:spcPts val="0"/>
                        </a:spcAft>
                      </a:pPr>
                      <a:r>
                        <a:rPr lang="ja-JP" sz="1200" dirty="0">
                          <a:effectLst/>
                          <a:latin typeface="游ゴシック Medium" panose="020B0500000000000000" pitchFamily="50" charset="-128"/>
                          <a:ea typeface="游ゴシック Medium" panose="020B0500000000000000" pitchFamily="50" charset="-128"/>
                          <a:cs typeface="Times New Roman" panose="02020603050405020304" pitchFamily="18" charset="0"/>
                        </a:rPr>
                        <a:t>②その他当行所定の取引をする場合</a:t>
                      </a:r>
                    </a:p>
                    <a:p>
                      <a:pPr algn="just">
                        <a:lnSpc>
                          <a:spcPts val="1600"/>
                        </a:lnSpc>
                        <a:spcAft>
                          <a:spcPts val="0"/>
                        </a:spcAft>
                      </a:pPr>
                      <a:r>
                        <a:rPr lang="en-US" sz="1200" kern="100" dirty="0">
                          <a:effectLst/>
                          <a:latin typeface="+mn-ea"/>
                          <a:ea typeface="+mn-ea"/>
                          <a:cs typeface="Times New Roman" panose="02020603050405020304" pitchFamily="18" charset="0"/>
                        </a:rPr>
                        <a:t> </a:t>
                      </a:r>
                      <a:endParaRPr lang="ja-JP" sz="1200" kern="100" dirty="0">
                        <a:effectLst/>
                        <a:latin typeface="+mn-ea"/>
                        <a:ea typeface="+mn-ea"/>
                        <a:cs typeface="Times New Roman" panose="02020603050405020304" pitchFamily="18" charset="0"/>
                      </a:endParaRPr>
                    </a:p>
                  </a:txBody>
                  <a:tcPr marL="68580" marR="68580" marT="0" marB="0"/>
                </a:tc>
                <a:tc>
                  <a:txBody>
                    <a:bodyPr/>
                    <a:lstStyle/>
                    <a:p>
                      <a:pPr marL="457200" indent="-457200" algn="just">
                        <a:lnSpc>
                          <a:spcPts val="1600"/>
                        </a:lnSpc>
                        <a:spcAft>
                          <a:spcPts val="0"/>
                        </a:spcAft>
                      </a:pPr>
                      <a:r>
                        <a:rPr lang="ja-JP" sz="1200" b="1" dirty="0">
                          <a:effectLst/>
                          <a:latin typeface="+mn-ea"/>
                          <a:ea typeface="+mn-ea"/>
                          <a:cs typeface="Times New Roman" panose="02020603050405020304" pitchFamily="18" charset="0"/>
                        </a:rPr>
                        <a:t>１－２（当行所定の電子装置でのカードの利用）</a:t>
                      </a:r>
                      <a:endParaRPr lang="ja-JP" sz="1200" dirty="0">
                        <a:effectLst/>
                        <a:latin typeface="+mn-ea"/>
                        <a:ea typeface="+mn-ea"/>
                        <a:cs typeface="Times New Roman" panose="02020603050405020304" pitchFamily="18" charset="0"/>
                      </a:endParaRPr>
                    </a:p>
                    <a:p>
                      <a:pPr marL="533400" indent="-400050" algn="just">
                        <a:lnSpc>
                          <a:spcPts val="1600"/>
                        </a:lnSpc>
                        <a:spcAft>
                          <a:spcPts val="0"/>
                        </a:spcAft>
                      </a:pPr>
                      <a:r>
                        <a:rPr lang="ja-JP" sz="1200" dirty="0">
                          <a:effectLst/>
                          <a:latin typeface="游ゴシック Medium" panose="020B0500000000000000" pitchFamily="50" charset="-128"/>
                          <a:ea typeface="游ゴシック Medium" panose="020B0500000000000000" pitchFamily="50" charset="-128"/>
                          <a:cs typeface="Times New Roman" panose="02020603050405020304" pitchFamily="18" charset="0"/>
                        </a:rPr>
                        <a:t>（１）カードは、カード名義人と同一名義であると当行が判断する口座を対象として、当行本支店の窓口において当行所定の電子装置を使用した次の取引に利用することができます。</a:t>
                      </a:r>
                      <a:r>
                        <a:rPr lang="ja-JP" sz="1200" u="sng" dirty="0">
                          <a:solidFill>
                            <a:srgbClr val="FF0000"/>
                          </a:solidFill>
                          <a:effectLst/>
                          <a:latin typeface="游ゴシック Medium" panose="020B0500000000000000" pitchFamily="50" charset="-128"/>
                          <a:ea typeface="游ゴシック Medium" panose="020B0500000000000000" pitchFamily="50" charset="-128"/>
                          <a:cs typeface="Times New Roman" panose="02020603050405020304" pitchFamily="18" charset="0"/>
                        </a:rPr>
                        <a:t>ただし、事業目的で開設した口座を除きます。</a:t>
                      </a:r>
                      <a:r>
                        <a:rPr lang="ja-JP" sz="1200" dirty="0">
                          <a:effectLst/>
                          <a:latin typeface="游ゴシック Medium" panose="020B0500000000000000" pitchFamily="50" charset="-128"/>
                          <a:ea typeface="游ゴシック Medium" panose="020B0500000000000000" pitchFamily="50" charset="-128"/>
                          <a:cs typeface="Times New Roman" panose="02020603050405020304" pitchFamily="18" charset="0"/>
                        </a:rPr>
                        <a:t>また、利用できる取引の範囲は当行が認めた範囲に限るものとします。</a:t>
                      </a:r>
                    </a:p>
                    <a:p>
                      <a:pPr marL="266700" indent="266700" algn="just">
                        <a:lnSpc>
                          <a:spcPts val="1600"/>
                        </a:lnSpc>
                        <a:spcAft>
                          <a:spcPts val="0"/>
                        </a:spcAft>
                      </a:pPr>
                      <a:r>
                        <a:rPr lang="ja-JP" sz="1200" dirty="0">
                          <a:effectLst/>
                          <a:latin typeface="游ゴシック Medium" panose="020B0500000000000000" pitchFamily="50" charset="-128"/>
                          <a:ea typeface="游ゴシック Medium" panose="020B0500000000000000" pitchFamily="50" charset="-128"/>
                          <a:cs typeface="Times New Roman" panose="02020603050405020304" pitchFamily="18" charset="0"/>
                        </a:rPr>
                        <a:t>①各種届出およびサービスの申込</a:t>
                      </a:r>
                    </a:p>
                    <a:p>
                      <a:pPr marL="266700" indent="266700" algn="just">
                        <a:lnSpc>
                          <a:spcPts val="1600"/>
                        </a:lnSpc>
                        <a:spcAft>
                          <a:spcPts val="0"/>
                        </a:spcAft>
                      </a:pPr>
                      <a:r>
                        <a:rPr lang="ja-JP" sz="1200" dirty="0">
                          <a:effectLst/>
                          <a:latin typeface="游ゴシック Medium" panose="020B0500000000000000" pitchFamily="50" charset="-128"/>
                          <a:ea typeface="游ゴシック Medium" panose="020B0500000000000000" pitchFamily="50" charset="-128"/>
                          <a:cs typeface="Times New Roman" panose="02020603050405020304" pitchFamily="18" charset="0"/>
                        </a:rPr>
                        <a:t>②その他当行所定の取引をする場合</a:t>
                      </a:r>
                    </a:p>
                  </a:txBody>
                  <a:tcPr marL="68580" marR="68580" marT="0" marB="0"/>
                </a:tc>
                <a:extLst>
                  <a:ext uri="{0D108BD9-81ED-4DB2-BD59-A6C34878D82A}">
                    <a16:rowId xmlns:a16="http://schemas.microsoft.com/office/drawing/2014/main" val="3849233845"/>
                  </a:ext>
                </a:extLst>
              </a:tr>
            </a:tbl>
          </a:graphicData>
        </a:graphic>
      </p:graphicFrame>
      <p:sp>
        <p:nvSpPr>
          <p:cNvPr id="6" name="テキスト ボックス 5">
            <a:extLst>
              <a:ext uri="{FF2B5EF4-FFF2-40B4-BE49-F238E27FC236}">
                <a16:creationId xmlns:a16="http://schemas.microsoft.com/office/drawing/2014/main" id="{5094733F-C7EF-4C3A-AD12-22D9ADBEA723}"/>
              </a:ext>
            </a:extLst>
          </p:cNvPr>
          <p:cNvSpPr txBox="1"/>
          <p:nvPr/>
        </p:nvSpPr>
        <p:spPr>
          <a:xfrm>
            <a:off x="6559423" y="1062021"/>
            <a:ext cx="2402625" cy="246221"/>
          </a:xfrm>
          <a:prstGeom prst="rect">
            <a:avLst/>
          </a:prstGeom>
          <a:noFill/>
        </p:spPr>
        <p:txBody>
          <a:bodyPr wrap="square" rtlCol="0">
            <a:spAutoFit/>
          </a:bodyPr>
          <a:lstStyle/>
          <a:p>
            <a:pPr defTabSz="342900"/>
            <a:r>
              <a:rPr lang="ja-JP" altLang="en-US" sz="1000" dirty="0">
                <a:solidFill>
                  <a:prstClr val="black"/>
                </a:solidFill>
                <a:latin typeface="游ゴシック Medium" panose="020B0500000000000000" pitchFamily="50" charset="-128"/>
                <a:ea typeface="游ゴシック Medium" panose="020B0500000000000000" pitchFamily="50" charset="-128"/>
              </a:rPr>
              <a:t>（今回改定箇所：朱字および下線部）</a:t>
            </a:r>
          </a:p>
        </p:txBody>
      </p:sp>
      <p:sp>
        <p:nvSpPr>
          <p:cNvPr id="3" name="正方形/長方形 2">
            <a:extLst>
              <a:ext uri="{FF2B5EF4-FFF2-40B4-BE49-F238E27FC236}">
                <a16:creationId xmlns:a16="http://schemas.microsoft.com/office/drawing/2014/main" id="{344BE6A2-FE83-4D95-B9F8-5E5F6BA83DA6}"/>
              </a:ext>
            </a:extLst>
          </p:cNvPr>
          <p:cNvSpPr/>
          <p:nvPr/>
        </p:nvSpPr>
        <p:spPr>
          <a:xfrm>
            <a:off x="2953607" y="619600"/>
            <a:ext cx="3236784" cy="307777"/>
          </a:xfrm>
          <a:prstGeom prst="rect">
            <a:avLst/>
          </a:prstGeom>
        </p:spPr>
        <p:txBody>
          <a:bodyPr wrap="none">
            <a:spAutoFit/>
          </a:bodyPr>
          <a:lstStyle/>
          <a:p>
            <a:pPr algn="ctr"/>
            <a:r>
              <a:rPr lang="ja-JP" altLang="en-US" sz="1400" kern="100" dirty="0">
                <a:latin typeface="游ゴシック Medium" panose="020B0500000000000000" pitchFamily="50" charset="-128"/>
                <a:ea typeface="游ゴシック Medium" panose="020B0500000000000000" pitchFamily="50" charset="-128"/>
                <a:cs typeface="Times New Roman" panose="02020603050405020304" pitchFamily="18" charset="0"/>
              </a:rPr>
              <a:t>（</a:t>
            </a:r>
            <a:r>
              <a:rPr lang="en-US" altLang="ja-JP" sz="1400" kern="100" dirty="0">
                <a:latin typeface="游ゴシック Medium" panose="020B0500000000000000" pitchFamily="50" charset="-128"/>
                <a:ea typeface="游ゴシック Medium" panose="020B0500000000000000" pitchFamily="50" charset="-128"/>
                <a:cs typeface="Times New Roman" panose="02020603050405020304" pitchFamily="18" charset="0"/>
              </a:rPr>
              <a:t>※</a:t>
            </a:r>
            <a:r>
              <a:rPr lang="ja-JP" altLang="ja-JP" sz="1400" kern="100" dirty="0">
                <a:latin typeface="游ゴシック Medium" panose="020B0500000000000000" pitchFamily="50" charset="-128"/>
                <a:ea typeface="游ゴシック Medium" panose="020B0500000000000000" pitchFamily="50" charset="-128"/>
                <a:cs typeface="Times New Roman" panose="02020603050405020304" pitchFamily="18" charset="0"/>
              </a:rPr>
              <a:t>変更箇所のみ抜粋したものです</a:t>
            </a:r>
            <a:r>
              <a:rPr lang="ja-JP" altLang="en-US" sz="1400" kern="100" dirty="0">
                <a:latin typeface="游ゴシック Medium" panose="020B0500000000000000" pitchFamily="50" charset="-128"/>
                <a:ea typeface="游ゴシック Medium" panose="020B0500000000000000" pitchFamily="50" charset="-128"/>
                <a:cs typeface="Times New Roman" panose="02020603050405020304" pitchFamily="18" charset="0"/>
              </a:rPr>
              <a:t>）</a:t>
            </a:r>
            <a:endParaRPr lang="ja-JP" altLang="en-US" sz="1400" dirty="0">
              <a:latin typeface="游ゴシック Medium" panose="020B0500000000000000" pitchFamily="50" charset="-128"/>
              <a:ea typeface="游ゴシック Medium" panose="020B0500000000000000" pitchFamily="50" charset="-128"/>
            </a:endParaRPr>
          </a:p>
        </p:txBody>
      </p:sp>
      <p:sp>
        <p:nvSpPr>
          <p:cNvPr id="7" name="フッター プレースホルダー 3">
            <a:extLst>
              <a:ext uri="{FF2B5EF4-FFF2-40B4-BE49-F238E27FC236}">
                <a16:creationId xmlns:a16="http://schemas.microsoft.com/office/drawing/2014/main" id="{754F122A-2111-4F4E-9A29-3E4D6A3CA9A2}"/>
              </a:ext>
            </a:extLst>
          </p:cNvPr>
          <p:cNvSpPr txBox="1">
            <a:spLocks/>
          </p:cNvSpPr>
          <p:nvPr/>
        </p:nvSpPr>
        <p:spPr>
          <a:xfrm>
            <a:off x="0" y="0"/>
            <a:ext cx="4478338" cy="365125"/>
          </a:xfrm>
          <a:prstGeom prst="rect">
            <a:avLst/>
          </a:prstGeom>
        </p:spPr>
        <p:txBody>
          <a:bodyPr anchor="ctr"/>
          <a:lstStyle>
            <a:defPPr>
              <a:defRPr lang="en-US"/>
            </a:defPPr>
            <a:lvl1pPr algn="ctr" defTabSz="457200" rtl="0" eaLnBrk="1" fontAlgn="auto" hangingPunct="1">
              <a:spcBef>
                <a:spcPts val="0"/>
              </a:spcBef>
              <a:spcAft>
                <a:spcPts val="0"/>
              </a:spcAft>
              <a:defRPr kumimoji="1"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2pPr>
            <a:lvl3pPr marL="9144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3pPr>
            <a:lvl4pPr marL="13716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4pPr>
            <a:lvl5pPr marL="1828800" algn="l" defTabSz="457200" rtl="0" eaLnBrk="0" fontAlgn="base" hangingPunct="0">
              <a:spcBef>
                <a:spcPct val="0"/>
              </a:spcBef>
              <a:spcAft>
                <a:spcPct val="0"/>
              </a:spcAft>
              <a:defRPr kumimoji="1"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kern="1200">
                <a:solidFill>
                  <a:schemeClr val="tx1"/>
                </a:solidFill>
                <a:latin typeface="Calibri" panose="020F0502020204030204" pitchFamily="34" charset="0"/>
                <a:ea typeface="ＭＳ Ｐゴシック" panose="020B0600070205080204" pitchFamily="50" charset="-128"/>
                <a:cs typeface="+mn-cs"/>
              </a:defRPr>
            </a:lvl9pPr>
          </a:lstStyle>
          <a:p>
            <a:pPr algn="l">
              <a:defRPr/>
            </a:pPr>
            <a:r>
              <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　手続（スマイル）第</a:t>
            </a:r>
            <a:r>
              <a:rPr lang="en-US" altLang="ja-JP"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2025-</a:t>
            </a:r>
            <a:r>
              <a:rPr lang="ja-JP" altLang="en-US"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●号・別紙</a:t>
            </a:r>
            <a:r>
              <a:rPr lang="en-US" altLang="ja-JP" sz="1100" dirty="0">
                <a:solidFill>
                  <a:schemeClr val="tx1">
                    <a:lumMod val="75000"/>
                    <a:lumOff val="25000"/>
                  </a:schemeClr>
                </a:solidFill>
                <a:latin typeface="游ゴシック Medium" panose="020B0500000000000000" pitchFamily="50" charset="-128"/>
                <a:ea typeface="游ゴシック Medium" panose="020B0500000000000000" pitchFamily="50" charset="-128"/>
              </a:rPr>
              <a:t>Ⅸ</a:t>
            </a:r>
          </a:p>
        </p:txBody>
      </p:sp>
    </p:spTree>
    <p:extLst>
      <p:ext uri="{BB962C8B-B14F-4D97-AF65-F5344CB8AC3E}">
        <p14:creationId xmlns:p14="http://schemas.microsoft.com/office/powerpoint/2010/main" val="1692974604"/>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CF905FF098572F41993FFE1C1C4E8280" ma:contentTypeVersion="3" ma:contentTypeDescription="新しいドキュメントを作成します。" ma:contentTypeScope="" ma:versionID="990a877b01427fbfd5aa1ac303949632">
  <xsd:schema xmlns:xsd="http://www.w3.org/2001/XMLSchema" xmlns:xs="http://www.w3.org/2001/XMLSchema" xmlns:p="http://schemas.microsoft.com/office/2006/metadata/properties" xmlns:ns2="8e8d5e89-3183-4d34-a2a3-ea9099e9399d" targetNamespace="http://schemas.microsoft.com/office/2006/metadata/properties" ma:root="true" ma:fieldsID="1a66e2b30ec53372cce00991300f90b9" ns2:_="">
    <xsd:import namespace="8e8d5e89-3183-4d34-a2a3-ea9099e9399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e8d5e89-3183-4d34-a2a3-ea9099e939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A96F540-8353-49E8-93D3-5FD390659423}"/>
</file>

<file path=customXml/itemProps2.xml><?xml version="1.0" encoding="utf-8"?>
<ds:datastoreItem xmlns:ds="http://schemas.openxmlformats.org/officeDocument/2006/customXml" ds:itemID="{566B5B97-87CC-4EC3-8EF2-FEC8B3D14F23}"/>
</file>

<file path=customXml/itemProps3.xml><?xml version="1.0" encoding="utf-8"?>
<ds:datastoreItem xmlns:ds="http://schemas.openxmlformats.org/officeDocument/2006/customXml" ds:itemID="{39847F75-A62F-4A19-B3C2-F3C8430B1B2E}"/>
</file>

<file path=docMetadata/LabelInfo.xml><?xml version="1.0" encoding="utf-8"?>
<clbl:labelList xmlns:clbl="http://schemas.microsoft.com/office/2020/mipLabelMetadata">
  <clbl:label id="{4df45f0f-b2a2-4a7a-85c3-8789a2fb3a8a}" enabled="1" method="Privileged" siteId="{1bd03175-6c16-4146-bf13-66413258adb6}" removed="0"/>
</clbl:labelList>
</file>

<file path=docProps/app.xml><?xml version="1.0" encoding="utf-8"?>
<Properties xmlns="http://schemas.openxmlformats.org/officeDocument/2006/extended-properties" xmlns:vt="http://schemas.openxmlformats.org/officeDocument/2006/docPropsVTypes">
  <Template>Office Theme</Template>
  <TotalTime>7826</TotalTime>
  <Words>1897</Words>
  <Application>Microsoft Office PowerPoint</Application>
  <PresentationFormat>画面に合わせる (4:3)</PresentationFormat>
  <Paragraphs>205</Paragraphs>
  <Slides>10</Slides>
  <Notes>5</Notes>
  <HiddenSlides>0</HiddenSlides>
  <MMClips>0</MMClips>
  <ScaleCrop>false</ScaleCrop>
  <HeadingPairs>
    <vt:vector size="6" baseType="variant">
      <vt:variant>
        <vt:lpstr>使用されているフォント</vt:lpstr>
      </vt:variant>
      <vt:variant>
        <vt:i4>11</vt:i4>
      </vt:variant>
      <vt:variant>
        <vt:lpstr>テーマ</vt:lpstr>
      </vt:variant>
      <vt:variant>
        <vt:i4>1</vt:i4>
      </vt:variant>
      <vt:variant>
        <vt:lpstr>スライド タイトル</vt:lpstr>
      </vt:variant>
      <vt:variant>
        <vt:i4>10</vt:i4>
      </vt:variant>
    </vt:vector>
  </HeadingPairs>
  <TitlesOfParts>
    <vt:vector size="22" baseType="lpstr">
      <vt:lpstr>ＭＳ 明朝</vt:lpstr>
      <vt:lpstr>新細明體</vt:lpstr>
      <vt:lpstr>Yu Gothic UI</vt:lpstr>
      <vt:lpstr>游ゴシック</vt:lpstr>
      <vt:lpstr>游ゴシック Light</vt:lpstr>
      <vt:lpstr>游ゴシック Medium</vt:lpstr>
      <vt:lpstr>游ゴシック 本文</vt:lpstr>
      <vt:lpstr>Arial</vt:lpstr>
      <vt:lpstr>Calibri</vt:lpstr>
      <vt:lpstr>Calibri Light</vt:lpstr>
      <vt:lpstr>Times New Roman</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佐藤　優花</dc:creator>
  <cp:lastModifiedBy>矢萩　七海</cp:lastModifiedBy>
  <cp:revision>475</cp:revision>
  <dcterms:created xsi:type="dcterms:W3CDTF">2024-07-01T07:03:59Z</dcterms:created>
  <dcterms:modified xsi:type="dcterms:W3CDTF">2025-09-01T00:32:09Z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0x010100CF905FF098572F41993FFE1C1C4E8280</vt:lpwstr>
  </property>
</Properties>
</file>