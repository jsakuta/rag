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3AA591-A21D-4863-8478-657D202654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3138BE-FF0D-4D57-8330-7B0FFF5BF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582A59-9037-470E-8F4B-46F75A6B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47823B-A74A-4B62-B745-A7B03A6A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8C6DC9-F606-4387-82C2-1537D6EF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2588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8AE72E-C239-4E0F-8F60-5D9F0523C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876CBD-DD71-4AAB-ACE2-5239F96F4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616D21-116A-41E1-9F96-37F841F6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E1460B-29A8-4A02-9852-2592C2F3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E55B2B-EF41-451D-95F5-1A443E08D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533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18103-FFDC-4353-8A6F-605772C8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FCEABF-5AD2-429A-86E2-AA8AE4F90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E50E75-A9DF-4717-9FDA-AB019C274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AC17EA-437A-4239-94AC-F105F031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686BEB-9D92-450F-BDBF-CDD827D0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7587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C3EE2-CD67-4264-A062-0D301583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DE7049-13CD-4A86-AC9E-93B9379E0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0DE964-9117-408D-86E4-D20C1A208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0CBA847-810F-4AD8-ABA4-C924BF1F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4829BE-9469-4CC7-847B-85ADF617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5E8E245-C33B-4143-A303-85CC424D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32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568764-624A-4415-9F2A-8655073C4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A16096-D49A-41F1-A884-363681191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B3FCD1-6AEC-42CF-8B53-C75DC09C7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3B30250-BBAF-4C61-B860-2AE94EB24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403F4C2-6B77-4BE4-A7B2-359BCA529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553BD87-E7A7-44AA-8772-E9979892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38E82E-DBB4-432B-AE99-1AAC6CE4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99044D-B57C-437E-B727-7857E447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7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25906-B77D-412F-BB67-7AFA8D883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A49123-671E-429B-A8EB-54166DEF3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17DF004-2771-470D-9290-D2E5064B8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299E4C-F7F8-4DF6-91D4-B504E8AE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0573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E48845-020C-4222-9F61-69B11FAB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6021758-A39A-4CD9-916B-46717D6D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77C9BCA-945E-4673-A8DF-BAC26CAA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8332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6093A0-D000-4970-8DCE-EBAD35DB8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A1A369-9B47-4325-A073-92B284CC1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6B920A-0A6A-4D69-AE84-FE00910C5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872E4C-85E8-43AE-9382-F4655D40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9ABD94-829F-4E71-86E4-A429B5A2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BC8837-2227-47AA-8924-095EEEF5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598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5A0737-A18B-4B2C-9BFA-9DD5B1DF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9CFBBB1-4271-4414-85AF-FFC0A2C2E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94A336B-5E27-45E6-AB9A-606FDABEE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D6E5F3-0B32-480A-BC51-C0FE6B6E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7EF6DD-9348-44E3-BC9D-2071F159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797FED6-5007-4545-AA1B-C793DB6A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62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30FA49-0969-4C5D-AA59-FC3DFDB5B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05EAE50-40FB-4DD1-885A-0E938B9B1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82AC9B-CE00-4864-9621-2BFA3530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D45174-4E98-4677-9DE1-ACE6A9029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A2636C-6EA5-4C62-ADA4-98C56393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177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7A13CE0-A499-4397-97AE-E885420BB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1A28C0-3D29-4A17-A507-65F6D0C169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69350F-DB95-4E83-8D4C-20F27B0E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2777AF-188B-4963-BC20-8C4D17077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FCE94D-4E45-47AC-B53E-06042BDCF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9850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9BD0F70-A75D-4E13-BEAD-444BCF14F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18E70D-B23A-47D7-9865-DD4D47675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ECD3F8-8C4A-4491-B724-0C152315C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EA39A-668A-4688-BD38-7AE0D1645AC0}" type="datetimeFigureOut">
              <a:rPr kumimoji="1" lang="ja-JP" altLang="en-US" smtClean="0"/>
              <a:t>2025/7/22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CB8E6D-0EF3-4B5C-9693-D4F7CB76B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5A3BA5-8DAF-42EC-AE9C-6D37EE6AE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8C45A-48A9-4DB0-A79F-89676621C40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385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E4BB1037-BADC-466C-8999-EAF7CFB6EA56}"/>
              </a:ext>
            </a:extLst>
          </p:cNvPr>
          <p:cNvSpPr txBox="1">
            <a:spLocks/>
          </p:cNvSpPr>
          <p:nvPr/>
        </p:nvSpPr>
        <p:spPr>
          <a:xfrm>
            <a:off x="175192" y="152696"/>
            <a:ext cx="11662847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en-US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ja-JP" altLang="en-US" dirty="0"/>
              <a:t>窓口用タブレットご本人様確認票の記載方法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D9FE6BF-B2E4-455A-A389-7D81BA73E64B}"/>
              </a:ext>
            </a:extLst>
          </p:cNvPr>
          <p:cNvGrpSpPr/>
          <p:nvPr/>
        </p:nvGrpSpPr>
        <p:grpSpPr>
          <a:xfrm>
            <a:off x="737283" y="836712"/>
            <a:ext cx="10717434" cy="5953462"/>
            <a:chOff x="782207" y="923949"/>
            <a:chExt cx="10717434" cy="595346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5A651493-4F07-4F6F-9FDB-B5406E650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207" y="1051867"/>
              <a:ext cx="9024774" cy="5825544"/>
            </a:xfrm>
            <a:prstGeom prst="rect">
              <a:avLst/>
            </a:prstGeom>
          </p:spPr>
        </p:pic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7327098D-1ACF-4655-85D5-B50E4DF7E2C6}"/>
                </a:ext>
              </a:extLst>
            </p:cNvPr>
            <p:cNvSpPr/>
            <p:nvPr/>
          </p:nvSpPr>
          <p:spPr>
            <a:xfrm>
              <a:off x="3312488" y="1602602"/>
              <a:ext cx="797589" cy="789692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印</a:t>
              </a:r>
            </a:p>
          </p:txBody>
        </p:sp>
        <p:sp>
          <p:nvSpPr>
            <p:cNvPr id="7" name="円: 塗りつぶしなし 6">
              <a:extLst>
                <a:ext uri="{FF2B5EF4-FFF2-40B4-BE49-F238E27FC236}">
                  <a16:creationId xmlns:a16="http://schemas.microsoft.com/office/drawing/2014/main" id="{1BA69240-31EA-4649-8D39-D53A37E71691}"/>
                </a:ext>
              </a:extLst>
            </p:cNvPr>
            <p:cNvSpPr/>
            <p:nvPr/>
          </p:nvSpPr>
          <p:spPr>
            <a:xfrm>
              <a:off x="5371524" y="3514648"/>
              <a:ext cx="599240" cy="405237"/>
            </a:xfrm>
            <a:prstGeom prst="donut">
              <a:avLst>
                <a:gd name="adj" fmla="val 875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175C2ADF-1888-4FDA-867B-0BE61999B37C}"/>
                </a:ext>
              </a:extLst>
            </p:cNvPr>
            <p:cNvSpPr/>
            <p:nvPr/>
          </p:nvSpPr>
          <p:spPr>
            <a:xfrm>
              <a:off x="6090440" y="3900103"/>
              <a:ext cx="2955778" cy="207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全紛失のため本人確認書類にて確認</a:t>
              </a:r>
            </a:p>
          </p:txBody>
        </p:sp>
        <p:sp>
          <p:nvSpPr>
            <p:cNvPr id="9" name="吹き出し: 折線 8">
              <a:extLst>
                <a:ext uri="{FF2B5EF4-FFF2-40B4-BE49-F238E27FC236}">
                  <a16:creationId xmlns:a16="http://schemas.microsoft.com/office/drawing/2014/main" id="{50CCB3B8-7334-430C-A9E1-1A0AECF10290}"/>
                </a:ext>
              </a:extLst>
            </p:cNvPr>
            <p:cNvSpPr/>
            <p:nvPr/>
          </p:nvSpPr>
          <p:spPr>
            <a:xfrm>
              <a:off x="5399589" y="923949"/>
              <a:ext cx="4644622" cy="576000"/>
            </a:xfrm>
            <a:prstGeom prst="borderCallout2">
              <a:avLst>
                <a:gd name="adj1" fmla="val 52890"/>
                <a:gd name="adj2" fmla="val -77"/>
                <a:gd name="adj3" fmla="val 52480"/>
                <a:gd name="adj4" fmla="val -8099"/>
                <a:gd name="adj5" fmla="val 180780"/>
                <a:gd name="adj6" fmla="val -23169"/>
              </a:avLst>
            </a:prstGeom>
            <a:solidFill>
              <a:schemeClr val="bg1"/>
            </a:solidFill>
            <a:ln w="19050"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①「通帳・キャッシュカード・印鑑」いずれかの現物を確認する。印鑑の場合はお届け印欄に印鑑を押印する。</a:t>
              </a:r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6062ACDB-E1E1-4550-A4A2-66DCE665E414}"/>
                </a:ext>
              </a:extLst>
            </p:cNvPr>
            <p:cNvCxnSpPr>
              <a:cxnSpLocks/>
            </p:cNvCxnSpPr>
            <p:nvPr/>
          </p:nvCxnSpPr>
          <p:spPr>
            <a:xfrm>
              <a:off x="5030027" y="1227634"/>
              <a:ext cx="536771" cy="2287014"/>
            </a:xfrm>
            <a:prstGeom prst="line">
              <a:avLst/>
            </a:prstGeom>
            <a:solidFill>
              <a:schemeClr val="bg1"/>
            </a:solidFill>
            <a:ln w="19050"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4" name="吹き出し: 折線 13">
              <a:extLst>
                <a:ext uri="{FF2B5EF4-FFF2-40B4-BE49-F238E27FC236}">
                  <a16:creationId xmlns:a16="http://schemas.microsoft.com/office/drawing/2014/main" id="{75EF8444-2D1C-431A-8B89-9FCD67630F3E}"/>
                </a:ext>
              </a:extLst>
            </p:cNvPr>
            <p:cNvSpPr/>
            <p:nvPr/>
          </p:nvSpPr>
          <p:spPr>
            <a:xfrm>
              <a:off x="7782496" y="3076303"/>
              <a:ext cx="3717145" cy="705393"/>
            </a:xfrm>
            <a:prstGeom prst="borderCallout2">
              <a:avLst>
                <a:gd name="adj1" fmla="val 46645"/>
                <a:gd name="adj2" fmla="val 13"/>
                <a:gd name="adj3" fmla="val 46640"/>
                <a:gd name="adj4" fmla="val -8482"/>
                <a:gd name="adj5" fmla="val 86856"/>
                <a:gd name="adj6" fmla="val -19357"/>
              </a:avLst>
            </a:prstGeom>
            <a:solidFill>
              <a:schemeClr val="bg1"/>
            </a:solidFill>
            <a:ln w="19050"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②全紛失のため、現物の確認ができない場合は、「テラー確認」を○で囲み、「全紛失のため</a:t>
              </a:r>
              <a:br>
                <a:rPr kumimoji="1" lang="en-US" altLang="ja-JP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kumimoji="1" lang="ja-JP" altLang="en-US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本人確認書類にて確認」と余白に記入する。</a:t>
              </a:r>
            </a:p>
          </p:txBody>
        </p:sp>
        <p:sp>
          <p:nvSpPr>
            <p:cNvPr id="16" name="円: 塗りつぶしなし 15">
              <a:extLst>
                <a:ext uri="{FF2B5EF4-FFF2-40B4-BE49-F238E27FC236}">
                  <a16:creationId xmlns:a16="http://schemas.microsoft.com/office/drawing/2014/main" id="{951C98AB-0DC1-4E8B-BFCD-07F13F1DC724}"/>
                </a:ext>
              </a:extLst>
            </p:cNvPr>
            <p:cNvSpPr/>
            <p:nvPr/>
          </p:nvSpPr>
          <p:spPr>
            <a:xfrm>
              <a:off x="6001929" y="3514648"/>
              <a:ext cx="1008190" cy="405237"/>
            </a:xfrm>
            <a:prstGeom prst="donut">
              <a:avLst>
                <a:gd name="adj" fmla="val 875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吹き出し: 折線 17">
              <a:extLst>
                <a:ext uri="{FF2B5EF4-FFF2-40B4-BE49-F238E27FC236}">
                  <a16:creationId xmlns:a16="http://schemas.microsoft.com/office/drawing/2014/main" id="{F24CD409-11AC-45B9-AECE-04ECDF560C47}"/>
                </a:ext>
              </a:extLst>
            </p:cNvPr>
            <p:cNvSpPr/>
            <p:nvPr/>
          </p:nvSpPr>
          <p:spPr>
            <a:xfrm flipH="1">
              <a:off x="3329767" y="5422465"/>
              <a:ext cx="3204000" cy="576000"/>
            </a:xfrm>
            <a:prstGeom prst="borderCallout2">
              <a:avLst>
                <a:gd name="adj1" fmla="val 50125"/>
                <a:gd name="adj2" fmla="val -47"/>
                <a:gd name="adj3" fmla="val 49438"/>
                <a:gd name="adj4" fmla="val -12234"/>
                <a:gd name="adj5" fmla="val 93771"/>
                <a:gd name="adj6" fmla="val -22343"/>
              </a:avLst>
            </a:prstGeom>
            <a:solidFill>
              <a:schemeClr val="bg1"/>
            </a:solidFill>
            <a:ln w="19050"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③スマイルワークフローに書類を添付する場合は</a:t>
              </a:r>
              <a:r>
                <a:rPr kumimoji="1" lang="en-US" altLang="ja-JP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S</a:t>
              </a:r>
              <a:r>
                <a:rPr kumimoji="1" lang="ja-JP" altLang="en-US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照欄に「スマイル</a:t>
              </a:r>
              <a:r>
                <a:rPr kumimoji="1" lang="en-US" altLang="ja-JP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WF</a:t>
              </a:r>
              <a:r>
                <a:rPr kumimoji="1" lang="ja-JP" altLang="en-US" sz="14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」と記入する。</a:t>
              </a:r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7EAD6710-A010-4544-8912-54DF36820963}"/>
                </a:ext>
              </a:extLst>
            </p:cNvPr>
            <p:cNvSpPr/>
            <p:nvPr/>
          </p:nvSpPr>
          <p:spPr>
            <a:xfrm>
              <a:off x="7034554" y="6261140"/>
              <a:ext cx="1253538" cy="207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スマイル</a:t>
              </a:r>
              <a:r>
                <a:rPr kumimoji="1" lang="en-US" altLang="ja-JP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WF</a:t>
              </a:r>
              <a:endParaRPr kumimoji="1" lang="ja-JP" altLang="en-US" sz="11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03AA801C-FE03-417C-8C60-5E51E73BE2CF}"/>
                </a:ext>
              </a:extLst>
            </p:cNvPr>
            <p:cNvSpPr/>
            <p:nvPr/>
          </p:nvSpPr>
          <p:spPr>
            <a:xfrm>
              <a:off x="3797062" y="3310311"/>
              <a:ext cx="1835305" cy="20779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普通預金 </a:t>
              </a:r>
              <a:r>
                <a:rPr kumimoji="1" lang="en-US" altLang="ja-JP" sz="11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1234567</a:t>
              </a:r>
              <a:endParaRPr kumimoji="1" lang="ja-JP" altLang="en-US" sz="11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FEF28FEC-3B51-4B86-8CFD-68A48A38D9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57942" y="1227634"/>
              <a:ext cx="372085" cy="2082677"/>
            </a:xfrm>
            <a:prstGeom prst="line">
              <a:avLst/>
            </a:prstGeom>
            <a:solidFill>
              <a:schemeClr val="bg1"/>
            </a:solidFill>
            <a:ln w="19050"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D1233AF3-3D2F-46BE-993A-CA4DB9C79A75}"/>
                </a:ext>
              </a:extLst>
            </p:cNvPr>
            <p:cNvSpPr/>
            <p:nvPr/>
          </p:nvSpPr>
          <p:spPr>
            <a:xfrm>
              <a:off x="2073728" y="3919885"/>
              <a:ext cx="1147667" cy="1880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200" b="1" dirty="0">
                  <a:solidFill>
                    <a:schemeClr val="tx1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千葉　太郎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366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EEAFAE5-761E-45F0-9061-A42077B7CC0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861" y="778061"/>
            <a:ext cx="6324364" cy="38495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7508C83-AFAB-40F9-A16C-3A98EECD84C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88" y="2870061"/>
            <a:ext cx="6503512" cy="387130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253304D0-1B1F-4D70-96F6-854F6164F71B}"/>
              </a:ext>
            </a:extLst>
          </p:cNvPr>
          <p:cNvSpPr txBox="1">
            <a:spLocks/>
          </p:cNvSpPr>
          <p:nvPr/>
        </p:nvSpPr>
        <p:spPr>
          <a:xfrm>
            <a:off x="264000" y="152696"/>
            <a:ext cx="11664000" cy="540000"/>
          </a:xfrm>
          <a:prstGeom prst="rect">
            <a:avLst/>
          </a:prstGeom>
          <a:solidFill>
            <a:srgbClr val="203864"/>
          </a:solidFill>
        </p:spPr>
        <p:txBody>
          <a:bodyPr vert="horz" lIns="180000" tIns="0" rIns="180000" bIns="0" rtlCol="0" anchor="ctr">
            <a:noAutofit/>
          </a:bodyPr>
          <a:lstStyle>
            <a:defPPr>
              <a:defRPr lang="ja-JP"/>
            </a:defPPr>
            <a:lvl1pPr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 i="0" u="none" strike="noStrike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lang="ja-JP" altLang="en-US" dirty="0"/>
              <a:t>並行発行カードの状態入力画面の操作方法</a:t>
            </a:r>
          </a:p>
        </p:txBody>
      </p:sp>
      <p:sp>
        <p:nvSpPr>
          <p:cNvPr id="8" name="吹き出し: 折線 7">
            <a:extLst>
              <a:ext uri="{FF2B5EF4-FFF2-40B4-BE49-F238E27FC236}">
                <a16:creationId xmlns:a16="http://schemas.microsoft.com/office/drawing/2014/main" id="{E6D3D88E-0A47-4D8E-8BB5-036C3322AA38}"/>
              </a:ext>
            </a:extLst>
          </p:cNvPr>
          <p:cNvSpPr/>
          <p:nvPr/>
        </p:nvSpPr>
        <p:spPr>
          <a:xfrm>
            <a:off x="5303912" y="1418665"/>
            <a:ext cx="1841930" cy="460063"/>
          </a:xfrm>
          <a:prstGeom prst="borderCallout2">
            <a:avLst>
              <a:gd name="adj1" fmla="val 47169"/>
              <a:gd name="adj2" fmla="val -326"/>
              <a:gd name="adj3" fmla="val 48188"/>
              <a:gd name="adj4" fmla="val -10991"/>
              <a:gd name="adj5" fmla="val 120304"/>
              <a:gd name="adj6" fmla="val -28491"/>
            </a:avLst>
          </a:prstGeom>
          <a:solidFill>
            <a:schemeClr val="bg1"/>
          </a:solidFill>
          <a:ln w="19050"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①状態入力を選択</a:t>
            </a:r>
          </a:p>
        </p:txBody>
      </p:sp>
      <p:sp>
        <p:nvSpPr>
          <p:cNvPr id="9" name="吹き出し: 折線 8">
            <a:extLst>
              <a:ext uri="{FF2B5EF4-FFF2-40B4-BE49-F238E27FC236}">
                <a16:creationId xmlns:a16="http://schemas.microsoft.com/office/drawing/2014/main" id="{8AD3839A-0265-4B2F-899D-9028318F2FF5}"/>
              </a:ext>
            </a:extLst>
          </p:cNvPr>
          <p:cNvSpPr/>
          <p:nvPr/>
        </p:nvSpPr>
        <p:spPr>
          <a:xfrm>
            <a:off x="10302542" y="3465064"/>
            <a:ext cx="1625458" cy="460063"/>
          </a:xfrm>
          <a:prstGeom prst="borderCallout2">
            <a:avLst>
              <a:gd name="adj1" fmla="val 49306"/>
              <a:gd name="adj2" fmla="val 740"/>
              <a:gd name="adj3" fmla="val 48189"/>
              <a:gd name="adj4" fmla="val -13874"/>
              <a:gd name="adj5" fmla="val 166390"/>
              <a:gd name="adj6" fmla="val -27856"/>
            </a:avLst>
          </a:prstGeom>
          <a:solidFill>
            <a:schemeClr val="bg1"/>
          </a:solidFill>
          <a:ln w="19050"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600" b="1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②手続きを選択</a:t>
            </a:r>
          </a:p>
        </p:txBody>
      </p:sp>
    </p:spTree>
    <p:extLst>
      <p:ext uri="{BB962C8B-B14F-4D97-AF65-F5344CB8AC3E}">
        <p14:creationId xmlns:p14="http://schemas.microsoft.com/office/powerpoint/2010/main" val="3152389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131</Words>
  <Application>Microsoft Office PowerPoint</Application>
  <PresentationFormat>ワイド画面</PresentationFormat>
  <Paragraphs>12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　恵</dc:creator>
  <cp:lastModifiedBy>作田　隼樹</cp:lastModifiedBy>
  <cp:revision>5</cp:revision>
  <dcterms:created xsi:type="dcterms:W3CDTF">2025-07-04T05:58:11Z</dcterms:created>
  <dcterms:modified xsi:type="dcterms:W3CDTF">2025-07-22T01:31:12Z</dcterms:modified>
</cp:coreProperties>
</file>